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umină și umbră" id="{22850471-1331-876d-d669-f852e8fe479e}">
          <p14:sldIdLst/>
        </p14:section>
        <p14:section name="Default-1" id="{65339330-0db5-a26b-4c39-83d683ae78b9}">
          <p14:sldIdLst>
            <p14:sldId id="256"/>
            <p14:sldId id="257"/>
            <p14:sldId id="258"/>
            <p14:sldId id="259"/>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MESAJUL SLIDE-ULUI: în păr nu „vedem" blond, vedem CONTRAST. Lumina și umbra lucrează împreună – exact ca în pictură sau fotografie.
LUMINA (zonele deschise)
• Ochiul este atras de zonele cele mai luminoase. Unde plasăm lumina, acolo ducem privirea: conturul feței, cărarea, suprafața tunsorii.
• Lumina scoate în evidență forma: buclele, valurile, straturile tunsorii devin mai vizibile.
• Efectul de volum este vizual, nu fizic: alternanța lumină–umbră creează relief și poate face părul să pară mai bogat. Depinde de plasare și de contrast – nu este garantat la orice păr.
UMBRA (zonele mai închise / baza naturală / lowlights)
• Umbra oferă profunzime: părul nu mai arată „plat".
• Contrastul face ca șuvițele blonde să pară mai luminoase decât sunt.
• Păstrarea umbrei, mai ales la rădăcină și în interior, poate da impresia de densitate și face creșterea mai discretă.
Exemplu din salon: o clientă cu păr fin cere „mult blond". Dacă decolorăm aproape tot, părul poate părea mai subțire și mai plat. Dacă păstrăm zone de profunzime în interior, părul pare mai dens, iar blondul de la suprafață iese mai bine în evidență.
Întrebare pentru cursanți: „Când ați văzut un blond superb în poză, dar plat în realitate? Ce lipsea?" (de obicei: profunzimea).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VARIANTA A – BLOND PREDOMINANT
• Pentru clientele care vor un blond „declarat", luminos din toate unghiurile.
• Când aproape tot părul este deschis, contrastul intern scade: părul poate arăta uniform, uneori plat, mai ales în lumină frontală.
• Necesită mai multă decolorare (mai mult păr procesat, mai mult timp, mai mult risc pentru fir) și, de regulă, întreținere mai frecventă – mai ales când deschiderea începe foarte aproape de scalp.
VARIANTA B – BLOND CU UMBRE STRATEGICE
• Alternanță între zone deschise și zone mai închise (bază naturală păstrată, lowlights, root shadow).
• Rezultatul are dimensiune: se vede mișcarea și forma tunsorii.
• Mai mult păr natural păstrat: mai puțină procesare, fir mai sănătos.
• Creșterea arată, în general, mai natural.
DE CE MAI PUȚIN BLOND POATE PĂREA MAI SPECTACULOS
• Percepția luminozității este relativă: aceeași șuviță pare mai deschisă lângă o zonă închisă (contrast simultan, din teoria culorii).
• 20 de folii plasate inteligent, cu profunzime între ele, pot arăta mai spectaculos decât 40 de folii care unifică totul.
Nicio variantă nu este „corectă" sau „greșită": alegerea depinde de dorința clientei, baza naturală, starea firului și cât de des poate reveni.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TERMINOLOGIE (folosită diferit de la salon la salon – stabiliți cu clienta, pe poze, ce înseamnă):
• Root shadow / root smudge: o nuanță apropiată de baza naturală, aplicată la rădăcină pentru a estompa trecerea spre blond. Smudge-ul este de obicei mai scurt și mai fin; shadow-ul poate fi mai adânc.
• Root melt: tranziție topită, mai lungă, de la rădăcină spre lungimi, cu nuanțe care se contopesc.
• Se fac des cu colorații demi-permanente sau glossuri, după decolorare.
BLOND FOARTE APROAPE DE RĂDĂCINĂ
• Luminozitate imediată, blond „de la scalp" – pentru clientele care vor efect maxim și revin regulat.
• Cu cât contrastul dintre baza naturală și blond este mai mare, cu atât linia de creștere apare mai repede și mai evident.
ROOT SHADOW / ROOT MELT
• Creșterea se „topește" în tranziția existentă; poate prelungi timpul dintre serviciile de iluminare.
• Pierdem lumină la rădăcină. O umbră prea lungă sau prea închisă poate face rezultatul greu.
• Alege nuanța umbrei apropiată de baza naturală sau puțin mai deschisă, cu un reflex care se armonizează cu blondul; difuzează marginea, fără linii orizontale.
LONGEVITATEA DEPINDE ȘI DE: contrastul cu baza naturală, poziționarea șuvițelor, tehnica aplicată, întreținerea culorii. Nu promitem un număr fix de săptămâni.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CE NU TOATE ZONELE AU NEVOIE DE ACEEAȘI CANTITATE DE ȘUVIȚE
• Ochiul vede mai ales fața, cărarea și suprafața. Interiorul și substraturile se văd doar în mișcare sau când părul este prins.
• Fiecare folie pusă într-o zonă care nu se vede înseamnă timp, produs, decolorare și întreținere în plus – fără impact pe măsură.
• Zonele naturale păstrate creează contrast și protejează firul.
ZONELE
1. Conturul feței – identifică întâi cărarea și cum își poartă clienta părul. Aici plasăm cele mai luminoase șuvițe; atenție la tâmple/recesiune, unde golurile pot crea pete închise lângă conturul luminos.
2. Top și cărare – șuvițele urmează cărarea naturală. Dacă clienta schimbă cărarea, distribuie lumina pe ambele părți.
3. Zona occipitală – alternează secțiuni de lumină cu secțiuni naturale sau lowlights; aici se construiește dimensiunea din spate.
4. Substraturi – le poți lăsa mai naturale: fundalul închis pe care blondul de deasupra „strălucește".
5. Lungimi și vârfuri – luminozitate echilibrată; vârfurile pot fi mai deschise pentru efect lived-in, fără benzi orizontale.
EXEMPLU – CONTOURING LUMINOS CU PROFUNZIME
• Secțiuni fine și dese (sau slices back-to-back) pe linia frontală și la cărare.
• Babylights / șuvițe fine, mai rare, pe top.
• Interiorul și zona de jos: naturale sau cu lowlight / root shadow.
• Rezultat: fața luminoasă și proaspătă, restul părului cu profunzime și creștere discretă.
Secțiunile fine dau luminozitate difuză; cele mai groase dau contrast puternic.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CUM CITIM TABELUL: compară tendințe generale, nu reguli fixe. Rezultatul real depinde de baza naturală, istoricul de culoare, tehnica exactă și îngrijirea acasă.
1. BLOND APROAPE DE RĂDĂCINĂ – impact maxim imediat; creșterea se vede mai repede, mai ales la contrast mare; programări de obicei mai dese. Pentru clienta care vrea luminozitate maximă și poate reveni regulat.
2. BLOND CU ROOT SHADOW – blond luminos pe lungimi, rădăcină estompată cu o nuanță apropiată de bază; creștere mai discretă, intervale de regulă mai lungi. Compromis: mai puțină lumină sus.
3. BALAYAGE CU BAZĂ NATURALĂ – aspect lived-in, cea mai mare flexibilitate: clienta poate reveni mai rar sau alterna cu gloss/toner. Compromis: nu e un blond „total".
4. BLOND UNIFORM – cel mai intens blond; cea mai multă decolorare, creștere foarte vizibilă, întreținere frecventă; fără profunzime poate părea plat.
REGULĂ: nu promite intervale fixe. Spune: „În cazul tău, cu baza ta și cu tehnica asta, estimăm aproximativ… și vedem la prima reprogramare."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PROFUNZIME LÂNGĂ LUMINĂ – dacă vrei ca o zonă să „strălucească" (de exemplu conturul feței), păstrează sau creează o zonă mai închisă lângă ea.
2. NUMĂRUL FOLIILOR ≠ IMPACT – 50 de folii nu sunt automat mai spectaculoase decât 25. Plasarea, grosimea secțiunilor și spațiile lăsate naturale contează mai mult.
3. PORNEȘTE DE LA CĂRARE – înainte de secționare, pieptănă părul cum îl poartă clienta. Întreab-o dacă își schimbă cărarea, dacă își prinde părul, dacă îl poartă după ureche.
4. DIFUZ LA RĂDĂCINĂ – root shadow, root melt, teasylights sau pornirea decolorării ușor sub rădăcină, cu difuzare în sus, reduc vizibilitatea creșterii. Evită liniile orizontale nete.
5. UMBRĂ AERISITĂ – lowlights prea dese sau o umbră prea închisă la rădăcină pot face blondul să pară murdar sau greu. Lasă umbra să „respire".
6. VERIFICĂ ÎN DOUĂ LUMINI – lumina frontală aplatizează, cea laterală arată dimensiunea. Verifică la lumina zilei, pe păr uscat și coafat. Fotografiază din ambele unghiuri pentru portofoliu.
7. OBIECTIV + TIMP – consultația decide tehnica: ce dorește clienta, cât de des poate reveni, ce buget are, cât de sănătos este firul.
ÎNCHEIERE: „Nu contează doar cât blond creezi. Contează unde îl plasezi și câtă profunzime păstrezi."
Surse: Behindthechair (Root Shadow vs. Root Melt; foil placement; hairline painting), Wella Professionals, Davines, Revlon Professional, L'Oréal Professionnel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1"/>
          <p:cNvSpPr txBox="1"/>
          <p:nvPr/>
        </p:nvSpPr>
        <p:spPr>
          <a:xfrm>
            <a:off x="457200" y="228600"/>
            <a:ext cx="8229600" cy="274320"/>
          </a:xfrm>
          <a:prstGeom prst="rect">
            <a:avLst/>
          </a:prstGeom>
          <a:noFill/>
          <a:ln/>
        </p:spPr>
        <p:txBody>
          <a:bodyPr wrap="square" lIns="0" tIns="0" rIns="0" bIns="0" rtlCol="0" anchor="t"/>
          <a:lstStyle/>
          <a:p>
            <a:pPr indent="0" marL="0">
              <a:buNone/>
            </a:pPr>
            <a:r>
              <a:rPr lang="en-US" sz="1200" b="1" spc="100" kern="0" dirty="0">
                <a:solidFill>
                  <a:srgbClr val="9A4F5C"/>
                </a:solidFill>
                <a:latin typeface="Arial" pitchFamily="34" charset="0"/>
                <a:ea typeface="Arial" pitchFamily="34" charset="-122"/>
                <a:cs typeface="Arial" pitchFamily="34" charset="-120"/>
              </a:rPr>
              <a:t>LUMINĂ VS. UMBRĂ · ARTA CONTRASTULUI</a:t>
            </a:r>
            <a:endParaRPr lang="en-US" sz="1200" dirty="0"/>
          </a:p>
        </p:txBody>
      </p:sp>
      <p:sp>
        <p:nvSpPr>
          <p:cNvPr id="3" name="text-2"/>
          <p:cNvSpPr txBox="1"/>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1E1A18"/>
                </a:solidFill>
                <a:latin typeface="Arial" pitchFamily="34" charset="0"/>
                <a:ea typeface="Arial" pitchFamily="34" charset="-122"/>
                <a:cs typeface="Arial" pitchFamily="34" charset="-120"/>
              </a:rPr>
              <a:t>Lumina atrage privirea. Umbra creează profunzime.</a:t>
            </a:r>
            <a:endParaRPr lang="en-US" sz="2600" dirty="0"/>
          </a:p>
        </p:txBody>
      </p:sp>
      <p:sp>
        <p:nvSpPr>
          <p:cNvPr id="4" name="text-3"/>
          <p:cNvSpPr txBox="1"/>
          <p:nvPr/>
        </p:nvSpPr>
        <p:spPr>
          <a:xfrm>
            <a:off x="457200" y="4828032"/>
            <a:ext cx="4572000" cy="228600"/>
          </a:xfrm>
          <a:prstGeom prst="rect">
            <a:avLst/>
          </a:prstGeom>
          <a:noFill/>
          <a:ln/>
        </p:spPr>
        <p:txBody>
          <a:bodyPr wrap="square" lIns="0" tIns="0" rIns="0" bIns="0" rtlCol="0" anchor="t"/>
          <a:lstStyle/>
          <a:p>
            <a:pPr indent="0" marL="0">
              <a:buNone/>
            </a:pPr>
            <a:r>
              <a:rPr lang="en-US" sz="1000" dirty="0">
                <a:solidFill>
                  <a:srgbClr val="4A3F3A"/>
                </a:solidFill>
                <a:latin typeface="Arial" pitchFamily="34" charset="0"/>
                <a:ea typeface="Arial" pitchFamily="34" charset="-122"/>
                <a:cs typeface="Arial" pitchFamily="34" charset="-120"/>
              </a:rPr>
              <a:t>BLONDE AMBITION by Diana Avram</a:t>
            </a:r>
            <a:endParaRPr lang="en-US" sz="1000" dirty="0"/>
          </a:p>
        </p:txBody>
      </p:sp>
      <p:sp>
        <p:nvSpPr>
          <p:cNvPr id="6" name="card-4"/>
          <p:cNvSpPr/>
          <p:nvPr/>
        </p:nvSpPr>
        <p:spPr>
          <a:xfrm>
            <a:off x="457200" y="1188720"/>
            <a:ext cx="3977640" cy="2926080"/>
          </a:xfrm>
          <a:prstGeom prst="roundRect">
            <a:avLst>
              <a:gd name="adj" fmla="val 3125"/>
            </a:avLst>
          </a:prstGeom>
          <a:solidFill>
            <a:srgbClr val="F6EEE9"/>
          </a:solidFill>
          <a:ln w="12700">
            <a:solidFill>
              <a:srgbClr val="F6EEE9"/>
            </a:solidFill>
            <a:prstDash val="solid"/>
          </a:ln>
        </p:spPr>
      </p:sp>
      <p:sp>
        <p:nvSpPr>
          <p:cNvPr id="7" name="text-5"/>
          <p:cNvSpPr txBox="1"/>
          <p:nvPr/>
        </p:nvSpPr>
        <p:spPr>
          <a:xfrm>
            <a:off x="685800" y="1325880"/>
            <a:ext cx="3566160" cy="365760"/>
          </a:xfrm>
          <a:prstGeom prst="rect">
            <a:avLst/>
          </a:prstGeom>
          <a:noFill/>
          <a:ln/>
        </p:spPr>
        <p:txBody>
          <a:bodyPr wrap="square" lIns="0" tIns="0" rIns="0" bIns="0" rtlCol="0" anchor="t"/>
          <a:lstStyle/>
          <a:p>
            <a:pPr indent="0" marL="0">
              <a:buNone/>
            </a:pPr>
            <a:r>
              <a:rPr lang="en-US" sz="1900" b="1" dirty="0">
                <a:solidFill>
                  <a:srgbClr val="8A6A2F"/>
                </a:solidFill>
                <a:latin typeface="Arial" pitchFamily="34" charset="0"/>
                <a:ea typeface="Arial" pitchFamily="34" charset="-122"/>
                <a:cs typeface="Arial" pitchFamily="34" charset="-120"/>
              </a:rPr>
              <a:t>Ce creează LUMINA?</a:t>
            </a:r>
            <a:endParaRPr lang="en-US" sz="1900" dirty="0"/>
          </a:p>
        </p:txBody>
      </p:sp>
      <p:sp>
        <p:nvSpPr>
          <p:cNvPr id="8" name="text-6"/>
          <p:cNvSpPr txBox="1"/>
          <p:nvPr/>
        </p:nvSpPr>
        <p:spPr>
          <a:xfrm>
            <a:off x="685800" y="1783080"/>
            <a:ext cx="3611880" cy="2240280"/>
          </a:xfrm>
          <a:prstGeom prst="rect">
            <a:avLst/>
          </a:prstGeom>
          <a:noFill/>
          <a:ln/>
        </p:spPr>
        <p:txBody>
          <a:bodyPr wrap="square" lIns="0" tIns="0" rIns="0" bIns="0" rtlCol="0" anchor="t"/>
          <a:lstStyle/>
          <a:p>
            <a:pPr marL="177800" indent="-177800">
              <a:spcAft>
                <a:spcPts val="600"/>
              </a:spcAft>
              <a:buSzPct val="100000"/>
              <a:buChar char="•"/>
            </a:pPr>
            <a:r>
              <a:rPr lang="en-US" sz="1600" b="1" dirty="0">
                <a:solidFill>
                  <a:srgbClr val="1E1A18"/>
                </a:solidFill>
                <a:latin typeface="Arial" pitchFamily="34" charset="0"/>
                <a:ea typeface="Arial" pitchFamily="34" charset="-122"/>
                <a:cs typeface="Arial" pitchFamily="34" charset="-120"/>
              </a:rPr>
              <a:t>Evidențiază</a:t>
            </a:r>
            <a:r>
              <a:rPr lang="en-US" sz="1600" dirty="0">
                <a:solidFill>
                  <a:srgbClr val="1E1A18"/>
                </a:solidFill>
                <a:latin typeface="Arial" pitchFamily="34" charset="0"/>
                <a:ea typeface="Arial" pitchFamily="34" charset="-122"/>
                <a:cs typeface="Arial" pitchFamily="34" charset="-120"/>
              </a:rPr>
              <a:t> zonele alese</a:t>
            </a:r>
            <a:endParaRPr lang="en-US" sz="1600" dirty="0"/>
          </a:p>
          <a:p>
            <a:pPr marL="177800" indent="-177800">
              <a:spcAft>
                <a:spcPts val="600"/>
              </a:spcAft>
              <a:buSzPct val="100000"/>
              <a:buChar char="•"/>
            </a:pPr>
            <a:r>
              <a:rPr lang="en-US" sz="1600" dirty="0">
                <a:solidFill>
                  <a:srgbClr val="1E1A18"/>
                </a:solidFill>
                <a:latin typeface="Arial" pitchFamily="34" charset="0"/>
                <a:ea typeface="Arial" pitchFamily="34" charset="-122"/>
                <a:cs typeface="Arial" pitchFamily="34" charset="-120"/>
              </a:rPr>
              <a:t>Atrage privirea spre </a:t>
            </a:r>
            <a:r>
              <a:rPr lang="en-US" sz="1600" b="1" dirty="0">
                <a:solidFill>
                  <a:srgbClr val="1E1A18"/>
                </a:solidFill>
                <a:latin typeface="Arial" pitchFamily="34" charset="0"/>
                <a:ea typeface="Arial" pitchFamily="34" charset="-122"/>
                <a:cs typeface="Arial" pitchFamily="34" charset="-120"/>
              </a:rPr>
              <a:t>conturul feței</a:t>
            </a:r>
            <a:endParaRPr lang="en-US" sz="1600" dirty="0"/>
          </a:p>
          <a:p>
            <a:pPr marL="177800" indent="-177800">
              <a:spcAft>
                <a:spcPts val="600"/>
              </a:spcAft>
              <a:buSzPct val="100000"/>
              <a:buChar char="•"/>
            </a:pPr>
            <a:r>
              <a:rPr lang="en-US" sz="1600" dirty="0">
                <a:solidFill>
                  <a:srgbClr val="1E1A18"/>
                </a:solidFill>
                <a:latin typeface="Arial" pitchFamily="34" charset="0"/>
                <a:ea typeface="Arial" pitchFamily="34" charset="-122"/>
                <a:cs typeface="Arial" pitchFamily="34" charset="-120"/>
              </a:rPr>
              <a:t>Dă </a:t>
            </a:r>
            <a:r>
              <a:rPr lang="en-US" sz="1600" b="1" dirty="0">
                <a:solidFill>
                  <a:srgbClr val="1E1A18"/>
                </a:solidFill>
                <a:latin typeface="Arial" pitchFamily="34" charset="0"/>
                <a:ea typeface="Arial" pitchFamily="34" charset="-122"/>
                <a:cs typeface="Arial" pitchFamily="34" charset="-120"/>
              </a:rPr>
              <a:t>luminozitate și relief</a:t>
            </a:r>
            <a:endParaRPr lang="en-US" sz="1600" dirty="0"/>
          </a:p>
          <a:p>
            <a:pPr marL="177800" indent="-177800">
              <a:spcAft>
                <a:spcPts val="600"/>
              </a:spcAft>
              <a:buSzPct val="100000"/>
              <a:buChar char="•"/>
            </a:pPr>
            <a:r>
              <a:rPr lang="en-US" sz="1600" dirty="0">
                <a:solidFill>
                  <a:srgbClr val="1E1A18"/>
                </a:solidFill>
                <a:latin typeface="Arial" pitchFamily="34" charset="0"/>
                <a:ea typeface="Arial" pitchFamily="34" charset="-122"/>
                <a:cs typeface="Arial" pitchFamily="34" charset="-120"/>
              </a:rPr>
              <a:t>Scoate în evidență </a:t>
            </a:r>
            <a:r>
              <a:rPr lang="en-US" sz="1600" b="1" dirty="0">
                <a:solidFill>
                  <a:srgbClr val="1E1A18"/>
                </a:solidFill>
                <a:latin typeface="Arial" pitchFamily="34" charset="0"/>
                <a:ea typeface="Arial" pitchFamily="34" charset="-122"/>
                <a:cs typeface="Arial" pitchFamily="34" charset="-120"/>
              </a:rPr>
              <a:t>textura și mișcarea</a:t>
            </a:r>
            <a:endParaRPr lang="en-US" sz="1600" dirty="0"/>
          </a:p>
          <a:p>
            <a:pPr marL="177800" indent="-177800">
              <a:spcAft>
                <a:spcPts val="600"/>
              </a:spcAft>
              <a:buSzPct val="100000"/>
              <a:buChar char="•"/>
            </a:pPr>
            <a:r>
              <a:rPr lang="en-US" sz="1600" dirty="0">
                <a:solidFill>
                  <a:srgbClr val="1E1A18"/>
                </a:solidFill>
                <a:latin typeface="Arial" pitchFamily="34" charset="0"/>
                <a:ea typeface="Arial" pitchFamily="34" charset="-122"/>
                <a:cs typeface="Arial" pitchFamily="34" charset="-120"/>
              </a:rPr>
              <a:t>Poate da </a:t>
            </a:r>
            <a:r>
              <a:rPr lang="en-US" sz="1600" b="1" dirty="0">
                <a:solidFill>
                  <a:srgbClr val="1E1A18"/>
                </a:solidFill>
                <a:latin typeface="Arial" pitchFamily="34" charset="0"/>
                <a:ea typeface="Arial" pitchFamily="34" charset="-122"/>
                <a:cs typeface="Arial" pitchFamily="34" charset="-120"/>
              </a:rPr>
              <a:t>efect vizual de volum</a:t>
            </a:r>
            <a:endParaRPr lang="en-US" sz="1600" dirty="0"/>
          </a:p>
        </p:txBody>
      </p:sp>
      <p:sp>
        <p:nvSpPr>
          <p:cNvPr id="9" name="card-7"/>
          <p:cNvSpPr/>
          <p:nvPr/>
        </p:nvSpPr>
        <p:spPr>
          <a:xfrm>
            <a:off x="4709160" y="1188720"/>
            <a:ext cx="3977640" cy="2926080"/>
          </a:xfrm>
          <a:prstGeom prst="roundRect">
            <a:avLst>
              <a:gd name="adj" fmla="val 3125"/>
            </a:avLst>
          </a:prstGeom>
          <a:solidFill>
            <a:srgbClr val="FFFFFF"/>
          </a:solidFill>
          <a:ln w="12700">
            <a:solidFill>
              <a:srgbClr val="E2D3CA"/>
            </a:solidFill>
            <a:prstDash val="solid"/>
          </a:ln>
        </p:spPr>
      </p:sp>
      <p:sp>
        <p:nvSpPr>
          <p:cNvPr id="10" name="text-8"/>
          <p:cNvSpPr txBox="1"/>
          <p:nvPr/>
        </p:nvSpPr>
        <p:spPr>
          <a:xfrm>
            <a:off x="4937760" y="1325880"/>
            <a:ext cx="3566160" cy="365760"/>
          </a:xfrm>
          <a:prstGeom prst="rect">
            <a:avLst/>
          </a:prstGeom>
          <a:noFill/>
          <a:ln/>
        </p:spPr>
        <p:txBody>
          <a:bodyPr wrap="square" lIns="0" tIns="0" rIns="0" bIns="0" rtlCol="0" anchor="t"/>
          <a:lstStyle/>
          <a:p>
            <a:pPr indent="0" marL="0">
              <a:buNone/>
            </a:pPr>
            <a:r>
              <a:rPr lang="en-US" sz="1900" b="1" dirty="0">
                <a:solidFill>
                  <a:srgbClr val="9A4F5C"/>
                </a:solidFill>
                <a:latin typeface="Arial" pitchFamily="34" charset="0"/>
                <a:ea typeface="Arial" pitchFamily="34" charset="-122"/>
                <a:cs typeface="Arial" pitchFamily="34" charset="-120"/>
              </a:rPr>
              <a:t>Ce creează UMBRA?</a:t>
            </a:r>
            <a:endParaRPr lang="en-US" sz="1900" dirty="0"/>
          </a:p>
        </p:txBody>
      </p:sp>
      <p:sp>
        <p:nvSpPr>
          <p:cNvPr id="11" name="text-9"/>
          <p:cNvSpPr txBox="1"/>
          <p:nvPr/>
        </p:nvSpPr>
        <p:spPr>
          <a:xfrm>
            <a:off x="4937760" y="1783080"/>
            <a:ext cx="3611880" cy="224028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rgbClr val="1E1A18"/>
                </a:solidFill>
                <a:latin typeface="Arial" pitchFamily="34" charset="0"/>
                <a:ea typeface="Arial" pitchFamily="34" charset="-122"/>
                <a:cs typeface="Arial" pitchFamily="34" charset="-120"/>
              </a:rPr>
              <a:t>Dă </a:t>
            </a:r>
            <a:r>
              <a:rPr lang="en-US" sz="1600" b="1" dirty="0">
                <a:solidFill>
                  <a:srgbClr val="1E1A18"/>
                </a:solidFill>
                <a:latin typeface="Arial" pitchFamily="34" charset="0"/>
                <a:ea typeface="Arial" pitchFamily="34" charset="-122"/>
                <a:cs typeface="Arial" pitchFamily="34" charset="-120"/>
              </a:rPr>
              <a:t>profunzime și dimensiune</a:t>
            </a:r>
            <a:endParaRPr lang="en-US" sz="1600" dirty="0"/>
          </a:p>
          <a:p>
            <a:pPr marL="177800" indent="-177800">
              <a:spcAft>
                <a:spcPts val="600"/>
              </a:spcAft>
              <a:buSzPct val="100000"/>
              <a:buChar char="•"/>
            </a:pPr>
            <a:r>
              <a:rPr lang="en-US" sz="1600" dirty="0">
                <a:solidFill>
                  <a:srgbClr val="1E1A18"/>
                </a:solidFill>
                <a:latin typeface="Arial" pitchFamily="34" charset="0"/>
                <a:ea typeface="Arial" pitchFamily="34" charset="-122"/>
                <a:cs typeface="Arial" pitchFamily="34" charset="-120"/>
              </a:rPr>
              <a:t>Creează </a:t>
            </a:r>
            <a:r>
              <a:rPr lang="en-US" sz="1600" b="1" dirty="0">
                <a:solidFill>
                  <a:srgbClr val="1E1A18"/>
                </a:solidFill>
                <a:latin typeface="Arial" pitchFamily="34" charset="0"/>
                <a:ea typeface="Arial" pitchFamily="34" charset="-122"/>
                <a:cs typeface="Arial" pitchFamily="34" charset="-120"/>
              </a:rPr>
              <a:t>contrast</a:t>
            </a:r>
            <a:r>
              <a:rPr lang="en-US" sz="1600" dirty="0">
                <a:solidFill>
                  <a:srgbClr val="1E1A18"/>
                </a:solidFill>
                <a:latin typeface="Arial" pitchFamily="34" charset="0"/>
                <a:ea typeface="Arial" pitchFamily="34" charset="-122"/>
                <a:cs typeface="Arial" pitchFamily="34" charset="-120"/>
              </a:rPr>
              <a:t>: blondul iese în evidență</a:t>
            </a:r>
            <a:endParaRPr lang="en-US" sz="1600" dirty="0"/>
          </a:p>
          <a:p>
            <a:pPr marL="177800" indent="-177800">
              <a:spcAft>
                <a:spcPts val="600"/>
              </a:spcAft>
              <a:buSzPct val="100000"/>
              <a:buChar char="•"/>
            </a:pPr>
            <a:r>
              <a:rPr lang="en-US" sz="1600" dirty="0">
                <a:solidFill>
                  <a:srgbClr val="1E1A18"/>
                </a:solidFill>
                <a:latin typeface="Arial" pitchFamily="34" charset="0"/>
                <a:ea typeface="Arial" pitchFamily="34" charset="-122"/>
                <a:cs typeface="Arial" pitchFamily="34" charset="-120"/>
              </a:rPr>
              <a:t>Poate da </a:t>
            </a:r>
            <a:r>
              <a:rPr lang="en-US" sz="1600" b="1" dirty="0">
                <a:solidFill>
                  <a:srgbClr val="1E1A18"/>
                </a:solidFill>
                <a:latin typeface="Arial" pitchFamily="34" charset="0"/>
                <a:ea typeface="Arial" pitchFamily="34" charset="-122"/>
                <a:cs typeface="Arial" pitchFamily="34" charset="-120"/>
              </a:rPr>
              <a:t>efect vizual de densitate</a:t>
            </a:r>
            <a:endParaRPr lang="en-US" sz="1600" dirty="0"/>
          </a:p>
          <a:p>
            <a:pPr marL="177800" indent="-177800">
              <a:spcAft>
                <a:spcPts val="600"/>
              </a:spcAft>
              <a:buSzPct val="100000"/>
              <a:buChar char="•"/>
            </a:pPr>
            <a:r>
              <a:rPr lang="en-US" sz="1600" dirty="0">
                <a:solidFill>
                  <a:srgbClr val="1E1A18"/>
                </a:solidFill>
                <a:latin typeface="Arial" pitchFamily="34" charset="0"/>
                <a:ea typeface="Arial" pitchFamily="34" charset="-122"/>
                <a:cs typeface="Arial" pitchFamily="34" charset="-120"/>
              </a:rPr>
              <a:t>Ajută la un </a:t>
            </a:r>
            <a:r>
              <a:rPr lang="en-US" sz="1600" b="1" dirty="0">
                <a:solidFill>
                  <a:srgbClr val="1E1A18"/>
                </a:solidFill>
                <a:latin typeface="Arial" pitchFamily="34" charset="0"/>
                <a:ea typeface="Arial" pitchFamily="34" charset="-122"/>
                <a:cs typeface="Arial" pitchFamily="34" charset="-120"/>
              </a:rPr>
              <a:t>blond mai natural</a:t>
            </a:r>
            <a:endParaRPr lang="en-US" sz="1600" dirty="0"/>
          </a:p>
          <a:p>
            <a:pPr marL="177800" indent="-177800">
              <a:spcAft>
                <a:spcPts val="600"/>
              </a:spcAft>
              <a:buSzPct val="100000"/>
              <a:buChar char="•"/>
            </a:pPr>
            <a:r>
              <a:rPr lang="en-US" sz="1600" dirty="0">
                <a:solidFill>
                  <a:srgbClr val="1E1A18"/>
                </a:solidFill>
                <a:latin typeface="Arial" pitchFamily="34" charset="0"/>
                <a:ea typeface="Arial" pitchFamily="34" charset="-122"/>
                <a:cs typeface="Arial" pitchFamily="34" charset="-120"/>
              </a:rPr>
              <a:t>Face tranziția rădăcină–lungimi </a:t>
            </a:r>
            <a:r>
              <a:rPr lang="en-US" sz="1600" b="1" dirty="0">
                <a:solidFill>
                  <a:srgbClr val="1E1A18"/>
                </a:solidFill>
                <a:latin typeface="Arial" pitchFamily="34" charset="0"/>
                <a:ea typeface="Arial" pitchFamily="34" charset="-122"/>
                <a:cs typeface="Arial" pitchFamily="34" charset="-120"/>
              </a:rPr>
              <a:t>mai discretă</a:t>
            </a:r>
            <a:endParaRPr lang="en-US" sz="1600" dirty="0"/>
          </a:p>
        </p:txBody>
      </p:sp>
      <p:sp>
        <p:nvSpPr>
          <p:cNvPr id="12" name="text-10"/>
          <p:cNvSpPr txBox="1"/>
          <p:nvPr/>
        </p:nvSpPr>
        <p:spPr>
          <a:xfrm>
            <a:off x="457200" y="4224528"/>
            <a:ext cx="8229600" cy="457200"/>
          </a:xfrm>
          <a:prstGeom prst="rect">
            <a:avLst/>
          </a:prstGeom>
          <a:noFill/>
          <a:ln/>
        </p:spPr>
        <p:txBody>
          <a:bodyPr wrap="square" lIns="0" tIns="0" rIns="0" bIns="0" rtlCol="0" anchor="ctr"/>
          <a:lstStyle/>
          <a:p>
            <a:pPr algn="ctr" indent="0" marL="0">
              <a:buNone/>
            </a:pPr>
            <a:r>
              <a:rPr lang="en-US" sz="2000" b="1" i="1" dirty="0">
                <a:solidFill>
                  <a:srgbClr val="9A4F5C"/>
                </a:solidFill>
                <a:latin typeface="Arial" pitchFamily="34" charset="0"/>
                <a:ea typeface="Arial" pitchFamily="34" charset="-122"/>
                <a:cs typeface="Arial" pitchFamily="34" charset="-120"/>
              </a:rPr>
              <a:t>„Fără umbră, lumina nu are același impact.”</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11"/>
          <p:cNvSpPr txBox="1"/>
          <p:nvPr/>
        </p:nvSpPr>
        <p:spPr>
          <a:xfrm>
            <a:off x="457200" y="228600"/>
            <a:ext cx="8229600" cy="274320"/>
          </a:xfrm>
          <a:prstGeom prst="rect">
            <a:avLst/>
          </a:prstGeom>
          <a:noFill/>
          <a:ln/>
        </p:spPr>
        <p:txBody>
          <a:bodyPr wrap="square" lIns="0" tIns="0" rIns="0" bIns="0" rtlCol="0" anchor="t"/>
          <a:lstStyle/>
          <a:p>
            <a:pPr indent="0" marL="0">
              <a:buNone/>
            </a:pPr>
            <a:r>
              <a:rPr lang="en-US" sz="1200" b="1" spc="100" kern="0" dirty="0">
                <a:solidFill>
                  <a:srgbClr val="9A4F5C"/>
                </a:solidFill>
                <a:latin typeface="Arial" pitchFamily="34" charset="0"/>
                <a:ea typeface="Arial" pitchFamily="34" charset="-122"/>
                <a:cs typeface="Arial" pitchFamily="34" charset="-120"/>
              </a:rPr>
              <a:t>COMPARAȚIE</a:t>
            </a:r>
            <a:endParaRPr lang="en-US" sz="1200" dirty="0"/>
          </a:p>
        </p:txBody>
      </p:sp>
      <p:sp>
        <p:nvSpPr>
          <p:cNvPr id="3" name="text-12"/>
          <p:cNvSpPr txBox="1"/>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1E1A18"/>
                </a:solidFill>
                <a:latin typeface="Arial" pitchFamily="34" charset="0"/>
                <a:ea typeface="Arial" pitchFamily="34" charset="-122"/>
                <a:cs typeface="Arial" pitchFamily="34" charset="-120"/>
              </a:rPr>
              <a:t>Mai mult blond sau mai multă dimensiune?</a:t>
            </a:r>
            <a:endParaRPr lang="en-US" sz="2600" dirty="0"/>
          </a:p>
        </p:txBody>
      </p:sp>
      <p:sp>
        <p:nvSpPr>
          <p:cNvPr id="4" name="text-13"/>
          <p:cNvSpPr txBox="1"/>
          <p:nvPr/>
        </p:nvSpPr>
        <p:spPr>
          <a:xfrm>
            <a:off x="457200" y="4828032"/>
            <a:ext cx="4572000" cy="228600"/>
          </a:xfrm>
          <a:prstGeom prst="rect">
            <a:avLst/>
          </a:prstGeom>
          <a:noFill/>
          <a:ln/>
        </p:spPr>
        <p:txBody>
          <a:bodyPr wrap="square" lIns="0" tIns="0" rIns="0" bIns="0" rtlCol="0" anchor="t"/>
          <a:lstStyle/>
          <a:p>
            <a:pPr indent="0" marL="0">
              <a:buNone/>
            </a:pPr>
            <a:r>
              <a:rPr lang="en-US" sz="1000" dirty="0">
                <a:solidFill>
                  <a:srgbClr val="4A3F3A"/>
                </a:solidFill>
                <a:latin typeface="Arial" pitchFamily="34" charset="0"/>
                <a:ea typeface="Arial" pitchFamily="34" charset="-122"/>
                <a:cs typeface="Arial" pitchFamily="34" charset="-120"/>
              </a:rPr>
              <a:t>BLONDE AMBITION by Diana Avram</a:t>
            </a:r>
            <a:endParaRPr lang="en-US" sz="1000" dirty="0"/>
          </a:p>
        </p:txBody>
      </p:sp>
      <p:sp>
        <p:nvSpPr>
          <p:cNvPr id="6" name="card-14"/>
          <p:cNvSpPr/>
          <p:nvPr/>
        </p:nvSpPr>
        <p:spPr>
          <a:xfrm>
            <a:off x="457200" y="1188720"/>
            <a:ext cx="3977640" cy="2788920"/>
          </a:xfrm>
          <a:prstGeom prst="roundRect">
            <a:avLst>
              <a:gd name="adj" fmla="val 3279"/>
            </a:avLst>
          </a:prstGeom>
          <a:solidFill>
            <a:srgbClr val="F6EEE9"/>
          </a:solidFill>
          <a:ln w="12700">
            <a:solidFill>
              <a:srgbClr val="F6EEE9"/>
            </a:solidFill>
            <a:prstDash val="solid"/>
          </a:ln>
        </p:spPr>
      </p:sp>
      <p:pic>
        <p:nvPicPr>
          <p:cNvPr id="7" name="image-15" descr="A. Blond predominant">    </p:cNvPr>
          <p:cNvPicPr>
            <a:picLocks noChangeAspect="1"/>
          </p:cNvPicPr>
          <p:nvPr/>
        </p:nvPicPr>
        <p:blipFill>
          <a:blip r:embed="rId1"/>
          <a:stretch>
            <a:fillRect/>
          </a:stretch>
        </p:blipFill>
        <p:spPr>
          <a:xfrm>
            <a:off x="640080" y="1325880"/>
            <a:ext cx="1261872" cy="2103120"/>
          </a:xfrm>
          <a:prstGeom prst="rect">
            <a:avLst/>
          </a:prstGeom>
        </p:spPr>
      </p:pic>
      <p:sp>
        <p:nvSpPr>
          <p:cNvPr id="8" name="text-16"/>
          <p:cNvSpPr txBox="1"/>
          <p:nvPr/>
        </p:nvSpPr>
        <p:spPr>
          <a:xfrm>
            <a:off x="2011680" y="1325880"/>
            <a:ext cx="2286000" cy="594360"/>
          </a:xfrm>
          <a:prstGeom prst="rect">
            <a:avLst/>
          </a:prstGeom>
          <a:noFill/>
          <a:ln/>
        </p:spPr>
        <p:txBody>
          <a:bodyPr wrap="square" lIns="0" tIns="0" rIns="0" bIns="0" rtlCol="0" anchor="t"/>
          <a:lstStyle/>
          <a:p>
            <a:pPr indent="0" marL="0">
              <a:buNone/>
            </a:pPr>
            <a:r>
              <a:rPr lang="en-US" sz="1700" b="1" dirty="0">
                <a:solidFill>
                  <a:srgbClr val="9A4F5C"/>
                </a:solidFill>
                <a:latin typeface="Arial" pitchFamily="34" charset="0"/>
                <a:ea typeface="Arial" pitchFamily="34" charset="-122"/>
                <a:cs typeface="Arial" pitchFamily="34" charset="-120"/>
              </a:rPr>
              <a:t>A. Blond predominant</a:t>
            </a:r>
            <a:endParaRPr lang="en-US" sz="1700" dirty="0"/>
          </a:p>
        </p:txBody>
      </p:sp>
      <p:sp>
        <p:nvSpPr>
          <p:cNvPr id="9" name="text-17"/>
          <p:cNvSpPr txBox="1"/>
          <p:nvPr/>
        </p:nvSpPr>
        <p:spPr>
          <a:xfrm>
            <a:off x="2011680" y="1938528"/>
            <a:ext cx="2331720" cy="1965960"/>
          </a:xfrm>
          <a:prstGeom prst="rect">
            <a:avLst/>
          </a:prstGeom>
          <a:noFill/>
          <a:ln/>
        </p:spPr>
        <p:txBody>
          <a:bodyPr wrap="square" lIns="0" tIns="0" rIns="0" bIns="0" rtlCol="0" anchor="t"/>
          <a:lstStyle/>
          <a:p>
            <a:pPr marL="177800" indent="-177800">
              <a:spcAft>
                <a:spcPts val="400"/>
              </a:spcAft>
              <a:buSzPct val="100000"/>
              <a:buChar char="•"/>
            </a:pPr>
            <a:r>
              <a:rPr lang="en-US" sz="1500" b="1" dirty="0">
                <a:solidFill>
                  <a:srgbClr val="1E1A18"/>
                </a:solidFill>
                <a:latin typeface="Arial" pitchFamily="34" charset="0"/>
                <a:ea typeface="Arial" pitchFamily="34" charset="-122"/>
                <a:cs typeface="Arial" pitchFamily="34" charset="-120"/>
              </a:rPr>
              <a:t>Luminozitate</a:t>
            </a:r>
            <a:r>
              <a:rPr lang="en-US" sz="1500" dirty="0">
                <a:solidFill>
                  <a:srgbClr val="1E1A18"/>
                </a:solidFill>
                <a:latin typeface="Arial" pitchFamily="34" charset="0"/>
                <a:ea typeface="Arial" pitchFamily="34" charset="-122"/>
                <a:cs typeface="Arial" pitchFamily="34" charset="-120"/>
              </a:rPr>
              <a:t> ridicată</a:t>
            </a:r>
            <a:endParaRPr lang="en-US" sz="1600" dirty="0"/>
          </a:p>
          <a:p>
            <a:pPr marL="177800" indent="-177800">
              <a:spcAft>
                <a:spcPts val="400"/>
              </a:spcAft>
              <a:buSzPct val="100000"/>
              <a:buChar char="•"/>
            </a:pPr>
            <a:r>
              <a:rPr lang="en-US" sz="1500" b="1" dirty="0">
                <a:solidFill>
                  <a:srgbClr val="1E1A18"/>
                </a:solidFill>
                <a:latin typeface="Arial" pitchFamily="34" charset="0"/>
                <a:ea typeface="Arial" pitchFamily="34" charset="-122"/>
                <a:cs typeface="Arial" pitchFamily="34" charset="-120"/>
              </a:rPr>
              <a:t>Impact</a:t>
            </a:r>
            <a:r>
              <a:rPr lang="en-US" sz="1500" dirty="0">
                <a:solidFill>
                  <a:srgbClr val="1E1A18"/>
                </a:solidFill>
                <a:latin typeface="Arial" pitchFamily="34" charset="0"/>
                <a:ea typeface="Arial" pitchFamily="34" charset="-122"/>
                <a:cs typeface="Arial" pitchFamily="34" charset="-120"/>
              </a:rPr>
              <a:t> imediat</a:t>
            </a:r>
            <a:endParaRPr lang="en-US" sz="1600" dirty="0"/>
          </a:p>
          <a:p>
            <a:pPr marL="177800" indent="-177800">
              <a:spcAft>
                <a:spcPts val="400"/>
              </a:spcAft>
              <a:buSzPct val="100000"/>
              <a:buChar char="•"/>
            </a:pPr>
            <a:r>
              <a:rPr lang="en-US" sz="1500" b="1" dirty="0">
                <a:solidFill>
                  <a:srgbClr val="1E1A18"/>
                </a:solidFill>
                <a:latin typeface="Arial" pitchFamily="34" charset="0"/>
                <a:ea typeface="Arial" pitchFamily="34" charset="-122"/>
                <a:cs typeface="Arial" pitchFamily="34" charset="-120"/>
              </a:rPr>
              <a:t>Contrast</a:t>
            </a:r>
            <a:r>
              <a:rPr lang="en-US" sz="1500" dirty="0">
                <a:solidFill>
                  <a:srgbClr val="1E1A18"/>
                </a:solidFill>
                <a:latin typeface="Arial" pitchFamily="34" charset="0"/>
                <a:ea typeface="Arial" pitchFamily="34" charset="-122"/>
                <a:cs typeface="Arial" pitchFamily="34" charset="-120"/>
              </a:rPr>
              <a:t> intern redus</a:t>
            </a:r>
            <a:endParaRPr lang="en-US" sz="1600" dirty="0"/>
          </a:p>
          <a:p>
            <a:pPr marL="177800" indent="-177800">
              <a:spcAft>
                <a:spcPts val="400"/>
              </a:spcAft>
              <a:buSzPct val="100000"/>
              <a:buChar char="•"/>
            </a:pPr>
            <a:r>
              <a:rPr lang="en-US" sz="1500" dirty="0">
                <a:solidFill>
                  <a:srgbClr val="1E1A18"/>
                </a:solidFill>
                <a:latin typeface="Arial" pitchFamily="34" charset="0"/>
                <a:ea typeface="Arial" pitchFamily="34" charset="-122"/>
                <a:cs typeface="Arial" pitchFamily="34" charset="-120"/>
              </a:rPr>
              <a:t>Mai multă </a:t>
            </a:r>
            <a:r>
              <a:rPr lang="en-US" sz="1500" b="1" dirty="0">
                <a:solidFill>
                  <a:srgbClr val="1E1A18"/>
                </a:solidFill>
                <a:latin typeface="Arial" pitchFamily="34" charset="0"/>
                <a:ea typeface="Arial" pitchFamily="34" charset="-122"/>
                <a:cs typeface="Arial" pitchFamily="34" charset="-120"/>
              </a:rPr>
              <a:t>decolorare</a:t>
            </a:r>
            <a:endParaRPr lang="en-US" sz="1600" dirty="0"/>
          </a:p>
          <a:p>
            <a:pPr marL="177800" indent="-177800">
              <a:spcAft>
                <a:spcPts val="400"/>
              </a:spcAft>
              <a:buSzPct val="100000"/>
              <a:buChar char="•"/>
            </a:pPr>
            <a:r>
              <a:rPr lang="en-US" sz="1500" b="1" dirty="0">
                <a:solidFill>
                  <a:srgbClr val="1E1A18"/>
                </a:solidFill>
                <a:latin typeface="Arial" pitchFamily="34" charset="0"/>
                <a:ea typeface="Arial" pitchFamily="34" charset="-122"/>
                <a:cs typeface="Arial" pitchFamily="34" charset="-120"/>
              </a:rPr>
              <a:t>Întreținere</a:t>
            </a:r>
            <a:r>
              <a:rPr lang="en-US" sz="1500" dirty="0">
                <a:solidFill>
                  <a:srgbClr val="1E1A18"/>
                </a:solidFill>
                <a:latin typeface="Arial" pitchFamily="34" charset="0"/>
                <a:ea typeface="Arial" pitchFamily="34" charset="-122"/>
                <a:cs typeface="Arial" pitchFamily="34" charset="-120"/>
              </a:rPr>
              <a:t> mai deasă</a:t>
            </a:r>
            <a:endParaRPr lang="en-US" sz="1600" dirty="0"/>
          </a:p>
        </p:txBody>
      </p:sp>
      <p:sp>
        <p:nvSpPr>
          <p:cNvPr id="10" name="card-18"/>
          <p:cNvSpPr/>
          <p:nvPr/>
        </p:nvSpPr>
        <p:spPr>
          <a:xfrm>
            <a:off x="4709160" y="1188720"/>
            <a:ext cx="3977640" cy="2788920"/>
          </a:xfrm>
          <a:prstGeom prst="roundRect">
            <a:avLst>
              <a:gd name="adj" fmla="val 3279"/>
            </a:avLst>
          </a:prstGeom>
          <a:solidFill>
            <a:srgbClr val="F6EEE9"/>
          </a:solidFill>
          <a:ln w="12700">
            <a:solidFill>
              <a:srgbClr val="F6EEE9"/>
            </a:solidFill>
            <a:prstDash val="solid"/>
          </a:ln>
        </p:spPr>
      </p:sp>
      <p:pic>
        <p:nvPicPr>
          <p:cNvPr id="11" name="image-19" descr="B. Blond cu umbre strategice">    </p:cNvPr>
          <p:cNvPicPr>
            <a:picLocks noChangeAspect="1"/>
          </p:cNvPicPr>
          <p:nvPr/>
        </p:nvPicPr>
        <p:blipFill>
          <a:blip r:embed="rId2"/>
          <a:stretch>
            <a:fillRect/>
          </a:stretch>
        </p:blipFill>
        <p:spPr>
          <a:xfrm>
            <a:off x="4892040" y="1325880"/>
            <a:ext cx="1261872" cy="2103120"/>
          </a:xfrm>
          <a:prstGeom prst="rect">
            <a:avLst/>
          </a:prstGeom>
        </p:spPr>
      </p:pic>
      <p:sp>
        <p:nvSpPr>
          <p:cNvPr id="12" name="text-20"/>
          <p:cNvSpPr txBox="1"/>
          <p:nvPr/>
        </p:nvSpPr>
        <p:spPr>
          <a:xfrm>
            <a:off x="6263640" y="1325880"/>
            <a:ext cx="2286000" cy="594360"/>
          </a:xfrm>
          <a:prstGeom prst="rect">
            <a:avLst/>
          </a:prstGeom>
          <a:noFill/>
          <a:ln/>
        </p:spPr>
        <p:txBody>
          <a:bodyPr wrap="square" lIns="0" tIns="0" rIns="0" bIns="0" rtlCol="0" anchor="t"/>
          <a:lstStyle/>
          <a:p>
            <a:pPr indent="0" marL="0">
              <a:buNone/>
            </a:pPr>
            <a:r>
              <a:rPr lang="en-US" sz="1700" b="1" dirty="0">
                <a:solidFill>
                  <a:srgbClr val="9A4F5C"/>
                </a:solidFill>
                <a:latin typeface="Arial" pitchFamily="34" charset="0"/>
                <a:ea typeface="Arial" pitchFamily="34" charset="-122"/>
                <a:cs typeface="Arial" pitchFamily="34" charset="-120"/>
              </a:rPr>
              <a:t>B. Blond cu umbre strategice</a:t>
            </a:r>
            <a:endParaRPr lang="en-US" sz="1700" dirty="0"/>
          </a:p>
        </p:txBody>
      </p:sp>
      <p:sp>
        <p:nvSpPr>
          <p:cNvPr id="13" name="text-21"/>
          <p:cNvSpPr txBox="1"/>
          <p:nvPr/>
        </p:nvSpPr>
        <p:spPr>
          <a:xfrm>
            <a:off x="6263640" y="1938528"/>
            <a:ext cx="2331720" cy="1965960"/>
          </a:xfrm>
          <a:prstGeom prst="rect">
            <a:avLst/>
          </a:prstGeom>
          <a:noFill/>
          <a:ln/>
        </p:spPr>
        <p:txBody>
          <a:bodyPr wrap="square" lIns="0" tIns="0" rIns="0" bIns="0" rtlCol="0" anchor="t"/>
          <a:lstStyle/>
          <a:p>
            <a:pPr marL="177800" indent="-177800">
              <a:spcAft>
                <a:spcPts val="400"/>
              </a:spcAft>
              <a:buSzPct val="100000"/>
              <a:buChar char="•"/>
            </a:pPr>
            <a:r>
              <a:rPr lang="en-US" sz="1500" b="1" dirty="0">
                <a:solidFill>
                  <a:srgbClr val="1E1A18"/>
                </a:solidFill>
                <a:latin typeface="Arial" pitchFamily="34" charset="0"/>
                <a:ea typeface="Arial" pitchFamily="34" charset="-122"/>
                <a:cs typeface="Arial" pitchFamily="34" charset="-120"/>
              </a:rPr>
              <a:t>Contrast</a:t>
            </a:r>
            <a:r>
              <a:rPr lang="en-US" sz="1500" dirty="0">
                <a:solidFill>
                  <a:srgbClr val="1E1A18"/>
                </a:solidFill>
                <a:latin typeface="Arial" pitchFamily="34" charset="0"/>
                <a:ea typeface="Arial" pitchFamily="34" charset="-122"/>
                <a:cs typeface="Arial" pitchFamily="34" charset="-120"/>
              </a:rPr>
              <a:t> lumină–umbră</a:t>
            </a:r>
            <a:endParaRPr lang="en-US" sz="1600" dirty="0"/>
          </a:p>
          <a:p>
            <a:pPr marL="177800" indent="-177800">
              <a:spcAft>
                <a:spcPts val="400"/>
              </a:spcAft>
              <a:buSzPct val="100000"/>
              <a:buChar char="•"/>
            </a:pPr>
            <a:r>
              <a:rPr lang="en-US" sz="1500" b="1" dirty="0">
                <a:solidFill>
                  <a:srgbClr val="1E1A18"/>
                </a:solidFill>
                <a:latin typeface="Arial" pitchFamily="34" charset="0"/>
                <a:ea typeface="Arial" pitchFamily="34" charset="-122"/>
                <a:cs typeface="Arial" pitchFamily="34" charset="-120"/>
              </a:rPr>
              <a:t>Dimensiune</a:t>
            </a:r>
            <a:r>
              <a:rPr lang="en-US" sz="1500" dirty="0">
                <a:solidFill>
                  <a:srgbClr val="1E1A18"/>
                </a:solidFill>
                <a:latin typeface="Arial" pitchFamily="34" charset="0"/>
                <a:ea typeface="Arial" pitchFamily="34" charset="-122"/>
                <a:cs typeface="Arial" pitchFamily="34" charset="-120"/>
              </a:rPr>
              <a:t>, profunzime</a:t>
            </a:r>
            <a:endParaRPr lang="en-US" sz="1600" dirty="0"/>
          </a:p>
          <a:p>
            <a:pPr marL="177800" indent="-177800">
              <a:spcAft>
                <a:spcPts val="400"/>
              </a:spcAft>
              <a:buSzPct val="100000"/>
              <a:buChar char="•"/>
            </a:pPr>
            <a:r>
              <a:rPr lang="en-US" sz="1500" dirty="0">
                <a:solidFill>
                  <a:srgbClr val="1E1A18"/>
                </a:solidFill>
                <a:latin typeface="Arial" pitchFamily="34" charset="0"/>
                <a:ea typeface="Arial" pitchFamily="34" charset="-122"/>
                <a:cs typeface="Arial" pitchFamily="34" charset="-120"/>
              </a:rPr>
              <a:t>Blondul </a:t>
            </a:r>
            <a:r>
              <a:rPr lang="en-US" sz="1500" b="1" dirty="0">
                <a:solidFill>
                  <a:srgbClr val="1E1A18"/>
                </a:solidFill>
                <a:latin typeface="Arial" pitchFamily="34" charset="0"/>
                <a:ea typeface="Arial" pitchFamily="34" charset="-122"/>
                <a:cs typeface="Arial" pitchFamily="34" charset="-120"/>
              </a:rPr>
              <a:t>iese în evidență</a:t>
            </a:r>
            <a:endParaRPr lang="en-US" sz="1600" dirty="0"/>
          </a:p>
          <a:p>
            <a:pPr marL="177800" indent="-177800">
              <a:spcAft>
                <a:spcPts val="400"/>
              </a:spcAft>
              <a:buSzPct val="100000"/>
              <a:buChar char="•"/>
            </a:pPr>
            <a:r>
              <a:rPr lang="en-US" sz="1500" dirty="0">
                <a:solidFill>
                  <a:srgbClr val="1E1A18"/>
                </a:solidFill>
                <a:latin typeface="Arial" pitchFamily="34" charset="0"/>
                <a:ea typeface="Arial" pitchFamily="34" charset="-122"/>
                <a:cs typeface="Arial" pitchFamily="34" charset="-120"/>
              </a:rPr>
              <a:t>Mai mult </a:t>
            </a:r>
            <a:r>
              <a:rPr lang="en-US" sz="1500" b="1" dirty="0">
                <a:solidFill>
                  <a:srgbClr val="1E1A18"/>
                </a:solidFill>
                <a:latin typeface="Arial" pitchFamily="34" charset="0"/>
                <a:ea typeface="Arial" pitchFamily="34" charset="-122"/>
                <a:cs typeface="Arial" pitchFamily="34" charset="-120"/>
              </a:rPr>
              <a:t>păr natural</a:t>
            </a:r>
            <a:endParaRPr lang="en-US" sz="1600" dirty="0"/>
          </a:p>
          <a:p>
            <a:pPr marL="177800" indent="-177800">
              <a:spcAft>
                <a:spcPts val="400"/>
              </a:spcAft>
              <a:buSzPct val="100000"/>
              <a:buChar char="•"/>
            </a:pPr>
            <a:r>
              <a:rPr lang="en-US" sz="1500" dirty="0">
                <a:solidFill>
                  <a:srgbClr val="1E1A18"/>
                </a:solidFill>
                <a:latin typeface="Arial" pitchFamily="34" charset="0"/>
                <a:ea typeface="Arial" pitchFamily="34" charset="-122"/>
                <a:cs typeface="Arial" pitchFamily="34" charset="-120"/>
              </a:rPr>
              <a:t>Creștere </a:t>
            </a:r>
            <a:r>
              <a:rPr lang="en-US" sz="1500" b="1" dirty="0">
                <a:solidFill>
                  <a:srgbClr val="1E1A18"/>
                </a:solidFill>
                <a:latin typeface="Arial" pitchFamily="34" charset="0"/>
                <a:ea typeface="Arial" pitchFamily="34" charset="-122"/>
                <a:cs typeface="Arial" pitchFamily="34" charset="-120"/>
              </a:rPr>
              <a:t>mai naturală</a:t>
            </a:r>
            <a:endParaRPr lang="en-US" sz="1600" dirty="0"/>
          </a:p>
        </p:txBody>
      </p:sp>
      <p:sp>
        <p:nvSpPr>
          <p:cNvPr id="14" name="text-22"/>
          <p:cNvSpPr txBox="1"/>
          <p:nvPr/>
        </p:nvSpPr>
        <p:spPr>
          <a:xfrm>
            <a:off x="457200" y="4069080"/>
            <a:ext cx="8229600" cy="685800"/>
          </a:xfrm>
          <a:prstGeom prst="rect">
            <a:avLst/>
          </a:prstGeom>
          <a:noFill/>
          <a:ln/>
        </p:spPr>
        <p:txBody>
          <a:bodyPr wrap="square" lIns="0" tIns="0" rIns="0" bIns="0" rtlCol="0" anchor="ctr"/>
          <a:lstStyle/>
          <a:p>
            <a:pPr indent="0" marL="0">
              <a:buNone/>
            </a:pPr>
            <a:r>
              <a:rPr lang="en-US" sz="1500" b="1" dirty="0">
                <a:solidFill>
                  <a:srgbClr val="1E1A18"/>
                </a:solidFill>
                <a:latin typeface="Arial" pitchFamily="34" charset="0"/>
                <a:ea typeface="Arial" pitchFamily="34" charset="-122"/>
                <a:cs typeface="Arial" pitchFamily="34" charset="-120"/>
              </a:rPr>
              <a:t>De ce mai puțin blond poate părea mai spectaculos?</a:t>
            </a:r>
            <a:r>
              <a:rPr lang="en-US" sz="1500" dirty="0">
                <a:solidFill>
                  <a:srgbClr val="1E1A18"/>
                </a:solidFill>
                <a:latin typeface="Arial" pitchFamily="34" charset="0"/>
                <a:ea typeface="Arial" pitchFamily="34" charset="-122"/>
                <a:cs typeface="Arial" pitchFamily="34" charset="-120"/>
              </a:rPr>
              <a:t> Ochiul vede luminozitatea prin </a:t>
            </a:r>
            <a:r>
              <a:rPr lang="en-US" sz="1500" b="1" dirty="0">
                <a:solidFill>
                  <a:srgbClr val="1E1A18"/>
                </a:solidFill>
                <a:latin typeface="Arial" pitchFamily="34" charset="0"/>
                <a:ea typeface="Arial" pitchFamily="34" charset="-122"/>
                <a:cs typeface="Arial" pitchFamily="34" charset="-120"/>
              </a:rPr>
              <a:t>contrast</a:t>
            </a:r>
            <a:r>
              <a:rPr lang="en-US" sz="1500" dirty="0">
                <a:solidFill>
                  <a:srgbClr val="1E1A18"/>
                </a:solidFill>
                <a:latin typeface="Arial" pitchFamily="34" charset="0"/>
                <a:ea typeface="Arial" pitchFamily="34" charset="-122"/>
                <a:cs typeface="Arial" pitchFamily="34" charset="-120"/>
              </a:rPr>
              <a:t>: o șuviță blondă lângă o zonă mai închisă pare mai luminoasă.</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23"/>
          <p:cNvSpPr txBox="1"/>
          <p:nvPr/>
        </p:nvSpPr>
        <p:spPr>
          <a:xfrm>
            <a:off x="457200" y="228600"/>
            <a:ext cx="8229600" cy="274320"/>
          </a:xfrm>
          <a:prstGeom prst="rect">
            <a:avLst/>
          </a:prstGeom>
          <a:noFill/>
          <a:ln/>
        </p:spPr>
        <p:txBody>
          <a:bodyPr wrap="square" lIns="0" tIns="0" rIns="0" bIns="0" rtlCol="0" anchor="t"/>
          <a:lstStyle/>
          <a:p>
            <a:pPr indent="0" marL="0">
              <a:buNone/>
            </a:pPr>
            <a:r>
              <a:rPr lang="en-US" sz="1200" b="1" spc="100" kern="0" dirty="0">
                <a:solidFill>
                  <a:srgbClr val="9A4F5C"/>
                </a:solidFill>
                <a:latin typeface="Arial" pitchFamily="34" charset="0"/>
                <a:ea typeface="Arial" pitchFamily="34" charset="-122"/>
                <a:cs typeface="Arial" pitchFamily="34" charset="-120"/>
              </a:rPr>
              <a:t>TRANZIȚIA LA RĂDĂCINĂ</a:t>
            </a:r>
            <a:endParaRPr lang="en-US" sz="1200" dirty="0"/>
          </a:p>
        </p:txBody>
      </p:sp>
      <p:sp>
        <p:nvSpPr>
          <p:cNvPr id="3" name="text-24"/>
          <p:cNvSpPr txBox="1"/>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1E1A18"/>
                </a:solidFill>
                <a:latin typeface="Arial" pitchFamily="34" charset="0"/>
                <a:ea typeface="Arial" pitchFamily="34" charset="-122"/>
                <a:cs typeface="Arial" pitchFamily="34" charset="-120"/>
              </a:rPr>
              <a:t>Impact vs. longevitate</a:t>
            </a:r>
            <a:endParaRPr lang="en-US" sz="2600" dirty="0"/>
          </a:p>
        </p:txBody>
      </p:sp>
      <p:sp>
        <p:nvSpPr>
          <p:cNvPr id="4" name="text-25"/>
          <p:cNvSpPr txBox="1"/>
          <p:nvPr/>
        </p:nvSpPr>
        <p:spPr>
          <a:xfrm>
            <a:off x="457200" y="4828032"/>
            <a:ext cx="4572000" cy="228600"/>
          </a:xfrm>
          <a:prstGeom prst="rect">
            <a:avLst/>
          </a:prstGeom>
          <a:noFill/>
          <a:ln/>
        </p:spPr>
        <p:txBody>
          <a:bodyPr wrap="square" lIns="0" tIns="0" rIns="0" bIns="0" rtlCol="0" anchor="t"/>
          <a:lstStyle/>
          <a:p>
            <a:pPr indent="0" marL="0">
              <a:buNone/>
            </a:pPr>
            <a:r>
              <a:rPr lang="en-US" sz="1000" dirty="0">
                <a:solidFill>
                  <a:srgbClr val="4A3F3A"/>
                </a:solidFill>
                <a:latin typeface="Arial" pitchFamily="34" charset="0"/>
                <a:ea typeface="Arial" pitchFamily="34" charset="-122"/>
                <a:cs typeface="Arial" pitchFamily="34" charset="-120"/>
              </a:rPr>
              <a:t>BLONDE AMBITION by Diana Avram</a:t>
            </a:r>
            <a:endParaRPr lang="en-US" sz="1000" dirty="0"/>
          </a:p>
        </p:txBody>
      </p:sp>
      <p:sp>
        <p:nvSpPr>
          <p:cNvPr id="6" name="card-26"/>
          <p:cNvSpPr/>
          <p:nvPr/>
        </p:nvSpPr>
        <p:spPr>
          <a:xfrm>
            <a:off x="457200" y="1143000"/>
            <a:ext cx="3977640" cy="3154680"/>
          </a:xfrm>
          <a:prstGeom prst="roundRect">
            <a:avLst>
              <a:gd name="adj" fmla="val 2899"/>
            </a:avLst>
          </a:prstGeom>
          <a:solidFill>
            <a:srgbClr val="FFFFFF"/>
          </a:solidFill>
          <a:ln w="12700">
            <a:solidFill>
              <a:srgbClr val="E2D3CA"/>
            </a:solidFill>
            <a:prstDash val="solid"/>
          </a:ln>
        </p:spPr>
      </p:sp>
      <p:sp>
        <p:nvSpPr>
          <p:cNvPr id="7" name="text-27"/>
          <p:cNvSpPr txBox="1"/>
          <p:nvPr/>
        </p:nvSpPr>
        <p:spPr>
          <a:xfrm>
            <a:off x="640080" y="1234440"/>
            <a:ext cx="3657600" cy="365760"/>
          </a:xfrm>
          <a:prstGeom prst="rect">
            <a:avLst/>
          </a:prstGeom>
          <a:noFill/>
          <a:ln/>
        </p:spPr>
        <p:txBody>
          <a:bodyPr wrap="square" lIns="0" tIns="0" rIns="0" bIns="0" rtlCol="0" anchor="t"/>
          <a:lstStyle/>
          <a:p>
            <a:pPr indent="0" marL="0">
              <a:buNone/>
            </a:pPr>
            <a:r>
              <a:rPr lang="en-US" sz="1700" b="1" dirty="0">
                <a:solidFill>
                  <a:srgbClr val="9A4F5C"/>
                </a:solidFill>
                <a:latin typeface="Arial" pitchFamily="34" charset="0"/>
                <a:ea typeface="Arial" pitchFamily="34" charset="-122"/>
                <a:cs typeface="Arial" pitchFamily="34" charset="-120"/>
              </a:rPr>
              <a:t>Blond aproape de rădăcină</a:t>
            </a:r>
            <a:endParaRPr lang="en-US" sz="1700" dirty="0"/>
          </a:p>
        </p:txBody>
      </p:sp>
      <p:pic>
        <p:nvPicPr>
          <p:cNvPr id="8" name="image-28" descr="Blond aproape de rădăcină">    </p:cNvPr>
          <p:cNvPicPr>
            <a:picLocks noChangeAspect="1"/>
          </p:cNvPicPr>
          <p:nvPr/>
        </p:nvPicPr>
        <p:blipFill>
          <a:blip r:embed="rId1"/>
          <a:stretch>
            <a:fillRect/>
          </a:stretch>
        </p:blipFill>
        <p:spPr>
          <a:xfrm>
            <a:off x="640080" y="1664208"/>
            <a:ext cx="1014984" cy="1691640"/>
          </a:xfrm>
          <a:prstGeom prst="rect">
            <a:avLst/>
          </a:prstGeom>
        </p:spPr>
      </p:pic>
      <p:sp>
        <p:nvSpPr>
          <p:cNvPr id="9" name="text-29"/>
          <p:cNvSpPr txBox="1"/>
          <p:nvPr/>
        </p:nvSpPr>
        <p:spPr>
          <a:xfrm>
            <a:off x="594360" y="3401568"/>
            <a:ext cx="1106424" cy="411480"/>
          </a:xfrm>
          <a:prstGeom prst="rect">
            <a:avLst/>
          </a:prstGeom>
          <a:noFill/>
          <a:ln/>
        </p:spPr>
        <p:txBody>
          <a:bodyPr wrap="square" lIns="0" tIns="0" rIns="0" bIns="0" rtlCol="0" anchor="t"/>
          <a:lstStyle/>
          <a:p>
            <a:pPr algn="ctr" indent="0" marL="0">
              <a:buNone/>
            </a:pPr>
            <a:r>
              <a:rPr lang="en-US" sz="1200" i="1" dirty="0">
                <a:solidFill>
                  <a:srgbClr val="4A3F3A"/>
                </a:solidFill>
                <a:latin typeface="Arial" pitchFamily="34" charset="0"/>
                <a:ea typeface="Arial" pitchFamily="34" charset="-122"/>
                <a:cs typeface="Arial" pitchFamily="34" charset="-120"/>
              </a:rPr>
              <a:t>Creștere: linie vizibilă</a:t>
            </a:r>
            <a:endParaRPr lang="en-US" sz="1200" dirty="0"/>
          </a:p>
        </p:txBody>
      </p:sp>
      <p:sp>
        <p:nvSpPr>
          <p:cNvPr id="10" name="text-30"/>
          <p:cNvSpPr txBox="1"/>
          <p:nvPr/>
        </p:nvSpPr>
        <p:spPr>
          <a:xfrm>
            <a:off x="1737360" y="1664208"/>
            <a:ext cx="2560320" cy="256032"/>
          </a:xfrm>
          <a:prstGeom prst="rect">
            <a:avLst/>
          </a:prstGeom>
          <a:noFill/>
          <a:ln/>
        </p:spPr>
        <p:txBody>
          <a:bodyPr wrap="square" lIns="0" tIns="0" rIns="0" bIns="0" rtlCol="0" anchor="t"/>
          <a:lstStyle/>
          <a:p>
            <a:pPr indent="0" marL="0">
              <a:buNone/>
            </a:pPr>
            <a:r>
              <a:rPr lang="en-US" sz="1300" b="1" dirty="0">
                <a:solidFill>
                  <a:srgbClr val="3F6B4C"/>
                </a:solidFill>
                <a:latin typeface="Arial" pitchFamily="34" charset="0"/>
                <a:ea typeface="Arial" pitchFamily="34" charset="-122"/>
                <a:cs typeface="Arial" pitchFamily="34" charset="-120"/>
              </a:rPr>
              <a:t>AVANTAJE</a:t>
            </a:r>
            <a:endParaRPr lang="en-US" sz="1300" dirty="0"/>
          </a:p>
        </p:txBody>
      </p:sp>
      <p:sp>
        <p:nvSpPr>
          <p:cNvPr id="11" name="text-31"/>
          <p:cNvSpPr txBox="1"/>
          <p:nvPr/>
        </p:nvSpPr>
        <p:spPr>
          <a:xfrm>
            <a:off x="1737360" y="1938528"/>
            <a:ext cx="2606040" cy="1143000"/>
          </a:xfrm>
          <a:prstGeom prst="rect">
            <a:avLst/>
          </a:prstGeom>
          <a:noFill/>
          <a:ln/>
        </p:spPr>
        <p:txBody>
          <a:bodyPr wrap="square" lIns="0" tIns="0" rIns="0" bIns="0" rtlCol="0" anchor="t"/>
          <a:lstStyle/>
          <a:p>
            <a:pPr marL="177800" indent="-177800">
              <a:spcAft>
                <a:spcPts val="200"/>
              </a:spcAft>
              <a:buSzPct val="100000"/>
              <a:buChar char="•"/>
            </a:pPr>
            <a:r>
              <a:rPr lang="en-US" sz="1400" b="1" dirty="0">
                <a:solidFill>
                  <a:srgbClr val="1E1A18"/>
                </a:solidFill>
                <a:latin typeface="Arial" pitchFamily="34" charset="0"/>
                <a:ea typeface="Arial" pitchFamily="34" charset="-122"/>
                <a:cs typeface="Arial" pitchFamily="34" charset="-120"/>
              </a:rPr>
              <a:t>Impact</a:t>
            </a:r>
            <a:r>
              <a:rPr lang="en-US" sz="1400" dirty="0">
                <a:solidFill>
                  <a:srgbClr val="1E1A18"/>
                </a:solidFill>
                <a:latin typeface="Arial" pitchFamily="34" charset="0"/>
                <a:ea typeface="Arial" pitchFamily="34" charset="-122"/>
                <a:cs typeface="Arial" pitchFamily="34" charset="-120"/>
              </a:rPr>
              <a:t> imediat</a:t>
            </a:r>
            <a:endParaRPr lang="en-US" sz="1600" dirty="0"/>
          </a:p>
          <a:p>
            <a:pPr marL="177800" indent="-177800">
              <a:spcAft>
                <a:spcPts val="200"/>
              </a:spcAft>
              <a:buSzPct val="100000"/>
              <a:buChar char="•"/>
            </a:pPr>
            <a:r>
              <a:rPr lang="en-US" sz="1400" dirty="0">
                <a:solidFill>
                  <a:srgbClr val="1E1A18"/>
                </a:solidFill>
                <a:latin typeface="Arial" pitchFamily="34" charset="0"/>
                <a:ea typeface="Arial" pitchFamily="34" charset="-122"/>
                <a:cs typeface="Arial" pitchFamily="34" charset="-120"/>
              </a:rPr>
              <a:t>Blond </a:t>
            </a:r>
            <a:r>
              <a:rPr lang="en-US" sz="1400" b="1" dirty="0">
                <a:solidFill>
                  <a:srgbClr val="1E1A18"/>
                </a:solidFill>
                <a:latin typeface="Arial" pitchFamily="34" charset="0"/>
                <a:ea typeface="Arial" pitchFamily="34" charset="-122"/>
                <a:cs typeface="Arial" pitchFamily="34" charset="-120"/>
              </a:rPr>
              <a:t>de la rădăcină</a:t>
            </a:r>
            <a:endParaRPr lang="en-US" sz="1600" dirty="0"/>
          </a:p>
          <a:p>
            <a:pPr marL="177800" indent="-177800">
              <a:spcAft>
                <a:spcPts val="200"/>
              </a:spcAft>
              <a:buSzPct val="100000"/>
              <a:buChar char="•"/>
            </a:pPr>
            <a:r>
              <a:rPr lang="en-US" sz="1400" b="1" dirty="0">
                <a:solidFill>
                  <a:srgbClr val="1E1A18"/>
                </a:solidFill>
                <a:latin typeface="Arial" pitchFamily="34" charset="0"/>
                <a:ea typeface="Arial" pitchFamily="34" charset="-122"/>
                <a:cs typeface="Arial" pitchFamily="34" charset="-120"/>
              </a:rPr>
              <a:t>Luminozitate</a:t>
            </a:r>
            <a:r>
              <a:rPr lang="en-US" sz="1400" dirty="0">
                <a:solidFill>
                  <a:srgbClr val="1E1A18"/>
                </a:solidFill>
                <a:latin typeface="Arial" pitchFamily="34" charset="0"/>
                <a:ea typeface="Arial" pitchFamily="34" charset="-122"/>
                <a:cs typeface="Arial" pitchFamily="34" charset="-120"/>
              </a:rPr>
              <a:t> maximă</a:t>
            </a:r>
            <a:endParaRPr lang="en-US" sz="1600" dirty="0"/>
          </a:p>
        </p:txBody>
      </p:sp>
      <p:sp>
        <p:nvSpPr>
          <p:cNvPr id="12" name="text-32"/>
          <p:cNvSpPr txBox="1"/>
          <p:nvPr/>
        </p:nvSpPr>
        <p:spPr>
          <a:xfrm>
            <a:off x="1737360" y="3081528"/>
            <a:ext cx="2560320" cy="256032"/>
          </a:xfrm>
          <a:prstGeom prst="rect">
            <a:avLst/>
          </a:prstGeom>
          <a:noFill/>
          <a:ln/>
        </p:spPr>
        <p:txBody>
          <a:bodyPr wrap="square" lIns="0" tIns="0" rIns="0" bIns="0" rtlCol="0" anchor="t"/>
          <a:lstStyle/>
          <a:p>
            <a:pPr indent="0" marL="0">
              <a:buNone/>
            </a:pPr>
            <a:r>
              <a:rPr lang="en-US" sz="1300" b="1" dirty="0">
                <a:solidFill>
                  <a:srgbClr val="9A3A34"/>
                </a:solidFill>
                <a:latin typeface="Arial" pitchFamily="34" charset="0"/>
                <a:ea typeface="Arial" pitchFamily="34" charset="-122"/>
                <a:cs typeface="Arial" pitchFamily="34" charset="-120"/>
              </a:rPr>
              <a:t>DEZAVANTAJE</a:t>
            </a:r>
            <a:endParaRPr lang="en-US" sz="1300" dirty="0"/>
          </a:p>
        </p:txBody>
      </p:sp>
      <p:sp>
        <p:nvSpPr>
          <p:cNvPr id="13" name="text-33"/>
          <p:cNvSpPr txBox="1"/>
          <p:nvPr/>
        </p:nvSpPr>
        <p:spPr>
          <a:xfrm>
            <a:off x="1737360" y="3355848"/>
            <a:ext cx="2606040" cy="914400"/>
          </a:xfrm>
          <a:prstGeom prst="rect">
            <a:avLst/>
          </a:prstGeom>
          <a:noFill/>
          <a:ln/>
        </p:spPr>
        <p:txBody>
          <a:bodyPr wrap="square" lIns="0" tIns="0" rIns="0" bIns="0" rtlCol="0" anchor="t"/>
          <a:lstStyle/>
          <a:p>
            <a:pPr marL="177800" indent="-177800">
              <a:spcAft>
                <a:spcPts val="200"/>
              </a:spcAft>
              <a:buSzPct val="100000"/>
              <a:buChar char="•"/>
            </a:pPr>
            <a:r>
              <a:rPr lang="en-US" sz="1400" dirty="0">
                <a:solidFill>
                  <a:srgbClr val="1E1A18"/>
                </a:solidFill>
                <a:latin typeface="Arial" pitchFamily="34" charset="0"/>
                <a:ea typeface="Arial" pitchFamily="34" charset="-122"/>
                <a:cs typeface="Arial" pitchFamily="34" charset="-120"/>
              </a:rPr>
              <a:t>Creștere vizibilă </a:t>
            </a:r>
            <a:r>
              <a:rPr lang="en-US" sz="1400" b="1" dirty="0">
                <a:solidFill>
                  <a:srgbClr val="1E1A18"/>
                </a:solidFill>
                <a:latin typeface="Arial" pitchFamily="34" charset="0"/>
                <a:ea typeface="Arial" pitchFamily="34" charset="-122"/>
                <a:cs typeface="Arial" pitchFamily="34" charset="-120"/>
              </a:rPr>
              <a:t>mai repede</a:t>
            </a:r>
            <a:endParaRPr lang="en-US" sz="1600" dirty="0"/>
          </a:p>
          <a:p>
            <a:pPr marL="177800" indent="-177800">
              <a:spcAft>
                <a:spcPts val="200"/>
              </a:spcAft>
              <a:buSzPct val="100000"/>
              <a:buChar char="•"/>
            </a:pPr>
            <a:r>
              <a:rPr lang="en-US" sz="1400" dirty="0">
                <a:solidFill>
                  <a:srgbClr val="1E1A18"/>
                </a:solidFill>
                <a:latin typeface="Arial" pitchFamily="34" charset="0"/>
                <a:ea typeface="Arial" pitchFamily="34" charset="-122"/>
                <a:cs typeface="Arial" pitchFamily="34" charset="-120"/>
              </a:rPr>
              <a:t>Risc de </a:t>
            </a:r>
            <a:r>
              <a:rPr lang="en-US" sz="1400" b="1" dirty="0">
                <a:solidFill>
                  <a:srgbClr val="1E1A18"/>
                </a:solidFill>
                <a:latin typeface="Arial" pitchFamily="34" charset="0"/>
                <a:ea typeface="Arial" pitchFamily="34" charset="-122"/>
                <a:cs typeface="Arial" pitchFamily="34" charset="-120"/>
              </a:rPr>
              <a:t>linie de demarcație</a:t>
            </a:r>
            <a:endParaRPr lang="en-US" sz="1600" dirty="0"/>
          </a:p>
          <a:p>
            <a:pPr marL="177800" indent="-177800">
              <a:spcAft>
                <a:spcPts val="200"/>
              </a:spcAft>
              <a:buSzPct val="100000"/>
              <a:buChar char="•"/>
            </a:pPr>
            <a:r>
              <a:rPr lang="en-US" sz="1400" dirty="0">
                <a:solidFill>
                  <a:srgbClr val="1E1A18"/>
                </a:solidFill>
                <a:latin typeface="Arial" pitchFamily="34" charset="0"/>
                <a:ea typeface="Arial" pitchFamily="34" charset="-122"/>
                <a:cs typeface="Arial" pitchFamily="34" charset="-120"/>
              </a:rPr>
              <a:t>Retușuri </a:t>
            </a:r>
            <a:r>
              <a:rPr lang="en-US" sz="1400" b="1" dirty="0">
                <a:solidFill>
                  <a:srgbClr val="1E1A18"/>
                </a:solidFill>
                <a:latin typeface="Arial" pitchFamily="34" charset="0"/>
                <a:ea typeface="Arial" pitchFamily="34" charset="-122"/>
                <a:cs typeface="Arial" pitchFamily="34" charset="-120"/>
              </a:rPr>
              <a:t>mai dese</a:t>
            </a:r>
            <a:endParaRPr lang="en-US" sz="1600" dirty="0"/>
          </a:p>
        </p:txBody>
      </p:sp>
      <p:sp>
        <p:nvSpPr>
          <p:cNvPr id="14" name="card-34"/>
          <p:cNvSpPr/>
          <p:nvPr/>
        </p:nvSpPr>
        <p:spPr>
          <a:xfrm>
            <a:off x="4709160" y="1143000"/>
            <a:ext cx="3977640" cy="3154680"/>
          </a:xfrm>
          <a:prstGeom prst="roundRect">
            <a:avLst>
              <a:gd name="adj" fmla="val 2899"/>
            </a:avLst>
          </a:prstGeom>
          <a:solidFill>
            <a:srgbClr val="FFFFFF"/>
          </a:solidFill>
          <a:ln w="12700">
            <a:solidFill>
              <a:srgbClr val="E2D3CA"/>
            </a:solidFill>
            <a:prstDash val="solid"/>
          </a:ln>
        </p:spPr>
      </p:sp>
      <p:sp>
        <p:nvSpPr>
          <p:cNvPr id="15" name="text-35"/>
          <p:cNvSpPr txBox="1"/>
          <p:nvPr/>
        </p:nvSpPr>
        <p:spPr>
          <a:xfrm>
            <a:off x="4892040" y="1234440"/>
            <a:ext cx="3657600" cy="365760"/>
          </a:xfrm>
          <a:prstGeom prst="rect">
            <a:avLst/>
          </a:prstGeom>
          <a:noFill/>
          <a:ln/>
        </p:spPr>
        <p:txBody>
          <a:bodyPr wrap="square" lIns="0" tIns="0" rIns="0" bIns="0" rtlCol="0" anchor="t"/>
          <a:lstStyle/>
          <a:p>
            <a:pPr indent="0" marL="0">
              <a:buNone/>
            </a:pPr>
            <a:r>
              <a:rPr lang="en-US" sz="1700" b="1" dirty="0">
                <a:solidFill>
                  <a:srgbClr val="9A4F5C"/>
                </a:solidFill>
                <a:latin typeface="Arial" pitchFamily="34" charset="0"/>
                <a:ea typeface="Arial" pitchFamily="34" charset="-122"/>
                <a:cs typeface="Arial" pitchFamily="34" charset="-120"/>
              </a:rPr>
              <a:t>Root shadow / root melt</a:t>
            </a:r>
            <a:endParaRPr lang="en-US" sz="1700" dirty="0"/>
          </a:p>
        </p:txBody>
      </p:sp>
      <p:pic>
        <p:nvPicPr>
          <p:cNvPr id="16" name="image-36" descr="Root shadow / root melt">    </p:cNvPr>
          <p:cNvPicPr>
            <a:picLocks noChangeAspect="1"/>
          </p:cNvPicPr>
          <p:nvPr/>
        </p:nvPicPr>
        <p:blipFill>
          <a:blip r:embed="rId2"/>
          <a:stretch>
            <a:fillRect/>
          </a:stretch>
        </p:blipFill>
        <p:spPr>
          <a:xfrm>
            <a:off x="4892040" y="1664208"/>
            <a:ext cx="1014984" cy="1691640"/>
          </a:xfrm>
          <a:prstGeom prst="rect">
            <a:avLst/>
          </a:prstGeom>
        </p:spPr>
      </p:pic>
      <p:sp>
        <p:nvSpPr>
          <p:cNvPr id="17" name="text-37"/>
          <p:cNvSpPr txBox="1"/>
          <p:nvPr/>
        </p:nvSpPr>
        <p:spPr>
          <a:xfrm>
            <a:off x="4846320" y="3401568"/>
            <a:ext cx="1106424" cy="411480"/>
          </a:xfrm>
          <a:prstGeom prst="rect">
            <a:avLst/>
          </a:prstGeom>
          <a:noFill/>
          <a:ln/>
        </p:spPr>
        <p:txBody>
          <a:bodyPr wrap="square" lIns="0" tIns="0" rIns="0" bIns="0" rtlCol="0" anchor="t"/>
          <a:lstStyle/>
          <a:p>
            <a:pPr algn="ctr" indent="0" marL="0">
              <a:buNone/>
            </a:pPr>
            <a:r>
              <a:rPr lang="en-US" sz="1200" i="1" dirty="0">
                <a:solidFill>
                  <a:srgbClr val="4A3F3A"/>
                </a:solidFill>
                <a:latin typeface="Arial" pitchFamily="34" charset="0"/>
                <a:ea typeface="Arial" pitchFamily="34" charset="-122"/>
                <a:cs typeface="Arial" pitchFamily="34" charset="-120"/>
              </a:rPr>
              <a:t>Creștere: discretă</a:t>
            </a:r>
            <a:endParaRPr lang="en-US" sz="1200" dirty="0"/>
          </a:p>
        </p:txBody>
      </p:sp>
      <p:sp>
        <p:nvSpPr>
          <p:cNvPr id="18" name="text-38"/>
          <p:cNvSpPr txBox="1"/>
          <p:nvPr/>
        </p:nvSpPr>
        <p:spPr>
          <a:xfrm>
            <a:off x="5989320" y="1664208"/>
            <a:ext cx="2560320" cy="256032"/>
          </a:xfrm>
          <a:prstGeom prst="rect">
            <a:avLst/>
          </a:prstGeom>
          <a:noFill/>
          <a:ln/>
        </p:spPr>
        <p:txBody>
          <a:bodyPr wrap="square" lIns="0" tIns="0" rIns="0" bIns="0" rtlCol="0" anchor="t"/>
          <a:lstStyle/>
          <a:p>
            <a:pPr indent="0" marL="0">
              <a:buNone/>
            </a:pPr>
            <a:r>
              <a:rPr lang="en-US" sz="1300" b="1" dirty="0">
                <a:solidFill>
                  <a:srgbClr val="3F6B4C"/>
                </a:solidFill>
                <a:latin typeface="Arial" pitchFamily="34" charset="0"/>
                <a:ea typeface="Arial" pitchFamily="34" charset="-122"/>
                <a:cs typeface="Arial" pitchFamily="34" charset="-120"/>
              </a:rPr>
              <a:t>AVANTAJE</a:t>
            </a:r>
            <a:endParaRPr lang="en-US" sz="1300" dirty="0"/>
          </a:p>
        </p:txBody>
      </p:sp>
      <p:sp>
        <p:nvSpPr>
          <p:cNvPr id="19" name="text-39"/>
          <p:cNvSpPr txBox="1"/>
          <p:nvPr/>
        </p:nvSpPr>
        <p:spPr>
          <a:xfrm>
            <a:off x="5989320" y="1938528"/>
            <a:ext cx="2606040" cy="1143000"/>
          </a:xfrm>
          <a:prstGeom prst="rect">
            <a:avLst/>
          </a:prstGeom>
          <a:noFill/>
          <a:ln/>
        </p:spPr>
        <p:txBody>
          <a:bodyPr wrap="square" lIns="0" tIns="0" rIns="0" bIns="0" rtlCol="0" anchor="t"/>
          <a:lstStyle/>
          <a:p>
            <a:pPr marL="177800" indent="-177800">
              <a:spcAft>
                <a:spcPts val="200"/>
              </a:spcAft>
              <a:buSzPct val="100000"/>
              <a:buChar char="•"/>
            </a:pPr>
            <a:r>
              <a:rPr lang="en-US" sz="1400" dirty="0">
                <a:solidFill>
                  <a:srgbClr val="1E1A18"/>
                </a:solidFill>
                <a:latin typeface="Arial" pitchFamily="34" charset="0"/>
                <a:ea typeface="Arial" pitchFamily="34" charset="-122"/>
                <a:cs typeface="Arial" pitchFamily="34" charset="-120"/>
              </a:rPr>
              <a:t>Trecere </a:t>
            </a:r>
            <a:r>
              <a:rPr lang="en-US" sz="1400" b="1" dirty="0">
                <a:solidFill>
                  <a:srgbClr val="1E1A18"/>
                </a:solidFill>
                <a:latin typeface="Arial" pitchFamily="34" charset="0"/>
                <a:ea typeface="Arial" pitchFamily="34" charset="-122"/>
                <a:cs typeface="Arial" pitchFamily="34" charset="-120"/>
              </a:rPr>
              <a:t>graduală</a:t>
            </a:r>
            <a:endParaRPr lang="en-US" sz="1600" dirty="0"/>
          </a:p>
          <a:p>
            <a:pPr marL="177800" indent="-177800">
              <a:spcAft>
                <a:spcPts val="200"/>
              </a:spcAft>
              <a:buSzPct val="100000"/>
              <a:buChar char="•"/>
            </a:pPr>
            <a:r>
              <a:rPr lang="en-US" sz="1400" dirty="0">
                <a:solidFill>
                  <a:srgbClr val="1E1A18"/>
                </a:solidFill>
                <a:latin typeface="Arial" pitchFamily="34" charset="0"/>
                <a:ea typeface="Arial" pitchFamily="34" charset="-122"/>
                <a:cs typeface="Arial" pitchFamily="34" charset="-120"/>
              </a:rPr>
              <a:t>Creștere </a:t>
            </a:r>
            <a:r>
              <a:rPr lang="en-US" sz="1400" b="1" dirty="0">
                <a:solidFill>
                  <a:srgbClr val="1E1A18"/>
                </a:solidFill>
                <a:latin typeface="Arial" pitchFamily="34" charset="0"/>
                <a:ea typeface="Arial" pitchFamily="34" charset="-122"/>
                <a:cs typeface="Arial" pitchFamily="34" charset="-120"/>
              </a:rPr>
              <a:t>mai discretă</a:t>
            </a:r>
            <a:endParaRPr lang="en-US" sz="1600" dirty="0"/>
          </a:p>
          <a:p>
            <a:pPr marL="177800" indent="-177800">
              <a:spcAft>
                <a:spcPts val="200"/>
              </a:spcAft>
              <a:buSzPct val="100000"/>
              <a:buChar char="•"/>
            </a:pPr>
            <a:r>
              <a:rPr lang="en-US" sz="1400" dirty="0">
                <a:solidFill>
                  <a:srgbClr val="1E1A18"/>
                </a:solidFill>
                <a:latin typeface="Arial" pitchFamily="34" charset="0"/>
                <a:ea typeface="Arial" pitchFamily="34" charset="-122"/>
                <a:cs typeface="Arial" pitchFamily="34" charset="-120"/>
              </a:rPr>
              <a:t>Poate </a:t>
            </a:r>
            <a:r>
              <a:rPr lang="en-US" sz="1400" b="1" dirty="0">
                <a:solidFill>
                  <a:srgbClr val="1E1A18"/>
                </a:solidFill>
                <a:latin typeface="Arial" pitchFamily="34" charset="0"/>
                <a:ea typeface="Arial" pitchFamily="34" charset="-122"/>
                <a:cs typeface="Arial" pitchFamily="34" charset="-120"/>
              </a:rPr>
              <a:t>rări</a:t>
            </a:r>
            <a:r>
              <a:rPr lang="en-US" sz="1400" dirty="0">
                <a:solidFill>
                  <a:srgbClr val="1E1A18"/>
                </a:solidFill>
                <a:latin typeface="Arial" pitchFamily="34" charset="0"/>
                <a:ea typeface="Arial" pitchFamily="34" charset="-122"/>
                <a:cs typeface="Arial" pitchFamily="34" charset="-120"/>
              </a:rPr>
              <a:t> retușurile</a:t>
            </a:r>
            <a:endParaRPr lang="en-US" sz="1600" dirty="0"/>
          </a:p>
          <a:p>
            <a:pPr marL="177800" indent="-177800">
              <a:spcAft>
                <a:spcPts val="200"/>
              </a:spcAft>
              <a:buSzPct val="100000"/>
              <a:buChar char="•"/>
            </a:pPr>
            <a:r>
              <a:rPr lang="en-US" sz="1400" dirty="0">
                <a:solidFill>
                  <a:srgbClr val="1E1A18"/>
                </a:solidFill>
                <a:latin typeface="Arial" pitchFamily="34" charset="0"/>
                <a:ea typeface="Arial" pitchFamily="34" charset="-122"/>
                <a:cs typeface="Arial" pitchFamily="34" charset="-120"/>
              </a:rPr>
              <a:t>Aspect </a:t>
            </a:r>
            <a:r>
              <a:rPr lang="en-US" sz="1400" b="1" dirty="0">
                <a:solidFill>
                  <a:srgbClr val="1E1A18"/>
                </a:solidFill>
                <a:latin typeface="Arial" pitchFamily="34" charset="0"/>
                <a:ea typeface="Arial" pitchFamily="34" charset="-122"/>
                <a:cs typeface="Arial" pitchFamily="34" charset="-120"/>
              </a:rPr>
              <a:t>natural</a:t>
            </a:r>
            <a:endParaRPr lang="en-US" sz="1600" dirty="0"/>
          </a:p>
        </p:txBody>
      </p:sp>
      <p:sp>
        <p:nvSpPr>
          <p:cNvPr id="20" name="text-40"/>
          <p:cNvSpPr txBox="1"/>
          <p:nvPr/>
        </p:nvSpPr>
        <p:spPr>
          <a:xfrm>
            <a:off x="5989320" y="3081528"/>
            <a:ext cx="2560320" cy="256032"/>
          </a:xfrm>
          <a:prstGeom prst="rect">
            <a:avLst/>
          </a:prstGeom>
          <a:noFill/>
          <a:ln/>
        </p:spPr>
        <p:txBody>
          <a:bodyPr wrap="square" lIns="0" tIns="0" rIns="0" bIns="0" rtlCol="0" anchor="t"/>
          <a:lstStyle/>
          <a:p>
            <a:pPr indent="0" marL="0">
              <a:buNone/>
            </a:pPr>
            <a:r>
              <a:rPr lang="en-US" sz="1300" b="1" dirty="0">
                <a:solidFill>
                  <a:srgbClr val="9A3A34"/>
                </a:solidFill>
                <a:latin typeface="Arial" pitchFamily="34" charset="0"/>
                <a:ea typeface="Arial" pitchFamily="34" charset="-122"/>
                <a:cs typeface="Arial" pitchFamily="34" charset="-120"/>
              </a:rPr>
              <a:t>DEZAVANTAJE</a:t>
            </a:r>
            <a:endParaRPr lang="en-US" sz="1300" dirty="0"/>
          </a:p>
        </p:txBody>
      </p:sp>
      <p:sp>
        <p:nvSpPr>
          <p:cNvPr id="21" name="text-41"/>
          <p:cNvSpPr txBox="1"/>
          <p:nvPr/>
        </p:nvSpPr>
        <p:spPr>
          <a:xfrm>
            <a:off x="5989320" y="3355848"/>
            <a:ext cx="2606040" cy="914400"/>
          </a:xfrm>
          <a:prstGeom prst="rect">
            <a:avLst/>
          </a:prstGeom>
          <a:noFill/>
          <a:ln/>
        </p:spPr>
        <p:txBody>
          <a:bodyPr wrap="square" lIns="0" tIns="0" rIns="0" bIns="0" rtlCol="0" anchor="t"/>
          <a:lstStyle/>
          <a:p>
            <a:pPr marL="177800" indent="-177800">
              <a:spcAft>
                <a:spcPts val="200"/>
              </a:spcAft>
              <a:buSzPct val="100000"/>
              <a:buChar char="•"/>
            </a:pPr>
            <a:r>
              <a:rPr lang="en-US" sz="1400" b="1" dirty="0">
                <a:solidFill>
                  <a:srgbClr val="1E1A18"/>
                </a:solidFill>
                <a:latin typeface="Arial" pitchFamily="34" charset="0"/>
                <a:ea typeface="Arial" pitchFamily="34" charset="-122"/>
                <a:cs typeface="Arial" pitchFamily="34" charset="-120"/>
              </a:rPr>
              <a:t>Mai puțină lumină</a:t>
            </a:r>
            <a:r>
              <a:rPr lang="en-US" sz="1400" dirty="0">
                <a:solidFill>
                  <a:srgbClr val="1E1A18"/>
                </a:solidFill>
                <a:latin typeface="Arial" pitchFamily="34" charset="0"/>
                <a:ea typeface="Arial" pitchFamily="34" charset="-122"/>
                <a:cs typeface="Arial" pitchFamily="34" charset="-120"/>
              </a:rPr>
              <a:t> sus</a:t>
            </a:r>
            <a:endParaRPr lang="en-US" sz="1600" dirty="0"/>
          </a:p>
          <a:p>
            <a:pPr marL="177800" indent="-177800">
              <a:spcAft>
                <a:spcPts val="200"/>
              </a:spcAft>
              <a:buSzPct val="100000"/>
              <a:buChar char="•"/>
            </a:pPr>
            <a:r>
              <a:rPr lang="en-US" sz="1400" dirty="0">
                <a:solidFill>
                  <a:srgbClr val="1E1A18"/>
                </a:solidFill>
                <a:latin typeface="Arial" pitchFamily="34" charset="0"/>
                <a:ea typeface="Arial" pitchFamily="34" charset="-122"/>
                <a:cs typeface="Arial" pitchFamily="34" charset="-120"/>
              </a:rPr>
              <a:t>Prea lungă/închisă = </a:t>
            </a:r>
            <a:r>
              <a:rPr lang="en-US" sz="1400" b="1" dirty="0">
                <a:solidFill>
                  <a:srgbClr val="1E1A18"/>
                </a:solidFill>
                <a:latin typeface="Arial" pitchFamily="34" charset="0"/>
                <a:ea typeface="Arial" pitchFamily="34" charset="-122"/>
                <a:cs typeface="Arial" pitchFamily="34" charset="-120"/>
              </a:rPr>
              <a:t>greoaie</a:t>
            </a:r>
            <a:endParaRPr lang="en-US" sz="1600" dirty="0"/>
          </a:p>
          <a:p>
            <a:pPr marL="177800" indent="-177800">
              <a:spcAft>
                <a:spcPts val="200"/>
              </a:spcAft>
              <a:buSzPct val="100000"/>
              <a:buChar char="•"/>
            </a:pPr>
            <a:r>
              <a:rPr lang="en-US" sz="1400" dirty="0">
                <a:solidFill>
                  <a:srgbClr val="1E1A18"/>
                </a:solidFill>
                <a:latin typeface="Arial" pitchFamily="34" charset="0"/>
                <a:ea typeface="Arial" pitchFamily="34" charset="-122"/>
                <a:cs typeface="Arial" pitchFamily="34" charset="-120"/>
              </a:rPr>
              <a:t>Cere </a:t>
            </a:r>
            <a:r>
              <a:rPr lang="en-US" sz="1400" b="1" dirty="0">
                <a:solidFill>
                  <a:srgbClr val="1E1A18"/>
                </a:solidFill>
                <a:latin typeface="Arial" pitchFamily="34" charset="0"/>
                <a:ea typeface="Arial" pitchFamily="34" charset="-122"/>
                <a:cs typeface="Arial" pitchFamily="34" charset="-120"/>
              </a:rPr>
              <a:t>nuanță corectă</a:t>
            </a:r>
            <a:endParaRPr lang="en-US" sz="1600" dirty="0"/>
          </a:p>
        </p:txBody>
      </p:sp>
      <p:sp>
        <p:nvSpPr>
          <p:cNvPr id="22" name="text-42"/>
          <p:cNvSpPr txBox="1"/>
          <p:nvPr/>
        </p:nvSpPr>
        <p:spPr>
          <a:xfrm>
            <a:off x="457200" y="4370832"/>
            <a:ext cx="8229600" cy="411480"/>
          </a:xfrm>
          <a:prstGeom prst="rect">
            <a:avLst/>
          </a:prstGeom>
          <a:noFill/>
          <a:ln/>
        </p:spPr>
        <p:txBody>
          <a:bodyPr wrap="square" lIns="0" tIns="0" rIns="0" bIns="0" rtlCol="0" anchor="ctr"/>
          <a:lstStyle/>
          <a:p>
            <a:pPr indent="0" marL="0">
              <a:buNone/>
            </a:pPr>
            <a:r>
              <a:rPr lang="en-US" sz="1400" b="1" dirty="0">
                <a:solidFill>
                  <a:srgbClr val="4A3F3A"/>
                </a:solidFill>
                <a:latin typeface="Arial" pitchFamily="34" charset="0"/>
                <a:ea typeface="Arial" pitchFamily="34" charset="-122"/>
                <a:cs typeface="Arial" pitchFamily="34" charset="-120"/>
              </a:rPr>
              <a:t>Longevitatea depinde și de:</a:t>
            </a:r>
            <a:r>
              <a:rPr lang="en-US" sz="1400" dirty="0">
                <a:solidFill>
                  <a:srgbClr val="4A3F3A"/>
                </a:solidFill>
                <a:latin typeface="Arial" pitchFamily="34" charset="0"/>
                <a:ea typeface="Arial" pitchFamily="34" charset="-122"/>
                <a:cs typeface="Arial" pitchFamily="34" charset="-120"/>
              </a:rPr>
              <a:t> contrastul cu baza naturală, poziționarea șuvițelor, tehnică și întreținere.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43"/>
          <p:cNvSpPr txBox="1"/>
          <p:nvPr/>
        </p:nvSpPr>
        <p:spPr>
          <a:xfrm>
            <a:off x="457200" y="228600"/>
            <a:ext cx="8229600" cy="274320"/>
          </a:xfrm>
          <a:prstGeom prst="rect">
            <a:avLst/>
          </a:prstGeom>
          <a:noFill/>
          <a:ln/>
        </p:spPr>
        <p:txBody>
          <a:bodyPr wrap="square" lIns="0" tIns="0" rIns="0" bIns="0" rtlCol="0" anchor="t"/>
          <a:lstStyle/>
          <a:p>
            <a:pPr indent="0" marL="0">
              <a:buNone/>
            </a:pPr>
            <a:r>
              <a:rPr lang="en-US" sz="1200" b="1" spc="100" kern="0" dirty="0">
                <a:solidFill>
                  <a:srgbClr val="9A4F5C"/>
                </a:solidFill>
                <a:latin typeface="Arial" pitchFamily="34" charset="0"/>
                <a:ea typeface="Arial" pitchFamily="34" charset="-122"/>
                <a:cs typeface="Arial" pitchFamily="34" charset="-120"/>
              </a:rPr>
              <a:t>SMART PLACEMENT</a:t>
            </a:r>
            <a:endParaRPr lang="en-US" sz="1200" dirty="0"/>
          </a:p>
        </p:txBody>
      </p:sp>
      <p:sp>
        <p:nvSpPr>
          <p:cNvPr id="3" name="text-44"/>
          <p:cNvSpPr txBox="1"/>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1E1A18"/>
                </a:solidFill>
                <a:latin typeface="Arial" pitchFamily="34" charset="0"/>
                <a:ea typeface="Arial" pitchFamily="34" charset="-122"/>
                <a:cs typeface="Arial" pitchFamily="34" charset="-120"/>
              </a:rPr>
              <a:t>Unde punem lumina și unde păstrăm umbra?</a:t>
            </a:r>
            <a:endParaRPr lang="en-US" sz="2600" dirty="0"/>
          </a:p>
        </p:txBody>
      </p:sp>
      <p:sp>
        <p:nvSpPr>
          <p:cNvPr id="4" name="text-45"/>
          <p:cNvSpPr txBox="1"/>
          <p:nvPr/>
        </p:nvSpPr>
        <p:spPr>
          <a:xfrm>
            <a:off x="457200" y="4828032"/>
            <a:ext cx="4572000" cy="228600"/>
          </a:xfrm>
          <a:prstGeom prst="rect">
            <a:avLst/>
          </a:prstGeom>
          <a:noFill/>
          <a:ln/>
        </p:spPr>
        <p:txBody>
          <a:bodyPr wrap="square" lIns="0" tIns="0" rIns="0" bIns="0" rtlCol="0" anchor="t"/>
          <a:lstStyle/>
          <a:p>
            <a:pPr indent="0" marL="0">
              <a:buNone/>
            </a:pPr>
            <a:r>
              <a:rPr lang="en-US" sz="1000" dirty="0">
                <a:solidFill>
                  <a:srgbClr val="4A3F3A"/>
                </a:solidFill>
                <a:latin typeface="Arial" pitchFamily="34" charset="0"/>
                <a:ea typeface="Arial" pitchFamily="34" charset="-122"/>
                <a:cs typeface="Arial" pitchFamily="34" charset="-120"/>
              </a:rPr>
              <a:t>BLONDE AMBITION by Diana Avram</a:t>
            </a:r>
            <a:endParaRPr lang="en-US" sz="1000" dirty="0"/>
          </a:p>
        </p:txBody>
      </p:sp>
      <p:pic>
        <p:nvPicPr>
          <p:cNvPr id="6" name="image-46" descr="Vedere din față">    </p:cNvPr>
          <p:cNvPicPr>
            <a:picLocks noChangeAspect="1"/>
          </p:cNvPicPr>
          <p:nvPr/>
        </p:nvPicPr>
        <p:blipFill>
          <a:blip r:embed="rId1"/>
          <a:stretch>
            <a:fillRect/>
          </a:stretch>
        </p:blipFill>
        <p:spPr>
          <a:xfrm>
            <a:off x="457200" y="1188720"/>
            <a:ext cx="1344168" cy="2240280"/>
          </a:xfrm>
          <a:prstGeom prst="rect">
            <a:avLst/>
          </a:prstGeom>
        </p:spPr>
      </p:pic>
      <p:sp>
        <p:nvSpPr>
          <p:cNvPr id="7" name="text-47"/>
          <p:cNvSpPr txBox="1"/>
          <p:nvPr/>
        </p:nvSpPr>
        <p:spPr>
          <a:xfrm>
            <a:off x="411480" y="3474720"/>
            <a:ext cx="1435608" cy="411480"/>
          </a:xfrm>
          <a:prstGeom prst="rect">
            <a:avLst/>
          </a:prstGeom>
          <a:noFill/>
          <a:ln/>
        </p:spPr>
        <p:txBody>
          <a:bodyPr wrap="square" lIns="0" tIns="0" rIns="0" bIns="0" rtlCol="0" anchor="t"/>
          <a:lstStyle/>
          <a:p>
            <a:pPr algn="ctr" indent="0" marL="0">
              <a:buNone/>
            </a:pPr>
            <a:r>
              <a:rPr lang="en-US" sz="1200" i="1" dirty="0">
                <a:solidFill>
                  <a:srgbClr val="4A3F3A"/>
                </a:solidFill>
                <a:latin typeface="Arial" pitchFamily="34" charset="0"/>
                <a:ea typeface="Arial" pitchFamily="34" charset="-122"/>
                <a:cs typeface="Arial" pitchFamily="34" charset="-120"/>
              </a:rPr>
              <a:t>Față</a:t>
            </a:r>
            <a:endParaRPr lang="en-US" sz="1200" dirty="0"/>
          </a:p>
        </p:txBody>
      </p:sp>
      <p:pic>
        <p:nvPicPr>
          <p:cNvPr id="8" name="image-48" descr="Vedere din spate">    </p:cNvPr>
          <p:cNvPicPr>
            <a:picLocks noChangeAspect="1"/>
          </p:cNvPicPr>
          <p:nvPr/>
        </p:nvPicPr>
        <p:blipFill>
          <a:blip r:embed="rId2"/>
          <a:stretch>
            <a:fillRect/>
          </a:stretch>
        </p:blipFill>
        <p:spPr>
          <a:xfrm>
            <a:off x="1965960" y="1188720"/>
            <a:ext cx="1344168" cy="2240280"/>
          </a:xfrm>
          <a:prstGeom prst="rect">
            <a:avLst/>
          </a:prstGeom>
        </p:spPr>
      </p:pic>
      <p:sp>
        <p:nvSpPr>
          <p:cNvPr id="9" name="text-49"/>
          <p:cNvSpPr txBox="1"/>
          <p:nvPr/>
        </p:nvSpPr>
        <p:spPr>
          <a:xfrm>
            <a:off x="1920240" y="3474720"/>
            <a:ext cx="1435608" cy="411480"/>
          </a:xfrm>
          <a:prstGeom prst="rect">
            <a:avLst/>
          </a:prstGeom>
          <a:noFill/>
          <a:ln/>
        </p:spPr>
        <p:txBody>
          <a:bodyPr wrap="square" lIns="0" tIns="0" rIns="0" bIns="0" rtlCol="0" anchor="t"/>
          <a:lstStyle/>
          <a:p>
            <a:pPr algn="ctr" indent="0" marL="0">
              <a:buNone/>
            </a:pPr>
            <a:r>
              <a:rPr lang="en-US" sz="1200" i="1" dirty="0">
                <a:solidFill>
                  <a:srgbClr val="4A3F3A"/>
                </a:solidFill>
                <a:latin typeface="Arial" pitchFamily="34" charset="0"/>
                <a:ea typeface="Arial" pitchFamily="34" charset="-122"/>
                <a:cs typeface="Arial" pitchFamily="34" charset="-120"/>
              </a:rPr>
              <a:t>Spate</a:t>
            </a:r>
            <a:endParaRPr lang="en-US" sz="1200" dirty="0"/>
          </a:p>
        </p:txBody>
      </p:sp>
      <p:sp>
        <p:nvSpPr>
          <p:cNvPr id="10" name="num-50"/>
          <p:cNvSpPr/>
          <p:nvPr/>
        </p:nvSpPr>
        <p:spPr>
          <a:xfrm>
            <a:off x="530352" y="1783080"/>
            <a:ext cx="329184" cy="329184"/>
          </a:xfrm>
          <a:prstGeom prst="ellipse">
            <a:avLst/>
          </a:prstGeom>
          <a:solidFill>
            <a:srgbClr val="9A4F5C"/>
          </a:solidFill>
          <a:ln w="19050">
            <a:solidFill>
              <a:srgbClr val="FFFFFF"/>
            </a:solidFill>
            <a:prstDash val="solid"/>
          </a:ln>
        </p:spPr>
      </p:sp>
      <p:sp>
        <p:nvSpPr>
          <p:cNvPr id="11" name="text-51"/>
          <p:cNvSpPr txBox="1"/>
          <p:nvPr/>
        </p:nvSpPr>
        <p:spPr>
          <a:xfrm>
            <a:off x="530352" y="178308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num-52"/>
          <p:cNvSpPr/>
          <p:nvPr/>
        </p:nvSpPr>
        <p:spPr>
          <a:xfrm>
            <a:off x="978408" y="1188720"/>
            <a:ext cx="329184" cy="329184"/>
          </a:xfrm>
          <a:prstGeom prst="ellipse">
            <a:avLst/>
          </a:prstGeom>
          <a:solidFill>
            <a:srgbClr val="9A4F5C"/>
          </a:solidFill>
          <a:ln w="19050">
            <a:solidFill>
              <a:srgbClr val="FFFFFF"/>
            </a:solidFill>
            <a:prstDash val="solid"/>
          </a:ln>
        </p:spPr>
      </p:sp>
      <p:sp>
        <p:nvSpPr>
          <p:cNvPr id="13" name="text-53"/>
          <p:cNvSpPr txBox="1"/>
          <p:nvPr/>
        </p:nvSpPr>
        <p:spPr>
          <a:xfrm>
            <a:off x="978408" y="11887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num-54"/>
          <p:cNvSpPr/>
          <p:nvPr/>
        </p:nvSpPr>
        <p:spPr>
          <a:xfrm>
            <a:off x="2514600" y="1691640"/>
            <a:ext cx="329184" cy="329184"/>
          </a:xfrm>
          <a:prstGeom prst="ellipse">
            <a:avLst/>
          </a:prstGeom>
          <a:solidFill>
            <a:srgbClr val="9A4F5C"/>
          </a:solidFill>
          <a:ln w="19050">
            <a:solidFill>
              <a:srgbClr val="FFFFFF"/>
            </a:solidFill>
            <a:prstDash val="solid"/>
          </a:ln>
        </p:spPr>
      </p:sp>
      <p:sp>
        <p:nvSpPr>
          <p:cNvPr id="15" name="text-55"/>
          <p:cNvSpPr txBox="1"/>
          <p:nvPr/>
        </p:nvSpPr>
        <p:spPr>
          <a:xfrm>
            <a:off x="2514600" y="169164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6" name="num-56"/>
          <p:cNvSpPr/>
          <p:nvPr/>
        </p:nvSpPr>
        <p:spPr>
          <a:xfrm>
            <a:off x="3017520" y="2606040"/>
            <a:ext cx="329184" cy="329184"/>
          </a:xfrm>
          <a:prstGeom prst="ellipse">
            <a:avLst/>
          </a:prstGeom>
          <a:solidFill>
            <a:srgbClr val="9A4F5C"/>
          </a:solidFill>
          <a:ln w="19050">
            <a:solidFill>
              <a:srgbClr val="FFFFFF"/>
            </a:solidFill>
            <a:prstDash val="solid"/>
          </a:ln>
        </p:spPr>
      </p:sp>
      <p:sp>
        <p:nvSpPr>
          <p:cNvPr id="17" name="text-57"/>
          <p:cNvSpPr txBox="1"/>
          <p:nvPr/>
        </p:nvSpPr>
        <p:spPr>
          <a:xfrm>
            <a:off x="3017520" y="260604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8" name="num-58"/>
          <p:cNvSpPr/>
          <p:nvPr/>
        </p:nvSpPr>
        <p:spPr>
          <a:xfrm>
            <a:off x="2514600" y="3063240"/>
            <a:ext cx="329184" cy="329184"/>
          </a:xfrm>
          <a:prstGeom prst="ellipse">
            <a:avLst/>
          </a:prstGeom>
          <a:solidFill>
            <a:srgbClr val="9A4F5C"/>
          </a:solidFill>
          <a:ln w="19050">
            <a:solidFill>
              <a:srgbClr val="FFFFFF"/>
            </a:solidFill>
            <a:prstDash val="solid"/>
          </a:ln>
        </p:spPr>
      </p:sp>
      <p:sp>
        <p:nvSpPr>
          <p:cNvPr id="19" name="text-59"/>
          <p:cNvSpPr txBox="1"/>
          <p:nvPr/>
        </p:nvSpPr>
        <p:spPr>
          <a:xfrm>
            <a:off x="2514600" y="306324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0" name="num-60"/>
          <p:cNvSpPr/>
          <p:nvPr/>
        </p:nvSpPr>
        <p:spPr>
          <a:xfrm>
            <a:off x="3703320" y="1225296"/>
            <a:ext cx="365760" cy="365760"/>
          </a:xfrm>
          <a:prstGeom prst="ellipse">
            <a:avLst/>
          </a:prstGeom>
          <a:solidFill>
            <a:srgbClr val="9A4F5C"/>
          </a:solidFill>
          <a:ln w="19050">
            <a:solidFill>
              <a:srgbClr val="FFFFFF"/>
            </a:solidFill>
            <a:prstDash val="solid"/>
          </a:ln>
        </p:spPr>
      </p:sp>
      <p:sp>
        <p:nvSpPr>
          <p:cNvPr id="21" name="text-61"/>
          <p:cNvSpPr txBox="1"/>
          <p:nvPr/>
        </p:nvSpPr>
        <p:spPr>
          <a:xfrm>
            <a:off x="3703320" y="12252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22" name="text-62"/>
          <p:cNvSpPr txBox="1"/>
          <p:nvPr/>
        </p:nvSpPr>
        <p:spPr>
          <a:xfrm>
            <a:off x="4206240" y="1170432"/>
            <a:ext cx="4480560" cy="502920"/>
          </a:xfrm>
          <a:prstGeom prst="rect">
            <a:avLst/>
          </a:prstGeom>
          <a:noFill/>
          <a:ln/>
        </p:spPr>
        <p:txBody>
          <a:bodyPr wrap="square" lIns="0" tIns="0" rIns="0" bIns="0" rtlCol="0" anchor="ctr"/>
          <a:lstStyle/>
          <a:p>
            <a:pPr indent="0" marL="0">
              <a:buNone/>
            </a:pPr>
            <a:r>
              <a:rPr lang="en-US" sz="1500" b="1" dirty="0">
                <a:solidFill>
                  <a:srgbClr val="1E1A18"/>
                </a:solidFill>
                <a:latin typeface="Arial" pitchFamily="34" charset="0"/>
                <a:ea typeface="Arial" pitchFamily="34" charset="-122"/>
                <a:cs typeface="Arial" pitchFamily="34" charset="-120"/>
              </a:rPr>
              <a:t>Conturul feței:</a:t>
            </a:r>
            <a:r>
              <a:rPr lang="en-US" sz="1500" dirty="0">
                <a:solidFill>
                  <a:srgbClr val="1E1A18"/>
                </a:solidFill>
                <a:latin typeface="Arial" pitchFamily="34" charset="0"/>
                <a:ea typeface="Arial" pitchFamily="34" charset="-122"/>
                <a:cs typeface="Arial" pitchFamily="34" charset="-120"/>
              </a:rPr>
              <a:t> cea mai </a:t>
            </a:r>
            <a:r>
              <a:rPr lang="en-US" sz="1500" b="1" dirty="0">
                <a:solidFill>
                  <a:srgbClr val="1E1A18"/>
                </a:solidFill>
                <a:latin typeface="Arial" pitchFamily="34" charset="0"/>
                <a:ea typeface="Arial" pitchFamily="34" charset="-122"/>
                <a:cs typeface="Arial" pitchFamily="34" charset="-120"/>
              </a:rPr>
              <a:t>luminoasă</a:t>
            </a:r>
            <a:r>
              <a:rPr lang="en-US" sz="1500" dirty="0">
                <a:solidFill>
                  <a:srgbClr val="1E1A18"/>
                </a:solidFill>
                <a:latin typeface="Arial" pitchFamily="34" charset="0"/>
                <a:ea typeface="Arial" pitchFamily="34" charset="-122"/>
                <a:cs typeface="Arial" pitchFamily="34" charset="-120"/>
              </a:rPr>
              <a:t> zonă</a:t>
            </a:r>
            <a:endParaRPr lang="en-US" sz="1500" dirty="0"/>
          </a:p>
        </p:txBody>
      </p:sp>
      <p:sp>
        <p:nvSpPr>
          <p:cNvPr id="23" name="num-63"/>
          <p:cNvSpPr/>
          <p:nvPr/>
        </p:nvSpPr>
        <p:spPr>
          <a:xfrm>
            <a:off x="3703320" y="1773936"/>
            <a:ext cx="365760" cy="365760"/>
          </a:xfrm>
          <a:prstGeom prst="ellipse">
            <a:avLst/>
          </a:prstGeom>
          <a:solidFill>
            <a:srgbClr val="9A4F5C"/>
          </a:solidFill>
          <a:ln w="19050">
            <a:solidFill>
              <a:srgbClr val="FFFFFF"/>
            </a:solidFill>
            <a:prstDash val="solid"/>
          </a:ln>
        </p:spPr>
      </p:sp>
      <p:sp>
        <p:nvSpPr>
          <p:cNvPr id="24" name="text-64"/>
          <p:cNvSpPr txBox="1"/>
          <p:nvPr/>
        </p:nvSpPr>
        <p:spPr>
          <a:xfrm>
            <a:off x="3703320" y="17739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25" name="text-65"/>
          <p:cNvSpPr txBox="1"/>
          <p:nvPr/>
        </p:nvSpPr>
        <p:spPr>
          <a:xfrm>
            <a:off x="4206240" y="1719072"/>
            <a:ext cx="4480560" cy="502920"/>
          </a:xfrm>
          <a:prstGeom prst="rect">
            <a:avLst/>
          </a:prstGeom>
          <a:noFill/>
          <a:ln/>
        </p:spPr>
        <p:txBody>
          <a:bodyPr wrap="square" lIns="0" tIns="0" rIns="0" bIns="0" rtlCol="0" anchor="ctr"/>
          <a:lstStyle/>
          <a:p>
            <a:pPr indent="0" marL="0">
              <a:buNone/>
            </a:pPr>
            <a:r>
              <a:rPr lang="en-US" sz="1500" b="1" dirty="0">
                <a:solidFill>
                  <a:srgbClr val="1E1A18"/>
                </a:solidFill>
                <a:latin typeface="Arial" pitchFamily="34" charset="0"/>
                <a:ea typeface="Arial" pitchFamily="34" charset="-122"/>
                <a:cs typeface="Arial" pitchFamily="34" charset="-120"/>
              </a:rPr>
              <a:t>Top și cărare:</a:t>
            </a:r>
            <a:r>
              <a:rPr lang="en-US" sz="1500" dirty="0">
                <a:solidFill>
                  <a:srgbClr val="1E1A18"/>
                </a:solidFill>
                <a:latin typeface="Arial" pitchFamily="34" charset="0"/>
                <a:ea typeface="Arial" pitchFamily="34" charset="-122"/>
                <a:cs typeface="Arial" pitchFamily="34" charset="-120"/>
              </a:rPr>
              <a:t> după </a:t>
            </a:r>
            <a:r>
              <a:rPr lang="en-US" sz="1500" b="1" dirty="0">
                <a:solidFill>
                  <a:srgbClr val="1E1A18"/>
                </a:solidFill>
                <a:latin typeface="Arial" pitchFamily="34" charset="0"/>
                <a:ea typeface="Arial" pitchFamily="34" charset="-122"/>
                <a:cs typeface="Arial" pitchFamily="34" charset="-120"/>
              </a:rPr>
              <a:t>cărare</a:t>
            </a:r>
            <a:r>
              <a:rPr lang="en-US" sz="1500" dirty="0">
                <a:solidFill>
                  <a:srgbClr val="1E1A18"/>
                </a:solidFill>
                <a:latin typeface="Arial" pitchFamily="34" charset="0"/>
                <a:ea typeface="Arial" pitchFamily="34" charset="-122"/>
                <a:cs typeface="Arial" pitchFamily="34" charset="-120"/>
              </a:rPr>
              <a:t> și cum </a:t>
            </a:r>
            <a:r>
              <a:rPr lang="en-US" sz="1500" b="1" dirty="0">
                <a:solidFill>
                  <a:srgbClr val="1E1A18"/>
                </a:solidFill>
                <a:latin typeface="Arial" pitchFamily="34" charset="0"/>
                <a:ea typeface="Arial" pitchFamily="34" charset="-122"/>
                <a:cs typeface="Arial" pitchFamily="34" charset="-120"/>
              </a:rPr>
              <a:t>cade părul</a:t>
            </a:r>
            <a:endParaRPr lang="en-US" sz="1500" dirty="0"/>
          </a:p>
        </p:txBody>
      </p:sp>
      <p:sp>
        <p:nvSpPr>
          <p:cNvPr id="26" name="num-66"/>
          <p:cNvSpPr/>
          <p:nvPr/>
        </p:nvSpPr>
        <p:spPr>
          <a:xfrm>
            <a:off x="3703320" y="2322576"/>
            <a:ext cx="365760" cy="365760"/>
          </a:xfrm>
          <a:prstGeom prst="ellipse">
            <a:avLst/>
          </a:prstGeom>
          <a:solidFill>
            <a:srgbClr val="9A4F5C"/>
          </a:solidFill>
          <a:ln w="19050">
            <a:solidFill>
              <a:srgbClr val="FFFFFF"/>
            </a:solidFill>
            <a:prstDash val="solid"/>
          </a:ln>
        </p:spPr>
      </p:sp>
      <p:sp>
        <p:nvSpPr>
          <p:cNvPr id="27" name="text-67"/>
          <p:cNvSpPr txBox="1"/>
          <p:nvPr/>
        </p:nvSpPr>
        <p:spPr>
          <a:xfrm>
            <a:off x="3703320" y="232257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8" name="text-68"/>
          <p:cNvSpPr txBox="1"/>
          <p:nvPr/>
        </p:nvSpPr>
        <p:spPr>
          <a:xfrm>
            <a:off x="4206240" y="2267712"/>
            <a:ext cx="4480560" cy="502920"/>
          </a:xfrm>
          <a:prstGeom prst="rect">
            <a:avLst/>
          </a:prstGeom>
          <a:noFill/>
          <a:ln/>
        </p:spPr>
        <p:txBody>
          <a:bodyPr wrap="square" lIns="0" tIns="0" rIns="0" bIns="0" rtlCol="0" anchor="ctr"/>
          <a:lstStyle/>
          <a:p>
            <a:pPr indent="0" marL="0">
              <a:buNone/>
            </a:pPr>
            <a:r>
              <a:rPr lang="en-US" sz="1500" b="1" dirty="0">
                <a:solidFill>
                  <a:srgbClr val="1E1A18"/>
                </a:solidFill>
                <a:latin typeface="Arial" pitchFamily="34" charset="0"/>
                <a:ea typeface="Arial" pitchFamily="34" charset="-122"/>
                <a:cs typeface="Arial" pitchFamily="34" charset="-120"/>
              </a:rPr>
              <a:t>Zona occipitală:</a:t>
            </a:r>
            <a:r>
              <a:rPr lang="en-US" sz="1500" dirty="0">
                <a:solidFill>
                  <a:srgbClr val="1E1A18"/>
                </a:solidFill>
                <a:latin typeface="Arial" pitchFamily="34" charset="0"/>
                <a:ea typeface="Arial" pitchFamily="34" charset="-122"/>
                <a:cs typeface="Arial" pitchFamily="34" charset="-120"/>
              </a:rPr>
              <a:t> </a:t>
            </a:r>
            <a:r>
              <a:rPr lang="en-US" sz="1500" b="1" dirty="0">
                <a:solidFill>
                  <a:srgbClr val="1E1A18"/>
                </a:solidFill>
                <a:latin typeface="Arial" pitchFamily="34" charset="0"/>
                <a:ea typeface="Arial" pitchFamily="34" charset="-122"/>
                <a:cs typeface="Arial" pitchFamily="34" charset="-120"/>
              </a:rPr>
              <a:t>alternanță</a:t>
            </a:r>
            <a:r>
              <a:rPr lang="en-US" sz="1500" dirty="0">
                <a:solidFill>
                  <a:srgbClr val="1E1A18"/>
                </a:solidFill>
                <a:latin typeface="Arial" pitchFamily="34" charset="0"/>
                <a:ea typeface="Arial" pitchFamily="34" charset="-122"/>
                <a:cs typeface="Arial" pitchFamily="34" charset="-120"/>
              </a:rPr>
              <a:t> lumină–profunzime</a:t>
            </a:r>
            <a:endParaRPr lang="en-US" sz="1500" dirty="0"/>
          </a:p>
        </p:txBody>
      </p:sp>
      <p:sp>
        <p:nvSpPr>
          <p:cNvPr id="29" name="num-69"/>
          <p:cNvSpPr/>
          <p:nvPr/>
        </p:nvSpPr>
        <p:spPr>
          <a:xfrm>
            <a:off x="3703320" y="2871216"/>
            <a:ext cx="365760" cy="365760"/>
          </a:xfrm>
          <a:prstGeom prst="ellipse">
            <a:avLst/>
          </a:prstGeom>
          <a:solidFill>
            <a:srgbClr val="9A4F5C"/>
          </a:solidFill>
          <a:ln w="19050">
            <a:solidFill>
              <a:srgbClr val="FFFFFF"/>
            </a:solidFill>
            <a:prstDash val="solid"/>
          </a:ln>
        </p:spPr>
      </p:sp>
      <p:sp>
        <p:nvSpPr>
          <p:cNvPr id="30" name="text-70"/>
          <p:cNvSpPr txBox="1"/>
          <p:nvPr/>
        </p:nvSpPr>
        <p:spPr>
          <a:xfrm>
            <a:off x="3703320" y="287121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31" name="text-71"/>
          <p:cNvSpPr txBox="1"/>
          <p:nvPr/>
        </p:nvSpPr>
        <p:spPr>
          <a:xfrm>
            <a:off x="4206240" y="2816352"/>
            <a:ext cx="4480560" cy="502920"/>
          </a:xfrm>
          <a:prstGeom prst="rect">
            <a:avLst/>
          </a:prstGeom>
          <a:noFill/>
          <a:ln/>
        </p:spPr>
        <p:txBody>
          <a:bodyPr wrap="square" lIns="0" tIns="0" rIns="0" bIns="0" rtlCol="0" anchor="ctr"/>
          <a:lstStyle/>
          <a:p>
            <a:pPr indent="0" marL="0">
              <a:buNone/>
            </a:pPr>
            <a:r>
              <a:rPr lang="en-US" sz="1500" b="1" dirty="0">
                <a:solidFill>
                  <a:srgbClr val="1E1A18"/>
                </a:solidFill>
                <a:latin typeface="Arial" pitchFamily="34" charset="0"/>
                <a:ea typeface="Arial" pitchFamily="34" charset="-122"/>
                <a:cs typeface="Arial" pitchFamily="34" charset="-120"/>
              </a:rPr>
              <a:t>Substraturi:</a:t>
            </a:r>
            <a:r>
              <a:rPr lang="en-US" sz="1500" dirty="0">
                <a:solidFill>
                  <a:srgbClr val="1E1A18"/>
                </a:solidFill>
                <a:latin typeface="Arial" pitchFamily="34" charset="0"/>
                <a:ea typeface="Arial" pitchFamily="34" charset="-122"/>
                <a:cs typeface="Arial" pitchFamily="34" charset="-120"/>
              </a:rPr>
              <a:t> </a:t>
            </a:r>
            <a:r>
              <a:rPr lang="en-US" sz="1500" b="1" dirty="0">
                <a:solidFill>
                  <a:srgbClr val="1E1A18"/>
                </a:solidFill>
                <a:latin typeface="Arial" pitchFamily="34" charset="0"/>
                <a:ea typeface="Arial" pitchFamily="34" charset="-122"/>
                <a:cs typeface="Arial" pitchFamily="34" charset="-120"/>
              </a:rPr>
              <a:t>naturale</a:t>
            </a:r>
            <a:r>
              <a:rPr lang="en-US" sz="1500" dirty="0">
                <a:solidFill>
                  <a:srgbClr val="1E1A18"/>
                </a:solidFill>
                <a:latin typeface="Arial" pitchFamily="34" charset="0"/>
                <a:ea typeface="Arial" pitchFamily="34" charset="-122"/>
                <a:cs typeface="Arial" pitchFamily="34" charset="-120"/>
              </a:rPr>
              <a:t>: contrast, mai puțină decolorare</a:t>
            </a:r>
            <a:endParaRPr lang="en-US" sz="1500" dirty="0"/>
          </a:p>
        </p:txBody>
      </p:sp>
      <p:sp>
        <p:nvSpPr>
          <p:cNvPr id="32" name="num-72"/>
          <p:cNvSpPr/>
          <p:nvPr/>
        </p:nvSpPr>
        <p:spPr>
          <a:xfrm>
            <a:off x="3703320" y="3419856"/>
            <a:ext cx="365760" cy="365760"/>
          </a:xfrm>
          <a:prstGeom prst="ellipse">
            <a:avLst/>
          </a:prstGeom>
          <a:solidFill>
            <a:srgbClr val="9A4F5C"/>
          </a:solidFill>
          <a:ln w="19050">
            <a:solidFill>
              <a:srgbClr val="FFFFFF"/>
            </a:solidFill>
            <a:prstDash val="solid"/>
          </a:ln>
        </p:spPr>
      </p:sp>
      <p:sp>
        <p:nvSpPr>
          <p:cNvPr id="33" name="text-73"/>
          <p:cNvSpPr txBox="1"/>
          <p:nvPr/>
        </p:nvSpPr>
        <p:spPr>
          <a:xfrm>
            <a:off x="3703320" y="341985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4" name="text-74"/>
          <p:cNvSpPr txBox="1"/>
          <p:nvPr/>
        </p:nvSpPr>
        <p:spPr>
          <a:xfrm>
            <a:off x="4206240" y="3364992"/>
            <a:ext cx="4480560" cy="502920"/>
          </a:xfrm>
          <a:prstGeom prst="rect">
            <a:avLst/>
          </a:prstGeom>
          <a:noFill/>
          <a:ln/>
        </p:spPr>
        <p:txBody>
          <a:bodyPr wrap="square" lIns="0" tIns="0" rIns="0" bIns="0" rtlCol="0" anchor="ctr"/>
          <a:lstStyle/>
          <a:p>
            <a:pPr indent="0" marL="0">
              <a:buNone/>
            </a:pPr>
            <a:r>
              <a:rPr lang="en-US" sz="1500" b="1" dirty="0">
                <a:solidFill>
                  <a:srgbClr val="1E1A18"/>
                </a:solidFill>
                <a:latin typeface="Arial" pitchFamily="34" charset="0"/>
                <a:ea typeface="Arial" pitchFamily="34" charset="-122"/>
                <a:cs typeface="Arial" pitchFamily="34" charset="-120"/>
              </a:rPr>
              <a:t>Lungimi și vârfuri:</a:t>
            </a:r>
            <a:r>
              <a:rPr lang="en-US" sz="1500" dirty="0">
                <a:solidFill>
                  <a:srgbClr val="1E1A18"/>
                </a:solidFill>
                <a:latin typeface="Arial" pitchFamily="34" charset="0"/>
                <a:ea typeface="Arial" pitchFamily="34" charset="-122"/>
                <a:cs typeface="Arial" pitchFamily="34" charset="-120"/>
              </a:rPr>
              <a:t> lumină </a:t>
            </a:r>
            <a:r>
              <a:rPr lang="en-US" sz="1500" b="1" dirty="0">
                <a:solidFill>
                  <a:srgbClr val="1E1A18"/>
                </a:solidFill>
                <a:latin typeface="Arial" pitchFamily="34" charset="0"/>
                <a:ea typeface="Arial" pitchFamily="34" charset="-122"/>
                <a:cs typeface="Arial" pitchFamily="34" charset="-120"/>
              </a:rPr>
              <a:t>distribuită echilibrat</a:t>
            </a:r>
            <a:endParaRPr lang="en-US" sz="1500" dirty="0"/>
          </a:p>
        </p:txBody>
      </p:sp>
      <p:sp>
        <p:nvSpPr>
          <p:cNvPr id="35" name="card-75"/>
          <p:cNvSpPr/>
          <p:nvPr/>
        </p:nvSpPr>
        <p:spPr>
          <a:xfrm>
            <a:off x="457200" y="3931920"/>
            <a:ext cx="8229600" cy="822960"/>
          </a:xfrm>
          <a:prstGeom prst="roundRect">
            <a:avLst>
              <a:gd name="adj" fmla="val 11111"/>
            </a:avLst>
          </a:prstGeom>
          <a:solidFill>
            <a:srgbClr val="F6EEE9"/>
          </a:solidFill>
          <a:ln w="12700">
            <a:solidFill>
              <a:srgbClr val="F6EEE9"/>
            </a:solidFill>
            <a:prstDash val="solid"/>
          </a:ln>
        </p:spPr>
      </p:sp>
      <p:sp>
        <p:nvSpPr>
          <p:cNvPr id="36" name="text-76"/>
          <p:cNvSpPr txBox="1"/>
          <p:nvPr/>
        </p:nvSpPr>
        <p:spPr>
          <a:xfrm>
            <a:off x="640080" y="3977640"/>
            <a:ext cx="7863840" cy="731520"/>
          </a:xfrm>
          <a:prstGeom prst="rect">
            <a:avLst/>
          </a:prstGeom>
          <a:noFill/>
          <a:ln/>
        </p:spPr>
        <p:txBody>
          <a:bodyPr wrap="square" lIns="0" tIns="0" rIns="0" bIns="0" rtlCol="0" anchor="ctr"/>
          <a:lstStyle/>
          <a:p>
            <a:pPr indent="0" marL="0">
              <a:buNone/>
            </a:pPr>
            <a:r>
              <a:rPr lang="en-US" sz="1400" b="1" dirty="0">
                <a:solidFill>
                  <a:srgbClr val="1E1A18"/>
                </a:solidFill>
                <a:latin typeface="Arial" pitchFamily="34" charset="0"/>
                <a:ea typeface="Arial" pitchFamily="34" charset="-122"/>
                <a:cs typeface="Arial" pitchFamily="34" charset="-120"/>
              </a:rPr>
              <a:t>Contouring luminos:</a:t>
            </a:r>
            <a:r>
              <a:rPr lang="en-US" sz="1400" dirty="0">
                <a:solidFill>
                  <a:srgbClr val="1E1A18"/>
                </a:solidFill>
                <a:latin typeface="Arial" pitchFamily="34" charset="0"/>
                <a:ea typeface="Arial" pitchFamily="34" charset="-122"/>
                <a:cs typeface="Arial" pitchFamily="34" charset="-120"/>
              </a:rPr>
              <a:t> secțiuni fine și dese la față, babylights rare pe top, interior și substraturi naturale → față luminoasă, profunzime în rest.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77"/>
          <p:cNvSpPr txBox="1"/>
          <p:nvPr/>
        </p:nvSpPr>
        <p:spPr>
          <a:xfrm>
            <a:off x="457200" y="228600"/>
            <a:ext cx="8229600" cy="274320"/>
          </a:xfrm>
          <a:prstGeom prst="rect">
            <a:avLst/>
          </a:prstGeom>
          <a:noFill/>
          <a:ln/>
        </p:spPr>
        <p:txBody>
          <a:bodyPr wrap="square" lIns="0" tIns="0" rIns="0" bIns="0" rtlCol="0" anchor="t"/>
          <a:lstStyle/>
          <a:p>
            <a:pPr indent="0" marL="0">
              <a:buNone/>
            </a:pPr>
            <a:r>
              <a:rPr lang="en-US" sz="1200" b="1" spc="100" kern="0" dirty="0">
                <a:solidFill>
                  <a:srgbClr val="9A4F5C"/>
                </a:solidFill>
                <a:latin typeface="Arial" pitchFamily="34" charset="0"/>
                <a:ea typeface="Arial" pitchFamily="34" charset="-122"/>
                <a:cs typeface="Arial" pitchFamily="34" charset="-120"/>
              </a:rPr>
              <a:t>PRO &amp; CONTRA</a:t>
            </a:r>
            <a:endParaRPr lang="en-US" sz="1200" dirty="0"/>
          </a:p>
        </p:txBody>
      </p:sp>
      <p:sp>
        <p:nvSpPr>
          <p:cNvPr id="3" name="text-78"/>
          <p:cNvSpPr txBox="1"/>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1E1A18"/>
                </a:solidFill>
                <a:latin typeface="Arial" pitchFamily="34" charset="0"/>
                <a:ea typeface="Arial" pitchFamily="34" charset="-122"/>
                <a:cs typeface="Arial" pitchFamily="34" charset="-120"/>
              </a:rPr>
              <a:t>Cum alegem tehnica potrivită?</a:t>
            </a:r>
            <a:endParaRPr lang="en-US" sz="2600" dirty="0"/>
          </a:p>
        </p:txBody>
      </p:sp>
      <p:sp>
        <p:nvSpPr>
          <p:cNvPr id="4" name="text-79"/>
          <p:cNvSpPr txBox="1"/>
          <p:nvPr/>
        </p:nvSpPr>
        <p:spPr>
          <a:xfrm>
            <a:off x="457200" y="4828032"/>
            <a:ext cx="4572000" cy="228600"/>
          </a:xfrm>
          <a:prstGeom prst="rect">
            <a:avLst/>
          </a:prstGeom>
          <a:noFill/>
          <a:ln/>
        </p:spPr>
        <p:txBody>
          <a:bodyPr wrap="square" lIns="0" tIns="0" rIns="0" bIns="0" rtlCol="0" anchor="t"/>
          <a:lstStyle/>
          <a:p>
            <a:pPr indent="0" marL="0">
              <a:buNone/>
            </a:pPr>
            <a:r>
              <a:rPr lang="en-US" sz="1000" dirty="0">
                <a:solidFill>
                  <a:srgbClr val="4A3F3A"/>
                </a:solidFill>
                <a:latin typeface="Arial" pitchFamily="34" charset="0"/>
                <a:ea typeface="Arial" pitchFamily="34" charset="-122"/>
                <a:cs typeface="Arial" pitchFamily="34" charset="-120"/>
              </a:rPr>
              <a:t>BLONDE AMBITION by Diana Avram</a:t>
            </a:r>
            <a:endParaRPr lang="en-US" sz="1000" dirty="0"/>
          </a:p>
        </p:txBody>
      </p:sp>
      <p:graphicFrame>
        <p:nvGraphicFramePr>
          <p:cNvPr id="6" name="table-8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463040"/>
                <a:gridCol w="1691640"/>
                <a:gridCol w="1691640"/>
                <a:gridCol w="1691640"/>
                <a:gridCol w="1691640"/>
              </a:tblGrid>
              <a:tr h="457200">
                <a:tc>
                  <a:txBody>
                    <a:bodyPr/>
                    <a:lstStyle/>
                    <a:p>
                      <a:pPr algn="ctr" indent="0" marL="0">
                        <a:buNone/>
                      </a:pP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9A4F5C"/>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Aproape de rădăcină</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9A4F5C"/>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Cu root shadow</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9A4F5C"/>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Balayage, bază naturală</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9A4F5C"/>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Blond uniform</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9A4F5C"/>
                    </a:solidFill>
                  </a:tcPr>
                </a:tc>
              </a:tr>
              <a:tr h="384048">
                <a:tc>
                  <a:txBody>
                    <a:bodyPr/>
                    <a:lstStyle/>
                    <a:p>
                      <a:pPr indent="0" marL="0">
                        <a:buNone/>
                      </a:pPr>
                      <a:r>
                        <a:rPr lang="en-US" sz="1300" b="1" dirty="0">
                          <a:solidFill>
                            <a:srgbClr val="1E1A18"/>
                          </a:solidFill>
                          <a:latin typeface="Arial" pitchFamily="34" charset="0"/>
                          <a:ea typeface="Arial" pitchFamily="34" charset="-122"/>
                          <a:cs typeface="Arial" pitchFamily="34" charset="-120"/>
                        </a:rPr>
                        <a:t>Impact vizual</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1A18"/>
                          </a:solidFill>
                          <a:latin typeface="Arial" pitchFamily="34" charset="0"/>
                          <a:ea typeface="Arial" pitchFamily="34" charset="-122"/>
                          <a:cs typeface="Arial" pitchFamily="34" charset="-120"/>
                        </a:rPr>
                        <a:t>Imediat, puternic</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1A18"/>
                          </a:solidFill>
                          <a:latin typeface="Arial" pitchFamily="34" charset="0"/>
                          <a:ea typeface="Arial" pitchFamily="34" charset="-122"/>
                          <a:cs typeface="Arial" pitchFamily="34" charset="-120"/>
                        </a:rPr>
                        <a:t>Luminos, soft sus</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1A18"/>
                          </a:solidFill>
                          <a:latin typeface="Arial" pitchFamily="34" charset="0"/>
                          <a:ea typeface="Arial" pitchFamily="34" charset="-122"/>
                          <a:cs typeface="Arial" pitchFamily="34" charset="-120"/>
                        </a:rPr>
                        <a:t>Natural, lived-in</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1A18"/>
                          </a:solidFill>
                          <a:latin typeface="Arial" pitchFamily="34" charset="0"/>
                          <a:ea typeface="Arial" pitchFamily="34" charset="-122"/>
                          <a:cs typeface="Arial" pitchFamily="34" charset="-120"/>
                        </a:rPr>
                        <a:t>Maxim, intens</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r>
              <a:tr h="347472">
                <a:tc>
                  <a:txBody>
                    <a:bodyPr/>
                    <a:lstStyle/>
                    <a:p>
                      <a:pPr indent="0" marL="0">
                        <a:buNone/>
                      </a:pPr>
                      <a:r>
                        <a:rPr lang="en-US" sz="1300" b="1" dirty="0">
                          <a:solidFill>
                            <a:srgbClr val="1E1A18"/>
                          </a:solidFill>
                          <a:latin typeface="Arial" pitchFamily="34" charset="0"/>
                          <a:ea typeface="Arial" pitchFamily="34" charset="-122"/>
                          <a:cs typeface="Arial" pitchFamily="34" charset="-120"/>
                        </a:rPr>
                        <a:t>Dimensiune</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300" dirty="0">
                          <a:solidFill>
                            <a:srgbClr val="1E1A18"/>
                          </a:solidFill>
                          <a:latin typeface="Arial" pitchFamily="34" charset="0"/>
                          <a:ea typeface="Arial" pitchFamily="34" charset="-122"/>
                          <a:cs typeface="Arial" pitchFamily="34" charset="-120"/>
                        </a:rPr>
                        <a:t>Medie</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300" dirty="0">
                          <a:solidFill>
                            <a:srgbClr val="1E1A18"/>
                          </a:solidFill>
                          <a:latin typeface="Arial" pitchFamily="34" charset="0"/>
                          <a:ea typeface="Arial" pitchFamily="34" charset="-122"/>
                          <a:cs typeface="Arial" pitchFamily="34" charset="-120"/>
                        </a:rPr>
                        <a:t>Mare</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300" dirty="0">
                          <a:solidFill>
                            <a:srgbClr val="1E1A18"/>
                          </a:solidFill>
                          <a:latin typeface="Arial" pitchFamily="34" charset="0"/>
                          <a:ea typeface="Arial" pitchFamily="34" charset="-122"/>
                          <a:cs typeface="Arial" pitchFamily="34" charset="-120"/>
                        </a:rPr>
                        <a:t>Mare</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300" dirty="0">
                          <a:solidFill>
                            <a:srgbClr val="1E1A18"/>
                          </a:solidFill>
                          <a:latin typeface="Arial" pitchFamily="34" charset="0"/>
                          <a:ea typeface="Arial" pitchFamily="34" charset="-122"/>
                          <a:cs typeface="Arial" pitchFamily="34" charset="-120"/>
                        </a:rPr>
                        <a:t>Redusă</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r>
              <a:tr h="347472">
                <a:tc>
                  <a:txBody>
                    <a:bodyPr/>
                    <a:lstStyle/>
                    <a:p>
                      <a:pPr indent="0" marL="0">
                        <a:buNone/>
                      </a:pPr>
                      <a:r>
                        <a:rPr lang="en-US" sz="1300" b="1" dirty="0">
                          <a:solidFill>
                            <a:srgbClr val="1E1A18"/>
                          </a:solidFill>
                          <a:latin typeface="Arial" pitchFamily="34" charset="0"/>
                          <a:ea typeface="Arial" pitchFamily="34" charset="-122"/>
                          <a:cs typeface="Arial" pitchFamily="34" charset="-120"/>
                        </a:rPr>
                        <a:t>Creșterea</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1A18"/>
                          </a:solidFill>
                          <a:latin typeface="Arial" pitchFamily="34" charset="0"/>
                          <a:ea typeface="Arial" pitchFamily="34" charset="-122"/>
                          <a:cs typeface="Arial" pitchFamily="34" charset="-120"/>
                        </a:rPr>
                        <a:t>Vizibilă repede</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1A18"/>
                          </a:solidFill>
                          <a:latin typeface="Arial" pitchFamily="34" charset="0"/>
                          <a:ea typeface="Arial" pitchFamily="34" charset="-122"/>
                          <a:cs typeface="Arial" pitchFamily="34" charset="-120"/>
                        </a:rPr>
                        <a:t>Discretă</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1A18"/>
                          </a:solidFill>
                          <a:latin typeface="Arial" pitchFamily="34" charset="0"/>
                          <a:ea typeface="Arial" pitchFamily="34" charset="-122"/>
                          <a:cs typeface="Arial" pitchFamily="34" charset="-120"/>
                        </a:rPr>
                        <a:t>Foarte discretă</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1A18"/>
                          </a:solidFill>
                          <a:latin typeface="Arial" pitchFamily="34" charset="0"/>
                          <a:ea typeface="Arial" pitchFamily="34" charset="-122"/>
                          <a:cs typeface="Arial" pitchFamily="34" charset="-120"/>
                        </a:rPr>
                        <a:t>Foarte vizibilă</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r>
              <a:tr h="347472">
                <a:tc>
                  <a:txBody>
                    <a:bodyPr/>
                    <a:lstStyle/>
                    <a:p>
                      <a:pPr indent="0" marL="0">
                        <a:buNone/>
                      </a:pPr>
                      <a:r>
                        <a:rPr lang="en-US" sz="1300" b="1" dirty="0">
                          <a:solidFill>
                            <a:srgbClr val="1E1A18"/>
                          </a:solidFill>
                          <a:latin typeface="Arial" pitchFamily="34" charset="0"/>
                          <a:ea typeface="Arial" pitchFamily="34" charset="-122"/>
                          <a:cs typeface="Arial" pitchFamily="34" charset="-120"/>
                        </a:rPr>
                        <a:t>Întreținere</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300" dirty="0">
                          <a:solidFill>
                            <a:srgbClr val="1E1A18"/>
                          </a:solidFill>
                          <a:latin typeface="Arial" pitchFamily="34" charset="0"/>
                          <a:ea typeface="Arial" pitchFamily="34" charset="-122"/>
                          <a:cs typeface="Arial" pitchFamily="34" charset="-120"/>
                        </a:rPr>
                        <a:t>Mai deasă</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300" dirty="0">
                          <a:solidFill>
                            <a:srgbClr val="1E1A18"/>
                          </a:solidFill>
                          <a:latin typeface="Arial" pitchFamily="34" charset="0"/>
                          <a:ea typeface="Arial" pitchFamily="34" charset="-122"/>
                          <a:cs typeface="Arial" pitchFamily="34" charset="-120"/>
                        </a:rPr>
                        <a:t>Mai rară, de regulă</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300" dirty="0">
                          <a:solidFill>
                            <a:srgbClr val="1E1A18"/>
                          </a:solidFill>
                          <a:latin typeface="Arial" pitchFamily="34" charset="0"/>
                          <a:ea typeface="Arial" pitchFamily="34" charset="-122"/>
                          <a:cs typeface="Arial" pitchFamily="34" charset="-120"/>
                        </a:rPr>
                        <a:t>Cea mai flexibilă</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300" dirty="0">
                          <a:solidFill>
                            <a:srgbClr val="1E1A18"/>
                          </a:solidFill>
                          <a:latin typeface="Arial" pitchFamily="34" charset="0"/>
                          <a:ea typeface="Arial" pitchFamily="34" charset="-122"/>
                          <a:cs typeface="Arial" pitchFamily="34" charset="-120"/>
                        </a:rPr>
                        <a:t>Cea mai deasă</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r>
              <a:tr h="384048">
                <a:tc>
                  <a:txBody>
                    <a:bodyPr/>
                    <a:lstStyle/>
                    <a:p>
                      <a:pPr indent="0" marL="0">
                        <a:buNone/>
                      </a:pPr>
                      <a:r>
                        <a:rPr lang="en-US" sz="1300" b="1" dirty="0">
                          <a:solidFill>
                            <a:srgbClr val="1E1A18"/>
                          </a:solidFill>
                          <a:latin typeface="Arial" pitchFamily="34" charset="0"/>
                          <a:ea typeface="Arial" pitchFamily="34" charset="-122"/>
                          <a:cs typeface="Arial" pitchFamily="34" charset="-120"/>
                        </a:rPr>
                        <a:t>Luminozitate</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1A18"/>
                          </a:solidFill>
                          <a:latin typeface="Arial" pitchFamily="34" charset="0"/>
                          <a:ea typeface="Arial" pitchFamily="34" charset="-122"/>
                          <a:cs typeface="Arial" pitchFamily="34" charset="-120"/>
                        </a:rPr>
                        <a:t>Ridicată, de la scalp</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1A18"/>
                          </a:solidFill>
                          <a:latin typeface="Arial" pitchFamily="34" charset="0"/>
                          <a:ea typeface="Arial" pitchFamily="34" charset="-122"/>
                          <a:cs typeface="Arial" pitchFamily="34" charset="-120"/>
                        </a:rPr>
                        <a:t>Ridicată pe lungimi</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1A18"/>
                          </a:solidFill>
                          <a:latin typeface="Arial" pitchFamily="34" charset="0"/>
                          <a:ea typeface="Arial" pitchFamily="34" charset="-122"/>
                          <a:cs typeface="Arial" pitchFamily="34" charset="-120"/>
                        </a:rPr>
                        <a:t>Moderată → ridicată</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1A18"/>
                          </a:solidFill>
                          <a:latin typeface="Arial" pitchFamily="34" charset="0"/>
                          <a:ea typeface="Arial" pitchFamily="34" charset="-122"/>
                          <a:cs typeface="Arial" pitchFamily="34" charset="-120"/>
                        </a:rPr>
                        <a:t>Maximă</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r>
              <a:tr h="347472">
                <a:tc>
                  <a:txBody>
                    <a:bodyPr/>
                    <a:lstStyle/>
                    <a:p>
                      <a:pPr indent="0" marL="0">
                        <a:buNone/>
                      </a:pPr>
                      <a:r>
                        <a:rPr lang="en-US" sz="1300" b="1" dirty="0">
                          <a:solidFill>
                            <a:srgbClr val="1E1A18"/>
                          </a:solidFill>
                          <a:latin typeface="Arial" pitchFamily="34" charset="0"/>
                          <a:ea typeface="Arial" pitchFamily="34" charset="-122"/>
                          <a:cs typeface="Arial" pitchFamily="34" charset="-120"/>
                        </a:rPr>
                        <a:t>Avantaj</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300" dirty="0">
                          <a:solidFill>
                            <a:srgbClr val="1E1A18"/>
                          </a:solidFill>
                          <a:latin typeface="Arial" pitchFamily="34" charset="0"/>
                          <a:ea typeface="Arial" pitchFamily="34" charset="-122"/>
                          <a:cs typeface="Arial" pitchFamily="34" charset="-120"/>
                        </a:rPr>
                        <a:t>Blond de la rădăcină</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300" dirty="0">
                          <a:solidFill>
                            <a:srgbClr val="1E1A18"/>
                          </a:solidFill>
                          <a:latin typeface="Arial" pitchFamily="34" charset="0"/>
                          <a:ea typeface="Arial" pitchFamily="34" charset="-122"/>
                          <a:cs typeface="Arial" pitchFamily="34" charset="-120"/>
                        </a:rPr>
                        <a:t>Creștere elegantă</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300" dirty="0">
                          <a:solidFill>
                            <a:srgbClr val="1E1A18"/>
                          </a:solidFill>
                          <a:latin typeface="Arial" pitchFamily="34" charset="0"/>
                          <a:ea typeface="Arial" pitchFamily="34" charset="-122"/>
                          <a:cs typeface="Arial" pitchFamily="34" charset="-120"/>
                        </a:rPr>
                        <a:t>Păr natural păstrat</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c>
                  <a:txBody>
                    <a:bodyPr/>
                    <a:lstStyle/>
                    <a:p>
                      <a:pPr algn="ctr" indent="0" marL="0">
                        <a:buNone/>
                      </a:pPr>
                      <a:r>
                        <a:rPr lang="en-US" sz="1300" dirty="0">
                          <a:solidFill>
                            <a:srgbClr val="1E1A18"/>
                          </a:solidFill>
                          <a:latin typeface="Arial" pitchFamily="34" charset="0"/>
                          <a:ea typeface="Arial" pitchFamily="34" charset="-122"/>
                          <a:cs typeface="Arial" pitchFamily="34" charset="-120"/>
                        </a:rPr>
                        <a:t>Blond complet</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6EEE9"/>
                    </a:solidFill>
                  </a:tcPr>
                </a:tc>
              </a:tr>
              <a:tr h="347472">
                <a:tc>
                  <a:txBody>
                    <a:bodyPr/>
                    <a:lstStyle/>
                    <a:p>
                      <a:pPr indent="0" marL="0">
                        <a:buNone/>
                      </a:pPr>
                      <a:r>
                        <a:rPr lang="en-US" sz="1300" b="1" dirty="0">
                          <a:solidFill>
                            <a:srgbClr val="1E1A18"/>
                          </a:solidFill>
                          <a:latin typeface="Arial" pitchFamily="34" charset="0"/>
                          <a:ea typeface="Arial" pitchFamily="34" charset="-122"/>
                          <a:cs typeface="Arial" pitchFamily="34" charset="-120"/>
                        </a:rPr>
                        <a:t>Compromis</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1A18"/>
                          </a:solidFill>
                          <a:latin typeface="Arial" pitchFamily="34" charset="0"/>
                          <a:ea typeface="Arial" pitchFamily="34" charset="-122"/>
                          <a:cs typeface="Arial" pitchFamily="34" charset="-120"/>
                        </a:rPr>
                        <a:t>Linie de creștere</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1A18"/>
                          </a:solidFill>
                          <a:latin typeface="Arial" pitchFamily="34" charset="0"/>
                          <a:ea typeface="Arial" pitchFamily="34" charset="-122"/>
                          <a:cs typeface="Arial" pitchFamily="34" charset="-120"/>
                        </a:rPr>
                        <a:t>Mai puțină lumină sus</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1A18"/>
                          </a:solidFill>
                          <a:latin typeface="Arial" pitchFamily="34" charset="0"/>
                          <a:ea typeface="Arial" pitchFamily="34" charset="-122"/>
                          <a:cs typeface="Arial" pitchFamily="34" charset="-120"/>
                        </a:rPr>
                        <a:t>Mai puțin blond sus</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1A18"/>
                          </a:solidFill>
                          <a:latin typeface="Arial" pitchFamily="34" charset="0"/>
                          <a:ea typeface="Arial" pitchFamily="34" charset="-122"/>
                          <a:cs typeface="Arial" pitchFamily="34" charset="-120"/>
                        </a:rPr>
                        <a:t>Multă decolorare</a:t>
                      </a:r>
                      <a:endParaRPr lang="en-US" sz="1300" dirty="0">
                        <a:latin typeface="Arial" charset="0"/>
                        <a:ea typeface="Arial" charset="0"/>
                        <a:cs typeface="Arial" charset="0"/>
                      </a:endParaRPr>
                    </a:p>
                  </a:txBody>
                  <a:tcPr marL="54864" marR="54864" marT="27432" marB="27432" anchor="ctr">
                    <a:lnL w="9525" cap="flat" cmpd="sng" algn="ctr">
                      <a:solidFill>
                        <a:srgbClr val="E2D3CA"/>
                      </a:solidFill>
                      <a:prstDash val="solid"/>
                      <a:round/>
                      <a:headEnd type="none" w="med" len="med"/>
                      <a:tailEnd type="none" w="med" len="med"/>
                    </a:lnL>
                    <a:lnR w="9525" cap="flat" cmpd="sng" algn="ctr">
                      <a:solidFill>
                        <a:srgbClr val="E2D3CA"/>
                      </a:solidFill>
                      <a:prstDash val="solid"/>
                      <a:round/>
                      <a:headEnd type="none" w="med" len="med"/>
                      <a:tailEnd type="none" w="med" len="med"/>
                    </a:lnR>
                    <a:lnT w="9525" cap="flat" cmpd="sng" algn="ctr">
                      <a:solidFill>
                        <a:srgbClr val="E2D3CA"/>
                      </a:solidFill>
                      <a:prstDash val="solid"/>
                      <a:round/>
                      <a:headEnd type="none" w="med" len="med"/>
                      <a:tailEnd type="none" w="med" len="med"/>
                    </a:lnT>
                    <a:lnB w="9525" cap="flat" cmpd="sng" algn="ctr">
                      <a:solidFill>
                        <a:srgbClr val="E2D3CA"/>
                      </a:solidFill>
                      <a:prstDash val="solid"/>
                      <a:round/>
                      <a:headEnd type="none" w="med" len="med"/>
                      <a:tailEnd type="none" w="med" len="med"/>
                    </a:lnB>
                    <a:solidFill>
                      <a:srgbClr val="FFFFFF"/>
                    </a:solidFill>
                  </a:tcPr>
                </a:tc>
              </a:tr>
            </a:tbl>
          </a:graphicData>
        </a:graphic>
      </p:graphicFrame>
      <p:sp>
        <p:nvSpPr>
          <p:cNvPr id="7" name="text-81"/>
          <p:cNvSpPr txBox="1"/>
          <p:nvPr/>
        </p:nvSpPr>
        <p:spPr>
          <a:xfrm>
            <a:off x="457200" y="4343400"/>
            <a:ext cx="8229600" cy="365760"/>
          </a:xfrm>
          <a:prstGeom prst="rect">
            <a:avLst/>
          </a:prstGeom>
          <a:noFill/>
          <a:ln/>
        </p:spPr>
        <p:txBody>
          <a:bodyPr wrap="square" lIns="0" tIns="0" rIns="0" bIns="0" rtlCol="0" anchor="ctr"/>
          <a:lstStyle/>
          <a:p>
            <a:pPr indent="0" marL="0">
              <a:buNone/>
            </a:pPr>
            <a:r>
              <a:rPr lang="en-US" sz="1300" b="1" dirty="0">
                <a:solidFill>
                  <a:srgbClr val="4A3F3A"/>
                </a:solidFill>
                <a:latin typeface="Arial" pitchFamily="34" charset="0"/>
                <a:ea typeface="Arial" pitchFamily="34" charset="-122"/>
                <a:cs typeface="Arial" pitchFamily="34" charset="-120"/>
              </a:rPr>
              <a:t>Atenție:</a:t>
            </a:r>
            <a:r>
              <a:rPr lang="en-US" sz="1300" dirty="0">
                <a:solidFill>
                  <a:srgbClr val="4A3F3A"/>
                </a:solidFill>
                <a:latin typeface="Arial" pitchFamily="34" charset="0"/>
                <a:ea typeface="Arial" pitchFamily="34" charset="-122"/>
                <a:cs typeface="Arial" pitchFamily="34" charset="-120"/>
              </a:rPr>
              <a:t> întreținerea depinde de bază, contrast, tehnică și stil de viață. </a:t>
            </a:r>
            <a:r>
              <a:rPr lang="en-US" sz="1300" b="1" dirty="0">
                <a:solidFill>
                  <a:srgbClr val="4A3F3A"/>
                </a:solidFill>
                <a:latin typeface="Arial" pitchFamily="34" charset="0"/>
                <a:ea typeface="Arial" pitchFamily="34" charset="-122"/>
                <a:cs typeface="Arial" pitchFamily="34" charset="-120"/>
              </a:rPr>
              <a:t>Nu există intervale universale.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82"/>
          <p:cNvSpPr txBox="1"/>
          <p:nvPr/>
        </p:nvSpPr>
        <p:spPr>
          <a:xfrm>
            <a:off x="457200" y="228600"/>
            <a:ext cx="8229600" cy="274320"/>
          </a:xfrm>
          <a:prstGeom prst="rect">
            <a:avLst/>
          </a:prstGeom>
          <a:noFill/>
          <a:ln/>
        </p:spPr>
        <p:txBody>
          <a:bodyPr wrap="square" lIns="0" tIns="0" rIns="0" bIns="0" rtlCol="0" anchor="t"/>
          <a:lstStyle/>
          <a:p>
            <a:pPr indent="0" marL="0">
              <a:buNone/>
            </a:pPr>
            <a:r>
              <a:rPr lang="en-US" sz="1200" b="1" spc="100" kern="0" dirty="0">
                <a:solidFill>
                  <a:srgbClr val="9A4F5C"/>
                </a:solidFill>
                <a:latin typeface="Arial" pitchFamily="34" charset="0"/>
                <a:ea typeface="Arial" pitchFamily="34" charset="-122"/>
                <a:cs typeface="Arial" pitchFamily="34" charset="-120"/>
              </a:rPr>
              <a:t>TIPS &amp; TRICKS</a:t>
            </a:r>
            <a:endParaRPr lang="en-US" sz="1200" dirty="0"/>
          </a:p>
        </p:txBody>
      </p:sp>
      <p:sp>
        <p:nvSpPr>
          <p:cNvPr id="3" name="text-83"/>
          <p:cNvSpPr txBox="1"/>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1E1A18"/>
                </a:solidFill>
                <a:latin typeface="Arial" pitchFamily="34" charset="0"/>
                <a:ea typeface="Arial" pitchFamily="34" charset="-122"/>
                <a:cs typeface="Arial" pitchFamily="34" charset="-120"/>
              </a:rPr>
              <a:t>Gândește ca un colorist, nu doar ca un tehnician</a:t>
            </a:r>
            <a:endParaRPr lang="en-US" sz="2600" dirty="0"/>
          </a:p>
        </p:txBody>
      </p:sp>
      <p:sp>
        <p:nvSpPr>
          <p:cNvPr id="4" name="text-84"/>
          <p:cNvSpPr txBox="1"/>
          <p:nvPr/>
        </p:nvSpPr>
        <p:spPr>
          <a:xfrm>
            <a:off x="457200" y="4828032"/>
            <a:ext cx="4572000" cy="228600"/>
          </a:xfrm>
          <a:prstGeom prst="rect">
            <a:avLst/>
          </a:prstGeom>
          <a:noFill/>
          <a:ln/>
        </p:spPr>
        <p:txBody>
          <a:bodyPr wrap="square" lIns="0" tIns="0" rIns="0" bIns="0" rtlCol="0" anchor="t"/>
          <a:lstStyle/>
          <a:p>
            <a:pPr indent="0" marL="0">
              <a:buNone/>
            </a:pPr>
            <a:r>
              <a:rPr lang="en-US" sz="1000" dirty="0">
                <a:solidFill>
                  <a:srgbClr val="4A3F3A"/>
                </a:solidFill>
                <a:latin typeface="Arial" pitchFamily="34" charset="0"/>
                <a:ea typeface="Arial" pitchFamily="34" charset="-122"/>
                <a:cs typeface="Arial" pitchFamily="34" charset="-120"/>
              </a:rPr>
              <a:t>BLONDE AMBITION by Diana Avram</a:t>
            </a:r>
            <a:endParaRPr lang="en-US" sz="1000" dirty="0"/>
          </a:p>
        </p:txBody>
      </p:sp>
      <p:sp>
        <p:nvSpPr>
          <p:cNvPr id="6" name="card-85"/>
          <p:cNvSpPr/>
          <p:nvPr/>
        </p:nvSpPr>
        <p:spPr>
          <a:xfrm>
            <a:off x="457200" y="1115568"/>
            <a:ext cx="4023360" cy="822960"/>
          </a:xfrm>
          <a:prstGeom prst="roundRect">
            <a:avLst>
              <a:gd name="adj" fmla="val 11111"/>
            </a:avLst>
          </a:prstGeom>
          <a:solidFill>
            <a:srgbClr val="F6EEE9"/>
          </a:solidFill>
          <a:ln w="12700">
            <a:solidFill>
              <a:srgbClr val="F6EEE9"/>
            </a:solidFill>
            <a:prstDash val="solid"/>
          </a:ln>
        </p:spPr>
      </p:sp>
      <p:sp>
        <p:nvSpPr>
          <p:cNvPr id="7" name="num-86"/>
          <p:cNvSpPr/>
          <p:nvPr/>
        </p:nvSpPr>
        <p:spPr>
          <a:xfrm>
            <a:off x="594360" y="1325880"/>
            <a:ext cx="402336" cy="402336"/>
          </a:xfrm>
          <a:prstGeom prst="ellipse">
            <a:avLst/>
          </a:prstGeom>
          <a:solidFill>
            <a:srgbClr val="9A4F5C"/>
          </a:solidFill>
          <a:ln w="19050">
            <a:solidFill>
              <a:srgbClr val="FFFFFF"/>
            </a:solidFill>
            <a:prstDash val="solid"/>
          </a:ln>
        </p:spPr>
      </p:sp>
      <p:sp>
        <p:nvSpPr>
          <p:cNvPr id="8" name="text-87"/>
          <p:cNvSpPr txBox="1"/>
          <p:nvPr/>
        </p:nvSpPr>
        <p:spPr>
          <a:xfrm>
            <a:off x="594360" y="1325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88"/>
          <p:cNvSpPr txBox="1"/>
          <p:nvPr/>
        </p:nvSpPr>
        <p:spPr>
          <a:xfrm>
            <a:off x="1143000" y="1179576"/>
            <a:ext cx="3246120" cy="292608"/>
          </a:xfrm>
          <a:prstGeom prst="rect">
            <a:avLst/>
          </a:prstGeom>
          <a:noFill/>
          <a:ln/>
        </p:spPr>
        <p:txBody>
          <a:bodyPr wrap="square" lIns="0" tIns="0" rIns="0" bIns="0" rtlCol="0" anchor="t"/>
          <a:lstStyle/>
          <a:p>
            <a:pPr indent="0" marL="0">
              <a:buNone/>
            </a:pPr>
            <a:r>
              <a:rPr lang="en-US" sz="1500" b="1" dirty="0">
                <a:solidFill>
                  <a:srgbClr val="1E1A18"/>
                </a:solidFill>
                <a:latin typeface="Arial" pitchFamily="34" charset="0"/>
                <a:ea typeface="Arial" pitchFamily="34" charset="-122"/>
                <a:cs typeface="Arial" pitchFamily="34" charset="-120"/>
              </a:rPr>
              <a:t>Profunzime lângă lumină</a:t>
            </a:r>
            <a:endParaRPr lang="en-US" sz="1500" dirty="0"/>
          </a:p>
        </p:txBody>
      </p:sp>
      <p:sp>
        <p:nvSpPr>
          <p:cNvPr id="10" name="text-89"/>
          <p:cNvSpPr txBox="1"/>
          <p:nvPr/>
        </p:nvSpPr>
        <p:spPr>
          <a:xfrm>
            <a:off x="1143000" y="1481328"/>
            <a:ext cx="3246120" cy="420624"/>
          </a:xfrm>
          <a:prstGeom prst="rect">
            <a:avLst/>
          </a:prstGeom>
          <a:noFill/>
          <a:ln/>
        </p:spPr>
        <p:txBody>
          <a:bodyPr wrap="square" lIns="0" tIns="0" rIns="0" bIns="0" rtlCol="0" anchor="t"/>
          <a:lstStyle/>
          <a:p>
            <a:pPr indent="0" marL="0">
              <a:buNone/>
            </a:pPr>
            <a:r>
              <a:rPr lang="en-US" sz="1300" dirty="0">
                <a:solidFill>
                  <a:srgbClr val="4A3F3A"/>
                </a:solidFill>
                <a:latin typeface="Arial" pitchFamily="34" charset="0"/>
                <a:ea typeface="Arial" pitchFamily="34" charset="-122"/>
                <a:cs typeface="Arial" pitchFamily="34" charset="-120"/>
              </a:rPr>
              <a:t>Blondul iese în evidență unde păstrezi umbră lângă el.</a:t>
            </a:r>
            <a:endParaRPr lang="en-US" sz="1300" dirty="0"/>
          </a:p>
        </p:txBody>
      </p:sp>
      <p:sp>
        <p:nvSpPr>
          <p:cNvPr id="11" name="card-90"/>
          <p:cNvSpPr/>
          <p:nvPr/>
        </p:nvSpPr>
        <p:spPr>
          <a:xfrm>
            <a:off x="4663440" y="1115568"/>
            <a:ext cx="4023360" cy="822960"/>
          </a:xfrm>
          <a:prstGeom prst="roundRect">
            <a:avLst>
              <a:gd name="adj" fmla="val 11111"/>
            </a:avLst>
          </a:prstGeom>
          <a:solidFill>
            <a:srgbClr val="F6EEE9"/>
          </a:solidFill>
          <a:ln w="12700">
            <a:solidFill>
              <a:srgbClr val="F6EEE9"/>
            </a:solidFill>
            <a:prstDash val="solid"/>
          </a:ln>
        </p:spPr>
      </p:sp>
      <p:sp>
        <p:nvSpPr>
          <p:cNvPr id="12" name="num-91"/>
          <p:cNvSpPr/>
          <p:nvPr/>
        </p:nvSpPr>
        <p:spPr>
          <a:xfrm>
            <a:off x="4800600" y="1325880"/>
            <a:ext cx="402336" cy="402336"/>
          </a:xfrm>
          <a:prstGeom prst="ellipse">
            <a:avLst/>
          </a:prstGeom>
          <a:solidFill>
            <a:srgbClr val="9A4F5C"/>
          </a:solidFill>
          <a:ln w="19050">
            <a:solidFill>
              <a:srgbClr val="FFFFFF"/>
            </a:solidFill>
            <a:prstDash val="solid"/>
          </a:ln>
        </p:spPr>
      </p:sp>
      <p:sp>
        <p:nvSpPr>
          <p:cNvPr id="13" name="text-92"/>
          <p:cNvSpPr txBox="1"/>
          <p:nvPr/>
        </p:nvSpPr>
        <p:spPr>
          <a:xfrm>
            <a:off x="4800600" y="1325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93"/>
          <p:cNvSpPr txBox="1"/>
          <p:nvPr/>
        </p:nvSpPr>
        <p:spPr>
          <a:xfrm>
            <a:off x="5349240" y="1179576"/>
            <a:ext cx="3246120" cy="292608"/>
          </a:xfrm>
          <a:prstGeom prst="rect">
            <a:avLst/>
          </a:prstGeom>
          <a:noFill/>
          <a:ln/>
        </p:spPr>
        <p:txBody>
          <a:bodyPr wrap="square" lIns="0" tIns="0" rIns="0" bIns="0" rtlCol="0" anchor="t"/>
          <a:lstStyle/>
          <a:p>
            <a:pPr indent="0" marL="0">
              <a:buNone/>
            </a:pPr>
            <a:r>
              <a:rPr lang="en-US" sz="1500" b="1" dirty="0">
                <a:solidFill>
                  <a:srgbClr val="1E1A18"/>
                </a:solidFill>
                <a:latin typeface="Arial" pitchFamily="34" charset="0"/>
                <a:ea typeface="Arial" pitchFamily="34" charset="-122"/>
                <a:cs typeface="Arial" pitchFamily="34" charset="-120"/>
              </a:rPr>
              <a:t>Foliile ≠ impact</a:t>
            </a:r>
            <a:endParaRPr lang="en-US" sz="1500" dirty="0"/>
          </a:p>
        </p:txBody>
      </p:sp>
      <p:sp>
        <p:nvSpPr>
          <p:cNvPr id="15" name="text-94"/>
          <p:cNvSpPr txBox="1"/>
          <p:nvPr/>
        </p:nvSpPr>
        <p:spPr>
          <a:xfrm>
            <a:off x="5349240" y="1481328"/>
            <a:ext cx="3246120" cy="420624"/>
          </a:xfrm>
          <a:prstGeom prst="rect">
            <a:avLst/>
          </a:prstGeom>
          <a:noFill/>
          <a:ln/>
        </p:spPr>
        <p:txBody>
          <a:bodyPr wrap="square" lIns="0" tIns="0" rIns="0" bIns="0" rtlCol="0" anchor="t"/>
          <a:lstStyle/>
          <a:p>
            <a:pPr indent="0" marL="0">
              <a:buNone/>
            </a:pPr>
            <a:r>
              <a:rPr lang="en-US" sz="1300" dirty="0">
                <a:solidFill>
                  <a:srgbClr val="4A3F3A"/>
                </a:solidFill>
                <a:latin typeface="Arial" pitchFamily="34" charset="0"/>
                <a:ea typeface="Arial" pitchFamily="34" charset="-122"/>
                <a:cs typeface="Arial" pitchFamily="34" charset="-120"/>
              </a:rPr>
              <a:t>Contează plasarea și contrastul, nu numărul foliilor.</a:t>
            </a:r>
            <a:endParaRPr lang="en-US" sz="1300" dirty="0"/>
          </a:p>
        </p:txBody>
      </p:sp>
      <p:sp>
        <p:nvSpPr>
          <p:cNvPr id="16" name="card-95"/>
          <p:cNvSpPr/>
          <p:nvPr/>
        </p:nvSpPr>
        <p:spPr>
          <a:xfrm>
            <a:off x="457200" y="2029968"/>
            <a:ext cx="4023360" cy="822960"/>
          </a:xfrm>
          <a:prstGeom prst="roundRect">
            <a:avLst>
              <a:gd name="adj" fmla="val 11111"/>
            </a:avLst>
          </a:prstGeom>
          <a:solidFill>
            <a:srgbClr val="F6EEE9"/>
          </a:solidFill>
          <a:ln w="12700">
            <a:solidFill>
              <a:srgbClr val="F6EEE9"/>
            </a:solidFill>
            <a:prstDash val="solid"/>
          </a:ln>
        </p:spPr>
      </p:sp>
      <p:sp>
        <p:nvSpPr>
          <p:cNvPr id="17" name="num-96"/>
          <p:cNvSpPr/>
          <p:nvPr/>
        </p:nvSpPr>
        <p:spPr>
          <a:xfrm>
            <a:off x="594360" y="2240280"/>
            <a:ext cx="402336" cy="402336"/>
          </a:xfrm>
          <a:prstGeom prst="ellipse">
            <a:avLst/>
          </a:prstGeom>
          <a:solidFill>
            <a:srgbClr val="9A4F5C"/>
          </a:solidFill>
          <a:ln w="19050">
            <a:solidFill>
              <a:srgbClr val="FFFFFF"/>
            </a:solidFill>
            <a:prstDash val="solid"/>
          </a:ln>
        </p:spPr>
      </p:sp>
      <p:sp>
        <p:nvSpPr>
          <p:cNvPr id="18" name="text-97"/>
          <p:cNvSpPr txBox="1"/>
          <p:nvPr/>
        </p:nvSpPr>
        <p:spPr>
          <a:xfrm>
            <a:off x="594360" y="2240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9" name="text-98"/>
          <p:cNvSpPr txBox="1"/>
          <p:nvPr/>
        </p:nvSpPr>
        <p:spPr>
          <a:xfrm>
            <a:off x="1143000" y="2093976"/>
            <a:ext cx="3246120" cy="292608"/>
          </a:xfrm>
          <a:prstGeom prst="rect">
            <a:avLst/>
          </a:prstGeom>
          <a:noFill/>
          <a:ln/>
        </p:spPr>
        <p:txBody>
          <a:bodyPr wrap="square" lIns="0" tIns="0" rIns="0" bIns="0" rtlCol="0" anchor="t"/>
          <a:lstStyle/>
          <a:p>
            <a:pPr indent="0" marL="0">
              <a:buNone/>
            </a:pPr>
            <a:r>
              <a:rPr lang="en-US" sz="1500" b="1" dirty="0">
                <a:solidFill>
                  <a:srgbClr val="1E1A18"/>
                </a:solidFill>
                <a:latin typeface="Arial" pitchFamily="34" charset="0"/>
                <a:ea typeface="Arial" pitchFamily="34" charset="-122"/>
                <a:cs typeface="Arial" pitchFamily="34" charset="-120"/>
              </a:rPr>
              <a:t>Pornește de la cărare</a:t>
            </a:r>
            <a:endParaRPr lang="en-US" sz="1500" dirty="0"/>
          </a:p>
        </p:txBody>
      </p:sp>
      <p:sp>
        <p:nvSpPr>
          <p:cNvPr id="20" name="text-99"/>
          <p:cNvSpPr txBox="1"/>
          <p:nvPr/>
        </p:nvSpPr>
        <p:spPr>
          <a:xfrm>
            <a:off x="1143000" y="2395728"/>
            <a:ext cx="3246120" cy="420624"/>
          </a:xfrm>
          <a:prstGeom prst="rect">
            <a:avLst/>
          </a:prstGeom>
          <a:noFill/>
          <a:ln/>
        </p:spPr>
        <p:txBody>
          <a:bodyPr wrap="square" lIns="0" tIns="0" rIns="0" bIns="0" rtlCol="0" anchor="t"/>
          <a:lstStyle/>
          <a:p>
            <a:pPr indent="0" marL="0">
              <a:buNone/>
            </a:pPr>
            <a:r>
              <a:rPr lang="en-US" sz="1300" dirty="0">
                <a:solidFill>
                  <a:srgbClr val="4A3F3A"/>
                </a:solidFill>
                <a:latin typeface="Arial" pitchFamily="34" charset="0"/>
                <a:ea typeface="Arial" pitchFamily="34" charset="-122"/>
                <a:cs typeface="Arial" pitchFamily="34" charset="-120"/>
              </a:rPr>
              <a:t>Lumina urmează cum cade și cum se poartă părul.</a:t>
            </a:r>
            <a:endParaRPr lang="en-US" sz="1300" dirty="0"/>
          </a:p>
        </p:txBody>
      </p:sp>
      <p:sp>
        <p:nvSpPr>
          <p:cNvPr id="21" name="card-100"/>
          <p:cNvSpPr/>
          <p:nvPr/>
        </p:nvSpPr>
        <p:spPr>
          <a:xfrm>
            <a:off x="4663440" y="2029968"/>
            <a:ext cx="4023360" cy="822960"/>
          </a:xfrm>
          <a:prstGeom prst="roundRect">
            <a:avLst>
              <a:gd name="adj" fmla="val 11111"/>
            </a:avLst>
          </a:prstGeom>
          <a:solidFill>
            <a:srgbClr val="F6EEE9"/>
          </a:solidFill>
          <a:ln w="12700">
            <a:solidFill>
              <a:srgbClr val="F6EEE9"/>
            </a:solidFill>
            <a:prstDash val="solid"/>
          </a:ln>
        </p:spPr>
      </p:sp>
      <p:sp>
        <p:nvSpPr>
          <p:cNvPr id="22" name="num-101"/>
          <p:cNvSpPr/>
          <p:nvPr/>
        </p:nvSpPr>
        <p:spPr>
          <a:xfrm>
            <a:off x="4800600" y="2240280"/>
            <a:ext cx="402336" cy="402336"/>
          </a:xfrm>
          <a:prstGeom prst="ellipse">
            <a:avLst/>
          </a:prstGeom>
          <a:solidFill>
            <a:srgbClr val="9A4F5C"/>
          </a:solidFill>
          <a:ln w="19050">
            <a:solidFill>
              <a:srgbClr val="FFFFFF"/>
            </a:solidFill>
            <a:prstDash val="solid"/>
          </a:ln>
        </p:spPr>
      </p:sp>
      <p:sp>
        <p:nvSpPr>
          <p:cNvPr id="23" name="text-102"/>
          <p:cNvSpPr txBox="1"/>
          <p:nvPr/>
        </p:nvSpPr>
        <p:spPr>
          <a:xfrm>
            <a:off x="4800600" y="2240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103"/>
          <p:cNvSpPr txBox="1"/>
          <p:nvPr/>
        </p:nvSpPr>
        <p:spPr>
          <a:xfrm>
            <a:off x="5349240" y="2093976"/>
            <a:ext cx="3246120" cy="292608"/>
          </a:xfrm>
          <a:prstGeom prst="rect">
            <a:avLst/>
          </a:prstGeom>
          <a:noFill/>
          <a:ln/>
        </p:spPr>
        <p:txBody>
          <a:bodyPr wrap="square" lIns="0" tIns="0" rIns="0" bIns="0" rtlCol="0" anchor="t"/>
          <a:lstStyle/>
          <a:p>
            <a:pPr indent="0" marL="0">
              <a:buNone/>
            </a:pPr>
            <a:r>
              <a:rPr lang="en-US" sz="1500" b="1" dirty="0">
                <a:solidFill>
                  <a:srgbClr val="1E1A18"/>
                </a:solidFill>
                <a:latin typeface="Arial" pitchFamily="34" charset="0"/>
                <a:ea typeface="Arial" pitchFamily="34" charset="-122"/>
                <a:cs typeface="Arial" pitchFamily="34" charset="-120"/>
              </a:rPr>
              <a:t>Difuz la rădăcină</a:t>
            </a:r>
            <a:endParaRPr lang="en-US" sz="1500" dirty="0"/>
          </a:p>
        </p:txBody>
      </p:sp>
      <p:sp>
        <p:nvSpPr>
          <p:cNvPr id="25" name="text-104"/>
          <p:cNvSpPr txBox="1"/>
          <p:nvPr/>
        </p:nvSpPr>
        <p:spPr>
          <a:xfrm>
            <a:off x="5349240" y="2395728"/>
            <a:ext cx="3246120" cy="420624"/>
          </a:xfrm>
          <a:prstGeom prst="rect">
            <a:avLst/>
          </a:prstGeom>
          <a:noFill/>
          <a:ln/>
        </p:spPr>
        <p:txBody>
          <a:bodyPr wrap="square" lIns="0" tIns="0" rIns="0" bIns="0" rtlCol="0" anchor="t"/>
          <a:lstStyle/>
          <a:p>
            <a:pPr indent="0" marL="0">
              <a:buNone/>
            </a:pPr>
            <a:r>
              <a:rPr lang="en-US" sz="1300" dirty="0">
                <a:solidFill>
                  <a:srgbClr val="4A3F3A"/>
                </a:solidFill>
                <a:latin typeface="Arial" pitchFamily="34" charset="0"/>
                <a:ea typeface="Arial" pitchFamily="34" charset="-122"/>
                <a:cs typeface="Arial" pitchFamily="34" charset="-120"/>
              </a:rPr>
              <a:t>Tranziția difuză face creșterea mai puțin vizibilă.</a:t>
            </a:r>
            <a:endParaRPr lang="en-US" sz="1300" dirty="0"/>
          </a:p>
        </p:txBody>
      </p:sp>
      <p:sp>
        <p:nvSpPr>
          <p:cNvPr id="26" name="card-105"/>
          <p:cNvSpPr/>
          <p:nvPr/>
        </p:nvSpPr>
        <p:spPr>
          <a:xfrm>
            <a:off x="457200" y="2944368"/>
            <a:ext cx="4023360" cy="822960"/>
          </a:xfrm>
          <a:prstGeom prst="roundRect">
            <a:avLst>
              <a:gd name="adj" fmla="val 11111"/>
            </a:avLst>
          </a:prstGeom>
          <a:solidFill>
            <a:srgbClr val="F6EEE9"/>
          </a:solidFill>
          <a:ln w="12700">
            <a:solidFill>
              <a:srgbClr val="F6EEE9"/>
            </a:solidFill>
            <a:prstDash val="solid"/>
          </a:ln>
        </p:spPr>
      </p:sp>
      <p:sp>
        <p:nvSpPr>
          <p:cNvPr id="27" name="num-106"/>
          <p:cNvSpPr/>
          <p:nvPr/>
        </p:nvSpPr>
        <p:spPr>
          <a:xfrm>
            <a:off x="594360" y="3154680"/>
            <a:ext cx="402336" cy="402336"/>
          </a:xfrm>
          <a:prstGeom prst="ellipse">
            <a:avLst/>
          </a:prstGeom>
          <a:solidFill>
            <a:srgbClr val="9A4F5C"/>
          </a:solidFill>
          <a:ln w="19050">
            <a:solidFill>
              <a:srgbClr val="FFFFFF"/>
            </a:solidFill>
            <a:prstDash val="solid"/>
          </a:ln>
        </p:spPr>
      </p:sp>
      <p:sp>
        <p:nvSpPr>
          <p:cNvPr id="28" name="text-107"/>
          <p:cNvSpPr txBox="1"/>
          <p:nvPr/>
        </p:nvSpPr>
        <p:spPr>
          <a:xfrm>
            <a:off x="594360" y="3154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9" name="text-108"/>
          <p:cNvSpPr txBox="1"/>
          <p:nvPr/>
        </p:nvSpPr>
        <p:spPr>
          <a:xfrm>
            <a:off x="1143000" y="3008376"/>
            <a:ext cx="3246120" cy="292608"/>
          </a:xfrm>
          <a:prstGeom prst="rect">
            <a:avLst/>
          </a:prstGeom>
          <a:noFill/>
          <a:ln/>
        </p:spPr>
        <p:txBody>
          <a:bodyPr wrap="square" lIns="0" tIns="0" rIns="0" bIns="0" rtlCol="0" anchor="t"/>
          <a:lstStyle/>
          <a:p>
            <a:pPr indent="0" marL="0">
              <a:buNone/>
            </a:pPr>
            <a:r>
              <a:rPr lang="en-US" sz="1500" b="1" dirty="0">
                <a:solidFill>
                  <a:srgbClr val="1E1A18"/>
                </a:solidFill>
                <a:latin typeface="Arial" pitchFamily="34" charset="0"/>
                <a:ea typeface="Arial" pitchFamily="34" charset="-122"/>
                <a:cs typeface="Arial" pitchFamily="34" charset="-120"/>
              </a:rPr>
              <a:t>Umbră aerisită</a:t>
            </a:r>
            <a:endParaRPr lang="en-US" sz="1500" dirty="0"/>
          </a:p>
        </p:txBody>
      </p:sp>
      <p:sp>
        <p:nvSpPr>
          <p:cNvPr id="30" name="text-109"/>
          <p:cNvSpPr txBox="1"/>
          <p:nvPr/>
        </p:nvSpPr>
        <p:spPr>
          <a:xfrm>
            <a:off x="1143000" y="3310128"/>
            <a:ext cx="3246120" cy="420624"/>
          </a:xfrm>
          <a:prstGeom prst="rect">
            <a:avLst/>
          </a:prstGeom>
          <a:noFill/>
          <a:ln/>
        </p:spPr>
        <p:txBody>
          <a:bodyPr wrap="square" lIns="0" tIns="0" rIns="0" bIns="0" rtlCol="0" anchor="t"/>
          <a:lstStyle/>
          <a:p>
            <a:pPr indent="0" marL="0">
              <a:buNone/>
            </a:pPr>
            <a:r>
              <a:rPr lang="en-US" sz="1300" dirty="0">
                <a:solidFill>
                  <a:srgbClr val="4A3F3A"/>
                </a:solidFill>
                <a:latin typeface="Arial" pitchFamily="34" charset="0"/>
                <a:ea typeface="Arial" pitchFamily="34" charset="-122"/>
                <a:cs typeface="Arial" pitchFamily="34" charset="-120"/>
              </a:rPr>
              <a:t>Umbrele prea compacte sau închise îngreunează rezultatul.</a:t>
            </a:r>
            <a:endParaRPr lang="en-US" sz="1300" dirty="0"/>
          </a:p>
        </p:txBody>
      </p:sp>
      <p:sp>
        <p:nvSpPr>
          <p:cNvPr id="31" name="card-110"/>
          <p:cNvSpPr/>
          <p:nvPr/>
        </p:nvSpPr>
        <p:spPr>
          <a:xfrm>
            <a:off x="4663440" y="2944368"/>
            <a:ext cx="4023360" cy="822960"/>
          </a:xfrm>
          <a:prstGeom prst="roundRect">
            <a:avLst>
              <a:gd name="adj" fmla="val 11111"/>
            </a:avLst>
          </a:prstGeom>
          <a:solidFill>
            <a:srgbClr val="F6EEE9"/>
          </a:solidFill>
          <a:ln w="12700">
            <a:solidFill>
              <a:srgbClr val="F6EEE9"/>
            </a:solidFill>
            <a:prstDash val="solid"/>
          </a:ln>
        </p:spPr>
      </p:sp>
      <p:sp>
        <p:nvSpPr>
          <p:cNvPr id="32" name="num-111"/>
          <p:cNvSpPr/>
          <p:nvPr/>
        </p:nvSpPr>
        <p:spPr>
          <a:xfrm>
            <a:off x="4800600" y="3154680"/>
            <a:ext cx="402336" cy="402336"/>
          </a:xfrm>
          <a:prstGeom prst="ellipse">
            <a:avLst/>
          </a:prstGeom>
          <a:solidFill>
            <a:srgbClr val="9A4F5C"/>
          </a:solidFill>
          <a:ln w="19050">
            <a:solidFill>
              <a:srgbClr val="FFFFFF"/>
            </a:solidFill>
            <a:prstDash val="solid"/>
          </a:ln>
        </p:spPr>
      </p:sp>
      <p:sp>
        <p:nvSpPr>
          <p:cNvPr id="33" name="text-112"/>
          <p:cNvSpPr txBox="1"/>
          <p:nvPr/>
        </p:nvSpPr>
        <p:spPr>
          <a:xfrm>
            <a:off x="4800600" y="3154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4" name="text-113"/>
          <p:cNvSpPr txBox="1"/>
          <p:nvPr/>
        </p:nvSpPr>
        <p:spPr>
          <a:xfrm>
            <a:off x="5349240" y="3008376"/>
            <a:ext cx="3246120" cy="292608"/>
          </a:xfrm>
          <a:prstGeom prst="rect">
            <a:avLst/>
          </a:prstGeom>
          <a:noFill/>
          <a:ln/>
        </p:spPr>
        <p:txBody>
          <a:bodyPr wrap="square" lIns="0" tIns="0" rIns="0" bIns="0" rtlCol="0" anchor="t"/>
          <a:lstStyle/>
          <a:p>
            <a:pPr indent="0" marL="0">
              <a:buNone/>
            </a:pPr>
            <a:r>
              <a:rPr lang="en-US" sz="1500" b="1" dirty="0">
                <a:solidFill>
                  <a:srgbClr val="1E1A18"/>
                </a:solidFill>
                <a:latin typeface="Arial" pitchFamily="34" charset="0"/>
                <a:ea typeface="Arial" pitchFamily="34" charset="-122"/>
                <a:cs typeface="Arial" pitchFamily="34" charset="-120"/>
              </a:rPr>
              <a:t>Verifică în două lumini</a:t>
            </a:r>
            <a:endParaRPr lang="en-US" sz="1500" dirty="0"/>
          </a:p>
        </p:txBody>
      </p:sp>
      <p:sp>
        <p:nvSpPr>
          <p:cNvPr id="35" name="text-114"/>
          <p:cNvSpPr txBox="1"/>
          <p:nvPr/>
        </p:nvSpPr>
        <p:spPr>
          <a:xfrm>
            <a:off x="5349240" y="3310128"/>
            <a:ext cx="3246120" cy="420624"/>
          </a:xfrm>
          <a:prstGeom prst="rect">
            <a:avLst/>
          </a:prstGeom>
          <a:noFill/>
          <a:ln/>
        </p:spPr>
        <p:txBody>
          <a:bodyPr wrap="square" lIns="0" tIns="0" rIns="0" bIns="0" rtlCol="0" anchor="t"/>
          <a:lstStyle/>
          <a:p>
            <a:pPr indent="0" marL="0">
              <a:buNone/>
            </a:pPr>
            <a:r>
              <a:rPr lang="en-US" sz="1300" dirty="0">
                <a:solidFill>
                  <a:srgbClr val="4A3F3A"/>
                </a:solidFill>
                <a:latin typeface="Arial" pitchFamily="34" charset="0"/>
                <a:ea typeface="Arial" pitchFamily="34" charset="-122"/>
                <a:cs typeface="Arial" pitchFamily="34" charset="-120"/>
              </a:rPr>
              <a:t>Frontală și laterală, pe păr uscat și coafat.</a:t>
            </a:r>
            <a:endParaRPr lang="en-US" sz="1300" dirty="0"/>
          </a:p>
        </p:txBody>
      </p:sp>
      <p:sp>
        <p:nvSpPr>
          <p:cNvPr id="36" name="card-115"/>
          <p:cNvSpPr/>
          <p:nvPr/>
        </p:nvSpPr>
        <p:spPr>
          <a:xfrm>
            <a:off x="457200" y="3858768"/>
            <a:ext cx="4023360" cy="822960"/>
          </a:xfrm>
          <a:prstGeom prst="roundRect">
            <a:avLst>
              <a:gd name="adj" fmla="val 11111"/>
            </a:avLst>
          </a:prstGeom>
          <a:solidFill>
            <a:srgbClr val="F6EEE9"/>
          </a:solidFill>
          <a:ln w="12700">
            <a:solidFill>
              <a:srgbClr val="F6EEE9"/>
            </a:solidFill>
            <a:prstDash val="solid"/>
          </a:ln>
        </p:spPr>
      </p:sp>
      <p:sp>
        <p:nvSpPr>
          <p:cNvPr id="37" name="num-116"/>
          <p:cNvSpPr/>
          <p:nvPr/>
        </p:nvSpPr>
        <p:spPr>
          <a:xfrm>
            <a:off x="594360" y="4069080"/>
            <a:ext cx="402336" cy="402336"/>
          </a:xfrm>
          <a:prstGeom prst="ellipse">
            <a:avLst/>
          </a:prstGeom>
          <a:solidFill>
            <a:srgbClr val="9A4F5C"/>
          </a:solidFill>
          <a:ln w="19050">
            <a:solidFill>
              <a:srgbClr val="FFFFFF"/>
            </a:solidFill>
            <a:prstDash val="solid"/>
          </a:ln>
        </p:spPr>
      </p:sp>
      <p:sp>
        <p:nvSpPr>
          <p:cNvPr id="38" name="text-117"/>
          <p:cNvSpPr txBox="1"/>
          <p:nvPr/>
        </p:nvSpPr>
        <p:spPr>
          <a:xfrm>
            <a:off x="594360" y="40690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39" name="text-118"/>
          <p:cNvSpPr txBox="1"/>
          <p:nvPr/>
        </p:nvSpPr>
        <p:spPr>
          <a:xfrm>
            <a:off x="1143000" y="3922776"/>
            <a:ext cx="3246120" cy="292608"/>
          </a:xfrm>
          <a:prstGeom prst="rect">
            <a:avLst/>
          </a:prstGeom>
          <a:noFill/>
          <a:ln/>
        </p:spPr>
        <p:txBody>
          <a:bodyPr wrap="square" lIns="0" tIns="0" rIns="0" bIns="0" rtlCol="0" anchor="t"/>
          <a:lstStyle/>
          <a:p>
            <a:pPr indent="0" marL="0">
              <a:buNone/>
            </a:pPr>
            <a:r>
              <a:rPr lang="en-US" sz="1500" b="1" dirty="0">
                <a:solidFill>
                  <a:srgbClr val="1E1A18"/>
                </a:solidFill>
                <a:latin typeface="Arial" pitchFamily="34" charset="0"/>
                <a:ea typeface="Arial" pitchFamily="34" charset="-122"/>
                <a:cs typeface="Arial" pitchFamily="34" charset="-120"/>
              </a:rPr>
              <a:t>Obiectiv + timp</a:t>
            </a:r>
            <a:endParaRPr lang="en-US" sz="1500" dirty="0"/>
          </a:p>
        </p:txBody>
      </p:sp>
      <p:sp>
        <p:nvSpPr>
          <p:cNvPr id="40" name="text-119"/>
          <p:cNvSpPr txBox="1"/>
          <p:nvPr/>
        </p:nvSpPr>
        <p:spPr>
          <a:xfrm>
            <a:off x="1143000" y="4224528"/>
            <a:ext cx="3246120" cy="420624"/>
          </a:xfrm>
          <a:prstGeom prst="rect">
            <a:avLst/>
          </a:prstGeom>
          <a:noFill/>
          <a:ln/>
        </p:spPr>
        <p:txBody>
          <a:bodyPr wrap="square" lIns="0" tIns="0" rIns="0" bIns="0" rtlCol="0" anchor="t"/>
          <a:lstStyle/>
          <a:p>
            <a:pPr indent="0" marL="0">
              <a:buNone/>
            </a:pPr>
            <a:r>
              <a:rPr lang="en-US" sz="1300" dirty="0">
                <a:solidFill>
                  <a:srgbClr val="4A3F3A"/>
                </a:solidFill>
                <a:latin typeface="Arial" pitchFamily="34" charset="0"/>
                <a:ea typeface="Arial" pitchFamily="34" charset="-122"/>
                <a:cs typeface="Arial" pitchFamily="34" charset="-120"/>
              </a:rPr>
              <a:t>Tehnica după dorința clientei și cât de des revine.</a:t>
            </a:r>
            <a:endParaRPr lang="en-US" sz="1300" dirty="0"/>
          </a:p>
        </p:txBody>
      </p:sp>
      <p:sp>
        <p:nvSpPr>
          <p:cNvPr id="41" name="card-120"/>
          <p:cNvSpPr/>
          <p:nvPr/>
        </p:nvSpPr>
        <p:spPr>
          <a:xfrm>
            <a:off x="4663440" y="3858768"/>
            <a:ext cx="4023360" cy="822960"/>
          </a:xfrm>
          <a:prstGeom prst="roundRect">
            <a:avLst>
              <a:gd name="adj" fmla="val 11111"/>
            </a:avLst>
          </a:prstGeom>
          <a:solidFill>
            <a:srgbClr val="FFFFFF"/>
          </a:solidFill>
          <a:ln w="12700">
            <a:solidFill>
              <a:srgbClr val="9A4F5C"/>
            </a:solidFill>
            <a:prstDash val="solid"/>
          </a:ln>
        </p:spPr>
      </p:sp>
      <p:sp>
        <p:nvSpPr>
          <p:cNvPr id="42" name="text-121"/>
          <p:cNvSpPr txBox="1"/>
          <p:nvPr/>
        </p:nvSpPr>
        <p:spPr>
          <a:xfrm>
            <a:off x="4800600" y="3886200"/>
            <a:ext cx="3749040" cy="768096"/>
          </a:xfrm>
          <a:prstGeom prst="rect">
            <a:avLst/>
          </a:prstGeom>
          <a:noFill/>
          <a:ln/>
        </p:spPr>
        <p:txBody>
          <a:bodyPr wrap="square" lIns="0" tIns="0" rIns="0" bIns="0" rtlCol="0" anchor="ctr"/>
          <a:lstStyle/>
          <a:p>
            <a:pPr indent="0" marL="0">
              <a:buNone/>
            </a:pPr>
            <a:r>
              <a:rPr lang="en-US" sz="1400" i="1" dirty="0">
                <a:solidFill>
                  <a:srgbClr val="1E1A18"/>
                </a:solidFill>
                <a:latin typeface="Arial" pitchFamily="34" charset="0"/>
                <a:ea typeface="Arial" pitchFamily="34" charset="-122"/>
                <a:cs typeface="Arial" pitchFamily="34" charset="-120"/>
              </a:rPr>
              <a:t>„Nu contează doar </a:t>
            </a:r>
            <a:r>
              <a:rPr lang="en-US" sz="1400" b="1" i="1" dirty="0">
                <a:solidFill>
                  <a:srgbClr val="9A4F5C"/>
                </a:solidFill>
                <a:latin typeface="Arial" pitchFamily="34" charset="0"/>
                <a:ea typeface="Arial" pitchFamily="34" charset="-122"/>
                <a:cs typeface="Arial" pitchFamily="34" charset="-120"/>
              </a:rPr>
              <a:t>cât blond</a:t>
            </a:r>
            <a:r>
              <a:rPr lang="en-US" sz="1400" i="1" dirty="0">
                <a:solidFill>
                  <a:srgbClr val="1E1A18"/>
                </a:solidFill>
                <a:latin typeface="Arial" pitchFamily="34" charset="0"/>
                <a:ea typeface="Arial" pitchFamily="34" charset="-122"/>
                <a:cs typeface="Arial" pitchFamily="34" charset="-120"/>
              </a:rPr>
              <a:t> creezi. Contează </a:t>
            </a:r>
            <a:r>
              <a:rPr lang="en-US" sz="1400" b="1" i="1" dirty="0">
                <a:solidFill>
                  <a:srgbClr val="9A4F5C"/>
                </a:solidFill>
                <a:latin typeface="Arial" pitchFamily="34" charset="0"/>
                <a:ea typeface="Arial" pitchFamily="34" charset="-122"/>
                <a:cs typeface="Arial" pitchFamily="34" charset="-120"/>
              </a:rPr>
              <a:t>unde îl plasezi</a:t>
            </a:r>
            <a:r>
              <a:rPr lang="en-US" sz="1400" i="1" dirty="0">
                <a:solidFill>
                  <a:srgbClr val="1E1A18"/>
                </a:solidFill>
                <a:latin typeface="Arial" pitchFamily="34" charset="0"/>
                <a:ea typeface="Arial" pitchFamily="34" charset="-122"/>
                <a:cs typeface="Arial" pitchFamily="34" charset="-120"/>
              </a:rPr>
              <a:t> și </a:t>
            </a:r>
            <a:r>
              <a:rPr lang="en-US" sz="1400" b="1" i="1" dirty="0">
                <a:solidFill>
                  <a:srgbClr val="9A4F5C"/>
                </a:solidFill>
                <a:latin typeface="Arial" pitchFamily="34" charset="0"/>
                <a:ea typeface="Arial" pitchFamily="34" charset="-122"/>
                <a:cs typeface="Arial" pitchFamily="34" charset="-120"/>
              </a:rPr>
              <a:t>câtă profunzime</a:t>
            </a:r>
            <a:r>
              <a:rPr lang="en-US" sz="1400" i="1" dirty="0">
                <a:solidFill>
                  <a:srgbClr val="1E1A18"/>
                </a:solidFill>
                <a:latin typeface="Arial" pitchFamily="34" charset="0"/>
                <a:ea typeface="Arial" pitchFamily="34" charset="-122"/>
                <a:cs typeface="Arial" pitchFamily="34" charset="-120"/>
              </a:rPr>
              <a:t> păstrezi.”</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Lumină și umbră – BLONDE AMBITION</dc:title>
  <dc:subject>PptxGenJS Presentation</dc:subject>
  <dc:creator>Diana Avram</dc:creator>
  <cp:lastModifiedBy>Diana Avram</cp:lastModifiedBy>
  <cp:revision>1</cp:revision>
  <dcterms:created xsi:type="dcterms:W3CDTF">2026-10-30T11:25:58Z</dcterms:created>
  <dcterms:modified xsi:type="dcterms:W3CDTF">2026-10-30T11:25:58Z</dcterms:modified>
</cp:coreProperties>
</file>