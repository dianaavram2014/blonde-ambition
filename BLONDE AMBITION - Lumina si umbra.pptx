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umină și umbră" id="{c472c51c-1321-23e0-62fa-96e93a4a3eb1}">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MESAJUL SLIDE-ULUI: în păr nu „vedem” blond, vedem CONTRAST. Lumina și umbra lucrează împreună – exact ca în pictură sau fotografie.
LUMINA (zonele deschise)
• Ochiul este atras de zonele cele mai luminoase. De aceea, unde plasăm lumina, acolo ducem privirea: conturul feței, cărarea, suprafața tunsorii.
• Lumina scoate în evidență forma: buclele, valurile, straturile tunsorii devin mai vizibile.
• Efectul de volum este vizual, nu fizic: alternanța lumină–umbră creează relief și poate face părul să pară mai bogat. Depinde de plasare și de contrast – nu este garantat la orice păr.
UMBRA (zonele mai închise / baza naturală / lowlights)
• Umbra oferă profunzime: părul nu mai arată „plat”.
• Contrastul face ca șuvițele blonde să pară mai luminoase decât sunt. Același nivel de blond pare mai strălucitor lângă o zonă mai închisă.
• Păstrarea umbrei, mai ales la rădăcină și în interior, poate da impresia de densitate și face creșterea mai discretă.
Exemplu din salon: o clientă cu păr fin care cere „mult blond”. Dacă decolorăm aproape tot, părul poate părea mai subțire și mai plat. Dacă păstrăm pungi de profunzime în interior, părul pare mai dens, iar blondul de la suprafață iese mai bine în evidență.
Comparație utilă: un tablou pictat doar cu alb nu are formă. Umbra îi dă volum luminii.
Întrebare pentru cursanți: „Când ați văzut ultima dată un blond care arăta superb în poză, dar plat în realitate? Ce lipsea?” (de obicei: profunzimea).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A – BLOND PREDOMINANT
• Potrivită pentru clientele care vor un blond „declarat", luminos din toate unghiurile.
• Atunci când aproape tot părul este deschis, contrastul intern scade: părul poate arăta mai uniform, uneori plat, mai ales în fotografii cu lumină frontală.
• Necesită mai multă decolorare (mai mult păr procesat, mai mult timp, mai mult risc pentru fir) și, de regulă, întreținere mai frecventă – mai ales când deschiderea începe foarte aproape de scalp, pentru că orice centimetru de creștere se vede.
VARIANTA B – BLOND CU UMBRE STRATEGICE
• Alternanță între zone deschise și zone mai închise (baza naturală păstrată, lowlights, root shadow).
• Rezultatul are dimensiune: se vede mișcarea și forma tunsorii.
• Păstrăm mai mult păr natural: mai puțină procesare, fir mai sănătos.
• Creșterea arată, în general, mai natural, pentru că există deja zone închise în păr.
DE CE MAI PUȚIN BLOND POATE PĂREA MAI SPECTACULOS
• Percepția luminozității este relativă: aceeași șuviță pare mai deschisă lângă o zonă închisă (efect de contrast simultan, cunoscut din teoria culorii).
• De aceea, 20 de folii plasate inteligent, cu profunzime între ele, pot arăta mai „wow" decât 40 de folii care unifică totul.
ATENȚIE: nicio variantă nu este „corectă" sau „greșită". Alegerea depinde de dorința clientei, de baza naturală, de starea firului și de cât de des poate reveni în salon.
Exercițiu rapid: arătați cursanților două fotografii ale aceluiași nivel de blond – una pe fond uniform, una cu profunzime – și întrebați care pare mai deschisă.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TERMINOLOGIE (folosită diferit de la salon la salon – stabiliți cu clienta ce înseamnă pe poze):
• Root shadow / root smudge: o nuanță apropiată de baza naturală, aplicată la rădăcină pentru a estompa trecerea spre blond. Smudge-ul este de obicei mai scurt și mai fin; shadow-ul poate fi mai adânc și mai vizibil.
• Root melt: tranziție topită, mai lungă, de la rădăcină spre lungimi, cu două sau mai multe nuanțe care se contopesc.
• Se fac des cu colorații demi-permanente sau glossuri, după decolorare, pe părul încă umed sau uscat, în funcție de sistemul folosit.
BLOND FOARTE APROAPE DE RĂDĂCINĂ
• Avantaj: luminozitate imediată, blond „de la scalp" – ideal pentru clientele care vor efect maxim și revin regulat.
• Dezavantaj: cu cât contrastul dintre baza naturală și blond este mai mare, cu atât linia de creștere apare mai repede și mai evident. Pe o bază închisă (nivel 4–5) cu blond foarte deschis, diferența se vede după puțin timp.
ROOT SHADOW / ROOT MELT
• Avantaj: creșterea se „topește" în tranziția deja existentă; mulți coloriști o recomandă pentru a prelungi timpul dintre serviciile de iluminare.
• Dezavantaj: pierdem lumină la rădăcină. O umbră prea lungă sau prea închisă poate face rezultatul greu, „îmbătrânit", sau poate arăta ca o rădăcină crescută nedorită.
• Sfat: alege nuanța umbrei apropiată de baza naturală sau puțin mai deschisă, cu un reflex care se armonizează cu tonul blondului; difuzează marginea, nu trage o linie orizontală.
LONGEVITATEA NU DEPINDE DOAR DE TEHNICĂ
• Contrastul cu baza naturală (bază închisă + blond platinat = creștere vizibilă mai repede).
• Poziționarea șuvițelor (cât de aproape de scalp, cât de dense la cărare și la față).
• Tehnica aplicată (folii, balayage, teasylights, babylights).
• Întreținerea culorii acasă și în salon (toner, gloss, produse pentru blond).
Nu promitem un număr fix de săptămâni sau luni: depinde de fiecare clientă.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NU TOATE ZONELE AU NEVOIE DE ACEEAȘI CANTITATE DE ȘUVIȚE
• Ochiul vede mai ales fața, cărarea și suprafața părului. Interiorul și substraturile se văd doar în mișcare sau când părul este prins.
• Fiecare folie pusă într-o zonă care nu se vede înseamnă timp, produs, decolorare și întreținere în plus – fără impact vizual pe măsură.
• Păstrarea unor zone naturale creează contrast și protejează integritatea firului.
ZONELE, PE SCURT
1. Conturul feței – identifică întâi cărarea și modul în care clienta își poartă părul (după ureche, pe față, prins). Plasează aici cele mai luminoase șuvițe; atenție la zona tâmplelor/recesiunii, unde golurile pot crea pete închise lângă conturul luminos.
2. Top și cărare – șuvițele se plasează în funcție de cărarea naturală. Dacă clienta schimbă cărarea, distribuie lumina pe ambele părți sau folosește un tipar care funcționează în mai multe direcții.
3. Zona occipitală – alternează secțiuni de lumină cu secțiuni lăsate naturale sau cu lowlights; aici se construiește dimensiunea văzută din spate.
4. Substraturi (nape, zona de sub occipital) – le poți lăsa mai naturale: oferă fundalul închis pe care blondul de deasupra „strălucește".
5. Lungimi și vârfuri – distribuie luminozitatea echilibrat; vârfurile pot fi mai deschise pentru efect lived-in, dar evită benzile orizontale.
EXEMPLU – CONTOURING LUMINOS CU PROFUNZIME
• Secțiuni fine, mai dese (sau slices back-to-back) pe linia frontală și la cărare.
• Babylights sau șuvițe fine, mai rare, pe top.
• Interiorul și zona de jos: lăsate naturale sau cu un lowlight / root shadow.
• Rezultat: fața arată luminoasă și proaspătă, iar restul părului păstrează profunzime și crește mai discret.
Sfat: secțiunile fine dau o luminozitate difuză; secțiunile mai groase dau contrast mai puternic. Alege în funcție de obiectiv.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CUM CITIM TABELUL
Tabelul compară tendințe generale, nu reguli fixe. Rezultatul real depinde de baza naturală, de istoricul de culoare, de tehnica exactă și de felul în care clienta își îngrijește părul.
1. BLOND APROAPE DE RĂDĂCINĂ (folii fine aproape de scalp, babylights dese)
• Impact maxim imediat, blond „de la scalp".
• Creșterea se vede mai repede, mai ales la contrast mare cu baza; programările sunt de obicei mai dese.
• Pentru: clienta care vrea luminozitate maximă și poate reveni regulat.
2. BLOND CU ROOT SHADOW
• Blond luminos pe lungimi, rădăcina estompată cu o nuanță apropiată de bază.
• Creșterea se integrează mai discret; intervalele pot fi mai lungi, de regulă.
• Compromis: mai puțină lumină în zona de sus.
3. BALAYAGE CU BAZĂ NATURALĂ PĂSTRATĂ
• Aspect lived-in, cu cea mai mare flexibilitate la întreținere: clienta poate reveni mai rar sau poate alterna cu servicii de gloss/toner.
• Compromis: nu este un blond „total"; luminozitatea crește treptat spre lungimi.
4. BLOND UNIFORM (global lightening / blond aproape total)
• Cel mai intens efect de blond, uniform din toate unghiurile.
• Cea mai multă decolorare, cel mai mare risc pentru fir, creșterea foarte vizibilă, întreținere frecventă, iar fără profunzime rezultatul poate părea plat.
REGULĂ DE AUR: nu promite intervale fixe („vii peste 12 săptămâni"). Spune: „În cazul tău, cu baza ta și cu tehnica asta, estimăm aproximativ… și vedem la prima reprogramare."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PROFUNZIME LÂNGĂ LUMINĂ – dacă vrei ca o zonă să „strălucească" (de exemplu conturul feței), păstrează sau creează o zonă mai închisă în vecinătatea ei. Contrastul face lumina vizibilă.
2. NUMĂRUL FOLIILOR ≠ IMPACT – un serviciu cu 50 de folii nu este automat mai spectaculos decât unul cu 25. Plasarea, grosimea secțiunilor și spațiile lăsate naturale contează mai mult decât cantitatea.
3. PORNEȘTE DE LA CĂRARE – înainte de secționare, usucă sau pieptănă părul așa cum îl poartă clienta. Întreab-o dacă își schimbă cărarea, dacă își prinde părul, dacă îl poartă după ureche. Plasarea luminii pornește de aici.
4. DIFUZ LA RĂDĂCINĂ – tehnicile de tip root shadow, root melt, teasylights sau pornirea decolorării ușor sub rădăcină, cu difuzare în sus, reduc vizibilitatea creșterii. Evită liniile orizontale nete.
5. UMBRĂ AERISITĂ, NU COMPACTĂ – lowlights prea dese sau o umbră prea închisă la rădăcină pot face blondul să pară murdar sau greu. Lasă umbra să „respire" printre șuvițele deschise.
6. VERIFICĂ ÎN DOUĂ LUMINI – lumina frontală aplatizează, lumina laterală arată dimensiunea. Verifică rezultatul și la lumina zilei, pe păr uscat și coafat, înainte ca clienta să plece. Fotografiază din ambele unghiuri pentru portofoliu.
7. OBIECTIV + TIMP – consultația decide tehnica: ce dorește clienta, cât de des poate reveni, ce buget de timp și bani are, cât de sănătos este firul. Aceeași tehnică poate fi perfectă pentru o clientă și nepotrivită pentru alta.
ÎNCHEIERE: „Nu contează doar cât blond creezi. Contează unde îl plasezi și câtă profunzime păstrezi."
Surse consultate pentru acest modul (articole educaționale profesionale): Behindthechair – Root Shadow vs. Root Melt; Wella Professionals – root shadow vs root melt; Davines – shadow root; Revlon Professional – face framing balayage; L'Oréal Professionnel Access – face frame balayage; Behindthechair – foil placement și pictarea liniei frontale.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INU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rtlCol="0"/>
          <a:lstStyle>
            <a:lvl1pPr indent="0" marL="0">
              <a:buNone/>
              <a:defRPr lang="en-US" sz="1000" b="1" spc="200" kern="0" dirty="0">
                <a:solidFill>
                  <a:schemeClr val="accent2"/>
                </a:solidFill>
                <a:latin typeface="Arial" pitchFamily="34" charset="0"/>
                <a:ea typeface="Arial" pitchFamily="34" charset="-122"/>
                <a:cs typeface="Arial" pitchFamily="34" charset="-120"/>
              </a:defRPr>
            </a:lvl1pPr>
          </a:lstStyle>
          <a:p>
            <a:pPr indent="0" marL="0">
              <a:buNone/>
            </a:pP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rtlCol="0"/>
          <a:lstStyle>
            <a:lvl1pPr algn="l" indent="0" marL="0">
              <a:buNone/>
              <a:defRPr lang="en-US" sz="2800" b="1" dirty="0">
                <a:solidFill>
                  <a:schemeClr val="tx1"/>
                </a:solidFill>
                <a:latin typeface="Georgia" pitchFamily="34" charset="0"/>
                <a:ea typeface="Georgia" pitchFamily="34" charset="-122"/>
                <a:cs typeface="Georgia" pitchFamily="34" charset="-120"/>
              </a:defRPr>
            </a:lvl1pPr>
          </a:lstStyle>
          <a:p>
            <a:pPr algn="l" indent="0" marL="0">
              <a:buNone/>
            </a:pPr>
            <a:endParaRPr lang="en-US" sz="2800" dirty="0"/>
          </a:p>
        </p:txBody>
      </p:sp>
      <p:sp>
        <p:nvSpPr>
          <p:cNvPr id="4" name="Text 0"/>
          <p:cNvSpPr txBox="1"/>
          <p:nvPr/>
        </p:nvSpPr>
        <p:spPr>
          <a:xfrm>
            <a:off x="457200" y="4846320"/>
            <a:ext cx="3657600" cy="182880"/>
          </a:xfrm>
          <a:prstGeom prst="rect">
            <a:avLst/>
          </a:prstGeom>
          <a:noFill/>
          <a:ln/>
        </p:spPr>
        <p:txBody>
          <a:bodyPr wrap="square" lIns="0" tIns="0" rIns="0" bIns="0" rtlCol="0" anchor="ctr"/>
          <a:lstStyle/>
          <a:p>
            <a:pPr indent="0" marL="0">
              <a:buNone/>
            </a:pPr>
            <a:r>
              <a:rPr lang="en-US" sz="900" spc="200" kern="0" dirty="0">
                <a:solidFill>
                  <a:schemeClr val="tx2"/>
                </a:solidFill>
              </a:rPr>
              <a:t>BLONDE AMBITION BY DIANA AVRAM</a:t>
            </a:r>
            <a:endParaRPr lang="en-US" sz="9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LUMINĂ VS. UMBRĂ · ARTA CONTRASTULUI</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Georgia" pitchFamily="34" charset="0"/>
                <a:ea typeface="Georgia" pitchFamily="34" charset="-122"/>
                <a:cs typeface="Georgia" pitchFamily="34" charset="-120"/>
              </a:rPr>
              <a:t>Lumina atrage privirea. Umbra creează profunzime.</a:t>
            </a:r>
            <a:endParaRPr lang="en-US" sz="2800" dirty="0"/>
          </a:p>
        </p:txBody>
      </p:sp>
      <p:sp>
        <p:nvSpPr>
          <p:cNvPr id="4" name="card-1"/>
          <p:cNvSpPr/>
          <p:nvPr/>
        </p:nvSpPr>
        <p:spPr>
          <a:xfrm>
            <a:off x="457200" y="1188720"/>
            <a:ext cx="3154680" cy="2971800"/>
          </a:xfrm>
          <a:prstGeom prst="roundRect">
            <a:avLst>
              <a:gd name="adj" fmla="val 3692"/>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sp>
        <p:nvSpPr>
          <p:cNvPr id="5" name="badge-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6" name="icon-3"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7" name="text-4"/>
          <p:cNvSpPr txBox="1"/>
          <p:nvPr/>
        </p:nvSpPr>
        <p:spPr>
          <a:xfrm>
            <a:off x="1207008" y="1325880"/>
            <a:ext cx="2286000" cy="457200"/>
          </a:xfrm>
          <a:prstGeom prst="rect">
            <a:avLst/>
          </a:prstGeom>
          <a:noFill/>
          <a:ln/>
        </p:spPr>
        <p:txBody>
          <a:bodyPr wrap="square" lIns="0" tIns="0" rIns="0" bIns="0" rtlCol="0" anchor="ctr"/>
          <a:lstStyle/>
          <a:p>
            <a:pPr indent="0" marL="0">
              <a:buNone/>
            </a:pPr>
            <a:r>
              <a:rPr lang="en-US" sz="1600" b="1" dirty="0">
                <a:solidFill>
                  <a:schemeClr val="tx1"/>
                </a:solidFill>
                <a:latin typeface="Georgia" pitchFamily="34" charset="0"/>
                <a:ea typeface="Georgia" pitchFamily="34" charset="-122"/>
                <a:cs typeface="Georgia" pitchFamily="34" charset="-120"/>
              </a:rPr>
              <a:t>Ce creează lumina?</a:t>
            </a:r>
            <a:endParaRPr lang="en-US" sz="1600" dirty="0"/>
          </a:p>
        </p:txBody>
      </p:sp>
      <p:sp>
        <p:nvSpPr>
          <p:cNvPr id="8" name="text-5"/>
          <p:cNvSpPr txBox="1"/>
          <p:nvPr/>
        </p:nvSpPr>
        <p:spPr>
          <a:xfrm>
            <a:off x="640080" y="1920240"/>
            <a:ext cx="2834640" cy="2148840"/>
          </a:xfrm>
          <a:prstGeom prst="rect">
            <a:avLst/>
          </a:prstGeom>
          <a:noFill/>
          <a:ln/>
        </p:spPr>
        <p:txBody>
          <a:bodyPr wrap="square" lIns="0" tIns="0" rIns="0" bIns="0" rtlCol="0" anchor="t"/>
          <a:lstStyle/>
          <a:p>
            <a:pPr marL="165100" indent="-165100">
              <a:spcAft>
                <a:spcPts val="500"/>
              </a:spcAft>
              <a:buSzPct val="100000"/>
              <a:buChar char="•"/>
            </a:pPr>
            <a:r>
              <a:rPr lang="en-US" sz="1300" b="1" dirty="0">
                <a:solidFill>
                  <a:schemeClr val="tx1"/>
                </a:solidFill>
              </a:rPr>
              <a:t>Evidențiază</a:t>
            </a:r>
            <a:r>
              <a:rPr lang="en-US" sz="1300" dirty="0">
                <a:solidFill>
                  <a:schemeClr val="tx1"/>
                </a:solidFill>
              </a:rPr>
              <a:t> zonele alese</a:t>
            </a:r>
            <a:endParaRPr lang="en-US" sz="1400" dirty="0"/>
          </a:p>
          <a:p>
            <a:pPr marL="165100" indent="-165100">
              <a:spcAft>
                <a:spcPts val="500"/>
              </a:spcAft>
              <a:buSzPct val="100000"/>
              <a:buChar char="•"/>
            </a:pPr>
            <a:r>
              <a:rPr lang="en-US" sz="1300" dirty="0">
                <a:solidFill>
                  <a:schemeClr val="tx1"/>
                </a:solidFill>
              </a:rPr>
              <a:t>Atrage privirea spre </a:t>
            </a:r>
            <a:r>
              <a:rPr lang="en-US" sz="1300" b="1" dirty="0">
                <a:solidFill>
                  <a:schemeClr val="tx1"/>
                </a:solidFill>
              </a:rPr>
              <a:t>conturul feței</a:t>
            </a:r>
            <a:endParaRPr lang="en-US" sz="1400" dirty="0"/>
          </a:p>
          <a:p>
            <a:pPr marL="165100" indent="-165100">
              <a:spcAft>
                <a:spcPts val="500"/>
              </a:spcAft>
              <a:buSzPct val="100000"/>
              <a:buChar char="•"/>
            </a:pPr>
            <a:r>
              <a:rPr lang="en-US" sz="1300" dirty="0">
                <a:solidFill>
                  <a:schemeClr val="tx1"/>
                </a:solidFill>
              </a:rPr>
              <a:t>Dă </a:t>
            </a:r>
            <a:r>
              <a:rPr lang="en-US" sz="1300" b="1" dirty="0">
                <a:solidFill>
                  <a:schemeClr val="tx1"/>
                </a:solidFill>
              </a:rPr>
              <a:t>luminozitate și relief</a:t>
            </a:r>
            <a:endParaRPr lang="en-US" sz="1400" dirty="0"/>
          </a:p>
          <a:p>
            <a:pPr marL="165100" indent="-165100">
              <a:spcAft>
                <a:spcPts val="500"/>
              </a:spcAft>
              <a:buSzPct val="100000"/>
              <a:buChar char="•"/>
            </a:pPr>
            <a:r>
              <a:rPr lang="en-US" sz="1300" dirty="0">
                <a:solidFill>
                  <a:schemeClr val="tx1"/>
                </a:solidFill>
              </a:rPr>
              <a:t>Scoate în evidență </a:t>
            </a:r>
            <a:r>
              <a:rPr lang="en-US" sz="1300" b="1" dirty="0">
                <a:solidFill>
                  <a:schemeClr val="tx1"/>
                </a:solidFill>
              </a:rPr>
              <a:t>textura și mișcarea</a:t>
            </a:r>
            <a:endParaRPr lang="en-US" sz="1400" dirty="0"/>
          </a:p>
          <a:p>
            <a:pPr marL="165100" indent="-165100">
              <a:spcAft>
                <a:spcPts val="500"/>
              </a:spcAft>
              <a:buSzPct val="100000"/>
              <a:buChar char="•"/>
            </a:pPr>
            <a:r>
              <a:rPr lang="en-US" sz="1300" dirty="0">
                <a:solidFill>
                  <a:schemeClr val="tx1"/>
                </a:solidFill>
              </a:rPr>
              <a:t>Poate da </a:t>
            </a:r>
            <a:r>
              <a:rPr lang="en-US" sz="1300" b="1" dirty="0">
                <a:solidFill>
                  <a:schemeClr val="tx1"/>
                </a:solidFill>
              </a:rPr>
              <a:t>efect vizual de volum</a:t>
            </a:r>
            <a:endParaRPr lang="en-US" sz="1400" dirty="0"/>
          </a:p>
        </p:txBody>
      </p:sp>
      <p:pic>
        <p:nvPicPr>
          <p:cNvPr id="9" name="illustration-6" descr="Păr cu lumină și umbră strategică">    </p:cNvPr>
          <p:cNvPicPr>
            <a:picLocks noChangeAspect="1"/>
          </p:cNvPicPr>
          <p:nvPr/>
        </p:nvPicPr>
        <p:blipFill>
          <a:blip r:embed="rId2"/>
          <a:stretch>
            <a:fillRect/>
          </a:stretch>
        </p:blipFill>
        <p:spPr>
          <a:xfrm>
            <a:off x="3749040" y="1261872"/>
            <a:ext cx="1673352" cy="2788920"/>
          </a:xfrm>
          <a:prstGeom prst="rect">
            <a:avLst/>
          </a:prstGeom>
        </p:spPr>
      </p:pic>
      <p:sp>
        <p:nvSpPr>
          <p:cNvPr id="10" name="card-7"/>
          <p:cNvSpPr/>
          <p:nvPr/>
        </p:nvSpPr>
        <p:spPr>
          <a:xfrm>
            <a:off x="5532120" y="1188720"/>
            <a:ext cx="3154680" cy="2971800"/>
          </a:xfrm>
          <a:prstGeom prst="roundRect">
            <a:avLst>
              <a:gd name="adj" fmla="val 3692"/>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11" name="badge-8"/>
          <p:cNvSpPr/>
          <p:nvPr/>
        </p:nvSpPr>
        <p:spPr>
          <a:xfrm>
            <a:off x="5715000" y="1325880"/>
            <a:ext cx="457200" cy="457200"/>
          </a:xfrm>
          <a:prstGeom prst="ellipse">
            <a:avLst/>
          </a:prstGeom>
          <a:solidFill>
            <a:schemeClr val="accent2"/>
          </a:solidFill>
          <a:ln w="12700">
            <a:solidFill>
              <a:schemeClr val="accent2"/>
            </a:solidFill>
            <a:prstDash val="solid"/>
          </a:ln>
        </p:spPr>
      </p:sp>
      <p:pic>
        <p:nvPicPr>
          <p:cNvPr id="12" name="icon-9" descr="preencoded.png">    </p:cNvPr>
          <p:cNvPicPr>
            <a:picLocks noChangeAspect="1"/>
          </p:cNvPicPr>
          <p:nvPr/>
        </p:nvPicPr>
        <p:blipFill>
          <a:blip r:embed="rId3"/>
          <a:stretch>
            <a:fillRect/>
          </a:stretch>
        </p:blipFill>
        <p:spPr>
          <a:xfrm>
            <a:off x="5829300" y="1440180"/>
            <a:ext cx="228600" cy="228600"/>
          </a:xfrm>
          <a:prstGeom prst="rect">
            <a:avLst/>
          </a:prstGeom>
        </p:spPr>
      </p:pic>
      <p:sp>
        <p:nvSpPr>
          <p:cNvPr id="13" name="text-10"/>
          <p:cNvSpPr txBox="1"/>
          <p:nvPr/>
        </p:nvSpPr>
        <p:spPr>
          <a:xfrm>
            <a:off x="6281928" y="1325880"/>
            <a:ext cx="2286000" cy="457200"/>
          </a:xfrm>
          <a:prstGeom prst="rect">
            <a:avLst/>
          </a:prstGeom>
          <a:noFill/>
          <a:ln/>
        </p:spPr>
        <p:txBody>
          <a:bodyPr wrap="square" lIns="0" tIns="0" rIns="0" bIns="0" rtlCol="0" anchor="ctr"/>
          <a:lstStyle/>
          <a:p>
            <a:pPr indent="0" marL="0">
              <a:buNone/>
            </a:pPr>
            <a:r>
              <a:rPr lang="en-US" sz="1600" b="1" dirty="0">
                <a:solidFill>
                  <a:schemeClr val="bg1"/>
                </a:solidFill>
                <a:latin typeface="Georgia" pitchFamily="34" charset="0"/>
                <a:ea typeface="Georgia" pitchFamily="34" charset="-122"/>
                <a:cs typeface="Georgia" pitchFamily="34" charset="-120"/>
              </a:rPr>
              <a:t>Ce creează umbra?</a:t>
            </a:r>
            <a:endParaRPr lang="en-US" sz="1600" dirty="0"/>
          </a:p>
        </p:txBody>
      </p:sp>
      <p:sp>
        <p:nvSpPr>
          <p:cNvPr id="14" name="text-11"/>
          <p:cNvSpPr txBox="1"/>
          <p:nvPr/>
        </p:nvSpPr>
        <p:spPr>
          <a:xfrm>
            <a:off x="5715000" y="1920240"/>
            <a:ext cx="2834640" cy="2148840"/>
          </a:xfrm>
          <a:prstGeom prst="rect">
            <a:avLst/>
          </a:prstGeom>
          <a:noFill/>
          <a:ln/>
        </p:spPr>
        <p:txBody>
          <a:bodyPr wrap="square" lIns="0" tIns="0" rIns="0" bIns="0" rtlCol="0" anchor="t"/>
          <a:lstStyle/>
          <a:p>
            <a:pPr marL="165100" indent="-165100">
              <a:spcAft>
                <a:spcPts val="500"/>
              </a:spcAft>
              <a:buSzPct val="100000"/>
              <a:buChar char="•"/>
            </a:pPr>
            <a:r>
              <a:rPr lang="en-US" sz="1300" dirty="0">
                <a:solidFill>
                  <a:schemeClr val="bg1"/>
                </a:solidFill>
              </a:rPr>
              <a:t>Dă </a:t>
            </a:r>
            <a:r>
              <a:rPr lang="en-US" sz="1300" b="1" dirty="0">
                <a:solidFill>
                  <a:schemeClr val="accent3"/>
                </a:solidFill>
              </a:rPr>
              <a:t>profunzime și dimensiune</a:t>
            </a:r>
            <a:endParaRPr lang="en-US" sz="1400" dirty="0"/>
          </a:p>
          <a:p>
            <a:pPr marL="165100" indent="-165100">
              <a:spcAft>
                <a:spcPts val="500"/>
              </a:spcAft>
              <a:buSzPct val="100000"/>
              <a:buChar char="•"/>
            </a:pPr>
            <a:r>
              <a:rPr lang="en-US" sz="1300" dirty="0">
                <a:solidFill>
                  <a:schemeClr val="bg1"/>
                </a:solidFill>
              </a:rPr>
              <a:t>Creează </a:t>
            </a:r>
            <a:r>
              <a:rPr lang="en-US" sz="1300" b="1" dirty="0">
                <a:solidFill>
                  <a:schemeClr val="accent3"/>
                </a:solidFill>
              </a:rPr>
              <a:t>contrast</a:t>
            </a:r>
            <a:r>
              <a:rPr lang="en-US" sz="1300" dirty="0">
                <a:solidFill>
                  <a:schemeClr val="bg1"/>
                </a:solidFill>
              </a:rPr>
              <a:t>: blondul iese în evidență</a:t>
            </a:r>
            <a:endParaRPr lang="en-US" sz="1400" dirty="0"/>
          </a:p>
          <a:p>
            <a:pPr marL="165100" indent="-165100">
              <a:spcAft>
                <a:spcPts val="500"/>
              </a:spcAft>
              <a:buSzPct val="100000"/>
              <a:buChar char="•"/>
            </a:pPr>
            <a:r>
              <a:rPr lang="en-US" sz="1300" dirty="0">
                <a:solidFill>
                  <a:schemeClr val="bg1"/>
                </a:solidFill>
              </a:rPr>
              <a:t>Poate da </a:t>
            </a:r>
            <a:r>
              <a:rPr lang="en-US" sz="1300" b="1" dirty="0">
                <a:solidFill>
                  <a:schemeClr val="accent3"/>
                </a:solidFill>
              </a:rPr>
              <a:t>efect vizual de densitate</a:t>
            </a:r>
            <a:endParaRPr lang="en-US" sz="1400" dirty="0"/>
          </a:p>
          <a:p>
            <a:pPr marL="165100" indent="-165100">
              <a:spcAft>
                <a:spcPts val="500"/>
              </a:spcAft>
              <a:buSzPct val="100000"/>
              <a:buChar char="•"/>
            </a:pPr>
            <a:r>
              <a:rPr lang="en-US" sz="1300" dirty="0">
                <a:solidFill>
                  <a:schemeClr val="bg1"/>
                </a:solidFill>
              </a:rPr>
              <a:t>Ajută la un </a:t>
            </a:r>
            <a:r>
              <a:rPr lang="en-US" sz="1300" b="1" dirty="0">
                <a:solidFill>
                  <a:schemeClr val="accent3"/>
                </a:solidFill>
              </a:rPr>
              <a:t>blond mai natural</a:t>
            </a:r>
            <a:endParaRPr lang="en-US" sz="1400" dirty="0"/>
          </a:p>
          <a:p>
            <a:pPr marL="165100" indent="-165100">
              <a:spcAft>
                <a:spcPts val="500"/>
              </a:spcAft>
              <a:buSzPct val="100000"/>
              <a:buChar char="•"/>
            </a:pPr>
            <a:r>
              <a:rPr lang="en-US" sz="1300" dirty="0">
                <a:solidFill>
                  <a:schemeClr val="bg1"/>
                </a:solidFill>
              </a:rPr>
              <a:t>Face tranziția rădăcină–lungimi </a:t>
            </a:r>
            <a:r>
              <a:rPr lang="en-US" sz="1300" b="1" dirty="0">
                <a:solidFill>
                  <a:schemeClr val="accent3"/>
                </a:solidFill>
              </a:rPr>
              <a:t>mai discretă</a:t>
            </a:r>
            <a:endParaRPr lang="en-US" sz="1400" dirty="0"/>
          </a:p>
        </p:txBody>
      </p:sp>
      <p:sp>
        <p:nvSpPr>
          <p:cNvPr id="15" name="text-12"/>
          <p:cNvSpPr txBox="1"/>
          <p:nvPr/>
        </p:nvSpPr>
        <p:spPr>
          <a:xfrm>
            <a:off x="457200" y="4297680"/>
            <a:ext cx="8229600" cy="411480"/>
          </a:xfrm>
          <a:prstGeom prst="rect">
            <a:avLst/>
          </a:prstGeom>
          <a:noFill/>
          <a:ln/>
        </p:spPr>
        <p:txBody>
          <a:bodyPr wrap="square" lIns="0" tIns="0" rIns="0" bIns="0" rtlCol="0" anchor="ctr"/>
          <a:lstStyle/>
          <a:p>
            <a:pPr algn="ctr" indent="0" marL="0">
              <a:buNone/>
            </a:pPr>
            <a:r>
              <a:rPr lang="en-US" sz="1800" i="1" dirty="0">
                <a:solidFill>
                  <a:schemeClr val="accent2"/>
                </a:solidFill>
                <a:latin typeface="Georgia" pitchFamily="34" charset="0"/>
                <a:ea typeface="Georgia" pitchFamily="34" charset="-122"/>
                <a:cs typeface="Georgia" pitchFamily="34" charset="-120"/>
              </a:rPr>
              <a:t>„Fără umbră, lumina nu are același impact.”</a:t>
            </a:r>
            <a:endParaRPr lang="en-US" sz="18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COMPARAȚIE · BLOND VS. DIMENSIUNE</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Mai mult blond sau mai multă dimensiune?</a:t>
            </a:r>
            <a:endParaRPr lang="en-US" sz="2800" dirty="0"/>
          </a:p>
        </p:txBody>
      </p:sp>
      <p:sp>
        <p:nvSpPr>
          <p:cNvPr id="4" name="card-13"/>
          <p:cNvSpPr/>
          <p:nvPr/>
        </p:nvSpPr>
        <p:spPr>
          <a:xfrm>
            <a:off x="457200" y="1188720"/>
            <a:ext cx="4023360" cy="27432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pic>
        <p:nvPicPr>
          <p:cNvPr id="5" name="illustration-14" descr="Blond predominant">    </p:cNvPr>
          <p:cNvPicPr>
            <a:picLocks noChangeAspect="1"/>
          </p:cNvPicPr>
          <p:nvPr/>
        </p:nvPicPr>
        <p:blipFill>
          <a:blip r:embed="rId1"/>
          <a:stretch>
            <a:fillRect/>
          </a:stretch>
        </p:blipFill>
        <p:spPr>
          <a:xfrm>
            <a:off x="640080" y="1325880"/>
            <a:ext cx="1481328" cy="2468880"/>
          </a:xfrm>
          <a:prstGeom prst="rect">
            <a:avLst/>
          </a:prstGeom>
        </p:spPr>
      </p:pic>
      <p:sp>
        <p:nvSpPr>
          <p:cNvPr id="6" name="text-15"/>
          <p:cNvSpPr txBox="1"/>
          <p:nvPr/>
        </p:nvSpPr>
        <p:spPr>
          <a:xfrm>
            <a:off x="2240280" y="1325880"/>
            <a:ext cx="21488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VARIANTA A</a:t>
            </a:r>
            <a:endParaRPr lang="en-US" sz="1100" dirty="0"/>
          </a:p>
        </p:txBody>
      </p:sp>
      <p:sp>
        <p:nvSpPr>
          <p:cNvPr id="7" name="text-16"/>
          <p:cNvSpPr txBox="1"/>
          <p:nvPr/>
        </p:nvSpPr>
        <p:spPr>
          <a:xfrm>
            <a:off x="2240280" y="1572768"/>
            <a:ext cx="2148840" cy="502920"/>
          </a:xfrm>
          <a:prstGeom prst="rect">
            <a:avLst/>
          </a:prstGeom>
          <a:noFill/>
          <a:ln/>
        </p:spPr>
        <p:txBody>
          <a:bodyPr wrap="square" lIns="0" tIns="0" rIns="0" bIns="0" rtlCol="0" anchor="t"/>
          <a:lstStyle/>
          <a:p>
            <a:pPr indent="0" marL="0">
              <a:buNone/>
            </a:pPr>
            <a:r>
              <a:rPr lang="en-US" sz="1500" b="1" dirty="0">
                <a:solidFill>
                  <a:schemeClr val="tx1"/>
                </a:solidFill>
                <a:latin typeface="Georgia" pitchFamily="34" charset="0"/>
                <a:ea typeface="Georgia" pitchFamily="34" charset="-122"/>
                <a:cs typeface="Georgia" pitchFamily="34" charset="-120"/>
              </a:rPr>
              <a:t>Blond predominant</a:t>
            </a:r>
            <a:endParaRPr lang="en-US" sz="1500" dirty="0"/>
          </a:p>
        </p:txBody>
      </p:sp>
      <p:sp>
        <p:nvSpPr>
          <p:cNvPr id="8" name="text-17"/>
          <p:cNvSpPr txBox="1"/>
          <p:nvPr/>
        </p:nvSpPr>
        <p:spPr>
          <a:xfrm>
            <a:off x="2240280" y="2148840"/>
            <a:ext cx="2148840" cy="1737360"/>
          </a:xfrm>
          <a:prstGeom prst="rect">
            <a:avLst/>
          </a:prstGeom>
          <a:noFill/>
          <a:ln/>
        </p:spPr>
        <p:txBody>
          <a:bodyPr wrap="square" lIns="0" tIns="0" rIns="0" bIns="0" rtlCol="0" anchor="t"/>
          <a:lstStyle/>
          <a:p>
            <a:pPr marL="165100" indent="-165100">
              <a:spcAft>
                <a:spcPts val="400"/>
              </a:spcAft>
              <a:buSzPct val="100000"/>
              <a:buChar char="•"/>
            </a:pPr>
            <a:r>
              <a:rPr lang="en-US" sz="1200" b="1" dirty="0">
                <a:solidFill>
                  <a:schemeClr val="tx1"/>
                </a:solidFill>
              </a:rPr>
              <a:t>Luminozitate</a:t>
            </a:r>
            <a:r>
              <a:rPr lang="en-US" sz="1200" dirty="0">
                <a:solidFill>
                  <a:schemeClr val="tx1"/>
                </a:solidFill>
              </a:rPr>
              <a:t> generală ridicată</a:t>
            </a:r>
            <a:endParaRPr lang="en-US" sz="1400" dirty="0"/>
          </a:p>
          <a:p>
            <a:pPr marL="165100" indent="-165100">
              <a:spcAft>
                <a:spcPts val="400"/>
              </a:spcAft>
              <a:buSzPct val="100000"/>
              <a:buChar char="•"/>
            </a:pPr>
            <a:r>
              <a:rPr lang="en-US" sz="1200" b="1" dirty="0">
                <a:solidFill>
                  <a:schemeClr val="tx1"/>
                </a:solidFill>
              </a:rPr>
              <a:t>Impact</a:t>
            </a:r>
            <a:r>
              <a:rPr lang="en-US" sz="1200" dirty="0">
                <a:solidFill>
                  <a:schemeClr val="tx1"/>
                </a:solidFill>
              </a:rPr>
              <a:t> vizual imediat</a:t>
            </a:r>
            <a:endParaRPr lang="en-US" sz="1400" dirty="0"/>
          </a:p>
          <a:p>
            <a:pPr marL="165100" indent="-165100">
              <a:spcAft>
                <a:spcPts val="400"/>
              </a:spcAft>
              <a:buSzPct val="100000"/>
              <a:buChar char="•"/>
            </a:pPr>
            <a:r>
              <a:rPr lang="en-US" sz="1200" b="1" dirty="0">
                <a:solidFill>
                  <a:schemeClr val="tx1"/>
                </a:solidFill>
              </a:rPr>
              <a:t>Contrast intern redus</a:t>
            </a:r>
            <a:endParaRPr lang="en-US" sz="1400" dirty="0"/>
          </a:p>
          <a:p>
            <a:pPr marL="165100" indent="-165100">
              <a:spcAft>
                <a:spcPts val="400"/>
              </a:spcAft>
              <a:buSzPct val="100000"/>
              <a:buChar char="•"/>
            </a:pPr>
            <a:r>
              <a:rPr lang="en-US" sz="1200" dirty="0">
                <a:solidFill>
                  <a:schemeClr val="tx1"/>
                </a:solidFill>
              </a:rPr>
              <a:t>Mai multă </a:t>
            </a:r>
            <a:r>
              <a:rPr lang="en-US" sz="1200" b="1" dirty="0">
                <a:solidFill>
                  <a:schemeClr val="tx1"/>
                </a:solidFill>
              </a:rPr>
              <a:t>decolorare</a:t>
            </a:r>
            <a:endParaRPr lang="en-US" sz="1400" dirty="0"/>
          </a:p>
          <a:p>
            <a:pPr marL="165100" indent="-165100">
              <a:spcAft>
                <a:spcPts val="400"/>
              </a:spcAft>
              <a:buSzPct val="100000"/>
              <a:buChar char="•"/>
            </a:pPr>
            <a:r>
              <a:rPr lang="en-US" sz="1200" b="1" dirty="0">
                <a:solidFill>
                  <a:schemeClr val="tx1"/>
                </a:solidFill>
              </a:rPr>
              <a:t>Întreținere</a:t>
            </a:r>
            <a:r>
              <a:rPr lang="en-US" sz="1200" dirty="0">
                <a:solidFill>
                  <a:schemeClr val="tx1"/>
                </a:solidFill>
              </a:rPr>
              <a:t> mai frecventă</a:t>
            </a:r>
            <a:endParaRPr lang="en-US" sz="1400" dirty="0"/>
          </a:p>
        </p:txBody>
      </p:sp>
      <p:sp>
        <p:nvSpPr>
          <p:cNvPr id="9" name="card-18"/>
          <p:cNvSpPr/>
          <p:nvPr/>
        </p:nvSpPr>
        <p:spPr>
          <a:xfrm>
            <a:off x="4663440" y="1188720"/>
            <a:ext cx="4023360" cy="2743200"/>
          </a:xfrm>
          <a:prstGeom prst="roundRect">
            <a:avLst>
              <a:gd name="adj" fmla="val 4000"/>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pic>
        <p:nvPicPr>
          <p:cNvPr id="10" name="illustration-19" descr="Blond cu umbre strategice">    </p:cNvPr>
          <p:cNvPicPr>
            <a:picLocks noChangeAspect="1"/>
          </p:cNvPicPr>
          <p:nvPr/>
        </p:nvPicPr>
        <p:blipFill>
          <a:blip r:embed="rId2"/>
          <a:stretch>
            <a:fillRect/>
          </a:stretch>
        </p:blipFill>
        <p:spPr>
          <a:xfrm>
            <a:off x="4846320" y="1325880"/>
            <a:ext cx="1481328" cy="2468880"/>
          </a:xfrm>
          <a:prstGeom prst="rect">
            <a:avLst/>
          </a:prstGeom>
        </p:spPr>
      </p:pic>
      <p:sp>
        <p:nvSpPr>
          <p:cNvPr id="11" name="text-20"/>
          <p:cNvSpPr txBox="1"/>
          <p:nvPr/>
        </p:nvSpPr>
        <p:spPr>
          <a:xfrm>
            <a:off x="6446520" y="1325880"/>
            <a:ext cx="214884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VARIANTA B</a:t>
            </a:r>
            <a:endParaRPr lang="en-US" sz="1100" dirty="0"/>
          </a:p>
        </p:txBody>
      </p:sp>
      <p:sp>
        <p:nvSpPr>
          <p:cNvPr id="12" name="text-21"/>
          <p:cNvSpPr txBox="1"/>
          <p:nvPr/>
        </p:nvSpPr>
        <p:spPr>
          <a:xfrm>
            <a:off x="6446520" y="1572768"/>
            <a:ext cx="2148840" cy="502920"/>
          </a:xfrm>
          <a:prstGeom prst="rect">
            <a:avLst/>
          </a:prstGeom>
          <a:noFill/>
          <a:ln/>
        </p:spPr>
        <p:txBody>
          <a:bodyPr wrap="square" lIns="0" tIns="0" rIns="0" bIns="0" rtlCol="0" anchor="t"/>
          <a:lstStyle/>
          <a:p>
            <a:pPr indent="0" marL="0">
              <a:buNone/>
            </a:pPr>
            <a:r>
              <a:rPr lang="en-US" sz="1500" b="1" dirty="0">
                <a:solidFill>
                  <a:schemeClr val="bg1"/>
                </a:solidFill>
                <a:latin typeface="Georgia" pitchFamily="34" charset="0"/>
                <a:ea typeface="Georgia" pitchFamily="34" charset="-122"/>
                <a:cs typeface="Georgia" pitchFamily="34" charset="-120"/>
              </a:rPr>
              <a:t>Blond cu umbre strategice</a:t>
            </a:r>
            <a:endParaRPr lang="en-US" sz="1500" dirty="0"/>
          </a:p>
        </p:txBody>
      </p:sp>
      <p:sp>
        <p:nvSpPr>
          <p:cNvPr id="13" name="text-22"/>
          <p:cNvSpPr txBox="1"/>
          <p:nvPr/>
        </p:nvSpPr>
        <p:spPr>
          <a:xfrm>
            <a:off x="6446520" y="2148840"/>
            <a:ext cx="2148840" cy="1737360"/>
          </a:xfrm>
          <a:prstGeom prst="rect">
            <a:avLst/>
          </a:prstGeom>
          <a:noFill/>
          <a:ln/>
        </p:spPr>
        <p:txBody>
          <a:bodyPr wrap="square" lIns="0" tIns="0" rIns="0" bIns="0" rtlCol="0" anchor="t"/>
          <a:lstStyle/>
          <a:p>
            <a:pPr marL="165100" indent="-165100">
              <a:spcAft>
                <a:spcPts val="400"/>
              </a:spcAft>
              <a:buSzPct val="100000"/>
              <a:buChar char="•"/>
            </a:pPr>
            <a:r>
              <a:rPr lang="en-US" sz="1200" b="1" dirty="0">
                <a:solidFill>
                  <a:schemeClr val="accent3"/>
                </a:solidFill>
              </a:rPr>
              <a:t>Contrast</a:t>
            </a:r>
            <a:r>
              <a:rPr lang="en-US" sz="1200" dirty="0">
                <a:solidFill>
                  <a:schemeClr val="bg1"/>
                </a:solidFill>
              </a:rPr>
              <a:t> lumină–umbră</a:t>
            </a:r>
            <a:endParaRPr lang="en-US" sz="1400" dirty="0"/>
          </a:p>
          <a:p>
            <a:pPr marL="165100" indent="-165100">
              <a:spcAft>
                <a:spcPts val="400"/>
              </a:spcAft>
              <a:buSzPct val="100000"/>
              <a:buChar char="•"/>
            </a:pPr>
            <a:r>
              <a:rPr lang="en-US" sz="1200" b="1" dirty="0">
                <a:solidFill>
                  <a:schemeClr val="accent3"/>
                </a:solidFill>
              </a:rPr>
              <a:t>Dimensiune</a:t>
            </a:r>
            <a:r>
              <a:rPr lang="en-US" sz="1200" dirty="0">
                <a:solidFill>
                  <a:schemeClr val="bg1"/>
                </a:solidFill>
              </a:rPr>
              <a:t> și profunzime</a:t>
            </a:r>
            <a:endParaRPr lang="en-US" sz="1400" dirty="0"/>
          </a:p>
          <a:p>
            <a:pPr marL="165100" indent="-165100">
              <a:spcAft>
                <a:spcPts val="400"/>
              </a:spcAft>
              <a:buSzPct val="100000"/>
              <a:buChar char="•"/>
            </a:pPr>
            <a:r>
              <a:rPr lang="en-US" sz="1200" dirty="0">
                <a:solidFill>
                  <a:schemeClr val="bg1"/>
                </a:solidFill>
              </a:rPr>
              <a:t>Șuvițele blonde </a:t>
            </a:r>
            <a:r>
              <a:rPr lang="en-US" sz="1200" b="1" dirty="0">
                <a:solidFill>
                  <a:schemeClr val="accent3"/>
                </a:solidFill>
              </a:rPr>
              <a:t>ies în evidență</a:t>
            </a:r>
            <a:endParaRPr lang="en-US" sz="1400" dirty="0"/>
          </a:p>
          <a:p>
            <a:pPr marL="165100" indent="-165100">
              <a:spcAft>
                <a:spcPts val="400"/>
              </a:spcAft>
              <a:buSzPct val="100000"/>
              <a:buChar char="•"/>
            </a:pPr>
            <a:r>
              <a:rPr lang="en-US" sz="1200" dirty="0">
                <a:solidFill>
                  <a:schemeClr val="bg1"/>
                </a:solidFill>
              </a:rPr>
              <a:t>Mai mult </a:t>
            </a:r>
            <a:r>
              <a:rPr lang="en-US" sz="1200" b="1" dirty="0">
                <a:solidFill>
                  <a:schemeClr val="accent3"/>
                </a:solidFill>
              </a:rPr>
              <a:t>păr natural</a:t>
            </a:r>
            <a:r>
              <a:rPr lang="en-US" sz="1200" dirty="0">
                <a:solidFill>
                  <a:schemeClr val="bg1"/>
                </a:solidFill>
              </a:rPr>
              <a:t> păstrat</a:t>
            </a:r>
            <a:endParaRPr lang="en-US" sz="1400" dirty="0"/>
          </a:p>
          <a:p>
            <a:pPr marL="165100" indent="-165100">
              <a:spcAft>
                <a:spcPts val="400"/>
              </a:spcAft>
              <a:buSzPct val="100000"/>
              <a:buChar char="•"/>
            </a:pPr>
            <a:r>
              <a:rPr lang="en-US" sz="1200" dirty="0">
                <a:solidFill>
                  <a:schemeClr val="bg1"/>
                </a:solidFill>
              </a:rPr>
              <a:t>Creștere </a:t>
            </a:r>
            <a:r>
              <a:rPr lang="en-US" sz="1200" b="1" dirty="0">
                <a:solidFill>
                  <a:schemeClr val="accent3"/>
                </a:solidFill>
              </a:rPr>
              <a:t>mai naturală</a:t>
            </a:r>
            <a:endParaRPr lang="en-US" sz="1400" dirty="0"/>
          </a:p>
        </p:txBody>
      </p:sp>
      <p:sp>
        <p:nvSpPr>
          <p:cNvPr id="14" name="badge-23"/>
          <p:cNvSpPr/>
          <p:nvPr/>
        </p:nvSpPr>
        <p:spPr>
          <a:xfrm>
            <a:off x="457200" y="4114800"/>
            <a:ext cx="457200" cy="457200"/>
          </a:xfrm>
          <a:prstGeom prst="ellipse">
            <a:avLst/>
          </a:prstGeom>
          <a:solidFill>
            <a:schemeClr val="accent1"/>
          </a:solidFill>
          <a:ln w="12700">
            <a:solidFill>
              <a:schemeClr val="accent1"/>
            </a:solidFill>
            <a:prstDash val="solid"/>
          </a:ln>
        </p:spPr>
      </p:sp>
      <p:pic>
        <p:nvPicPr>
          <p:cNvPr id="15" name="icon-24" descr="preencoded.png">    </p:cNvPr>
          <p:cNvPicPr>
            <a:picLocks noChangeAspect="1"/>
          </p:cNvPicPr>
          <p:nvPr/>
        </p:nvPicPr>
        <p:blipFill>
          <a:blip r:embed="rId3"/>
          <a:stretch>
            <a:fillRect/>
          </a:stretch>
        </p:blipFill>
        <p:spPr>
          <a:xfrm>
            <a:off x="571500" y="4229100"/>
            <a:ext cx="228600" cy="228600"/>
          </a:xfrm>
          <a:prstGeom prst="rect">
            <a:avLst/>
          </a:prstGeom>
        </p:spPr>
      </p:pic>
      <p:sp>
        <p:nvSpPr>
          <p:cNvPr id="16" name="text-25"/>
          <p:cNvSpPr txBox="1"/>
          <p:nvPr/>
        </p:nvSpPr>
        <p:spPr>
          <a:xfrm>
            <a:off x="1051560" y="4041648"/>
            <a:ext cx="7635240" cy="640080"/>
          </a:xfrm>
          <a:prstGeom prst="rect">
            <a:avLst/>
          </a:prstGeom>
          <a:noFill/>
          <a:ln/>
        </p:spPr>
        <p:txBody>
          <a:bodyPr wrap="square" lIns="0" tIns="0" rIns="0" bIns="0" rtlCol="0" anchor="ctr"/>
          <a:lstStyle/>
          <a:p>
            <a:pPr indent="0" marL="0">
              <a:buNone/>
            </a:pPr>
            <a:r>
              <a:rPr lang="en-US" sz="1300" b="1" dirty="0">
                <a:solidFill>
                  <a:schemeClr val="tx1"/>
                </a:solidFill>
              </a:rPr>
              <a:t>De ce mai puțin blond poate părea mai spectaculos?</a:t>
            </a:r>
            <a:r>
              <a:rPr lang="en-US" sz="1300" dirty="0">
                <a:solidFill>
                  <a:schemeClr val="tx1"/>
                </a:solidFill>
              </a:rPr>
              <a:t> Ochiul percepe luminozitatea prin </a:t>
            </a:r>
            <a:r>
              <a:rPr lang="en-US" sz="1300" b="1" dirty="0">
                <a:solidFill>
                  <a:schemeClr val="tx1"/>
                </a:solidFill>
              </a:rPr>
              <a:t>contrast</a:t>
            </a:r>
            <a:r>
              <a:rPr lang="en-US" sz="1300" dirty="0">
                <a:solidFill>
                  <a:schemeClr val="tx1"/>
                </a:solidFill>
              </a:rPr>
              <a:t>: o șuviță blondă lângă o zonă mai închisă pare mai luminoasă decât același blond pe un fond uniform.</a:t>
            </a:r>
            <a:endParaRPr lang="en-US" sz="13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TRANZIȚIA LA RĂDĂCINĂ · IMPACT VS. LONGEVITATE</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Rădăcina decide cum crește blondul</a:t>
            </a:r>
            <a:endParaRPr lang="en-US" sz="2800" dirty="0"/>
          </a:p>
        </p:txBody>
      </p:sp>
      <p:sp>
        <p:nvSpPr>
          <p:cNvPr id="4" name="card-26"/>
          <p:cNvSpPr/>
          <p:nvPr/>
        </p:nvSpPr>
        <p:spPr>
          <a:xfrm>
            <a:off x="457200" y="1188720"/>
            <a:ext cx="4023360" cy="2926080"/>
          </a:xfrm>
          <a:prstGeom prst="roundRect">
            <a:avLst>
              <a:gd name="adj" fmla="val 3750"/>
            </a:avLst>
          </a:prstGeom>
          <a:solidFill>
            <a:schemeClr val="bg2"/>
          </a:solidFill>
          <a:ln w="12700">
            <a:solidFill>
              <a:schemeClr val="bg2"/>
            </a:solidFill>
            <a:prstDash val="solid"/>
          </a:ln>
          <a:effectLst>
            <a:outerShdw sx="100000" sy="100000" kx="0" ky="0" algn="bl" rotWithShape="0" blurRad="101600" dist="25400" dir="5400000">
              <a:srgbClr val="5B4A42">
                <a:alpha val="14000"/>
              </a:srgbClr>
            </a:outerShdw>
          </a:effectLst>
        </p:spPr>
      </p:sp>
      <p:pic>
        <p:nvPicPr>
          <p:cNvPr id="5" name="illustration-27" descr="Blond aproape de rădăcină, la creștere">    </p:cNvPr>
          <p:cNvPicPr>
            <a:picLocks noChangeAspect="1"/>
          </p:cNvPicPr>
          <p:nvPr/>
        </p:nvPicPr>
        <p:blipFill>
          <a:blip r:embed="rId1"/>
          <a:stretch>
            <a:fillRect/>
          </a:stretch>
        </p:blipFill>
        <p:spPr>
          <a:xfrm>
            <a:off x="640080" y="1325880"/>
            <a:ext cx="1261872" cy="2103120"/>
          </a:xfrm>
          <a:prstGeom prst="rect">
            <a:avLst/>
          </a:prstGeom>
        </p:spPr>
      </p:pic>
      <p:sp>
        <p:nvSpPr>
          <p:cNvPr id="6" name="text-28"/>
          <p:cNvSpPr txBox="1"/>
          <p:nvPr/>
        </p:nvSpPr>
        <p:spPr>
          <a:xfrm>
            <a:off x="640080" y="3474720"/>
            <a:ext cx="1261872" cy="548640"/>
          </a:xfrm>
          <a:prstGeom prst="rect">
            <a:avLst/>
          </a:prstGeom>
          <a:noFill/>
          <a:ln/>
        </p:spPr>
        <p:txBody>
          <a:bodyPr wrap="square" lIns="0" tIns="0" rIns="0" bIns="0" rtlCol="0" anchor="t"/>
          <a:lstStyle/>
          <a:p>
            <a:pPr algn="ctr" indent="0" marL="0">
              <a:buNone/>
            </a:pPr>
            <a:r>
              <a:rPr lang="en-US" sz="1000" i="1" dirty="0">
                <a:solidFill>
                  <a:schemeClr val="tx2"/>
                </a:solidFill>
              </a:rPr>
              <a:t>La creștere: linie vizibilă</a:t>
            </a:r>
            <a:endParaRPr lang="en-US" sz="1000" dirty="0"/>
          </a:p>
        </p:txBody>
      </p:sp>
      <p:sp>
        <p:nvSpPr>
          <p:cNvPr id="7" name="text-29"/>
          <p:cNvSpPr txBox="1"/>
          <p:nvPr/>
        </p:nvSpPr>
        <p:spPr>
          <a:xfrm>
            <a:off x="2057400" y="1298448"/>
            <a:ext cx="2286000" cy="502920"/>
          </a:xfrm>
          <a:prstGeom prst="rect">
            <a:avLst/>
          </a:prstGeom>
          <a:noFill/>
          <a:ln/>
        </p:spPr>
        <p:txBody>
          <a:bodyPr wrap="square" lIns="0" tIns="0" rIns="0" bIns="0" rtlCol="0" anchor="ctr"/>
          <a:lstStyle/>
          <a:p>
            <a:pPr indent="0" marL="0">
              <a:buNone/>
            </a:pPr>
            <a:r>
              <a:rPr lang="en-US" sz="1400" b="1" dirty="0">
                <a:solidFill>
                  <a:schemeClr val="tx1"/>
                </a:solidFill>
                <a:latin typeface="Georgia" pitchFamily="34" charset="0"/>
                <a:ea typeface="Georgia" pitchFamily="34" charset="-122"/>
                <a:cs typeface="Georgia" pitchFamily="34" charset="-120"/>
              </a:rPr>
              <a:t>Blond foarte aproape de rădăcină</a:t>
            </a:r>
            <a:endParaRPr lang="en-US" sz="1400" dirty="0"/>
          </a:p>
        </p:txBody>
      </p:sp>
      <p:sp>
        <p:nvSpPr>
          <p:cNvPr id="8" name="text-30"/>
          <p:cNvSpPr txBox="1"/>
          <p:nvPr/>
        </p:nvSpPr>
        <p:spPr>
          <a:xfrm>
            <a:off x="2057400" y="1828800"/>
            <a:ext cx="2286000" cy="201168"/>
          </a:xfrm>
          <a:prstGeom prst="rect">
            <a:avLst/>
          </a:prstGeom>
          <a:noFill/>
          <a:ln/>
        </p:spPr>
        <p:txBody>
          <a:bodyPr wrap="square" lIns="0" tIns="0" rIns="0" bIns="0" rtlCol="0" anchor="t"/>
          <a:lstStyle/>
          <a:p>
            <a:pPr indent="0" marL="0">
              <a:buNone/>
            </a:pPr>
            <a:r>
              <a:rPr lang="en-US" sz="1000" b="1" spc="200" kern="0" dirty="0">
                <a:solidFill>
                  <a:schemeClr val="accent5"/>
                </a:solidFill>
              </a:rPr>
              <a:t>AVANTAJE</a:t>
            </a:r>
            <a:endParaRPr lang="en-US" sz="1000" dirty="0"/>
          </a:p>
        </p:txBody>
      </p:sp>
      <p:sp>
        <p:nvSpPr>
          <p:cNvPr id="9" name="text-31"/>
          <p:cNvSpPr txBox="1"/>
          <p:nvPr/>
        </p:nvSpPr>
        <p:spPr>
          <a:xfrm>
            <a:off x="2057400" y="2029968"/>
            <a:ext cx="2286000" cy="914400"/>
          </a:xfrm>
          <a:prstGeom prst="rect">
            <a:avLst/>
          </a:prstGeom>
          <a:noFill/>
          <a:ln/>
        </p:spPr>
        <p:txBody>
          <a:bodyPr wrap="square" lIns="0" tIns="0" rIns="0" bIns="0" rtlCol="0" anchor="t"/>
          <a:lstStyle/>
          <a:p>
            <a:pPr marL="165100" indent="-165100">
              <a:spcAft>
                <a:spcPts val="200"/>
              </a:spcAft>
              <a:buSzPct val="100000"/>
              <a:buChar char="•"/>
            </a:pPr>
            <a:r>
              <a:rPr lang="en-US" sz="1100" b="1" dirty="0">
                <a:solidFill>
                  <a:schemeClr val="tx1"/>
                </a:solidFill>
              </a:rPr>
              <a:t>Impact luminos</a:t>
            </a:r>
            <a:r>
              <a:rPr lang="en-US" sz="1100" dirty="0">
                <a:solidFill>
                  <a:schemeClr val="tx1"/>
                </a:solidFill>
              </a:rPr>
              <a:t> imediat</a:t>
            </a:r>
            <a:endParaRPr lang="en-US" sz="1400" dirty="0"/>
          </a:p>
          <a:p>
            <a:pPr marL="165100" indent="-165100">
              <a:spcAft>
                <a:spcPts val="200"/>
              </a:spcAft>
              <a:buSzPct val="100000"/>
              <a:buChar char="•"/>
            </a:pPr>
            <a:r>
              <a:rPr lang="en-US" sz="1100" dirty="0">
                <a:solidFill>
                  <a:schemeClr val="tx1"/>
                </a:solidFill>
              </a:rPr>
              <a:t>Blond vizibil </a:t>
            </a:r>
            <a:r>
              <a:rPr lang="en-US" sz="1100" b="1" dirty="0">
                <a:solidFill>
                  <a:schemeClr val="tx1"/>
                </a:solidFill>
              </a:rPr>
              <a:t>de la rădăcină</a:t>
            </a:r>
            <a:endParaRPr lang="en-US" sz="1400" dirty="0"/>
          </a:p>
          <a:p>
            <a:pPr marL="165100" indent="-165100">
              <a:spcAft>
                <a:spcPts val="200"/>
              </a:spcAft>
              <a:buSzPct val="100000"/>
              <a:buChar char="•"/>
            </a:pPr>
            <a:r>
              <a:rPr lang="en-US" sz="1100" dirty="0">
                <a:solidFill>
                  <a:schemeClr val="tx1"/>
                </a:solidFill>
              </a:rPr>
              <a:t>Pentru </a:t>
            </a:r>
            <a:r>
              <a:rPr lang="en-US" sz="1100" b="1" dirty="0">
                <a:solidFill>
                  <a:schemeClr val="tx1"/>
                </a:solidFill>
              </a:rPr>
              <a:t>luminozitate maximă</a:t>
            </a:r>
            <a:endParaRPr lang="en-US" sz="1400" dirty="0"/>
          </a:p>
        </p:txBody>
      </p:sp>
      <p:sp>
        <p:nvSpPr>
          <p:cNvPr id="10" name="text-32"/>
          <p:cNvSpPr txBox="1"/>
          <p:nvPr/>
        </p:nvSpPr>
        <p:spPr>
          <a:xfrm>
            <a:off x="2057400" y="2990088"/>
            <a:ext cx="2286000" cy="201168"/>
          </a:xfrm>
          <a:prstGeom prst="rect">
            <a:avLst/>
          </a:prstGeom>
          <a:noFill/>
          <a:ln/>
        </p:spPr>
        <p:txBody>
          <a:bodyPr wrap="square" lIns="0" tIns="0" rIns="0" bIns="0" rtlCol="0" anchor="t"/>
          <a:lstStyle/>
          <a:p>
            <a:pPr indent="0" marL="0">
              <a:buNone/>
            </a:pPr>
            <a:r>
              <a:rPr lang="en-US" sz="1000" b="1" spc="200" kern="0" dirty="0">
                <a:solidFill>
                  <a:schemeClr val="accent6"/>
                </a:solidFill>
              </a:rPr>
              <a:t>DEZAVANTAJE</a:t>
            </a:r>
            <a:endParaRPr lang="en-US" sz="1000" dirty="0"/>
          </a:p>
        </p:txBody>
      </p:sp>
      <p:sp>
        <p:nvSpPr>
          <p:cNvPr id="11" name="text-33"/>
          <p:cNvSpPr txBox="1"/>
          <p:nvPr/>
        </p:nvSpPr>
        <p:spPr>
          <a:xfrm>
            <a:off x="2057400" y="3191256"/>
            <a:ext cx="2286000" cy="868680"/>
          </a:xfrm>
          <a:prstGeom prst="rect">
            <a:avLst/>
          </a:prstGeom>
          <a:noFill/>
          <a:ln/>
        </p:spPr>
        <p:txBody>
          <a:bodyPr wrap="square" lIns="0" tIns="0" rIns="0" bIns="0" rtlCol="0" anchor="t"/>
          <a:lstStyle/>
          <a:p>
            <a:pPr marL="165100" indent="-165100">
              <a:spcAft>
                <a:spcPts val="200"/>
              </a:spcAft>
              <a:buSzPct val="100000"/>
              <a:buChar char="•"/>
            </a:pPr>
            <a:r>
              <a:rPr lang="en-US" sz="1100" dirty="0">
                <a:solidFill>
                  <a:schemeClr val="tx1"/>
                </a:solidFill>
              </a:rPr>
              <a:t>Creșterea se vede </a:t>
            </a:r>
            <a:r>
              <a:rPr lang="en-US" sz="1100" b="1" dirty="0">
                <a:solidFill>
                  <a:schemeClr val="tx1"/>
                </a:solidFill>
              </a:rPr>
              <a:t>mai repede</a:t>
            </a:r>
            <a:endParaRPr lang="en-US" sz="1400" dirty="0"/>
          </a:p>
          <a:p>
            <a:pPr marL="165100" indent="-165100">
              <a:spcAft>
                <a:spcPts val="200"/>
              </a:spcAft>
              <a:buSzPct val="100000"/>
              <a:buChar char="•"/>
            </a:pPr>
            <a:r>
              <a:rPr lang="en-US" sz="1100" dirty="0">
                <a:solidFill>
                  <a:schemeClr val="tx1"/>
                </a:solidFill>
              </a:rPr>
              <a:t>Risc de </a:t>
            </a:r>
            <a:r>
              <a:rPr lang="en-US" sz="1100" b="1" dirty="0">
                <a:solidFill>
                  <a:schemeClr val="tx1"/>
                </a:solidFill>
              </a:rPr>
              <a:t>linie de demarcație</a:t>
            </a:r>
            <a:endParaRPr lang="en-US" sz="1400" dirty="0"/>
          </a:p>
          <a:p>
            <a:pPr marL="165100" indent="-165100">
              <a:spcAft>
                <a:spcPts val="200"/>
              </a:spcAft>
              <a:buSzPct val="100000"/>
              <a:buChar char="•"/>
            </a:pPr>
            <a:r>
              <a:rPr lang="en-US" sz="1100" dirty="0">
                <a:solidFill>
                  <a:schemeClr val="tx1"/>
                </a:solidFill>
              </a:rPr>
              <a:t>Retușuri </a:t>
            </a:r>
            <a:r>
              <a:rPr lang="en-US" sz="1100" b="1" dirty="0">
                <a:solidFill>
                  <a:schemeClr val="tx1"/>
                </a:solidFill>
              </a:rPr>
              <a:t>mai frecvente</a:t>
            </a:r>
            <a:endParaRPr lang="en-US" sz="1400" dirty="0"/>
          </a:p>
        </p:txBody>
      </p:sp>
      <p:sp>
        <p:nvSpPr>
          <p:cNvPr id="12" name="card-34"/>
          <p:cNvSpPr/>
          <p:nvPr/>
        </p:nvSpPr>
        <p:spPr>
          <a:xfrm>
            <a:off x="4663440" y="1188720"/>
            <a:ext cx="4023360" cy="2926080"/>
          </a:xfrm>
          <a:prstGeom prst="roundRect">
            <a:avLst>
              <a:gd name="adj" fmla="val 3750"/>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pic>
        <p:nvPicPr>
          <p:cNvPr id="13" name="illustration-35" descr="Root shadow, la creștere">    </p:cNvPr>
          <p:cNvPicPr>
            <a:picLocks noChangeAspect="1"/>
          </p:cNvPicPr>
          <p:nvPr/>
        </p:nvPicPr>
        <p:blipFill>
          <a:blip r:embed="rId2"/>
          <a:stretch>
            <a:fillRect/>
          </a:stretch>
        </p:blipFill>
        <p:spPr>
          <a:xfrm>
            <a:off x="4846320" y="1325880"/>
            <a:ext cx="1261872" cy="2103120"/>
          </a:xfrm>
          <a:prstGeom prst="rect">
            <a:avLst/>
          </a:prstGeom>
        </p:spPr>
      </p:pic>
      <p:sp>
        <p:nvSpPr>
          <p:cNvPr id="14" name="text-36"/>
          <p:cNvSpPr txBox="1"/>
          <p:nvPr/>
        </p:nvSpPr>
        <p:spPr>
          <a:xfrm>
            <a:off x="4846320" y="3474720"/>
            <a:ext cx="1261872" cy="548640"/>
          </a:xfrm>
          <a:prstGeom prst="rect">
            <a:avLst/>
          </a:prstGeom>
          <a:noFill/>
          <a:ln/>
        </p:spPr>
        <p:txBody>
          <a:bodyPr wrap="square" lIns="0" tIns="0" rIns="0" bIns="0" rtlCol="0" anchor="t"/>
          <a:lstStyle/>
          <a:p>
            <a:pPr algn="ctr" indent="0" marL="0">
              <a:buNone/>
            </a:pPr>
            <a:r>
              <a:rPr lang="en-US" sz="1000" i="1" dirty="0">
                <a:solidFill>
                  <a:schemeClr val="accent3"/>
                </a:solidFill>
              </a:rPr>
              <a:t>La creștere: tranziție discretă</a:t>
            </a:r>
            <a:endParaRPr lang="en-US" sz="1000" dirty="0"/>
          </a:p>
        </p:txBody>
      </p:sp>
      <p:sp>
        <p:nvSpPr>
          <p:cNvPr id="15" name="text-37"/>
          <p:cNvSpPr txBox="1"/>
          <p:nvPr/>
        </p:nvSpPr>
        <p:spPr>
          <a:xfrm>
            <a:off x="6263640" y="1298448"/>
            <a:ext cx="2286000" cy="502920"/>
          </a:xfrm>
          <a:prstGeom prst="rect">
            <a:avLst/>
          </a:prstGeom>
          <a:noFill/>
          <a:ln/>
        </p:spPr>
        <p:txBody>
          <a:bodyPr wrap="square" lIns="0" tIns="0" rIns="0" bIns="0" rtlCol="0" anchor="ctr"/>
          <a:lstStyle/>
          <a:p>
            <a:pPr indent="0" marL="0">
              <a:buNone/>
            </a:pPr>
            <a:r>
              <a:rPr lang="en-US" sz="1400" b="1" dirty="0">
                <a:solidFill>
                  <a:schemeClr val="bg1"/>
                </a:solidFill>
                <a:latin typeface="Georgia" pitchFamily="34" charset="0"/>
                <a:ea typeface="Georgia" pitchFamily="34" charset="-122"/>
                <a:cs typeface="Georgia" pitchFamily="34" charset="-120"/>
              </a:rPr>
              <a:t>Root shadow / root melt</a:t>
            </a:r>
            <a:endParaRPr lang="en-US" sz="1400" dirty="0"/>
          </a:p>
        </p:txBody>
      </p:sp>
      <p:sp>
        <p:nvSpPr>
          <p:cNvPr id="16" name="text-38"/>
          <p:cNvSpPr txBox="1"/>
          <p:nvPr/>
        </p:nvSpPr>
        <p:spPr>
          <a:xfrm>
            <a:off x="6263640" y="1828800"/>
            <a:ext cx="2286000" cy="201168"/>
          </a:xfrm>
          <a:prstGeom prst="rect">
            <a:avLst/>
          </a:prstGeom>
          <a:noFill/>
          <a:ln/>
        </p:spPr>
        <p:txBody>
          <a:bodyPr wrap="square" lIns="0" tIns="0" rIns="0" bIns="0" rtlCol="0" anchor="t"/>
          <a:lstStyle/>
          <a:p>
            <a:pPr indent="0" marL="0">
              <a:buNone/>
            </a:pPr>
            <a:r>
              <a:rPr lang="en-US" sz="1000" b="1" spc="200" kern="0" dirty="0">
                <a:solidFill>
                  <a:srgbClr val="A9C8B0"/>
                </a:solidFill>
              </a:rPr>
              <a:t>AVANTAJE</a:t>
            </a:r>
            <a:endParaRPr lang="en-US" sz="1000" dirty="0"/>
          </a:p>
        </p:txBody>
      </p:sp>
      <p:sp>
        <p:nvSpPr>
          <p:cNvPr id="17" name="text-39"/>
          <p:cNvSpPr txBox="1"/>
          <p:nvPr/>
        </p:nvSpPr>
        <p:spPr>
          <a:xfrm>
            <a:off x="6263640" y="2029968"/>
            <a:ext cx="2286000" cy="914400"/>
          </a:xfrm>
          <a:prstGeom prst="rect">
            <a:avLst/>
          </a:prstGeom>
          <a:noFill/>
          <a:ln/>
        </p:spPr>
        <p:txBody>
          <a:bodyPr wrap="square" lIns="0" tIns="0" rIns="0" bIns="0" rtlCol="0" anchor="t"/>
          <a:lstStyle/>
          <a:p>
            <a:pPr marL="165100" indent="-165100">
              <a:spcAft>
                <a:spcPts val="200"/>
              </a:spcAft>
              <a:buSzPct val="100000"/>
              <a:buChar char="•"/>
            </a:pPr>
            <a:r>
              <a:rPr lang="en-US" sz="1100" dirty="0">
                <a:solidFill>
                  <a:schemeClr val="bg1"/>
                </a:solidFill>
              </a:rPr>
              <a:t>Trecere </a:t>
            </a:r>
            <a:r>
              <a:rPr lang="en-US" sz="1100" b="1" dirty="0">
                <a:solidFill>
                  <a:schemeClr val="accent3"/>
                </a:solidFill>
              </a:rPr>
              <a:t>graduală</a:t>
            </a:r>
            <a:r>
              <a:rPr lang="en-US" sz="1100" dirty="0">
                <a:solidFill>
                  <a:schemeClr val="bg1"/>
                </a:solidFill>
              </a:rPr>
              <a:t> bază–blond</a:t>
            </a:r>
            <a:endParaRPr lang="en-US" sz="1400" dirty="0"/>
          </a:p>
          <a:p>
            <a:pPr marL="165100" indent="-165100">
              <a:spcAft>
                <a:spcPts val="200"/>
              </a:spcAft>
              <a:buSzPct val="100000"/>
              <a:buChar char="•"/>
            </a:pPr>
            <a:r>
              <a:rPr lang="en-US" sz="1100" dirty="0">
                <a:solidFill>
                  <a:schemeClr val="bg1"/>
                </a:solidFill>
              </a:rPr>
              <a:t>Creștere </a:t>
            </a:r>
            <a:r>
              <a:rPr lang="en-US" sz="1100" b="1" dirty="0">
                <a:solidFill>
                  <a:schemeClr val="accent3"/>
                </a:solidFill>
              </a:rPr>
              <a:t>mai discretă</a:t>
            </a:r>
            <a:endParaRPr lang="en-US" sz="1400" dirty="0"/>
          </a:p>
          <a:p>
            <a:pPr marL="165100" indent="-165100">
              <a:spcAft>
                <a:spcPts val="200"/>
              </a:spcAft>
              <a:buSzPct val="100000"/>
              <a:buChar char="•"/>
            </a:pPr>
            <a:r>
              <a:rPr lang="en-US" sz="1100" dirty="0">
                <a:solidFill>
                  <a:schemeClr val="bg1"/>
                </a:solidFill>
              </a:rPr>
              <a:t>Poate </a:t>
            </a:r>
            <a:r>
              <a:rPr lang="en-US" sz="1100" b="1" dirty="0">
                <a:solidFill>
                  <a:schemeClr val="accent3"/>
                </a:solidFill>
              </a:rPr>
              <a:t>prelungi</a:t>
            </a:r>
            <a:r>
              <a:rPr lang="en-US" sz="1100" dirty="0">
                <a:solidFill>
                  <a:schemeClr val="bg1"/>
                </a:solidFill>
              </a:rPr>
              <a:t> intervalul</a:t>
            </a:r>
            <a:endParaRPr lang="en-US" sz="1400" dirty="0"/>
          </a:p>
          <a:p>
            <a:pPr marL="165100" indent="-165100">
              <a:spcAft>
                <a:spcPts val="200"/>
              </a:spcAft>
              <a:buSzPct val="100000"/>
              <a:buChar char="•"/>
            </a:pPr>
            <a:r>
              <a:rPr lang="en-US" sz="1100" b="1" dirty="0">
                <a:solidFill>
                  <a:schemeClr val="accent3"/>
                </a:solidFill>
              </a:rPr>
              <a:t>Profunzime</a:t>
            </a:r>
            <a:r>
              <a:rPr lang="en-US" sz="1100" dirty="0">
                <a:solidFill>
                  <a:schemeClr val="bg1"/>
                </a:solidFill>
              </a:rPr>
              <a:t>, aspect natural</a:t>
            </a:r>
            <a:endParaRPr lang="en-US" sz="1400" dirty="0"/>
          </a:p>
        </p:txBody>
      </p:sp>
      <p:sp>
        <p:nvSpPr>
          <p:cNvPr id="18" name="text-40"/>
          <p:cNvSpPr txBox="1"/>
          <p:nvPr/>
        </p:nvSpPr>
        <p:spPr>
          <a:xfrm>
            <a:off x="6263640" y="2990088"/>
            <a:ext cx="2286000" cy="201168"/>
          </a:xfrm>
          <a:prstGeom prst="rect">
            <a:avLst/>
          </a:prstGeom>
          <a:noFill/>
          <a:ln/>
        </p:spPr>
        <p:txBody>
          <a:bodyPr wrap="square" lIns="0" tIns="0" rIns="0" bIns="0" rtlCol="0" anchor="t"/>
          <a:lstStyle/>
          <a:p>
            <a:pPr indent="0" marL="0">
              <a:buNone/>
            </a:pPr>
            <a:r>
              <a:rPr lang="en-US" sz="1000" b="1" spc="200" kern="0" dirty="0">
                <a:solidFill>
                  <a:schemeClr val="accent3"/>
                </a:solidFill>
              </a:rPr>
              <a:t>DEZAVANTAJE</a:t>
            </a:r>
            <a:endParaRPr lang="en-US" sz="1000" dirty="0"/>
          </a:p>
        </p:txBody>
      </p:sp>
      <p:sp>
        <p:nvSpPr>
          <p:cNvPr id="19" name="text-41"/>
          <p:cNvSpPr txBox="1"/>
          <p:nvPr/>
        </p:nvSpPr>
        <p:spPr>
          <a:xfrm>
            <a:off x="6263640" y="3191256"/>
            <a:ext cx="2286000" cy="868680"/>
          </a:xfrm>
          <a:prstGeom prst="rect">
            <a:avLst/>
          </a:prstGeom>
          <a:noFill/>
          <a:ln/>
        </p:spPr>
        <p:txBody>
          <a:bodyPr wrap="square" lIns="0" tIns="0" rIns="0" bIns="0" rtlCol="0" anchor="t"/>
          <a:lstStyle/>
          <a:p>
            <a:pPr marL="165100" indent="-165100">
              <a:spcAft>
                <a:spcPts val="200"/>
              </a:spcAft>
              <a:buSzPct val="100000"/>
              <a:buChar char="•"/>
            </a:pPr>
            <a:r>
              <a:rPr lang="en-US" sz="1100" b="1" dirty="0">
                <a:solidFill>
                  <a:schemeClr val="accent3"/>
                </a:solidFill>
              </a:rPr>
              <a:t>Mai puțină lumină</a:t>
            </a:r>
            <a:r>
              <a:rPr lang="en-US" sz="1100" dirty="0">
                <a:solidFill>
                  <a:schemeClr val="bg1"/>
                </a:solidFill>
              </a:rPr>
              <a:t> la rădăcină</a:t>
            </a:r>
            <a:endParaRPr lang="en-US" sz="1400" dirty="0"/>
          </a:p>
          <a:p>
            <a:pPr marL="165100" indent="-165100">
              <a:spcAft>
                <a:spcPts val="200"/>
              </a:spcAft>
              <a:buSzPct val="100000"/>
              <a:buChar char="•"/>
            </a:pPr>
            <a:r>
              <a:rPr lang="en-US" sz="1100" dirty="0">
                <a:solidFill>
                  <a:schemeClr val="bg1"/>
                </a:solidFill>
              </a:rPr>
              <a:t>Prea lungă / închisă = </a:t>
            </a:r>
            <a:r>
              <a:rPr lang="en-US" sz="1100" b="1" dirty="0">
                <a:solidFill>
                  <a:schemeClr val="accent3"/>
                </a:solidFill>
              </a:rPr>
              <a:t>greoaie</a:t>
            </a:r>
            <a:endParaRPr lang="en-US" sz="1400" dirty="0"/>
          </a:p>
          <a:p>
            <a:pPr marL="165100" indent="-165100">
              <a:spcAft>
                <a:spcPts val="200"/>
              </a:spcAft>
              <a:buSzPct val="100000"/>
              <a:buChar char="•"/>
            </a:pPr>
            <a:r>
              <a:rPr lang="en-US" sz="1100" dirty="0">
                <a:solidFill>
                  <a:schemeClr val="bg1"/>
                </a:solidFill>
              </a:rPr>
              <a:t>Cere </a:t>
            </a:r>
            <a:r>
              <a:rPr lang="en-US" sz="1100" b="1" dirty="0">
                <a:solidFill>
                  <a:schemeClr val="accent3"/>
                </a:solidFill>
              </a:rPr>
              <a:t>nuanță corectă</a:t>
            </a:r>
            <a:r>
              <a:rPr lang="en-US" sz="1100" dirty="0">
                <a:solidFill>
                  <a:schemeClr val="bg1"/>
                </a:solidFill>
              </a:rPr>
              <a:t> și difuzare</a:t>
            </a:r>
            <a:endParaRPr lang="en-US" sz="1400" dirty="0"/>
          </a:p>
        </p:txBody>
      </p:sp>
      <p:sp>
        <p:nvSpPr>
          <p:cNvPr id="20" name="text-42"/>
          <p:cNvSpPr txBox="1"/>
          <p:nvPr/>
        </p:nvSpPr>
        <p:spPr>
          <a:xfrm>
            <a:off x="457200" y="4251960"/>
            <a:ext cx="8229600" cy="411480"/>
          </a:xfrm>
          <a:prstGeom prst="rect">
            <a:avLst/>
          </a:prstGeom>
          <a:noFill/>
          <a:ln/>
        </p:spPr>
        <p:txBody>
          <a:bodyPr wrap="square" lIns="0" tIns="0" rIns="0" bIns="0" rtlCol="0" anchor="ctr"/>
          <a:lstStyle/>
          <a:p>
            <a:pPr indent="0" marL="0">
              <a:buNone/>
            </a:pPr>
            <a:r>
              <a:rPr lang="en-US" sz="1200" b="1" dirty="0">
                <a:solidFill>
                  <a:schemeClr val="tx2"/>
                </a:solidFill>
              </a:rPr>
              <a:t>Longevitatea depinde și de:</a:t>
            </a:r>
            <a:r>
              <a:rPr lang="en-US" sz="1200" dirty="0">
                <a:solidFill>
                  <a:schemeClr val="tx2"/>
                </a:solidFill>
              </a:rPr>
              <a:t> contrastul cu baza naturală · poziționarea șuvițelor · tehnica aplicată · întreținerea culorii.</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SMART PLACEMENT</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Georgia" pitchFamily="34" charset="0"/>
                <a:ea typeface="Georgia" pitchFamily="34" charset="-122"/>
                <a:cs typeface="Georgia" pitchFamily="34" charset="-120"/>
              </a:rPr>
              <a:t>Unde punem lumina și unde păstrăm umbra?</a:t>
            </a:r>
            <a:endParaRPr lang="en-US" sz="2800" dirty="0"/>
          </a:p>
        </p:txBody>
      </p:sp>
      <p:pic>
        <p:nvPicPr>
          <p:cNvPr id="4" name="illustration-43" descr="Vedere din față: contur luminos al feței">    </p:cNvPr>
          <p:cNvPicPr>
            <a:picLocks noChangeAspect="1"/>
          </p:cNvPicPr>
          <p:nvPr/>
        </p:nvPicPr>
        <p:blipFill>
          <a:blip r:embed="rId1"/>
          <a:stretch>
            <a:fillRect/>
          </a:stretch>
        </p:blipFill>
        <p:spPr>
          <a:xfrm>
            <a:off x="457200" y="1188720"/>
            <a:ext cx="1508760" cy="2514600"/>
          </a:xfrm>
          <a:prstGeom prst="rect">
            <a:avLst/>
          </a:prstGeom>
        </p:spPr>
      </p:pic>
      <p:pic>
        <p:nvPicPr>
          <p:cNvPr id="5" name="illustration-44" descr="Vedere din spate: alternanță lumină–umbră">    </p:cNvPr>
          <p:cNvPicPr>
            <a:picLocks noChangeAspect="1"/>
          </p:cNvPicPr>
          <p:nvPr/>
        </p:nvPicPr>
        <p:blipFill>
          <a:blip r:embed="rId2"/>
          <a:stretch>
            <a:fillRect/>
          </a:stretch>
        </p:blipFill>
        <p:spPr>
          <a:xfrm>
            <a:off x="2057400" y="1188720"/>
            <a:ext cx="1508760" cy="2514600"/>
          </a:xfrm>
          <a:prstGeom prst="rect">
            <a:avLst/>
          </a:prstGeom>
        </p:spPr>
      </p:pic>
      <p:sp>
        <p:nvSpPr>
          <p:cNvPr id="6" name="text-45"/>
          <p:cNvSpPr txBox="1"/>
          <p:nvPr/>
        </p:nvSpPr>
        <p:spPr>
          <a:xfrm>
            <a:off x="457200" y="3730752"/>
            <a:ext cx="1508760" cy="201168"/>
          </a:xfrm>
          <a:prstGeom prst="rect">
            <a:avLst/>
          </a:prstGeom>
          <a:noFill/>
          <a:ln/>
        </p:spPr>
        <p:txBody>
          <a:bodyPr wrap="square" lIns="0" tIns="0" rIns="0" bIns="0" rtlCol="0" anchor="t"/>
          <a:lstStyle/>
          <a:p>
            <a:pPr algn="ctr" indent="0" marL="0">
              <a:buNone/>
            </a:pPr>
            <a:r>
              <a:rPr lang="en-US" sz="1000" i="1" dirty="0">
                <a:solidFill>
                  <a:schemeClr val="tx2"/>
                </a:solidFill>
              </a:rPr>
              <a:t>Față</a:t>
            </a:r>
            <a:endParaRPr lang="en-US" sz="1000" dirty="0"/>
          </a:p>
        </p:txBody>
      </p:sp>
      <p:sp>
        <p:nvSpPr>
          <p:cNvPr id="7" name="text-46"/>
          <p:cNvSpPr txBox="1"/>
          <p:nvPr/>
        </p:nvSpPr>
        <p:spPr>
          <a:xfrm>
            <a:off x="2057400" y="3730752"/>
            <a:ext cx="1508760" cy="201168"/>
          </a:xfrm>
          <a:prstGeom prst="rect">
            <a:avLst/>
          </a:prstGeom>
          <a:noFill/>
          <a:ln/>
        </p:spPr>
        <p:txBody>
          <a:bodyPr wrap="square" lIns="0" tIns="0" rIns="0" bIns="0" rtlCol="0" anchor="t"/>
          <a:lstStyle/>
          <a:p>
            <a:pPr algn="ctr" indent="0" marL="0">
              <a:buNone/>
            </a:pPr>
            <a:r>
              <a:rPr lang="en-US" sz="1000" i="1" dirty="0">
                <a:solidFill>
                  <a:schemeClr val="tx2"/>
                </a:solidFill>
              </a:rPr>
              <a:t>Spate</a:t>
            </a:r>
            <a:endParaRPr lang="en-US" sz="1000" dirty="0"/>
          </a:p>
        </p:txBody>
      </p:sp>
      <p:sp>
        <p:nvSpPr>
          <p:cNvPr id="8" name="num-47"/>
          <p:cNvSpPr/>
          <p:nvPr/>
        </p:nvSpPr>
        <p:spPr>
          <a:xfrm>
            <a:off x="566928" y="1828800"/>
            <a:ext cx="310896" cy="310896"/>
          </a:xfrm>
          <a:prstGeom prst="ellipse">
            <a:avLst/>
          </a:prstGeom>
          <a:solidFill>
            <a:schemeClr val="accent2"/>
          </a:solidFill>
          <a:ln w="12700">
            <a:solidFill>
              <a:schemeClr val="bg1"/>
            </a:solidFill>
            <a:prstDash val="solid"/>
          </a:ln>
        </p:spPr>
      </p:sp>
      <p:sp>
        <p:nvSpPr>
          <p:cNvPr id="9" name="text-48"/>
          <p:cNvSpPr txBox="1"/>
          <p:nvPr/>
        </p:nvSpPr>
        <p:spPr>
          <a:xfrm>
            <a:off x="566928" y="182880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0" name="num-49"/>
          <p:cNvSpPr/>
          <p:nvPr/>
        </p:nvSpPr>
        <p:spPr>
          <a:xfrm>
            <a:off x="1051560" y="1207008"/>
            <a:ext cx="310896" cy="310896"/>
          </a:xfrm>
          <a:prstGeom prst="ellipse">
            <a:avLst/>
          </a:prstGeom>
          <a:solidFill>
            <a:schemeClr val="accent2"/>
          </a:solidFill>
          <a:ln w="12700">
            <a:solidFill>
              <a:schemeClr val="bg1"/>
            </a:solidFill>
            <a:prstDash val="solid"/>
          </a:ln>
        </p:spPr>
      </p:sp>
      <p:sp>
        <p:nvSpPr>
          <p:cNvPr id="11" name="text-50"/>
          <p:cNvSpPr txBox="1"/>
          <p:nvPr/>
        </p:nvSpPr>
        <p:spPr>
          <a:xfrm>
            <a:off x="1051560" y="1207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num-51"/>
          <p:cNvSpPr/>
          <p:nvPr/>
        </p:nvSpPr>
        <p:spPr>
          <a:xfrm>
            <a:off x="2651760" y="1783080"/>
            <a:ext cx="310896" cy="310896"/>
          </a:xfrm>
          <a:prstGeom prst="ellipse">
            <a:avLst/>
          </a:prstGeom>
          <a:solidFill>
            <a:schemeClr val="accent2"/>
          </a:solidFill>
          <a:ln w="12700">
            <a:solidFill>
              <a:schemeClr val="bg1"/>
            </a:solidFill>
            <a:prstDash val="solid"/>
          </a:ln>
        </p:spPr>
      </p:sp>
      <p:sp>
        <p:nvSpPr>
          <p:cNvPr id="13" name="text-52"/>
          <p:cNvSpPr txBox="1"/>
          <p:nvPr/>
        </p:nvSpPr>
        <p:spPr>
          <a:xfrm>
            <a:off x="2651760" y="17830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num-53"/>
          <p:cNvSpPr/>
          <p:nvPr/>
        </p:nvSpPr>
        <p:spPr>
          <a:xfrm>
            <a:off x="3246120" y="2743200"/>
            <a:ext cx="310896" cy="310896"/>
          </a:xfrm>
          <a:prstGeom prst="ellipse">
            <a:avLst/>
          </a:prstGeom>
          <a:solidFill>
            <a:schemeClr val="accent2"/>
          </a:solidFill>
          <a:ln w="12700">
            <a:solidFill>
              <a:schemeClr val="bg1"/>
            </a:solidFill>
            <a:prstDash val="solid"/>
          </a:ln>
        </p:spPr>
      </p:sp>
      <p:sp>
        <p:nvSpPr>
          <p:cNvPr id="15" name="text-54"/>
          <p:cNvSpPr txBox="1"/>
          <p:nvPr/>
        </p:nvSpPr>
        <p:spPr>
          <a:xfrm>
            <a:off x="3246120" y="274320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6" name="num-55"/>
          <p:cNvSpPr/>
          <p:nvPr/>
        </p:nvSpPr>
        <p:spPr>
          <a:xfrm>
            <a:off x="2697480" y="3337560"/>
            <a:ext cx="310896" cy="310896"/>
          </a:xfrm>
          <a:prstGeom prst="ellipse">
            <a:avLst/>
          </a:prstGeom>
          <a:solidFill>
            <a:schemeClr val="accent2"/>
          </a:solidFill>
          <a:ln w="12700">
            <a:solidFill>
              <a:schemeClr val="bg1"/>
            </a:solidFill>
            <a:prstDash val="solid"/>
          </a:ln>
        </p:spPr>
      </p:sp>
      <p:sp>
        <p:nvSpPr>
          <p:cNvPr id="17" name="text-56"/>
          <p:cNvSpPr txBox="1"/>
          <p:nvPr/>
        </p:nvSpPr>
        <p:spPr>
          <a:xfrm>
            <a:off x="2697480" y="333756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18" name="num-57"/>
          <p:cNvSpPr/>
          <p:nvPr/>
        </p:nvSpPr>
        <p:spPr>
          <a:xfrm>
            <a:off x="3886200" y="1234440"/>
            <a:ext cx="347472" cy="347472"/>
          </a:xfrm>
          <a:prstGeom prst="ellipse">
            <a:avLst/>
          </a:prstGeom>
          <a:solidFill>
            <a:schemeClr val="accent2"/>
          </a:solidFill>
          <a:ln w="12700">
            <a:solidFill>
              <a:schemeClr val="bg1"/>
            </a:solidFill>
            <a:prstDash val="solid"/>
          </a:ln>
        </p:spPr>
      </p:sp>
      <p:sp>
        <p:nvSpPr>
          <p:cNvPr id="19" name="text-58"/>
          <p:cNvSpPr txBox="1"/>
          <p:nvPr/>
        </p:nvSpPr>
        <p:spPr>
          <a:xfrm>
            <a:off x="3886200" y="123444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0" name="text-59"/>
          <p:cNvSpPr txBox="1"/>
          <p:nvPr/>
        </p:nvSpPr>
        <p:spPr>
          <a:xfrm>
            <a:off x="4389120" y="1188720"/>
            <a:ext cx="4297680" cy="237744"/>
          </a:xfrm>
          <a:prstGeom prst="rect">
            <a:avLst/>
          </a:prstGeom>
          <a:noFill/>
          <a:ln/>
        </p:spPr>
        <p:txBody>
          <a:bodyPr wrap="square" lIns="0" tIns="0" rIns="0" bIns="0" rtlCol="0" anchor="t"/>
          <a:lstStyle/>
          <a:p>
            <a:pPr indent="0" marL="0">
              <a:buNone/>
            </a:pPr>
            <a:r>
              <a:rPr lang="en-US" sz="1300" b="1" dirty="0">
                <a:solidFill>
                  <a:schemeClr val="tx1"/>
                </a:solidFill>
              </a:rPr>
              <a:t>Conturul feței</a:t>
            </a:r>
            <a:endParaRPr lang="en-US" sz="1300" dirty="0"/>
          </a:p>
        </p:txBody>
      </p:sp>
      <p:sp>
        <p:nvSpPr>
          <p:cNvPr id="21" name="text-60"/>
          <p:cNvSpPr txBox="1"/>
          <p:nvPr/>
        </p:nvSpPr>
        <p:spPr>
          <a:xfrm>
            <a:off x="4389120" y="1426464"/>
            <a:ext cx="4297680" cy="256032"/>
          </a:xfrm>
          <a:prstGeom prst="rect">
            <a:avLst/>
          </a:prstGeom>
          <a:noFill/>
          <a:ln/>
        </p:spPr>
        <p:txBody>
          <a:bodyPr wrap="square" lIns="0" tIns="0" rIns="0" bIns="0" rtlCol="0" anchor="t"/>
          <a:lstStyle/>
          <a:p>
            <a:pPr indent="0" marL="0">
              <a:buNone/>
            </a:pPr>
            <a:r>
              <a:rPr lang="en-US" sz="1200" dirty="0">
                <a:solidFill>
                  <a:schemeClr val="tx2"/>
                </a:solidFill>
              </a:rPr>
              <a:t>lumină </a:t>
            </a:r>
            <a:r>
              <a:rPr lang="en-US" sz="1200" b="1" dirty="0">
                <a:solidFill>
                  <a:schemeClr val="tx2"/>
                </a:solidFill>
              </a:rPr>
              <a:t>strategică</a:t>
            </a:r>
            <a:r>
              <a:rPr lang="en-US" sz="1200" dirty="0">
                <a:solidFill>
                  <a:schemeClr val="tx2"/>
                </a:solidFill>
              </a:rPr>
              <a:t>, cea mai vizibilă zonă</a:t>
            </a:r>
            <a:endParaRPr lang="en-US" sz="1200" dirty="0"/>
          </a:p>
        </p:txBody>
      </p:sp>
      <p:sp>
        <p:nvSpPr>
          <p:cNvPr id="22" name="num-61"/>
          <p:cNvSpPr/>
          <p:nvPr/>
        </p:nvSpPr>
        <p:spPr>
          <a:xfrm>
            <a:off x="3886200" y="1783080"/>
            <a:ext cx="347472" cy="347472"/>
          </a:xfrm>
          <a:prstGeom prst="ellipse">
            <a:avLst/>
          </a:prstGeom>
          <a:solidFill>
            <a:schemeClr val="accent2"/>
          </a:solidFill>
          <a:ln w="12700">
            <a:solidFill>
              <a:schemeClr val="bg1"/>
            </a:solidFill>
            <a:prstDash val="solid"/>
          </a:ln>
        </p:spPr>
      </p:sp>
      <p:sp>
        <p:nvSpPr>
          <p:cNvPr id="23" name="text-62"/>
          <p:cNvSpPr txBox="1"/>
          <p:nvPr/>
        </p:nvSpPr>
        <p:spPr>
          <a:xfrm>
            <a:off x="3886200" y="17830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4" name="text-63"/>
          <p:cNvSpPr txBox="1"/>
          <p:nvPr/>
        </p:nvSpPr>
        <p:spPr>
          <a:xfrm>
            <a:off x="4389120" y="1737360"/>
            <a:ext cx="4297680" cy="237744"/>
          </a:xfrm>
          <a:prstGeom prst="rect">
            <a:avLst/>
          </a:prstGeom>
          <a:noFill/>
          <a:ln/>
        </p:spPr>
        <p:txBody>
          <a:bodyPr wrap="square" lIns="0" tIns="0" rIns="0" bIns="0" rtlCol="0" anchor="t"/>
          <a:lstStyle/>
          <a:p>
            <a:pPr indent="0" marL="0">
              <a:buNone/>
            </a:pPr>
            <a:r>
              <a:rPr lang="en-US" sz="1300" b="1" dirty="0">
                <a:solidFill>
                  <a:schemeClr val="tx1"/>
                </a:solidFill>
              </a:rPr>
              <a:t>Top și cărare</a:t>
            </a:r>
            <a:endParaRPr lang="en-US" sz="1300" dirty="0"/>
          </a:p>
        </p:txBody>
      </p:sp>
      <p:sp>
        <p:nvSpPr>
          <p:cNvPr id="25" name="text-64"/>
          <p:cNvSpPr txBox="1"/>
          <p:nvPr/>
        </p:nvSpPr>
        <p:spPr>
          <a:xfrm>
            <a:off x="4389120" y="1975104"/>
            <a:ext cx="4297680" cy="256032"/>
          </a:xfrm>
          <a:prstGeom prst="rect">
            <a:avLst/>
          </a:prstGeom>
          <a:noFill/>
          <a:ln/>
        </p:spPr>
        <p:txBody>
          <a:bodyPr wrap="square" lIns="0" tIns="0" rIns="0" bIns="0" rtlCol="0" anchor="t"/>
          <a:lstStyle/>
          <a:p>
            <a:pPr indent="0" marL="0">
              <a:buNone/>
            </a:pPr>
            <a:r>
              <a:rPr lang="en-US" sz="1200" dirty="0">
                <a:solidFill>
                  <a:schemeClr val="tx2"/>
                </a:solidFill>
              </a:rPr>
              <a:t>șuvițe după </a:t>
            </a:r>
            <a:r>
              <a:rPr lang="en-US" sz="1200" b="1" dirty="0">
                <a:solidFill>
                  <a:schemeClr val="tx2"/>
                </a:solidFill>
              </a:rPr>
              <a:t>cărare</a:t>
            </a:r>
            <a:r>
              <a:rPr lang="en-US" sz="1200" dirty="0">
                <a:solidFill>
                  <a:schemeClr val="tx2"/>
                </a:solidFill>
              </a:rPr>
              <a:t> și cum </a:t>
            </a:r>
            <a:r>
              <a:rPr lang="en-US" sz="1200" b="1" dirty="0">
                <a:solidFill>
                  <a:schemeClr val="tx2"/>
                </a:solidFill>
              </a:rPr>
              <a:t>cade părul</a:t>
            </a:r>
            <a:endParaRPr lang="en-US" sz="1200" dirty="0"/>
          </a:p>
        </p:txBody>
      </p:sp>
      <p:sp>
        <p:nvSpPr>
          <p:cNvPr id="26" name="num-65"/>
          <p:cNvSpPr/>
          <p:nvPr/>
        </p:nvSpPr>
        <p:spPr>
          <a:xfrm>
            <a:off x="3886200" y="2331720"/>
            <a:ext cx="347472" cy="347472"/>
          </a:xfrm>
          <a:prstGeom prst="ellipse">
            <a:avLst/>
          </a:prstGeom>
          <a:solidFill>
            <a:schemeClr val="accent2"/>
          </a:solidFill>
          <a:ln w="12700">
            <a:solidFill>
              <a:schemeClr val="bg1"/>
            </a:solidFill>
            <a:prstDash val="solid"/>
          </a:ln>
        </p:spPr>
      </p:sp>
      <p:sp>
        <p:nvSpPr>
          <p:cNvPr id="27" name="text-66"/>
          <p:cNvSpPr txBox="1"/>
          <p:nvPr/>
        </p:nvSpPr>
        <p:spPr>
          <a:xfrm>
            <a:off x="3886200" y="23317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text-67"/>
          <p:cNvSpPr txBox="1"/>
          <p:nvPr/>
        </p:nvSpPr>
        <p:spPr>
          <a:xfrm>
            <a:off x="4389120" y="2286000"/>
            <a:ext cx="4297680" cy="237744"/>
          </a:xfrm>
          <a:prstGeom prst="rect">
            <a:avLst/>
          </a:prstGeom>
          <a:noFill/>
          <a:ln/>
        </p:spPr>
        <p:txBody>
          <a:bodyPr wrap="square" lIns="0" tIns="0" rIns="0" bIns="0" rtlCol="0" anchor="t"/>
          <a:lstStyle/>
          <a:p>
            <a:pPr indent="0" marL="0">
              <a:buNone/>
            </a:pPr>
            <a:r>
              <a:rPr lang="en-US" sz="1300" b="1" dirty="0">
                <a:solidFill>
                  <a:schemeClr val="tx1"/>
                </a:solidFill>
              </a:rPr>
              <a:t>Zona occipitală</a:t>
            </a:r>
            <a:endParaRPr lang="en-US" sz="1300" dirty="0"/>
          </a:p>
        </p:txBody>
      </p:sp>
      <p:sp>
        <p:nvSpPr>
          <p:cNvPr id="29" name="text-68"/>
          <p:cNvSpPr txBox="1"/>
          <p:nvPr/>
        </p:nvSpPr>
        <p:spPr>
          <a:xfrm>
            <a:off x="4389120" y="2523744"/>
            <a:ext cx="4297680" cy="256032"/>
          </a:xfrm>
          <a:prstGeom prst="rect">
            <a:avLst/>
          </a:prstGeom>
          <a:noFill/>
          <a:ln/>
        </p:spPr>
        <p:txBody>
          <a:bodyPr wrap="square" lIns="0" tIns="0" rIns="0" bIns="0" rtlCol="0" anchor="t"/>
          <a:lstStyle/>
          <a:p>
            <a:pPr indent="0" marL="0">
              <a:buNone/>
            </a:pPr>
            <a:r>
              <a:rPr lang="en-US" sz="1200" b="1" dirty="0">
                <a:solidFill>
                  <a:schemeClr val="tx2"/>
                </a:solidFill>
              </a:rPr>
              <a:t>alternanță</a:t>
            </a:r>
            <a:r>
              <a:rPr lang="en-US" sz="1200" dirty="0">
                <a:solidFill>
                  <a:schemeClr val="tx2"/>
                </a:solidFill>
              </a:rPr>
              <a:t> lumină–profunzime</a:t>
            </a:r>
            <a:endParaRPr lang="en-US" sz="1200" dirty="0"/>
          </a:p>
        </p:txBody>
      </p:sp>
      <p:sp>
        <p:nvSpPr>
          <p:cNvPr id="30" name="num-69"/>
          <p:cNvSpPr/>
          <p:nvPr/>
        </p:nvSpPr>
        <p:spPr>
          <a:xfrm>
            <a:off x="3886200" y="2880360"/>
            <a:ext cx="347472" cy="347472"/>
          </a:xfrm>
          <a:prstGeom prst="ellipse">
            <a:avLst/>
          </a:prstGeom>
          <a:solidFill>
            <a:schemeClr val="accent2"/>
          </a:solidFill>
          <a:ln w="12700">
            <a:solidFill>
              <a:schemeClr val="bg1"/>
            </a:solidFill>
            <a:prstDash val="solid"/>
          </a:ln>
        </p:spPr>
      </p:sp>
      <p:sp>
        <p:nvSpPr>
          <p:cNvPr id="31" name="text-70"/>
          <p:cNvSpPr txBox="1"/>
          <p:nvPr/>
        </p:nvSpPr>
        <p:spPr>
          <a:xfrm>
            <a:off x="3886200" y="288036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2" name="text-71"/>
          <p:cNvSpPr txBox="1"/>
          <p:nvPr/>
        </p:nvSpPr>
        <p:spPr>
          <a:xfrm>
            <a:off x="4389120" y="2834640"/>
            <a:ext cx="4297680" cy="237744"/>
          </a:xfrm>
          <a:prstGeom prst="rect">
            <a:avLst/>
          </a:prstGeom>
          <a:noFill/>
          <a:ln/>
        </p:spPr>
        <p:txBody>
          <a:bodyPr wrap="square" lIns="0" tIns="0" rIns="0" bIns="0" rtlCol="0" anchor="t"/>
          <a:lstStyle/>
          <a:p>
            <a:pPr indent="0" marL="0">
              <a:buNone/>
            </a:pPr>
            <a:r>
              <a:rPr lang="en-US" sz="1300" b="1" dirty="0">
                <a:solidFill>
                  <a:schemeClr val="tx1"/>
                </a:solidFill>
              </a:rPr>
              <a:t>Substraturi</a:t>
            </a:r>
            <a:endParaRPr lang="en-US" sz="1300" dirty="0"/>
          </a:p>
        </p:txBody>
      </p:sp>
      <p:sp>
        <p:nvSpPr>
          <p:cNvPr id="33" name="text-72"/>
          <p:cNvSpPr txBox="1"/>
          <p:nvPr/>
        </p:nvSpPr>
        <p:spPr>
          <a:xfrm>
            <a:off x="4389120" y="3072384"/>
            <a:ext cx="4297680" cy="256032"/>
          </a:xfrm>
          <a:prstGeom prst="rect">
            <a:avLst/>
          </a:prstGeom>
          <a:noFill/>
          <a:ln/>
        </p:spPr>
        <p:txBody>
          <a:bodyPr wrap="square" lIns="0" tIns="0" rIns="0" bIns="0" rtlCol="0" anchor="t"/>
          <a:lstStyle/>
          <a:p>
            <a:pPr indent="0" marL="0">
              <a:buNone/>
            </a:pPr>
            <a:r>
              <a:rPr lang="en-US" sz="1200" dirty="0">
                <a:solidFill>
                  <a:schemeClr val="tx2"/>
                </a:solidFill>
              </a:rPr>
              <a:t>zone </a:t>
            </a:r>
            <a:r>
              <a:rPr lang="en-US" sz="1200" b="1" dirty="0">
                <a:solidFill>
                  <a:schemeClr val="tx2"/>
                </a:solidFill>
              </a:rPr>
              <a:t>naturale</a:t>
            </a:r>
            <a:r>
              <a:rPr lang="en-US" sz="1200" dirty="0">
                <a:solidFill>
                  <a:schemeClr val="tx2"/>
                </a:solidFill>
              </a:rPr>
              <a:t> = contrast, mai puțină decolorare</a:t>
            </a:r>
            <a:endParaRPr lang="en-US" sz="1200" dirty="0"/>
          </a:p>
        </p:txBody>
      </p:sp>
      <p:sp>
        <p:nvSpPr>
          <p:cNvPr id="34" name="num-73"/>
          <p:cNvSpPr/>
          <p:nvPr/>
        </p:nvSpPr>
        <p:spPr>
          <a:xfrm>
            <a:off x="3886200" y="3429000"/>
            <a:ext cx="347472" cy="347472"/>
          </a:xfrm>
          <a:prstGeom prst="ellipse">
            <a:avLst/>
          </a:prstGeom>
          <a:solidFill>
            <a:schemeClr val="accent2"/>
          </a:solidFill>
          <a:ln w="12700">
            <a:solidFill>
              <a:schemeClr val="bg1"/>
            </a:solidFill>
            <a:prstDash val="solid"/>
          </a:ln>
        </p:spPr>
      </p:sp>
      <p:sp>
        <p:nvSpPr>
          <p:cNvPr id="35" name="text-74"/>
          <p:cNvSpPr txBox="1"/>
          <p:nvPr/>
        </p:nvSpPr>
        <p:spPr>
          <a:xfrm>
            <a:off x="3886200" y="342900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6" name="text-75"/>
          <p:cNvSpPr txBox="1"/>
          <p:nvPr/>
        </p:nvSpPr>
        <p:spPr>
          <a:xfrm>
            <a:off x="4389120" y="3383280"/>
            <a:ext cx="4297680" cy="237744"/>
          </a:xfrm>
          <a:prstGeom prst="rect">
            <a:avLst/>
          </a:prstGeom>
          <a:noFill/>
          <a:ln/>
        </p:spPr>
        <p:txBody>
          <a:bodyPr wrap="square" lIns="0" tIns="0" rIns="0" bIns="0" rtlCol="0" anchor="t"/>
          <a:lstStyle/>
          <a:p>
            <a:pPr indent="0" marL="0">
              <a:buNone/>
            </a:pPr>
            <a:r>
              <a:rPr lang="en-US" sz="1300" b="1" dirty="0">
                <a:solidFill>
                  <a:schemeClr val="tx1"/>
                </a:solidFill>
              </a:rPr>
              <a:t>Lungimi și vârfuri</a:t>
            </a:r>
            <a:endParaRPr lang="en-US" sz="1300" dirty="0"/>
          </a:p>
        </p:txBody>
      </p:sp>
      <p:sp>
        <p:nvSpPr>
          <p:cNvPr id="37" name="text-76"/>
          <p:cNvSpPr txBox="1"/>
          <p:nvPr/>
        </p:nvSpPr>
        <p:spPr>
          <a:xfrm>
            <a:off x="4389120" y="3621024"/>
            <a:ext cx="4297680" cy="256032"/>
          </a:xfrm>
          <a:prstGeom prst="rect">
            <a:avLst/>
          </a:prstGeom>
          <a:noFill/>
          <a:ln/>
        </p:spPr>
        <p:txBody>
          <a:bodyPr wrap="square" lIns="0" tIns="0" rIns="0" bIns="0" rtlCol="0" anchor="t"/>
          <a:lstStyle/>
          <a:p>
            <a:pPr indent="0" marL="0">
              <a:buNone/>
            </a:pPr>
            <a:r>
              <a:rPr lang="en-US" sz="1200" dirty="0">
                <a:solidFill>
                  <a:schemeClr val="tx2"/>
                </a:solidFill>
              </a:rPr>
              <a:t>luminozitate </a:t>
            </a:r>
            <a:r>
              <a:rPr lang="en-US" sz="1200" b="1" dirty="0">
                <a:solidFill>
                  <a:schemeClr val="tx2"/>
                </a:solidFill>
              </a:rPr>
              <a:t>distribuită echilibrat</a:t>
            </a:r>
            <a:endParaRPr lang="en-US" sz="1200" dirty="0"/>
          </a:p>
        </p:txBody>
      </p:sp>
      <p:sp>
        <p:nvSpPr>
          <p:cNvPr id="38" name="card-77"/>
          <p:cNvSpPr/>
          <p:nvPr/>
        </p:nvSpPr>
        <p:spPr>
          <a:xfrm>
            <a:off x="457200" y="4005072"/>
            <a:ext cx="8229600" cy="713232"/>
          </a:xfrm>
          <a:prstGeom prst="roundRect">
            <a:avLst>
              <a:gd name="adj" fmla="val 15385"/>
            </a:avLst>
          </a:prstGeom>
          <a:solidFill>
            <a:schemeClr val="tx1"/>
          </a:solidFill>
          <a:ln w="12700">
            <a:solidFill>
              <a:schemeClr val="tx1"/>
            </a:solidFill>
            <a:prstDash val="solid"/>
          </a:ln>
        </p:spPr>
      </p:sp>
      <p:sp>
        <p:nvSpPr>
          <p:cNvPr id="39" name="badge-78"/>
          <p:cNvSpPr/>
          <p:nvPr/>
        </p:nvSpPr>
        <p:spPr>
          <a:xfrm>
            <a:off x="594360" y="4133088"/>
            <a:ext cx="457200" cy="457200"/>
          </a:xfrm>
          <a:prstGeom prst="ellipse">
            <a:avLst/>
          </a:prstGeom>
          <a:solidFill>
            <a:schemeClr val="accent1"/>
          </a:solidFill>
          <a:ln w="12700">
            <a:solidFill>
              <a:schemeClr val="accent1"/>
            </a:solidFill>
            <a:prstDash val="solid"/>
          </a:ln>
        </p:spPr>
      </p:sp>
      <p:pic>
        <p:nvPicPr>
          <p:cNvPr id="40" name="icon-79" descr="preencoded.png">    </p:cNvPr>
          <p:cNvPicPr>
            <a:picLocks noChangeAspect="1"/>
          </p:cNvPicPr>
          <p:nvPr/>
        </p:nvPicPr>
        <p:blipFill>
          <a:blip r:embed="rId3"/>
          <a:stretch>
            <a:fillRect/>
          </a:stretch>
        </p:blipFill>
        <p:spPr>
          <a:xfrm>
            <a:off x="708660" y="4247388"/>
            <a:ext cx="228600" cy="228600"/>
          </a:xfrm>
          <a:prstGeom prst="rect">
            <a:avLst/>
          </a:prstGeom>
        </p:spPr>
      </p:pic>
      <p:sp>
        <p:nvSpPr>
          <p:cNvPr id="41" name="text-80"/>
          <p:cNvSpPr txBox="1"/>
          <p:nvPr/>
        </p:nvSpPr>
        <p:spPr>
          <a:xfrm>
            <a:off x="1188720" y="4050792"/>
            <a:ext cx="7360920" cy="621792"/>
          </a:xfrm>
          <a:prstGeom prst="rect">
            <a:avLst/>
          </a:prstGeom>
          <a:noFill/>
          <a:ln/>
        </p:spPr>
        <p:txBody>
          <a:bodyPr wrap="square" lIns="0" tIns="0" rIns="0" bIns="0" rtlCol="0" anchor="ctr"/>
          <a:lstStyle/>
          <a:p>
            <a:pPr indent="0" marL="0">
              <a:buNone/>
            </a:pPr>
            <a:r>
              <a:rPr lang="en-US" sz="1200" b="1" dirty="0">
                <a:solidFill>
                  <a:schemeClr val="accent3"/>
                </a:solidFill>
              </a:rPr>
              <a:t>Contouring luminos:</a:t>
            </a:r>
            <a:r>
              <a:rPr lang="en-US" sz="1200" dirty="0">
                <a:solidFill>
                  <a:srgbClr val="FFFFFF"/>
                </a:solidFill>
              </a:rPr>
              <a:t> secțiuni fine și dese la față, babylights rare pe top, interior și substraturi lăsate naturale → față luminoasă, profunzime în rest.</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PRO &amp; CONTRA · ALEGEREA TEHNICII</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800" b="1" dirty="0">
                <a:solidFill>
                  <a:schemeClr val="tx1"/>
                </a:solidFill>
                <a:latin typeface="Georgia" pitchFamily="34" charset="0"/>
                <a:ea typeface="Georgia" pitchFamily="34" charset="-122"/>
                <a:cs typeface="Georgia" pitchFamily="34" charset="-120"/>
              </a:rPr>
              <a:t>Cum alegem tehnica potrivită?</a:t>
            </a:r>
            <a:endParaRPr lang="en-US" sz="2800" dirty="0"/>
          </a:p>
        </p:txBody>
      </p:sp>
      <p:graphicFrame>
        <p:nvGraphicFramePr>
          <p:cNvPr id="6" name="table-81"/>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1668780"/>
                <a:gridCol w="1668780"/>
                <a:gridCol w="1668780"/>
                <a:gridCol w="1668780"/>
              </a:tblGrid>
              <a:tr h="384048">
                <a:tc>
                  <a:txBody>
                    <a:bodyPr/>
                    <a:lstStyle/>
                    <a:p>
                      <a:pPr algn="ctr" indent="0" marL="0">
                        <a:buNone/>
                      </a:pP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Blond aproape de rădăcină</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Blond cu root shadow</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Balayage, bază naturală</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Blond uniform</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1E1A18"/>
                    </a:solidFill>
                  </a:tcPr>
                </a:tc>
              </a:tr>
              <a:tr h="347472">
                <a:tc>
                  <a:txBody>
                    <a:bodyPr/>
                    <a:lstStyle/>
                    <a:p>
                      <a:pPr indent="0" marL="0">
                        <a:buNone/>
                      </a:pPr>
                      <a:r>
                        <a:rPr lang="en-US" sz="1100" b="1" dirty="0">
                          <a:solidFill>
                            <a:srgbClr val="1E1A18"/>
                          </a:solidFill>
                          <a:latin typeface="Arial" pitchFamily="34" charset="0"/>
                          <a:ea typeface="Arial" pitchFamily="34" charset="-122"/>
                          <a:cs typeface="Arial" pitchFamily="34" charset="-120"/>
                        </a:rPr>
                        <a:t>Impact vizual</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Imediat, puternic</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Luminos, mai soft la rădăcină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Natural, lived-in</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Maxim, intens</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1E1A18"/>
                          </a:solidFill>
                          <a:latin typeface="Arial" pitchFamily="34" charset="0"/>
                          <a:ea typeface="Arial" pitchFamily="34" charset="-122"/>
                          <a:cs typeface="Arial" pitchFamily="34" charset="-120"/>
                        </a:rPr>
                        <a:t>Dimensiune / contrast</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Medie</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Mare</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Mare</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Redusă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r h="310896">
                <a:tc>
                  <a:txBody>
                    <a:bodyPr/>
                    <a:lstStyle/>
                    <a:p>
                      <a:pPr indent="0" marL="0">
                        <a:buNone/>
                      </a:pPr>
                      <a:r>
                        <a:rPr lang="en-US" sz="1100" b="1" dirty="0">
                          <a:solidFill>
                            <a:srgbClr val="1E1A18"/>
                          </a:solidFill>
                          <a:latin typeface="Arial" pitchFamily="34" charset="0"/>
                          <a:ea typeface="Arial" pitchFamily="34" charset="-122"/>
                          <a:cs typeface="Arial" pitchFamily="34" charset="-120"/>
                        </a:rPr>
                        <a:t>Creșterea rădăcinii</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Vizibilă mai repede</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Discretă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Foarte discretă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Foarte vizibilă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1E1A18"/>
                          </a:solidFill>
                          <a:latin typeface="Arial" pitchFamily="34" charset="0"/>
                          <a:ea typeface="Arial" pitchFamily="34" charset="-122"/>
                          <a:cs typeface="Arial" pitchFamily="34" charset="-120"/>
                        </a:rPr>
                        <a:t>Întreținere probabilă</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Mai frecventă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Mai rară, de regulă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Cea mai flexibilă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Cea mai frecventă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r h="310896">
                <a:tc>
                  <a:txBody>
                    <a:bodyPr/>
                    <a:lstStyle/>
                    <a:p>
                      <a:pPr indent="0" marL="0">
                        <a:buNone/>
                      </a:pPr>
                      <a:r>
                        <a:rPr lang="en-US" sz="1100" b="1" dirty="0">
                          <a:solidFill>
                            <a:srgbClr val="1E1A18"/>
                          </a:solidFill>
                          <a:latin typeface="Arial" pitchFamily="34" charset="0"/>
                          <a:ea typeface="Arial" pitchFamily="34" charset="-122"/>
                          <a:cs typeface="Arial" pitchFamily="34" charset="-120"/>
                        </a:rPr>
                        <a:t>Luminozitate</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Ridicată, de la scalp</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Ridicată pe lungimi</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Moderată → ridicată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Maximă, uniformă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1E1A18"/>
                          </a:solidFill>
                          <a:latin typeface="Arial" pitchFamily="34" charset="0"/>
                          <a:ea typeface="Arial" pitchFamily="34" charset="-122"/>
                          <a:cs typeface="Arial" pitchFamily="34" charset="-120"/>
                        </a:rPr>
                        <a:t>Avantaj principal</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Blond de la rădăcină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Creștere elegantă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Păr natural păstrat</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Blond complet</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6EEE9"/>
                    </a:solidFill>
                  </a:tcPr>
                </a:tc>
              </a:tr>
              <a:tr h="347472">
                <a:tc>
                  <a:txBody>
                    <a:bodyPr/>
                    <a:lstStyle/>
                    <a:p>
                      <a:pPr indent="0" marL="0">
                        <a:buNone/>
                      </a:pPr>
                      <a:r>
                        <a:rPr lang="en-US" sz="1100" b="1" dirty="0">
                          <a:solidFill>
                            <a:srgbClr val="1E1A18"/>
                          </a:solidFill>
                          <a:latin typeface="Arial" pitchFamily="34" charset="0"/>
                          <a:ea typeface="Arial" pitchFamily="34" charset="-122"/>
                          <a:cs typeface="Arial" pitchFamily="34" charset="-120"/>
                        </a:rPr>
                        <a:t>Compromis principal</a:t>
                      </a:r>
                      <a:endParaRPr lang="en-US" sz="110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Linie de creștere</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Mai puțină lumină sus</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Mai puțin blond la rădăcină</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1A18"/>
                          </a:solidFill>
                          <a:latin typeface="Arial" pitchFamily="34" charset="0"/>
                          <a:ea typeface="Arial" pitchFamily="34" charset="-122"/>
                          <a:cs typeface="Arial" pitchFamily="34" charset="-120"/>
                        </a:rPr>
                        <a:t>Decolorare multă, aspect plat</a:t>
                      </a:r>
                      <a:endParaRPr lang="en-US" sz="1050" dirty="0">
                        <a:latin typeface="Arial" charset="0"/>
                        <a:ea typeface="Arial" charset="0"/>
                        <a:cs typeface="Arial" charset="0"/>
                      </a:endParaRPr>
                    </a:p>
                  </a:txBody>
                  <a:tcPr marL="54864" marR="54864" marT="27432" marB="27432" anchor="ctr">
                    <a:lnL w="6350" cap="flat" cmpd="sng" algn="ctr">
                      <a:solidFill>
                        <a:srgbClr val="E6D9D1"/>
                      </a:solidFill>
                      <a:prstDash val="solid"/>
                      <a:round/>
                      <a:headEnd type="none" w="med" len="med"/>
                      <a:tailEnd type="none" w="med" len="med"/>
                    </a:lnL>
                    <a:lnR w="6350" cap="flat" cmpd="sng" algn="ctr">
                      <a:solidFill>
                        <a:srgbClr val="E6D9D1"/>
                      </a:solidFill>
                      <a:prstDash val="solid"/>
                      <a:round/>
                      <a:headEnd type="none" w="med" len="med"/>
                      <a:tailEnd type="none" w="med" len="med"/>
                    </a:lnR>
                    <a:lnT w="6350" cap="flat" cmpd="sng" algn="ctr">
                      <a:solidFill>
                        <a:srgbClr val="E6D9D1"/>
                      </a:solidFill>
                      <a:prstDash val="solid"/>
                      <a:round/>
                      <a:headEnd type="none" w="med" len="med"/>
                      <a:tailEnd type="none" w="med" len="med"/>
                    </a:lnT>
                    <a:lnB w="6350" cap="flat" cmpd="sng" algn="ctr">
                      <a:solidFill>
                        <a:srgbClr val="E6D9D1"/>
                      </a:solidFill>
                      <a:prstDash val="solid"/>
                      <a:round/>
                      <a:headEnd type="none" w="med" len="med"/>
                      <a:tailEnd type="none" w="med" len="med"/>
                    </a:lnB>
                    <a:solidFill>
                      <a:srgbClr val="FFFFFF"/>
                    </a:solidFill>
                  </a:tcPr>
                </a:tc>
              </a:tr>
            </a:tbl>
          </a:graphicData>
        </a:graphic>
      </p:graphicFrame>
      <p:sp>
        <p:nvSpPr>
          <p:cNvPr id="5" name="text-82"/>
          <p:cNvSpPr txBox="1"/>
          <p:nvPr/>
        </p:nvSpPr>
        <p:spPr>
          <a:xfrm>
            <a:off x="457200" y="4206240"/>
            <a:ext cx="8229600" cy="457200"/>
          </a:xfrm>
          <a:prstGeom prst="rect">
            <a:avLst/>
          </a:prstGeom>
          <a:noFill/>
          <a:ln/>
        </p:spPr>
        <p:txBody>
          <a:bodyPr wrap="square" lIns="0" tIns="0" rIns="0" bIns="0" rtlCol="0" anchor="ctr"/>
          <a:lstStyle/>
          <a:p>
            <a:pPr indent="0" marL="0">
              <a:buNone/>
            </a:pPr>
            <a:r>
              <a:rPr lang="en-US" sz="1200" b="1" dirty="0">
                <a:solidFill>
                  <a:schemeClr val="tx2"/>
                </a:solidFill>
              </a:rPr>
              <a:t>Atenție:</a:t>
            </a:r>
            <a:r>
              <a:rPr lang="en-US" sz="1200" dirty="0">
                <a:solidFill>
                  <a:schemeClr val="tx2"/>
                </a:solidFill>
              </a:rPr>
              <a:t> frecvența întreținerii depinde de bază, contrast, tehnică și stilul de viață al clientei. </a:t>
            </a:r>
            <a:r>
              <a:rPr lang="en-US" sz="1200" b="1" dirty="0">
                <a:solidFill>
                  <a:schemeClr val="tx2"/>
                </a:solidFill>
              </a:rPr>
              <a:t>Nu există intervale universale.</a:t>
            </a:r>
            <a:endParaRPr lang="en-US" sz="120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28600"/>
          </a:xfrm>
          <a:prstGeom prst="rect">
            <a:avLst/>
          </a:prstGeom>
          <a:noFill/>
          <a:ln/>
        </p:spPr>
        <p:txBody>
          <a:bodyPr wrap="square" lIns="0" tIns="0" rIns="0" bIns="0" rtlCol="0" anchor="ctr"/>
          <a:lstStyle/>
          <a:p>
            <a:pPr indent="0" marL="0">
              <a:buNone/>
            </a:pPr>
            <a:r>
              <a:rPr lang="en-US" sz="1000" b="1" spc="200" kern="0" dirty="0">
                <a:solidFill>
                  <a:schemeClr val="accent2"/>
                </a:solidFill>
                <a:latin typeface="Arial" pitchFamily="34" charset="0"/>
                <a:ea typeface="Arial" pitchFamily="34" charset="-122"/>
                <a:cs typeface="Arial" pitchFamily="34" charset="-120"/>
              </a:rPr>
              <a:t>TIPS &amp; TRICKS</a:t>
            </a:r>
            <a:endParaRPr lang="en-US" sz="1000" dirty="0"/>
          </a:p>
        </p:txBody>
      </p:sp>
      <p:sp>
        <p:nvSpPr>
          <p:cNvPr id="3" name="Text 0"/>
          <p:cNvSpPr/>
          <p:nvPr>
            <p:ph idx="101" type="title" hasCustomPrompt="1"/>
          </p:nvPr>
        </p:nvSpPr>
        <p:spPr>
          <a:xfrm>
            <a:off x="457200" y="429768"/>
            <a:ext cx="822960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Georgia" pitchFamily="34" charset="0"/>
                <a:ea typeface="Georgia" pitchFamily="34" charset="-122"/>
                <a:cs typeface="Georgia" pitchFamily="34" charset="-120"/>
              </a:rPr>
              <a:t>Gândește ca un colorist, nu doar ca un tehnician</a:t>
            </a:r>
            <a:endParaRPr lang="en-US" sz="2800" dirty="0"/>
          </a:p>
        </p:txBody>
      </p:sp>
      <p:sp>
        <p:nvSpPr>
          <p:cNvPr id="4" name="card-83"/>
          <p:cNvSpPr/>
          <p:nvPr/>
        </p:nvSpPr>
        <p:spPr>
          <a:xfrm>
            <a:off x="457200" y="1143000"/>
            <a:ext cx="4023360" cy="786384"/>
          </a:xfrm>
          <a:prstGeom prst="roundRect">
            <a:avLst>
              <a:gd name="adj" fmla="val 13953"/>
            </a:avLst>
          </a:prstGeom>
          <a:solidFill>
            <a:schemeClr val="bg2"/>
          </a:solidFill>
          <a:ln w="12700">
            <a:solidFill>
              <a:schemeClr val="bg2"/>
            </a:solidFill>
            <a:prstDash val="solid"/>
          </a:ln>
        </p:spPr>
      </p:sp>
      <p:sp>
        <p:nvSpPr>
          <p:cNvPr id="5" name="badge-84"/>
          <p:cNvSpPr/>
          <p:nvPr/>
        </p:nvSpPr>
        <p:spPr>
          <a:xfrm>
            <a:off x="594360" y="1307592"/>
            <a:ext cx="457200" cy="457200"/>
          </a:xfrm>
          <a:prstGeom prst="ellipse">
            <a:avLst/>
          </a:prstGeom>
          <a:solidFill>
            <a:schemeClr val="accent2"/>
          </a:solidFill>
          <a:ln w="12700">
            <a:solidFill>
              <a:schemeClr val="accent2"/>
            </a:solidFill>
            <a:prstDash val="solid"/>
          </a:ln>
        </p:spPr>
      </p:sp>
      <p:pic>
        <p:nvPicPr>
          <p:cNvPr id="6" name="icon-85" descr="preencoded.png">    </p:cNvPr>
          <p:cNvPicPr>
            <a:picLocks noChangeAspect="1"/>
          </p:cNvPicPr>
          <p:nvPr/>
        </p:nvPicPr>
        <p:blipFill>
          <a:blip r:embed="rId1"/>
          <a:stretch>
            <a:fillRect/>
          </a:stretch>
        </p:blipFill>
        <p:spPr>
          <a:xfrm>
            <a:off x="708660" y="1421892"/>
            <a:ext cx="228600" cy="228600"/>
          </a:xfrm>
          <a:prstGeom prst="rect">
            <a:avLst/>
          </a:prstGeom>
        </p:spPr>
      </p:pic>
      <p:sp>
        <p:nvSpPr>
          <p:cNvPr id="7" name="text-86"/>
          <p:cNvSpPr txBox="1"/>
          <p:nvPr/>
        </p:nvSpPr>
        <p:spPr>
          <a:xfrm>
            <a:off x="1188720" y="1216152"/>
            <a:ext cx="3200400" cy="274320"/>
          </a:xfrm>
          <a:prstGeom prst="rect">
            <a:avLst/>
          </a:prstGeom>
          <a:noFill/>
          <a:ln/>
        </p:spPr>
        <p:txBody>
          <a:bodyPr wrap="square" lIns="0" tIns="0" rIns="0" bIns="0" rtlCol="0" anchor="t"/>
          <a:lstStyle/>
          <a:p>
            <a:pPr indent="0" marL="0">
              <a:buNone/>
            </a:pPr>
            <a:r>
              <a:rPr lang="en-US" sz="1300" b="1" dirty="0">
                <a:solidFill>
                  <a:schemeClr val="tx1"/>
                </a:solidFill>
              </a:rPr>
              <a:t>Profunzime lângă lumină</a:t>
            </a:r>
            <a:endParaRPr lang="en-US" sz="1300" dirty="0"/>
          </a:p>
        </p:txBody>
      </p:sp>
      <p:sp>
        <p:nvSpPr>
          <p:cNvPr id="8" name="text-87"/>
          <p:cNvSpPr txBox="1"/>
          <p:nvPr/>
        </p:nvSpPr>
        <p:spPr>
          <a:xfrm>
            <a:off x="1188720" y="1490472"/>
            <a:ext cx="3200400" cy="384048"/>
          </a:xfrm>
          <a:prstGeom prst="rect">
            <a:avLst/>
          </a:prstGeom>
          <a:noFill/>
          <a:ln/>
        </p:spPr>
        <p:txBody>
          <a:bodyPr wrap="square" lIns="0" tIns="0" rIns="0" bIns="0" rtlCol="0" anchor="t"/>
          <a:lstStyle/>
          <a:p>
            <a:pPr indent="0" marL="0">
              <a:buNone/>
            </a:pPr>
            <a:r>
              <a:rPr lang="en-US" sz="1150" dirty="0">
                <a:solidFill>
                  <a:schemeClr val="tx2"/>
                </a:solidFill>
              </a:rPr>
              <a:t>Blondul iese în evidență unde păstrezi umbră lângă el.</a:t>
            </a:r>
            <a:endParaRPr lang="en-US" sz="1150" dirty="0"/>
          </a:p>
        </p:txBody>
      </p:sp>
      <p:sp>
        <p:nvSpPr>
          <p:cNvPr id="9" name="card-88"/>
          <p:cNvSpPr/>
          <p:nvPr/>
        </p:nvSpPr>
        <p:spPr>
          <a:xfrm>
            <a:off x="4663440" y="1143000"/>
            <a:ext cx="4023360" cy="786384"/>
          </a:xfrm>
          <a:prstGeom prst="roundRect">
            <a:avLst>
              <a:gd name="adj" fmla="val 13953"/>
            </a:avLst>
          </a:prstGeom>
          <a:solidFill>
            <a:schemeClr val="bg2"/>
          </a:solidFill>
          <a:ln w="12700">
            <a:solidFill>
              <a:schemeClr val="bg2"/>
            </a:solidFill>
            <a:prstDash val="solid"/>
          </a:ln>
        </p:spPr>
      </p:sp>
      <p:sp>
        <p:nvSpPr>
          <p:cNvPr id="10" name="badge-89"/>
          <p:cNvSpPr/>
          <p:nvPr/>
        </p:nvSpPr>
        <p:spPr>
          <a:xfrm>
            <a:off x="4800600" y="1307592"/>
            <a:ext cx="457200" cy="457200"/>
          </a:xfrm>
          <a:prstGeom prst="ellipse">
            <a:avLst/>
          </a:prstGeom>
          <a:solidFill>
            <a:schemeClr val="accent2"/>
          </a:solidFill>
          <a:ln w="12700">
            <a:solidFill>
              <a:schemeClr val="accent2"/>
            </a:solidFill>
            <a:prstDash val="solid"/>
          </a:ln>
        </p:spPr>
      </p:sp>
      <p:pic>
        <p:nvPicPr>
          <p:cNvPr id="11" name="icon-90" descr="preencoded.png">    </p:cNvPr>
          <p:cNvPicPr>
            <a:picLocks noChangeAspect="1"/>
          </p:cNvPicPr>
          <p:nvPr/>
        </p:nvPicPr>
        <p:blipFill>
          <a:blip r:embed="rId2"/>
          <a:stretch>
            <a:fillRect/>
          </a:stretch>
        </p:blipFill>
        <p:spPr>
          <a:xfrm>
            <a:off x="4914900" y="1421892"/>
            <a:ext cx="228600" cy="228600"/>
          </a:xfrm>
          <a:prstGeom prst="rect">
            <a:avLst/>
          </a:prstGeom>
        </p:spPr>
      </p:pic>
      <p:sp>
        <p:nvSpPr>
          <p:cNvPr id="12" name="text-91"/>
          <p:cNvSpPr txBox="1"/>
          <p:nvPr/>
        </p:nvSpPr>
        <p:spPr>
          <a:xfrm>
            <a:off x="5394960" y="1216152"/>
            <a:ext cx="3200400" cy="274320"/>
          </a:xfrm>
          <a:prstGeom prst="rect">
            <a:avLst/>
          </a:prstGeom>
          <a:noFill/>
          <a:ln/>
        </p:spPr>
        <p:txBody>
          <a:bodyPr wrap="square" lIns="0" tIns="0" rIns="0" bIns="0" rtlCol="0" anchor="t"/>
          <a:lstStyle/>
          <a:p>
            <a:pPr indent="0" marL="0">
              <a:buNone/>
            </a:pPr>
            <a:r>
              <a:rPr lang="en-US" sz="1300" b="1" dirty="0">
                <a:solidFill>
                  <a:schemeClr val="tx1"/>
                </a:solidFill>
              </a:rPr>
              <a:t>Foliile ≠ impact</a:t>
            </a:r>
            <a:endParaRPr lang="en-US" sz="1300" dirty="0"/>
          </a:p>
        </p:txBody>
      </p:sp>
      <p:sp>
        <p:nvSpPr>
          <p:cNvPr id="13" name="text-92"/>
          <p:cNvSpPr txBox="1"/>
          <p:nvPr/>
        </p:nvSpPr>
        <p:spPr>
          <a:xfrm>
            <a:off x="5394960" y="1490472"/>
            <a:ext cx="3200400" cy="384048"/>
          </a:xfrm>
          <a:prstGeom prst="rect">
            <a:avLst/>
          </a:prstGeom>
          <a:noFill/>
          <a:ln/>
        </p:spPr>
        <p:txBody>
          <a:bodyPr wrap="square" lIns="0" tIns="0" rIns="0" bIns="0" rtlCol="0" anchor="t"/>
          <a:lstStyle/>
          <a:p>
            <a:pPr indent="0" marL="0">
              <a:buNone/>
            </a:pPr>
            <a:r>
              <a:rPr lang="en-US" sz="1150" dirty="0">
                <a:solidFill>
                  <a:schemeClr val="tx2"/>
                </a:solidFill>
              </a:rPr>
              <a:t>Contează plasarea și contrastul, nu numărul foliilor.</a:t>
            </a:r>
            <a:endParaRPr lang="en-US" sz="1150" dirty="0"/>
          </a:p>
        </p:txBody>
      </p:sp>
      <p:sp>
        <p:nvSpPr>
          <p:cNvPr id="14" name="card-93"/>
          <p:cNvSpPr/>
          <p:nvPr/>
        </p:nvSpPr>
        <p:spPr>
          <a:xfrm>
            <a:off x="457200" y="2039112"/>
            <a:ext cx="4023360" cy="786384"/>
          </a:xfrm>
          <a:prstGeom prst="roundRect">
            <a:avLst>
              <a:gd name="adj" fmla="val 13953"/>
            </a:avLst>
          </a:prstGeom>
          <a:solidFill>
            <a:schemeClr val="bg2"/>
          </a:solidFill>
          <a:ln w="12700">
            <a:solidFill>
              <a:schemeClr val="bg2"/>
            </a:solidFill>
            <a:prstDash val="solid"/>
          </a:ln>
        </p:spPr>
      </p:sp>
      <p:sp>
        <p:nvSpPr>
          <p:cNvPr id="15" name="badge-94"/>
          <p:cNvSpPr/>
          <p:nvPr/>
        </p:nvSpPr>
        <p:spPr>
          <a:xfrm>
            <a:off x="594360" y="2203704"/>
            <a:ext cx="457200" cy="457200"/>
          </a:xfrm>
          <a:prstGeom prst="ellipse">
            <a:avLst/>
          </a:prstGeom>
          <a:solidFill>
            <a:schemeClr val="accent2"/>
          </a:solidFill>
          <a:ln w="12700">
            <a:solidFill>
              <a:schemeClr val="accent2"/>
            </a:solidFill>
            <a:prstDash val="solid"/>
          </a:ln>
        </p:spPr>
      </p:sp>
      <p:pic>
        <p:nvPicPr>
          <p:cNvPr id="16" name="icon-95" descr="preencoded.png">    </p:cNvPr>
          <p:cNvPicPr>
            <a:picLocks noChangeAspect="1"/>
          </p:cNvPicPr>
          <p:nvPr/>
        </p:nvPicPr>
        <p:blipFill>
          <a:blip r:embed="rId3"/>
          <a:stretch>
            <a:fillRect/>
          </a:stretch>
        </p:blipFill>
        <p:spPr>
          <a:xfrm>
            <a:off x="708660" y="2318004"/>
            <a:ext cx="228600" cy="228600"/>
          </a:xfrm>
          <a:prstGeom prst="rect">
            <a:avLst/>
          </a:prstGeom>
        </p:spPr>
      </p:pic>
      <p:sp>
        <p:nvSpPr>
          <p:cNvPr id="17" name="text-96"/>
          <p:cNvSpPr txBox="1"/>
          <p:nvPr/>
        </p:nvSpPr>
        <p:spPr>
          <a:xfrm>
            <a:off x="1188720" y="2112264"/>
            <a:ext cx="3200400" cy="274320"/>
          </a:xfrm>
          <a:prstGeom prst="rect">
            <a:avLst/>
          </a:prstGeom>
          <a:noFill/>
          <a:ln/>
        </p:spPr>
        <p:txBody>
          <a:bodyPr wrap="square" lIns="0" tIns="0" rIns="0" bIns="0" rtlCol="0" anchor="t"/>
          <a:lstStyle/>
          <a:p>
            <a:pPr indent="0" marL="0">
              <a:buNone/>
            </a:pPr>
            <a:r>
              <a:rPr lang="en-US" sz="1300" b="1" dirty="0">
                <a:solidFill>
                  <a:schemeClr val="tx1"/>
                </a:solidFill>
              </a:rPr>
              <a:t>Pornește de la cărare</a:t>
            </a:r>
            <a:endParaRPr lang="en-US" sz="1300" dirty="0"/>
          </a:p>
        </p:txBody>
      </p:sp>
      <p:sp>
        <p:nvSpPr>
          <p:cNvPr id="18" name="text-97"/>
          <p:cNvSpPr txBox="1"/>
          <p:nvPr/>
        </p:nvSpPr>
        <p:spPr>
          <a:xfrm>
            <a:off x="1188720" y="2386584"/>
            <a:ext cx="3200400" cy="384048"/>
          </a:xfrm>
          <a:prstGeom prst="rect">
            <a:avLst/>
          </a:prstGeom>
          <a:noFill/>
          <a:ln/>
        </p:spPr>
        <p:txBody>
          <a:bodyPr wrap="square" lIns="0" tIns="0" rIns="0" bIns="0" rtlCol="0" anchor="t"/>
          <a:lstStyle/>
          <a:p>
            <a:pPr indent="0" marL="0">
              <a:buNone/>
            </a:pPr>
            <a:r>
              <a:rPr lang="en-US" sz="1150" dirty="0">
                <a:solidFill>
                  <a:schemeClr val="tx2"/>
                </a:solidFill>
              </a:rPr>
              <a:t>Lumina urmează felul în care cade și se poartă părul.</a:t>
            </a:r>
            <a:endParaRPr lang="en-US" sz="1150" dirty="0"/>
          </a:p>
        </p:txBody>
      </p:sp>
      <p:sp>
        <p:nvSpPr>
          <p:cNvPr id="19" name="card-98"/>
          <p:cNvSpPr/>
          <p:nvPr/>
        </p:nvSpPr>
        <p:spPr>
          <a:xfrm>
            <a:off x="4663440" y="2039112"/>
            <a:ext cx="4023360" cy="786384"/>
          </a:xfrm>
          <a:prstGeom prst="roundRect">
            <a:avLst>
              <a:gd name="adj" fmla="val 13953"/>
            </a:avLst>
          </a:prstGeom>
          <a:solidFill>
            <a:schemeClr val="bg2"/>
          </a:solidFill>
          <a:ln w="12700">
            <a:solidFill>
              <a:schemeClr val="bg2"/>
            </a:solidFill>
            <a:prstDash val="solid"/>
          </a:ln>
        </p:spPr>
      </p:sp>
      <p:sp>
        <p:nvSpPr>
          <p:cNvPr id="20" name="badge-99"/>
          <p:cNvSpPr/>
          <p:nvPr/>
        </p:nvSpPr>
        <p:spPr>
          <a:xfrm>
            <a:off x="4800600" y="2203704"/>
            <a:ext cx="457200" cy="457200"/>
          </a:xfrm>
          <a:prstGeom prst="ellipse">
            <a:avLst/>
          </a:prstGeom>
          <a:solidFill>
            <a:schemeClr val="accent2"/>
          </a:solidFill>
          <a:ln w="12700">
            <a:solidFill>
              <a:schemeClr val="accent2"/>
            </a:solidFill>
            <a:prstDash val="solid"/>
          </a:ln>
        </p:spPr>
      </p:sp>
      <p:pic>
        <p:nvPicPr>
          <p:cNvPr id="21" name="icon-100" descr="preencoded.png">    </p:cNvPr>
          <p:cNvPicPr>
            <a:picLocks noChangeAspect="1"/>
          </p:cNvPicPr>
          <p:nvPr/>
        </p:nvPicPr>
        <p:blipFill>
          <a:blip r:embed="rId4"/>
          <a:stretch>
            <a:fillRect/>
          </a:stretch>
        </p:blipFill>
        <p:spPr>
          <a:xfrm>
            <a:off x="4914900" y="2318004"/>
            <a:ext cx="228600" cy="228600"/>
          </a:xfrm>
          <a:prstGeom prst="rect">
            <a:avLst/>
          </a:prstGeom>
        </p:spPr>
      </p:pic>
      <p:sp>
        <p:nvSpPr>
          <p:cNvPr id="22" name="text-101"/>
          <p:cNvSpPr txBox="1"/>
          <p:nvPr/>
        </p:nvSpPr>
        <p:spPr>
          <a:xfrm>
            <a:off x="5394960" y="2112264"/>
            <a:ext cx="3200400" cy="274320"/>
          </a:xfrm>
          <a:prstGeom prst="rect">
            <a:avLst/>
          </a:prstGeom>
          <a:noFill/>
          <a:ln/>
        </p:spPr>
        <p:txBody>
          <a:bodyPr wrap="square" lIns="0" tIns="0" rIns="0" bIns="0" rtlCol="0" anchor="t"/>
          <a:lstStyle/>
          <a:p>
            <a:pPr indent="0" marL="0">
              <a:buNone/>
            </a:pPr>
            <a:r>
              <a:rPr lang="en-US" sz="1300" b="1" dirty="0">
                <a:solidFill>
                  <a:schemeClr val="tx1"/>
                </a:solidFill>
              </a:rPr>
              <a:t>Difuz la rădăcină</a:t>
            </a:r>
            <a:endParaRPr lang="en-US" sz="1300" dirty="0"/>
          </a:p>
        </p:txBody>
      </p:sp>
      <p:sp>
        <p:nvSpPr>
          <p:cNvPr id="23" name="text-102"/>
          <p:cNvSpPr txBox="1"/>
          <p:nvPr/>
        </p:nvSpPr>
        <p:spPr>
          <a:xfrm>
            <a:off x="5394960" y="2386584"/>
            <a:ext cx="3200400" cy="384048"/>
          </a:xfrm>
          <a:prstGeom prst="rect">
            <a:avLst/>
          </a:prstGeom>
          <a:noFill/>
          <a:ln/>
        </p:spPr>
        <p:txBody>
          <a:bodyPr wrap="square" lIns="0" tIns="0" rIns="0" bIns="0" rtlCol="0" anchor="t"/>
          <a:lstStyle/>
          <a:p>
            <a:pPr indent="0" marL="0">
              <a:buNone/>
            </a:pPr>
            <a:r>
              <a:rPr lang="en-US" sz="1150" dirty="0">
                <a:solidFill>
                  <a:schemeClr val="tx2"/>
                </a:solidFill>
              </a:rPr>
              <a:t>Tranziția difuză face creșterea mai puțin vizibilă.</a:t>
            </a:r>
            <a:endParaRPr lang="en-US" sz="1150" dirty="0"/>
          </a:p>
        </p:txBody>
      </p:sp>
      <p:sp>
        <p:nvSpPr>
          <p:cNvPr id="24" name="card-103"/>
          <p:cNvSpPr/>
          <p:nvPr/>
        </p:nvSpPr>
        <p:spPr>
          <a:xfrm>
            <a:off x="457200" y="2935224"/>
            <a:ext cx="4023360" cy="786384"/>
          </a:xfrm>
          <a:prstGeom prst="roundRect">
            <a:avLst>
              <a:gd name="adj" fmla="val 13953"/>
            </a:avLst>
          </a:prstGeom>
          <a:solidFill>
            <a:schemeClr val="bg2"/>
          </a:solidFill>
          <a:ln w="12700">
            <a:solidFill>
              <a:schemeClr val="bg2"/>
            </a:solidFill>
            <a:prstDash val="solid"/>
          </a:ln>
        </p:spPr>
      </p:sp>
      <p:sp>
        <p:nvSpPr>
          <p:cNvPr id="25" name="badge-104"/>
          <p:cNvSpPr/>
          <p:nvPr/>
        </p:nvSpPr>
        <p:spPr>
          <a:xfrm>
            <a:off x="594360" y="3099816"/>
            <a:ext cx="457200" cy="457200"/>
          </a:xfrm>
          <a:prstGeom prst="ellipse">
            <a:avLst/>
          </a:prstGeom>
          <a:solidFill>
            <a:schemeClr val="accent2"/>
          </a:solidFill>
          <a:ln w="12700">
            <a:solidFill>
              <a:schemeClr val="accent2"/>
            </a:solidFill>
            <a:prstDash val="solid"/>
          </a:ln>
        </p:spPr>
      </p:sp>
      <p:pic>
        <p:nvPicPr>
          <p:cNvPr id="26" name="icon-105" descr="preencoded.png">    </p:cNvPr>
          <p:cNvPicPr>
            <a:picLocks noChangeAspect="1"/>
          </p:cNvPicPr>
          <p:nvPr/>
        </p:nvPicPr>
        <p:blipFill>
          <a:blip r:embed="rId5"/>
          <a:stretch>
            <a:fillRect/>
          </a:stretch>
        </p:blipFill>
        <p:spPr>
          <a:xfrm>
            <a:off x="708660" y="3214116"/>
            <a:ext cx="228600" cy="228600"/>
          </a:xfrm>
          <a:prstGeom prst="rect">
            <a:avLst/>
          </a:prstGeom>
        </p:spPr>
      </p:pic>
      <p:sp>
        <p:nvSpPr>
          <p:cNvPr id="27" name="text-106"/>
          <p:cNvSpPr txBox="1"/>
          <p:nvPr/>
        </p:nvSpPr>
        <p:spPr>
          <a:xfrm>
            <a:off x="1188720" y="3008376"/>
            <a:ext cx="3200400" cy="274320"/>
          </a:xfrm>
          <a:prstGeom prst="rect">
            <a:avLst/>
          </a:prstGeom>
          <a:noFill/>
          <a:ln/>
        </p:spPr>
        <p:txBody>
          <a:bodyPr wrap="square" lIns="0" tIns="0" rIns="0" bIns="0" rtlCol="0" anchor="t"/>
          <a:lstStyle/>
          <a:p>
            <a:pPr indent="0" marL="0">
              <a:buNone/>
            </a:pPr>
            <a:r>
              <a:rPr lang="en-US" sz="1300" b="1" dirty="0">
                <a:solidFill>
                  <a:schemeClr val="tx1"/>
                </a:solidFill>
              </a:rPr>
              <a:t>Umbră aerisită</a:t>
            </a:r>
            <a:endParaRPr lang="en-US" sz="1300" dirty="0"/>
          </a:p>
        </p:txBody>
      </p:sp>
      <p:sp>
        <p:nvSpPr>
          <p:cNvPr id="28" name="text-107"/>
          <p:cNvSpPr txBox="1"/>
          <p:nvPr/>
        </p:nvSpPr>
        <p:spPr>
          <a:xfrm>
            <a:off x="1188720" y="3282696"/>
            <a:ext cx="3200400" cy="384048"/>
          </a:xfrm>
          <a:prstGeom prst="rect">
            <a:avLst/>
          </a:prstGeom>
          <a:noFill/>
          <a:ln/>
        </p:spPr>
        <p:txBody>
          <a:bodyPr wrap="square" lIns="0" tIns="0" rIns="0" bIns="0" rtlCol="0" anchor="t"/>
          <a:lstStyle/>
          <a:p>
            <a:pPr indent="0" marL="0">
              <a:buNone/>
            </a:pPr>
            <a:r>
              <a:rPr lang="en-US" sz="1150" dirty="0">
                <a:solidFill>
                  <a:schemeClr val="tx2"/>
                </a:solidFill>
              </a:rPr>
              <a:t>Umbrele prea compacte sau prea închise îngreunează rezultatul.</a:t>
            </a:r>
            <a:endParaRPr lang="en-US" sz="1150" dirty="0"/>
          </a:p>
        </p:txBody>
      </p:sp>
      <p:sp>
        <p:nvSpPr>
          <p:cNvPr id="29" name="card-108"/>
          <p:cNvSpPr/>
          <p:nvPr/>
        </p:nvSpPr>
        <p:spPr>
          <a:xfrm>
            <a:off x="4663440" y="2935224"/>
            <a:ext cx="4023360" cy="786384"/>
          </a:xfrm>
          <a:prstGeom prst="roundRect">
            <a:avLst>
              <a:gd name="adj" fmla="val 13953"/>
            </a:avLst>
          </a:prstGeom>
          <a:solidFill>
            <a:schemeClr val="bg2"/>
          </a:solidFill>
          <a:ln w="12700">
            <a:solidFill>
              <a:schemeClr val="bg2"/>
            </a:solidFill>
            <a:prstDash val="solid"/>
          </a:ln>
        </p:spPr>
      </p:sp>
      <p:sp>
        <p:nvSpPr>
          <p:cNvPr id="30" name="badge-109"/>
          <p:cNvSpPr/>
          <p:nvPr/>
        </p:nvSpPr>
        <p:spPr>
          <a:xfrm>
            <a:off x="4800600" y="3099816"/>
            <a:ext cx="457200" cy="457200"/>
          </a:xfrm>
          <a:prstGeom prst="ellipse">
            <a:avLst/>
          </a:prstGeom>
          <a:solidFill>
            <a:schemeClr val="accent2"/>
          </a:solidFill>
          <a:ln w="12700">
            <a:solidFill>
              <a:schemeClr val="accent2"/>
            </a:solidFill>
            <a:prstDash val="solid"/>
          </a:ln>
        </p:spPr>
      </p:sp>
      <p:pic>
        <p:nvPicPr>
          <p:cNvPr id="31" name="icon-110" descr="preencoded.png">    </p:cNvPr>
          <p:cNvPicPr>
            <a:picLocks noChangeAspect="1"/>
          </p:cNvPicPr>
          <p:nvPr/>
        </p:nvPicPr>
        <p:blipFill>
          <a:blip r:embed="rId6"/>
          <a:stretch>
            <a:fillRect/>
          </a:stretch>
        </p:blipFill>
        <p:spPr>
          <a:xfrm>
            <a:off x="4914900" y="3214116"/>
            <a:ext cx="228600" cy="228600"/>
          </a:xfrm>
          <a:prstGeom prst="rect">
            <a:avLst/>
          </a:prstGeom>
        </p:spPr>
      </p:pic>
      <p:sp>
        <p:nvSpPr>
          <p:cNvPr id="32" name="text-111"/>
          <p:cNvSpPr txBox="1"/>
          <p:nvPr/>
        </p:nvSpPr>
        <p:spPr>
          <a:xfrm>
            <a:off x="5394960" y="3008376"/>
            <a:ext cx="3200400" cy="274320"/>
          </a:xfrm>
          <a:prstGeom prst="rect">
            <a:avLst/>
          </a:prstGeom>
          <a:noFill/>
          <a:ln/>
        </p:spPr>
        <p:txBody>
          <a:bodyPr wrap="square" lIns="0" tIns="0" rIns="0" bIns="0" rtlCol="0" anchor="t"/>
          <a:lstStyle/>
          <a:p>
            <a:pPr indent="0" marL="0">
              <a:buNone/>
            </a:pPr>
            <a:r>
              <a:rPr lang="en-US" sz="1300" b="1" dirty="0">
                <a:solidFill>
                  <a:schemeClr val="tx1"/>
                </a:solidFill>
              </a:rPr>
              <a:t>Verifică în două lumini</a:t>
            </a:r>
            <a:endParaRPr lang="en-US" sz="1300" dirty="0"/>
          </a:p>
        </p:txBody>
      </p:sp>
      <p:sp>
        <p:nvSpPr>
          <p:cNvPr id="33" name="text-112"/>
          <p:cNvSpPr txBox="1"/>
          <p:nvPr/>
        </p:nvSpPr>
        <p:spPr>
          <a:xfrm>
            <a:off x="5394960" y="3282696"/>
            <a:ext cx="3200400" cy="384048"/>
          </a:xfrm>
          <a:prstGeom prst="rect">
            <a:avLst/>
          </a:prstGeom>
          <a:noFill/>
          <a:ln/>
        </p:spPr>
        <p:txBody>
          <a:bodyPr wrap="square" lIns="0" tIns="0" rIns="0" bIns="0" rtlCol="0" anchor="t"/>
          <a:lstStyle/>
          <a:p>
            <a:pPr indent="0" marL="0">
              <a:buNone/>
            </a:pPr>
            <a:r>
              <a:rPr lang="en-US" sz="1150" dirty="0">
                <a:solidFill>
                  <a:schemeClr val="tx2"/>
                </a:solidFill>
              </a:rPr>
              <a:t>Frontală și laterală, pe păr uscat și coafat.</a:t>
            </a:r>
            <a:endParaRPr lang="en-US" sz="1150" dirty="0"/>
          </a:p>
        </p:txBody>
      </p:sp>
      <p:sp>
        <p:nvSpPr>
          <p:cNvPr id="34" name="card-113"/>
          <p:cNvSpPr/>
          <p:nvPr/>
        </p:nvSpPr>
        <p:spPr>
          <a:xfrm>
            <a:off x="457200" y="3831336"/>
            <a:ext cx="4023360" cy="786384"/>
          </a:xfrm>
          <a:prstGeom prst="roundRect">
            <a:avLst>
              <a:gd name="adj" fmla="val 13953"/>
            </a:avLst>
          </a:prstGeom>
          <a:solidFill>
            <a:schemeClr val="bg2"/>
          </a:solidFill>
          <a:ln w="12700">
            <a:solidFill>
              <a:schemeClr val="bg2"/>
            </a:solidFill>
            <a:prstDash val="solid"/>
          </a:ln>
        </p:spPr>
      </p:sp>
      <p:sp>
        <p:nvSpPr>
          <p:cNvPr id="35" name="badge-114"/>
          <p:cNvSpPr/>
          <p:nvPr/>
        </p:nvSpPr>
        <p:spPr>
          <a:xfrm>
            <a:off x="594360" y="3995928"/>
            <a:ext cx="457200" cy="457200"/>
          </a:xfrm>
          <a:prstGeom prst="ellipse">
            <a:avLst/>
          </a:prstGeom>
          <a:solidFill>
            <a:schemeClr val="accent2"/>
          </a:solidFill>
          <a:ln w="12700">
            <a:solidFill>
              <a:schemeClr val="accent2"/>
            </a:solidFill>
            <a:prstDash val="solid"/>
          </a:ln>
        </p:spPr>
      </p:sp>
      <p:pic>
        <p:nvPicPr>
          <p:cNvPr id="36" name="icon-115" descr="preencoded.png">    </p:cNvPr>
          <p:cNvPicPr>
            <a:picLocks noChangeAspect="1"/>
          </p:cNvPicPr>
          <p:nvPr/>
        </p:nvPicPr>
        <p:blipFill>
          <a:blip r:embed="rId7"/>
          <a:stretch>
            <a:fillRect/>
          </a:stretch>
        </p:blipFill>
        <p:spPr>
          <a:xfrm>
            <a:off x="708660" y="4110228"/>
            <a:ext cx="228600" cy="228600"/>
          </a:xfrm>
          <a:prstGeom prst="rect">
            <a:avLst/>
          </a:prstGeom>
        </p:spPr>
      </p:pic>
      <p:sp>
        <p:nvSpPr>
          <p:cNvPr id="37" name="text-116"/>
          <p:cNvSpPr txBox="1"/>
          <p:nvPr/>
        </p:nvSpPr>
        <p:spPr>
          <a:xfrm>
            <a:off x="1188720" y="3904488"/>
            <a:ext cx="3200400" cy="274320"/>
          </a:xfrm>
          <a:prstGeom prst="rect">
            <a:avLst/>
          </a:prstGeom>
          <a:noFill/>
          <a:ln/>
        </p:spPr>
        <p:txBody>
          <a:bodyPr wrap="square" lIns="0" tIns="0" rIns="0" bIns="0" rtlCol="0" anchor="t"/>
          <a:lstStyle/>
          <a:p>
            <a:pPr indent="0" marL="0">
              <a:buNone/>
            </a:pPr>
            <a:r>
              <a:rPr lang="en-US" sz="1300" b="1" dirty="0">
                <a:solidFill>
                  <a:schemeClr val="tx1"/>
                </a:solidFill>
              </a:rPr>
              <a:t>Obiectiv + timp</a:t>
            </a:r>
            <a:endParaRPr lang="en-US" sz="1300" dirty="0"/>
          </a:p>
        </p:txBody>
      </p:sp>
      <p:sp>
        <p:nvSpPr>
          <p:cNvPr id="38" name="text-117"/>
          <p:cNvSpPr txBox="1"/>
          <p:nvPr/>
        </p:nvSpPr>
        <p:spPr>
          <a:xfrm>
            <a:off x="1188720" y="4178808"/>
            <a:ext cx="3200400" cy="384048"/>
          </a:xfrm>
          <a:prstGeom prst="rect">
            <a:avLst/>
          </a:prstGeom>
          <a:noFill/>
          <a:ln/>
        </p:spPr>
        <p:txBody>
          <a:bodyPr wrap="square" lIns="0" tIns="0" rIns="0" bIns="0" rtlCol="0" anchor="t"/>
          <a:lstStyle/>
          <a:p>
            <a:pPr indent="0" marL="0">
              <a:buNone/>
            </a:pPr>
            <a:r>
              <a:rPr lang="en-US" sz="1150" dirty="0">
                <a:solidFill>
                  <a:schemeClr val="tx2"/>
                </a:solidFill>
              </a:rPr>
              <a:t>Tehnica după dorința clientei și cât de des poate reveni.</a:t>
            </a:r>
            <a:endParaRPr lang="en-US" sz="1150" dirty="0"/>
          </a:p>
        </p:txBody>
      </p:sp>
      <p:sp>
        <p:nvSpPr>
          <p:cNvPr id="39" name="card-118"/>
          <p:cNvSpPr/>
          <p:nvPr/>
        </p:nvSpPr>
        <p:spPr>
          <a:xfrm>
            <a:off x="4663440" y="3831336"/>
            <a:ext cx="4023360" cy="786384"/>
          </a:xfrm>
          <a:prstGeom prst="roundRect">
            <a:avLst>
              <a:gd name="adj" fmla="val 13953"/>
            </a:avLst>
          </a:prstGeom>
          <a:solidFill>
            <a:schemeClr val="tx1"/>
          </a:solidFill>
          <a:ln w="12700">
            <a:solidFill>
              <a:schemeClr val="tx1"/>
            </a:solidFill>
            <a:prstDash val="solid"/>
          </a:ln>
          <a:effectLst>
            <a:outerShdw sx="100000" sy="100000" kx="0" ky="0" algn="bl" rotWithShape="0" blurRad="101600" dist="25400" dir="5400000">
              <a:srgbClr val="5B4A42">
                <a:alpha val="14000"/>
              </a:srgbClr>
            </a:outerShdw>
          </a:effectLst>
        </p:spPr>
      </p:sp>
      <p:sp>
        <p:nvSpPr>
          <p:cNvPr id="40" name="text-119"/>
          <p:cNvSpPr txBox="1"/>
          <p:nvPr/>
        </p:nvSpPr>
        <p:spPr>
          <a:xfrm>
            <a:off x="4846320" y="3877056"/>
            <a:ext cx="3703320" cy="694944"/>
          </a:xfrm>
          <a:prstGeom prst="rect">
            <a:avLst/>
          </a:prstGeom>
          <a:noFill/>
          <a:ln/>
        </p:spPr>
        <p:txBody>
          <a:bodyPr wrap="square" lIns="0" tIns="0" rIns="0" bIns="0" rtlCol="0" anchor="ctr"/>
          <a:lstStyle/>
          <a:p>
            <a:pPr indent="0" marL="0">
              <a:buNone/>
            </a:pPr>
            <a:r>
              <a:rPr lang="en-US" sz="1250" i="1" dirty="0">
                <a:solidFill>
                  <a:srgbClr val="FFFFFF"/>
                </a:solidFill>
                <a:latin typeface="Georgia" pitchFamily="34" charset="0"/>
                <a:ea typeface="Georgia" pitchFamily="34" charset="-122"/>
                <a:cs typeface="Georgia" pitchFamily="34" charset="-120"/>
              </a:rPr>
              <a:t>„Nu contează doar </a:t>
            </a:r>
            <a:r>
              <a:rPr lang="en-US" sz="1250" b="1" i="1" dirty="0">
                <a:solidFill>
                  <a:schemeClr val="accent3"/>
                </a:solidFill>
                <a:latin typeface="Georgia" pitchFamily="34" charset="0"/>
                <a:ea typeface="Georgia" pitchFamily="34" charset="-122"/>
                <a:cs typeface="Georgia" pitchFamily="34" charset="-120"/>
              </a:rPr>
              <a:t>cât blond</a:t>
            </a:r>
            <a:r>
              <a:rPr lang="en-US" sz="1250" i="1" dirty="0">
                <a:solidFill>
                  <a:srgbClr val="FFFFFF"/>
                </a:solidFill>
                <a:latin typeface="Georgia" pitchFamily="34" charset="0"/>
                <a:ea typeface="Georgia" pitchFamily="34" charset="-122"/>
                <a:cs typeface="Georgia" pitchFamily="34" charset="-120"/>
              </a:rPr>
              <a:t> creezi. Contează </a:t>
            </a:r>
            <a:r>
              <a:rPr lang="en-US" sz="1250" b="1" i="1" dirty="0">
                <a:solidFill>
                  <a:schemeClr val="accent3"/>
                </a:solidFill>
                <a:latin typeface="Georgia" pitchFamily="34" charset="0"/>
                <a:ea typeface="Georgia" pitchFamily="34" charset="-122"/>
                <a:cs typeface="Georgia" pitchFamily="34" charset="-120"/>
              </a:rPr>
              <a:t>unde îl plasezi</a:t>
            </a:r>
            <a:r>
              <a:rPr lang="en-US" sz="1250" i="1" dirty="0">
                <a:solidFill>
                  <a:srgbClr val="FFFFFF"/>
                </a:solidFill>
                <a:latin typeface="Georgia" pitchFamily="34" charset="0"/>
                <a:ea typeface="Georgia" pitchFamily="34" charset="-122"/>
                <a:cs typeface="Georgia" pitchFamily="34" charset="-120"/>
              </a:rPr>
              <a:t> și </a:t>
            </a:r>
            <a:r>
              <a:rPr lang="en-US" sz="1250" b="1" i="1" dirty="0">
                <a:solidFill>
                  <a:schemeClr val="accent3"/>
                </a:solidFill>
                <a:latin typeface="Georgia" pitchFamily="34" charset="0"/>
                <a:ea typeface="Georgia" pitchFamily="34" charset="-122"/>
                <a:cs typeface="Georgia" pitchFamily="34" charset="-120"/>
              </a:rPr>
              <a:t>câtă profunzime</a:t>
            </a:r>
            <a:r>
              <a:rPr lang="en-US" sz="1250" i="1" dirty="0">
                <a:solidFill>
                  <a:srgbClr val="FFFFFF"/>
                </a:solidFill>
                <a:latin typeface="Georgia" pitchFamily="34" charset="0"/>
                <a:ea typeface="Georgia" pitchFamily="34" charset="-122"/>
                <a:cs typeface="Georgia" pitchFamily="34" charset="-120"/>
              </a:rPr>
              <a:t> păstrezi.”</a:t>
            </a:r>
            <a:endParaRPr lang="en-US" sz="1250" dirty="0"/>
          </a:p>
        </p:txBody>
      </p:sp>
      <p:sp>
        <p:nvSpPr>
          <p:cNvPr id="25" name="Slide Number Placeholder 0"/>
          <p:cNvSpPr>
            <a:spLocks noGrp="1"/>
          </p:cNvSpPr>
          <p:nvPr>
            <p:ph type="sldNum" sz="quarter" idx="4294967295"/>
          </p:nvPr>
        </p:nvSpPr>
        <p:spPr>
          <a:xfrm>
            <a:off x="8321040" y="4846320"/>
            <a:ext cx="36576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Blonde Ambition">
  <a:themeElements>
    <a:clrScheme name="Blonde Ambition">
      <a:dk1>
        <a:srgbClr val="1E1A18"/>
      </a:dk1>
      <a:lt1>
        <a:srgbClr val="FFFFFF"/>
      </a:lt1>
      <a:dk2>
        <a:srgbClr val="5B4A42"/>
      </a:dk2>
      <a:lt2>
        <a:srgbClr val="F6EEE9"/>
      </a:lt2>
      <a:accent1>
        <a:srgbClr val="C9A26B"/>
      </a:accent1>
      <a:accent2>
        <a:srgbClr val="A65E6A"/>
      </a:accent2>
      <a:accent3>
        <a:srgbClr val="E7CF9C"/>
      </a:accent3>
      <a:accent4>
        <a:srgbClr val="2E2724"/>
      </a:accent4>
      <a:accent5>
        <a:srgbClr val="5E7A66"/>
      </a:accent5>
      <a:accent6>
        <a:srgbClr val="A8443F"/>
      </a:accent6>
      <a:hlink>
        <a:srgbClr val="A65E6A"/>
      </a:hlink>
      <a:folHlink>
        <a:srgbClr val="7E4A53"/>
      </a:folHlink>
    </a:clrScheme>
    <a:fontScheme name="Blonde Ambitio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Lumină și umbră – BLONDE AMBITION</dc:title>
  <dc:subject>PptxGenJS Presentation</dc:subject>
  <dc:creator>Diana Avram</dc:creator>
  <cp:lastModifiedBy>Diana Avram</cp:lastModifiedBy>
  <cp:revision>1</cp:revision>
  <dcterms:created xsi:type="dcterms:W3CDTF">2026-10-30T11:17:33Z</dcterms:created>
  <dcterms:modified xsi:type="dcterms:W3CDTF">2026-10-30T11:17:33Z</dcterms:modified>
</cp:coreProperties>
</file>