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pertă" id="{92b56ca9-c58b-00e5-45bc-c8586ac5a7f8}">
          <p14:sldIdLst>
            <p14:sldId id="256"/>
          </p14:sldIdLst>
        </p14:section>
        <p14:section name="Partea I – Cum începem" id="{cb4140d7-8587-ed94-d823-a32620a9bde0}">
          <p14:sldIdLst>
            <p14:sldId id="257"/>
            <p14:sldId id="258"/>
          </p14:sldIdLst>
        </p14:section>
        <p14:section name="Partea II – Facebook" id="{1c08fe9a-1d22-2ad3-0b7c-fe007c962309}">
          <p14:sldIdLst>
            <p14:sldId id="259"/>
            <p14:sldId id="260"/>
          </p14:sldIdLst>
        </p14:section>
        <p14:section name="Partea III – Instagram" id="{6246020a-41db-b0c2-df2f-b393ee03f9fe}">
          <p14:sldIdLst>
            <p14:sldId id="261"/>
            <p14:sldId id="262"/>
            <p14:sldId id="263"/>
            <p14:sldId id="264"/>
            <p14:sldId id="265"/>
          </p14:sldIdLst>
        </p14:section>
        <p14:section name="Partea IV – TikTok" id="{79d7baf5-4221-c05b-f20d-fd9e0600e63e}">
          <p14:sldIdLst>
            <p14:sldId id="266"/>
            <p14:sldId id="267"/>
            <p14:sldId id="268"/>
            <p14:sldId id="269"/>
            <p14:sldId id="270"/>
          </p14:sldIdLst>
        </p14:section>
        <p14:section name="Partea V – CapCut" id="{cc157896-39ac-0238-0acf-93fa19e37214}">
          <p14:sldIdLst>
            <p14:sldId id="271"/>
            <p14:sldId id="272"/>
            <p14:sldId id="273"/>
            <p14:sldId id="274"/>
          </p14:sldIdLst>
        </p14:section>
        <p14:section name="Partea VI – Concluzie" id="{dd142f7d-bf0c-c1e1-675e-be5475a6e8cf}">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 venit la Ziua 2! Astăzi nu vorbim despre teorie de marketing, ci despre lucruri pe care le puteți face mâine dimineață, în salon, cu telefonul din buzunar.
Ce vom acoperi:
1. Cum începem: nișa și cum ne filmăm fără să ne fie rușine.
2. Facebook: pagina salonului și cum transformăm un like într-o programare.
3. Instagram: Story, Reels, postări, îndemnuri la acțiune, giveaway.
4. TikTok: algoritmul, trendurile, sunetele, monetizarea, LIVE-urile și comentariile negative.
5. CapCut: editare video pas cu pas.
6. Planul de acțiune pentru prima săptămână.
Replică de deschidere: „Cea mai frumoasă transformare de blond din oraș nu aduce nicio clientă dacă stă doar în galeria telefonului."
Notă pentru prezentator: ilustrațiile din prezentare sunt schematice. Ideal, înlocuiți-le cu fotografii reale înainte și după din portofoliul vostru (cu acordul clientelor).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CE ONLINE: Astăzi, majoritatea clientelor noi vă verifică pe Instagram, Facebook sau TikTok înainte să sune. Contul vostru este vitrina salonului – și e deschisă 24 din 24.
NIȘA: Nișa înseamnă „pentru ce vreau să fiu cunoscută". Nu ești „hairstilist pentru toată lumea", ești „specialista în blonduri reci din Cluj". Paradoxal, cu cât e mai îngustă nișa la început, cu atât crești mai repede, pentru că algoritmul și oamenii înțeleg imediat despre ce e contul tău.
Exemplu: dacă cele mai bune lucrări ale tale sunt balayage-urile, primele 20 de postări să fie balayage. Abia apoi extinzi spre tunsori, îngrijire, coafuri.
DE CE ÎNAINTE ȘI DUPĂ: este cel mai simplu conținut posibil – nu trebuie să vorbești, nu trebuie să apari, iar rezultatul vorbește singur. E și cel mai convingător: clienta își imaginează propria transformare.
IDENTITATE VIZUALĂ: alege un perete sau un colț din salon cu lumină bună (ideal lângă fereastră). Toate pozele „după" se fac acolo. În 2 luni, oamenii vor recunoaște lucrările tale din derulare înainte să vadă numele contului.
Replică: „Consecvența e ca tonerul: nu se vede din prima, dar fără ea totul arată galben."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Mesajul cheie: nimeni nu începe direct cu vorbitul în cameră. E o scară, nu un salt.
ETAPA 1 – Doar transformarea (săptămânile 1–4)
• Telefonul pe trepied, filmezi doar părul.
• Exemple foarte simple: părul ud vs. uscat și coafat; clienta își scutură părul în lumina ferestrei; o rotire lentă a scaunului; perie trasă prin lungimi.
• Nu ai nevoie de față, nu ai nevoie de voce. Pune un text pe ecran: „Din negru vopsit în bej rece".
ETAPA 2 – Vocea ta pe fundal (după ce te obișnuiești)
• Înregistrezi vocea în CapCut, acasă, liniștită, peste video deja filmat. Poți reînregistra de câte ori vrei.
• Structură simplă: „De unde am pornit – ce am făcut – ce rezultat am obținut – cum se întreține".
• Sfat: scrie 3 propoziții pe hârtie și citește-le. Nimeni nu vede foaia.
ETAPA 3 – Apari în cadru
• Începe cu ceva ce faci oricum: explici clientei ce urmează. Filmează conversația.
• Apoi: un singur sfat, 15 secunde, privind în cameră.
• Oamenii vin pentru rezultat, dar rămân pentru omul din spatele lui. Personalitatea ta e diferența față de alte saloane.
Sfaturi anti-emoții:
• Gândește-te că vorbești cu o singură clientă, nu cu „internetul".
• Filmează mai multe dubluri; nimeni nu vede ce n-ai publicat.
• Primele 10 videoclipuri vor fi cele mai slabe – și e perfect normal. Așa a început toată lumea.
• Lumină din față (fereastra în fața ta, nu în spate).
Replică: „Camera nu e o clientă dificilă. Nu cere retușuri gratuite."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 vs PAGINĂ
• Profilul personal e pentru tine ca persoană. Are limită de prieteni (5.000) și nu oferă statistici sau reclame pentru afacere.
• Pagina profesională (pe care multe o numesc „pagina de like-uri") este pentru salon: oricine o poate urmări, are recenzii, program, hartă, statistici și posibilitatea de a face reclame plătite.
CUM O CREEZI
• Din aplicația Facebook: Meniu (☰) → Pagini → Creează o pagină. Denumirile exacte pot varia ușor în funcție de versiunea aplicației.
• Nume: numele salonului + ce faci, ex: „Studio Ana – Blond &amp; Balayage". Ajută la căutare.
• Categoria: Salon de înfrumusețare / Salon de coafură.
CE COMPLETĂM OBLIGATORIU
• Adresa exactă (apare pe hartă – foarte important pentru clientele din zonă).
• Programul de lucru, telefonul, WhatsApp-ul, site-ul sau linkul de programări.
• Fotografia de profil: logo sau poza ta zâmbind; copertă: o transformare reprezentativă sau salonul.
• Descriere scurtă: „Specialist blond, balayage și AirTouch în Cluj. Programări prin mesaj."
PROGRAMĂRI MAI UȘOARE
• Adaugă butonul de acțiune: „Trimite mesaj", „WhatsApp", „Sună" sau „Rezervă" (care poate duce la linkul aplicației de programări pe care o folosești).
• Activează răspunsurile automate din Messenger: „Mulțumesc pentru mesaj! Spune-mi ce serviciu dorești și ziua preferată." – nicio clientă nu așteaptă fără răspuns.
Replică: „Profilul personal e pentru poze de la mare. Pagina e pentru balayage."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CE MAI MULTE FOTOGRAFII ÎNTR-O POSTARE
• O singură poză arată rezultatul. 3–5 poze spun povestea: de unde am pornit, ce am făcut, unde am ajuns, plus un detaliu (rădăcina topită perfect, lungimile).
• Oamenii stau mai mult pe postare când răsfoiesc, iar Facebook vede că postarea interesează.
• Ordinea recomandată: 1. DUPĂ (cea mai frumoasă), 2. ÎNAINTE, 3. proces, 4. detaliu, 5. tu cu clienta (dacă acceptă).
ÎNAINTE ȘI DUPĂ: aceeași lumină, același unghi, părul pieptănat în ambele. Altfel pare că ai schimbat lumina, nu culoarea.
SFATURI PENTRU UN SALON LOCAL PE FACEBOOK
1. Scrie orașul și cartierul în text: „Balayage bej în Mănăștur, Cluj". Etichetează locația salonului.
2. Postează în grupurile locale (ex. „Mămici din Cluj", „Recomandări Iași") DOAR dacă regulile grupului permit promovarea. Mai bine: răspunde util la întrebările „Cine îmi recomandă o coloristă?".
3. Cere recenzii clientelor mulțumite – trimite-le linkul direct după programare.
4. Postează „locuri libere" în Story: „Mai am 2 locuri joi după-amiază".
5. Răspunde rapid la mesaje. O clientă care întreabă de preț întreabă, de obicei, și la alte 3 saloane.
DE LA LIKE LA PROGRAMARE
• Cineva comentează „Preț?". Nu răspunde doar „PM". Răspunde public scurt și cald: „Mulțumesc! Prețul depinde de lungime și de culoarea de pornire – ți-am scris în privat." Apoi chiar scrie-i.
• În privat: o întrebare care duce spre programare: „Ce culoare ai acum și ce zi îți convine?"
• Trimite linkul de programare sau propune 2 variante de oră. Cu cât sunt mai puțini pași, cu atât mai multe programări.
Replică: „«Preț în privat» fără mesaj în privat e ca decolorantul fără developer – nu se întâmplă nimic."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(POVESTE)
• Ce este: fotografii sau videoclipuri afișate pe tot ecranul, în cerculețul de sus.
• Cât rămâne: în mod obișnuit 24 de ore. Dacă îl salvezi în „Evidențiate" (Highlights), rămâne permanent pe profil.
• Când îl folosim: culise (amestecul de culoare, cafeaua de dimineață, salonul), anunțuri rapide („Am un loc liber azi la 15:00"), sondaje („Bej sau miere?"), caseta de întrebări („Întreabă-mă orice despre blond").
• Story-urile sunt pentru relația cu cei care te urmăresc deja – aici se nasc multe programări.
REELS (VIDEOCLIPURI SCURTE)
• Ce sunt: videoclipuri verticale, de obicei între câteva secunde și câteva minute (Instagram permite în prezent Reels de până la 3 minute; pentru transformări, 7–30 secunde funcționează foarte bine).
• De ce sunt utile: Instagram poate recomanda Reels-urile și persoanelor care nu te urmăresc (în fila Reels și în Explorare). Sunt principalul instrument de descoperire a contului.
• Pentru transformări: începi cu rezultatul final, apoi arăți de unde ai pornit.
POSTĂRI OBIȘNUITE ȘI CARUSEL
• Fotografii simple sau carusel (mai multe imagini într-o postare – în prezent până la 20).
• Rămân pe profil și formează portofoliul. Clienta care vrea să se programeze derulează grila ta.
• Folosește-le pentru înainte și după foto, detalii de culoare, prețuri orientative, recenzii.
Regula simplă: Reels aduc oameni noi, Story-urile construiesc relația, postările construiesc încrederea.
(Funcțiile și limitele se mai schimbă – verificați periodic în aplicație.)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 PROFESIONAL ATRACTIV
• Treci pe cont profesional (Setări → Tipul contului și instrumente → Treci la un cont profesional → Afacere sau Creator). Primești statistici și butoane de contact.
• Numele afișat se poate căuta: „Ana | Blond &amp; Balayage" te face găsibilă când cineva caută „balayage".
• Bio în 3 rânduri: ce faci + pentru cine/unde + cum te programezi. Exemplu: „Specialist blond rece &amp; AirTouch · Cluj · Programări: link mai jos".
• Link de programare (aplicația de programări, WhatsApp, site).
• Evidențiate (Highlights) cu coperte în aceleași culori: Prețuri, Înainte/După, Recenzii, Locație, Îngrijire acasă. Ele răspund la întrebările pe care le primești de 20 de ori pe zi.
• Grila: aceleași culori și aceeași lumină. Când cineva intră pe profil, trebuie să înțeleagă în 3 secunde ce faci.
CUM ATRAGEM URMĂRITORI INTERESAȚI DE HAIRSTYLING (nu orice urmăritori)
• Locația pe fiecare postare și 3–5 hashtaguri specifice (#balayagecluj #blondrece #airtouchromania), nu 30 de hashtaguri generale.
• Conținut util care se salvează: „De ce se îngălbenește blondul", „Cât ține un AirTouch".
• Colaborări (funcția Collab): postare comună cu makeup artistul, fotograful de nunți sau chiar cu clienta – postarea apare pe ambele profiluri.
• Interacțiune: răspunde la comentarii, comentează la conturile din orașul tău (saloane de unghii, rochii de mireasă, fotografi).
• Nu cumpăra urmăritori. Urmăritorii falși nu se programează și strică statisticile.
RITM REALIST
• Constanța bate perfecțiunea. Mai bine 3 Reels pe săptămână timp de 6 luni decât 2 pe zi o săptămână și apoi nimic.
• „Zilnic" înseamnă realist: un Story pe zi din salon (5 secunde de culori amestecate contează!).
• Filmează în ziua cu programări, editează într-o seară, programează postările (Instagram permite programarea postărilor din aplicație).
Replică: „Algoritmul e ca o clientă fidelă: vrea să te vadă regulat, nu o dată pe an la nuntă."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ÎNDEMNUL LA ACȚIUNE (CALL TO ACTION)
• O frază la finalul videoclipului sau descrierii care spune exact ce să facă omul. Fără îndemn, omul dă like și merge mai departe.
• Un singur îndemn pe postare. Dacă ceri și comentariu, și salvare, și distribuire, și programare – nu se face nimic.
EXEMPLE
Comentarii:
• „Bej sau miere? Scrie în comentarii ce ai alege."
• „Scrie BLOND și îți spun ce nuanță ți se potrivește după tenul tău."
Salvări:
• „Salvează postarea – ți-o va cere coloristă ta la următoarea programare."
• „Salvează lista asta pentru îngrijirea blondului acasă."
Programări:
• „Mai am 2 locuri vineri. Scrie-mi «VINERI» în mesaj."
• „Programări prin linkul din bio – consultația de culoare e gratuită."
Distribuiri:
• „Trimite-i asta prietenei care vrea blond de 3 ani și tot amână."
ÎNAINTE ȘI DUPĂ CORECT
• Aceeași lumină – ideal lumină naturală, în fața ferestrei. Lumina caldă a salonului îngălbenește blondul.
• Același unghi și aceeași distanță – marchează un punct pe podea unde stă clienta.
• Părul pieptănat la ambele, ca să compari culoarea, nu coafura.
• Fără filtre care schimbă nuanța. Dacă se descoperă că blondul „rece" era un filtru, pierzi încrederea. Poți ajusta lumina, dar nu culoarea părului.
• Acordul clientei pentru fotografiere și publicare – mai ales dacă i se vede fața. Poți filma doar părul, din spate.
• Bonus: scrie în descriere de unde ai pornit și ce ai făcut: „Pornire: nivel 4 vopsit acasă. 2 ședințe. Rezultat: nivel 9 bej rece."
Replică: „Filtrul pe păr e ca toner-ul pus pe poză: arată bine până vine clienta în salon."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ESTE UN GIVEAWAY: un concurs în care oferi un premiu, iar participantele fac o acțiune simplă (urmăresc contul, comentează, salvează). Scopul: vizibilitate în rândul clientelor potrivite.
PAȘII
1. Obiectiv: ce vrei? Urmăritori din orașul tău? Lansarea unui serviciu nou (ex. AirTouch)?
2. Premiu relevant pentru clientele tale (vezi mai jos).
3. Regulament scris și publicat (link în bio sau în descriere).
4. Durată scurtă: 3–7 zile. Mai lung, oamenii uită.
5. Extragere corectă: aleatorie (aplicații de extragere a comentariilor sau filmezi tragerea la sorți), anunți câștigătoarea public și o contactezi în privat. Atenție la conturile false care pretind că sunt tu și cer date de card câștigătoarelor – avertizează urmăritoarele.
ALEGEREA PREMIULUI
• Premiul trebuie să atragă exact oamenii pe care îi vrei în scaun: tratament de reconstrucție + tuns, voucher pentru împrospătarea blondului, kit de produse profesionale pentru acasă.
• Un premiu de tip telefon sau bani atrage „vânători de concursuri" din toată țara, care nu se vor programa niciodată.
• Poți colabora cu un brand de produse sau cu un salon de unghii din zonă – premiu mai mare, public dublu.
REGULI
• Regulile Meta pentru promoții: tu ești responsabilă pentru concurs; trebuie să precizezi că Instagram/Facebook nu sponsorizează, nu susțin și nu administrează concursul; nu cere oamenilor să eticheteze în mod greșit conținut (de exemplu, să se eticheteze în poze în care nu apar).
• În România, organizatorul unei campanii promoționale trebuie să publice un regulament accesibil gratuit participanților. Include: organizatorul, perioada, cine poate participa (vârsta minimă – recomandat 18+), mecanismul, premiul, modul de desemnare a câștigătorului, cum se folosesc datele personale.
• GDPR: spune ce date ceri și de ce, și șterge-le după concurs.
• Premiile de valoare mai mare pot avea obligații fiscale – verificați cu contabilul salonului.
• Dacă premiul e oferit de un brand, marchează colaborarea ca parteneriat plătit.
Recomandare: un model de regulament verificat de un jurist sau de contabil, reutilizabil la fiecare concurs.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SFATURI ȘI TRUCURI INSTAGRAM
1. Rezultatul final în prima secundă. Apoi „uite de unde am pornit". Oamenii decid foarte repede dacă rămân.
2. Text pe ecran. Mulți urmăresc videoclipurile fără sunet. Un titlu mare: „Din negru în blond, fără să rup părul".
3. Coperta Reels-ului: alege un cadru cu rezultatul și un text scurt, în culorile grilei. Profilul arată ordonat și profesionist.
4. Story-urile cu întrebări frecvente, recenzii și transformări le salvezi în Evidențiate. Devin „meniul" salonului.
5. Funcția Colaborare (Collab): o postare comună apare pe ambele profiluri – al tău și al clientei / makeup artistului / fotografului. Dublezi publicul.
6. Statistici (Insights): o dată pe săptămână, uită-te care postări au avut cele mai multe salvări și distribuiri. Fă mai mult din ce funcționează.
7. Bonus: răspunde la mesaje cu mesaje vocale – clientele simt omul din spatele contului.
EXEMPLE DE DESCRIERI SCURTE
• „De la negru vopsit acasă la bej rece, în 2 ședințe. Răbdarea e cel mai bun decolorant."
• „AirTouch = blond care crește frumos. Revii peste 4 luni, nu peste 4 săptămâni."
• „Ea a zis «doar vârfurile». Eu am auzit «dă-mi încredere». Rezultat →"
• „Nivel de pornire: 5. Nivel final: 9. Nivel de fericire: 10."
Structură: rezultat + o informație utilă + îndemn la acțiune.
IDEI DE VIDEOCLIPURI
• Transformare rapidă în 15 secunde, pe repede înainte.
• „3 greșeli care îți strică blondul acasă" (apă fierbinte, placa fără protecție, șampon violet folosit greșit).
• „Poza pe care mi-a arătat-o clienta vs. ce am putut realiza sănătos" – educă așteptările.
• Pașii unui AirTouch: secționare, uscătorul care separă firele, decolorare, toner.
• „O zi din viața unei coloriste".
• Răspunsuri la întrebări: „Pot face blond dacă am păr vopsit negru?"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 SUNT RECOMANDATE VIDEOCLIPURILE
• Pagina „Pentru tine" (For You) arată fiecărui om videoclipuri alese după ce i-a plăcut înainte – nu doar de la conturile pe care le urmărește. De aceea un cont nou, cu 0 urmăritori, poate ajunge la mii de oameni.
• TikTok spune public că ia în calcul: interacțiunile utilizatorului (ce urmărește până la capăt, ce apreciază, comentează, distribuie, ce sare), informațiile despre videoclip (descriere, sunet, hashtaguri, text) și setări de cont/dispozitiv (limbă, țară). Formula exactă nu este publică – oricine vă vinde „secretul algoritmului" exagerează.
PROCESUL, SIMPLIFICAT
1. Publici.
2. Videoclipul e arătat unui număr de oameni – inclusiv persoane care nu te urmăresc, dar care au arătat interes pentru beauty/păr.
3. TikTok vede cum reacționează: rămân? se uită până la capăt? îl revăd? comentează? îl trimit unei prietene?
4. Dacă reacțiile sunt bune, îl arată unui grup mai mare. Și tot așa.
DE CE CONTEAZĂ PRIMELE SECUNDE
• În primele 1–3 secunde ale videoclipului omul decide dacă derulează. Dacă pleacă, timpul de vizionare scade.
• De aceea începi cu ceva care oprește degetul: rezultatul final, o întrebare, un „înainte" șocant.
TIMPUL DE VIZIONARE ȘI FINALIZAREA
• Un video de 10 secunde văzut până la capăt (și re-văzut) transmite mai mult decât un video de 60 de secunde abandonat la secunda 4.
• Taie tot ce e mort: așteptarea procesării, ștersul periei.
INTERACȚIUNI ȘI DISTRIBUIRI
• Comentariile și distribuirile arată că videoclipul i-a provocat omului o reacție. Distribuirea („uite, așa vreau și eu!") e un semnal foarte puternic pentru beauty.
ATENȚIE – DIFERENȚA:
• Primele SECUNDE ale videoclipului = atenția omului. Le controlezi complet prin montaj.
• Primele MINUTE / ore după publicare = primele reacții ale publicului de test. Sunt utile, dar NU decid definitiv soarta videoclipului. Multe videoclipuri cresc după câteva zile sau chiar săptămâni, când TikTok găsește publicul potrivit. Nu ștergeți un video doar pentru că a avut puține vizualizări în prima oră.
Nimeni nu poate garanta vizualizări. Putem doar crește șansele.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ESTE UN TREND
• Un format pe care mulți creatori îl repetă în aceeași perioadă: un sunet, o structură de video, o glumă, o mișcare. Trendurile vin și pleacă repede (de la câteva zile la câteva săptămâni).
CUM GĂSIM TRENDURI RELEVANTE
• Derulează Pagina „Pentru tine" 10 minute pe zi ca „cercetare" (da, acum e muncă!). Salvează în favorite ce vezi des.
• Caută „hair transformation", „balayage", „blonde" și uită-te ce formate se repetă.
• TikTok Creative Center (ads.tiktok.com/business/creativecenter) arată sunete și hashtaguri populare pe regiuni.
• Când apare un sunet cu săgeată de „în creștere" sau vezi același sunet la multe videoclipuri recente – e un trend activ.
CUM ADAPTĂM UN TREND PENTRU HAIRSTYLING
• Păstrezi structura, înlocuiești subiectul. Exemple:
  – „Tell me without telling me" → „Spune-mi că ești coloristă fără să-mi spui": arăți mâinile cu mănuși pătate de toner.
  – Trendurile de tip „glow up" → transformarea clientei.
  – Trendurile de tip „POV" → „POV: clienta spune «doar puțin mai deschis»".
• Nu orice trend ți se potrivește. Dacă nu are legătură cu publicul tău, sari peste el.
SUNETELE
• Un sunet popular poate ajuta la descoperire când: este încă în creștere (nu la final de trend), se potrivește cu ritmul tranziției și cu publicul tău. Oamenii care au interacționat cu acel sunet pot vedea mai ușor alte videoclipuri cu el. Dar sunetul NU garantează vizualizări.
• Vocea ta e sunet original – și poate deveni, la rândul ei, un sunet folosit de alții.
• Pune sunetul la volum mic și vocea/textul deasupra.
LIMITĂRI PENTRU CONTURILE COMERCIALE
• Conturile de business pe TikTok au acces doar la Biblioteca de muzică comercială (melodii pre-aprobate pentru uz comercial). Multe hituri din topuri nu sunt disponibile pentru ele, din motive de licență.
• Folosirea muzicii protejate în scop comercial (de ex. într-o reclamă pentru salon) poate duce la eliminarea sunetului sau a videoclipului.
• Decizia cont personal vs. business: business oferă statistici și instrumente de afaceri, dar muzică limitată. Gândiți-vă ce vă e mai util; pentru salon, recomandarea sigură e să respectați regulile de muzică comercială.
TRANZIȚII SIMPLE PENTRU ÎNAINTE ȘI DUPĂ
1. Mâna pe cameră: acoperi obiectivul la finalul cadrului „înainte", începi cadrul „după" luând mâna de pe obiectiv.
2. Pocnitul din degete / bătaia din palme: cadrul se schimbă exact pe sunet.
3. Rotirea scaunului: clienta e întoarsă cu spatele în „înainte", se întoarce în „după".
4. Aruncarea părului: clienta își dă părul peste umăr – taie exact în mijlocul mișcării.
Secretul: telefonul pe trepied, în același loc, clienta în aceeași poziție. Tranziția o lipești în CapCut.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ÎNSEAMNĂ MONETIZAREA
• Să primești bani direct de la platformă pentru conținut (vizualizări, cadouri LIVE, abonamente) – diferit de banii pe care îi câștigi din programările aduse de TikTok.
PROGRAMUL PRINCIPAL: CREATOR REWARDS PROGRAM
Condiții publicate (pot fi actualizate de TikTok):
• vârsta minimă 18 ani (19 în Coreea de Sud);
• cont personal (nu de business), în regulă cu regulile comunității;
• minimum 10.000 de urmăritori;
• minimum 100.000 de vizualizări în ultimele 30 de zile;
• videoclipuri originale, de calitate, mai lungi de 1 minut.
Disponibilitate: doar în anumite țări. Lista confirmată public în 2026 include SUA, Marea Britanie, Germania, Franța, Japonia, Coreea de Sud, Brazilia și Mexic. România NU apare pe această listă la data pregătirii prezentării (octombrie 2026). Nu promitem cursantelor acces la acest program.
CE POATE FI DISPONIBIL ȘI ÎN ROMÂNIA (verificați în aplicație)
• Cadouri LIVE (Gifts) – spectatorii trimit cadouri virtuale în timpul LIVE-ului; pentru a primi cadouri trebuie să ai minimum 18 ani și funcția trebuie să fie activă pentru contul tău.
• Colaborări plătite cu branduri – marcate obligatoriu ca parteneriat plătit („Conținut de marcă").
• Pentru un hairstilist, cea mai sigură „monetizare" rămâne: TikTok aduce cliente → cliente aduc venit.
UNDE VERIFICI ELIGIBILITATEA
• Profil → meniul ☰ (dreapta sus) → TikTok Studio → secțiunea Monetizare / Programe. Acolo vezi exact pentru ce programe ești eligibilă și ce condiții îți lipsesc. În unele versiuni secțiunea se numește „Instrumente pentru creatori". Ce vezi în aplicație e mai sigur decât orice articol de pe internet.
LIVE – CE ESTE: o transmisiune video în direct; urmăritorii îți pot scrie întrebări în timp real.
CUM AJUTĂ UN HAIRSTILIST: construiește încredere (oamenii văd că știi ce faci, fără montaj), răspunzi la întrebări în timp real, demonstrezi o tehnică.
ELIGIBILITATE LIVE
• Minimum 18 ani (regula oficială TikTok din ghidul de siguranță LIVE).
• Un număr minim de urmăritori care diferă în funcție de piață – frecvent este menționat pragul de 1.000, dar TikTok spune oficial că pragul poate varia pe regiune.
• Cont în regulă, fără încălcări recente ale regulilor comunității.
CUM VERIFICI: apasă butonul + (creare). Dacă în meniul de jos apare opțiunea „LIVE", ai acces. Altfel, verifică în TikTok Studio.
IDEI DE LIVE PENTRU SALON
• „Întreabă coloristă" – 20 de minute de întrebări despre blond.
• Tonifiere sau uscare-coafare în direct (cu acordul clientei).
• Rutina de îngrijire acasă, cu produsele pe masă.
• „Diagnostic de culoare" – urmăritoarele trimit poze, tu le spui ce e realist.
• Culisele unei zile în salon.
Sfat: anunță LIVE-ul cu o zi înainte în Story și pe TikTok.
Ghid oficial TikTok despre LIVE: https://www.tiktok.com/live/creator-networks/en/blog/how-to-go-live-on-tiktok
Ghidul de siguranță LIVE: https://www.tiktok.com/safety/en/tools-and-guides/live-safety-guide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ESTE HATE-UL: comentarii răutăcioase, jignitoare, fără argumente, scrise ca să rănească sau să provoace. Nu orice critică e hate! „Mie mi se pare prea galben" e o opinie. „Ești o incompetentă" e hate.
DE CE UNELE CONTROVERSE GENEREAZĂ MAI MULTE COMENTARII
• Oamenii comentează când au o reacție puternică – fie că le place foarte mult, fie că nu sunt de acord.
• Comentariile, răspunsurile și disputele sunt interacțiuni. Interacțiunile sunt unul dintre semnalele pe care platformele le pot lua în considerare când decid cui să mai arate un videoclip. De aceea uneori un video cu multe comentarii negative ajunge la mai mulți oameni.
• DAR: atenția negativă nu e o strategie garantată și are un cost real – clientele potențiale citesc comentariile, iar reputația se reface greu. Nu provocăm intenționat conflicte, nu atacăm alți colegi de breaslă, nu răspundem cu jigniri.
CUM RĂSPUNDEM LA CRITICA CONSTRUCTIVĂ
• Mulțumește, explică, arată. Exemplu: comentariu „Iese galben". Răspuns: „Mulțumesc că ai observat! Lumina caldă din salon îl face să pară mai cald. Uite-l la lumina zilei 👇" – și faci un video-răspuns (funcția „Răspunde cu video"). Ai transformat critica în conținut util.
• Comentariu „E prea scump": „Prețul include 2 decolorări cu protecție pentru fir și tonifiere. Prefer să fac blond sănătos decât blond rapid."
CÂND IGNORĂM, MODERĂM, BLOCĂM, RAPORTĂM
• Ignorăm: răutatea fără argument. Nu hrănim provocarea.
• Moderăm: TikTok și Instagram au filtre de cuvinte cheie (comentariile cu anumite cuvinte nu mai apar), opțiunea de a ascunde sau șterge comentarii, de a limita cine poate comenta. Setări → Confidențialitate → Comentarii.
• Blocăm: când e atac personal sau hărțuire repetată.
• Raportăm: amenințări, discriminare, hărțuire, conturi false care se dau drept tine. Apasă lung pe comentariu → Raportează.
Pentru sănătatea mintală: nu citi comentariile seara târziu. Hate-ul spune mai mult despre cel care scrie decât despre lucrarea ta.
Replică: „Haterii sunt ca firele rupte: nu le dai atenție, le tai și mergi mai departe."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SFATURI ȘI TRUCURI TIKTOK PENTRU BEAUTY
1. Începe cu finalul. Primul cadru = blondul final fluturat în lumină. Apoi textul: „Uite de unde am pornit". Curiozitatea ține omul până la capăt.
2. Lumina de zi. Filmează rezultatul lângă fereastră. Lumina caldă a salonului face blondul galben și pare că ai greșit nuanța.
3. Text mare pe ecran, în zona sigură: sus sau la mijloc. Jos și în dreapta sunt descrierea și butoanele TikTok, care acoperă textul.
4. Buclă: un final care se leagă natural de început (clienta își aruncă părul la final, iar videoclipul începe cu aceeași mișcare). Mulți îl revăd fără să-și dea seama – iar timpul de vizionare crește.
5. Serii: „Blondul Mariei, ședința 1 din 3". Oamenii te urmăresc ca să vadă continuarea.
6. Răspunsuri video la comentarii: fiecare întrebare primită e o idee gata făcută de video.
7. Bonus: durata – pentru transformări, 8–20 de secunde merg foarte bine. Videoclipurile educative pot fi mai lungi.
8. Bonus: descriere cu cuvinte pe care oamenii le caută („balayage blond rece Iași") – mulți folosesc TikTok ca motor de căutare.
ÎNCEPUTURI CARE ATRAG ATENȚIA (primele 2–3 secunde)
• „A venit cu negru vopsit acasă. A plecat blondă."
• „Nu face asta cu blondul tău acasă!"
• „Ce înseamnă de fapt AirTouch?"
• „3 ore, 2 decolorări, o clientă fericită."
• „Mi-a arătat poza asta. Am reușit?"
• „Dacă ai blond și folosești placa zilnic, ascultă asta."
• „Coloristele nu-ți spun asta, dar…" (doar dacă urmează ceva cu adevărat util!)
IDEI DE CONȚINUT CARE POT GENERA INTERES
• „Ghicește nivelul de pornire" – oamenii comentează cu răspunsul.
• „Ce cer clientele vs. ce le trebuie de fapt".
• Mituri despre păr: „Decolorantul nu arde părul dacă…".
• Prețurile explicate: „De ce un balayage costă cât costă".
• Cronometrul: „Un AirTouch în 60 de secunde".
Atenție: un început spectaculos trebuie să-și țină promisiunea. Dacă momeala nu are legătură cu videoclipul, oamenii pleacă și nu mai revin.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DEMONSTRAȚIE: dacă se poate, proiectați telefonul în timp ce faceți pașii live. Schema de pe slide e simplificată – NU este o captură reală a interfeței. Aplicația se actualizează des, iar meniurile pot avea alte denumiri sau altă poziție, în funcție de versiune, limba setată (română/engleză) și dispozitiv. Mai jos am folosit denumirile din interfața în engleză, cu traducerea.
1. IMPORTUL: deschizi CapCut → „New project" (Proiect nou) → selectezi clipurile în ordinea dorită → „Add" (Adaugă). Format: atinge „Ratio"/Format → 9:16 pentru Reels/TikTok.
2. TĂIERE ȘI SCURTARE: atingi clipul pe cronologie (timeline) – apare un chenar alb. Tragi marginile spre interior ca să scurtezi. Pentru a tăia la mijloc: pui linia albă (playhead) în punctul dorit → „Split" (Împarte) → selectezi bucata în plus → „Delete" (Șterge).
Regula: dacă nu se întâmplă nimic în cadru 2 secunde, taie.
3. ORDINEA SECVENȚELOR: ții apăsat pe un clip; clipurile se micșorează în pătrățele; îl tragi în locul dorit.
4. VITEZA: atingi clipul → „Speed" (Viteză) → „Normal" (glisor, ex. 2x, 5x – aplicarea decolorantului pe repede înainte) sau „Curve" (Curbă – încetinește și accelerează în același clip, efect spectaculos la fluturarea părului). Atenție: viteza schimbă și sunetul clipului – de obicei îl pui pe mut și adaugi muzică.
5. MUZICĂ ȘI SUNETE: „Audio" în bara de jos → „Sounds" (biblioteca CapCut), „Extracted" (extragi sunetul dintr-un alt video din galerie), „Sound FX" (efecte – pocnet, „swoosh"). Pentru TikTok poți adăuga sunetul în trend direct în TikTok, la publicare, și să lași CapCut fără muzică.
6. TRANZIȚII: între două clipuri apare un pătrățel alb mic. Îl atingi → alegi o tranziție (ex. „Blur", „Zoom", „Flash") → ajustezi durata → „Apply to all" doar dacă vrei aceeași peste tot. Pentru înainte/după, adesea cea mai bună tranziție e tăietura simplă exact pe sunet sau mâna pe cameră.
Tutoriale oficiale CapCut (verificabile):
• Viteză: https://www.capcut.com/resource/how-to-speed-up-a-video
• Adăugare voce/sunet: https://www.capcut.com/resource/how-to-add-voice-in-a-video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TEXT: bara de jos → „Text" → „Add text" (Adaugă text). Scrii, alegi stilul, îl muți cu degetul. Pe cronologie apare o bandă de text pe care o lungești/scurtezi ca să stea cât vrei. Fonturi lizibile, cel mult 2 fonturi într-un video. Pune textul sus sau la mijloc, nu jos-dreapta (acolo sunt butoanele aplicațiilor).
8. SUBTITRĂRI AUTOMATE: „Text" → „Auto captions" (Subtitrări automate) → alegi limba vorbită (verifică dacă româna e disponibilă în versiunea ta) → generezi. CapCut transcrie vocea. Citește-le întotdeauna: „balayage" poate deveni „bala iaje". Le poți stiliza pe toate odată. Ajută enorm, pentru că mulți privesc fără sunet. În versiunea gratuită pot exista limite de utilizare.
9. VOCEA PESTE VIDEO: pui playhead-ul la început → „Audio" → „Record"/„Voiceover" (Înregistrare) → ții apăsat butonul și vorbești. Apoi poți micșora volumul sunetului original (atingi clipul → „Volume"). Sfat: înregistrează într-o cameră mică, cu telefonul aproape, fără uscătoare pornite.
10. EDITARE PERSONALIZATĂ: aceeași „semnătură" în toate videoclipurile – același font, aceleași culori pentru text, același tip de introducere. „Adjust" (Ajustare) pentru luminozitate/contrast – DAR nu modifica nuanța părului cu filtre; blondul trebuie să arate ca în realitate. Poți salva un proiect ca „model" și îl duplici de fiecare dată.
11. ȘABLOANE (TEMPLATES): fila „Templates" (Șabloane) din aplicație → cauți ex. „before after", „hair transformation" → „Use template" → alegi clipurile tale → export. Ritmul, tranzițiile și muzica sunt deja făcute. Șabloanele marcate cu diamant/coroană sunt Pro. Atenție: muzica din șablon poate să nu fie permisă pe conturile de business.
Ghid oficial: https://www.capcut.com/help/use-template
12. EXPORT: săgeata/butonul „Export" din dreapta sus → rezoluție 1080p, 30 fps (suficient pentru toate platformele) → salvezi în galerie. Format 9:16 (1080×1920) – același fișier merge pe Instagram Reels, Facebook Reels, TikTok și Story. Poți distribui direct în TikTok din ecranul de export.
Sfat: încarcă videoclipul nativ în fiecare aplicație (nu distribui linkul de pe TikTok pe Instagram). Dacă exporți din TikTok, video-ul are filigranul TikTok – pe Instagram e mai bine fișierul curat din CapCut.
Ghid oficial pentru subtitrări: https://www.capcut.com/resource/how-to-add-subtitle-in-capcut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GRATUIT vs PRO – pe scurt
• Versiunea gratuită are tot ce trebuie pentru un hairstilist la început: tăiere, ordine, viteză (inclusiv curbă), text, muzică din bibliotecă, înregistrare voce, multe tranziții, efecte și șabloane gratuite, export la 1080p.
• Pro (abonament) adaugă de obicei: elementele marcate cu diamant/coroană (efecte, filtre, tranziții, fonturi, șabloane premium), limite mai mari la funcțiile AI (subtitrări automate, eliminarea fundalului, îmbunătățirea vocii etc.), export până la 4K/60 fps, fără filigran, spațiu cloud mai mare.
• Filigranul: în multe situații, folosirea unui element Pro într-un proiect gratuit cere abonament la export sau adaugă filigran. Sursele nu sunt unanime pentru toate versiunile, de aceea pe slide scrie „poate apărea, după caz".
PREȚ: diferă în funcție de țară, platformă (iOS/Android/desktop) și ofertă (lunar/anual). Verificați prețul direct în aplicație, nu pe internet.
ATENȚIE: CapCut își schimbă des pachetele (ex. „Standard" și „Pro" în unele regiuni). Ce e gratuit azi poate deveni Pro mâine și invers. Verificați înainte de curs pe telefonul vostru.
RECOMANDARE PENTRU ÎNCEPĂTOARE: rămâneți pe gratuit primele 2–3 luni. Dacă editați zilnic și vă lovesc limitele (subtitrări, filigran, șabloane), testați Pro o lună și vedeți dacă vă economisește timp. Un abonament care vă scade timpul de editare de la 40 la 15 minute pe video se poate plăti singur.
Comparație oficială CapCut (Standard vs Pro): https://www.capcut.com/resource/capcut-standard-vs-pro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SFATURI ȘI TRUCURI CAPCUT
1. Filmează vertical (9:16) de la început. Dacă filmezi orizontal, la editare tai din cadru tocmai lungimile blondului.
2. Trepied fix + marcaj pe podea pentru scaun. Când „înainte" și „după" sunt filmate exact din același punct, tranziția arată ca magie – clienta pare că se transformă într-o clipă.
3. Viteză inteligentă: aplicarea decolorantului sau secționarea pentru AirTouch pe 3x–5x (procesul devine hipnotic), rezultatul final pe 1x sau în reluare lentă la 0,5x când clienta își scutură părul. Contrastul de viteză face finalul să pară și mai spectaculos.
4. Taie așteptarea: timpul de procesare, ștersul, căutatul pensulei. Un video de transformare bun are 8–20 de secunde, nu 2 minute.
5. Fără filtre pe păr: corectezi doar lumina (Adjust: luminozitate, contrast). Dacă blondul bej devine roz din filtru, clienta nouă va cere ceva ce nu există.
6. Proiect model: un proiect cu introducerea, fontul și culorile tale. Îl duplici, schimbi clipurile – gata în 10 minute.
7. Bonus balayage: un cadru apropiat (close-up) cu peria trecută prin lungimi arată perfect topirea culorii.
8. Bonus: filmează câteva secunde în plus la începutul și finalul fiecărui cadru. La editare e mai ușor să tai decât să-ți lipsească.
TUTORIALE VIDEO ȘI GHIDURI OFICIALE CAPCUT (linkuri clicabile pe slide):
• Subtitrări: https://www.capcut.com/resource/how-to-add-subtitle-in-capcut
• Viteză: https://www.capcut.com/resource/how-to-speed-up-a-video
• Voce: https://www.capcut.com/resource/how-to-add-voice-in-a-video
• Șabloane: https://www.capcut.com/help/use-template
• Șabloane – folosire și export: https://www.capcut.com/help/use-and-export-templates-in-capcut
• Tranziții cu șablon: https://www.capcut.com/resource/epic-transitions-template-tutorial
• Gratuit vs Pro: https://www.capcut.com/resource/capcut-standard-vs-pro
Sfat pentru prezentator: verificați linkurile înainte de curs (CapCut își reorganizează uneori site-ul). Ca demonstrație live, puteți căuta în YouTube „CapCut tutorial beginner" sau „CapCut hair transformation" și alege un tutorial recent, din ultimele luni.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MESAJUL FINAL: „Nu trebuie să fii influencer ca să îți promovezi munca. Trebuie doar să începi să o arăți."
Nu aveți nevoie de 100.000 de urmăritori. Aveți nevoie de cele 300 de femei din orașul vostru care vor să arate bine și încă nu știu că existați.
PLANUL DE ACȚIUNE PENTRU SĂPTĂMÂNA ASTA
1. Filmează o transformare – mâine, la prima clientă care acceptă. Trepied, lumină de fereastră, înainte și după din același punct.
2. Editează un videoclip scurt în CapCut – 10–20 de secunde, text pe ecran, tranziție simplă, subtitrări dacă vorbești.
3. Publică-l pe platforma potrivită – Reels pe Instagram și Facebook, același fișier pe TikTok; un Story cu „locuri libere".
4. Analizează reacțiile după câteva zile (nu după o oră!) – vizualizări, cât au privit, salvări, comentarii, mesaje.
5. Repetă și îmbunătățește – schimbă un singur lucru o dată: începutul, sunetul sau textul.
Exercițiu de final (opțional, 5 minute): fiecare cursantă scrie pe o hârtie: nișa ei, 3 idei de videoclipuri și ziua în care publică primul video. O fotografiază și o pune ca fundal de ecran.
Replică de final: „Cel mai bun moment să începi a fost acum un an. Al doilea cel mai bun e la următoarea clientă."
Mulțumesc! Întrebări?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PERTA-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NCHEIER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PERT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120640" cy="1737360"/>
          </a:xfrm>
          <a:prstGeom prst="rect">
            <a:avLst/>
          </a:prstGeom>
          <a:noFill/>
          <a:ln/>
        </p:spPr>
        <p:txBody>
          <a:bodyPr wrap="square" rtlCol="0"/>
          <a:lstStyle>
            <a:lvl1pPr algn="l" indent="0" marL="0">
              <a:buNone/>
              <a:defRPr lang="en-US" sz="5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INU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rtlCol="0"/>
          <a:lstStyle>
            <a:lvl1pPr indent="0" marL="0">
              <a:buNone/>
              <a:defRPr lang="en-US" sz="1000" b="1" spc="200" kern="0" dirty="0">
                <a:solidFill>
                  <a:schemeClr val="accent2"/>
                </a:solidFill>
                <a:latin typeface="Calibri" pitchFamily="34" charset="0"/>
                <a:ea typeface="Calibri" pitchFamily="34" charset="-122"/>
                <a:cs typeface="Calibri" pitchFamily="34" charset="-120"/>
              </a:defRPr>
            </a:lvl1pPr>
          </a:lstStyle>
          <a:p>
            <a:pPr indent="0" marL="0">
              <a:buNone/>
            </a:pP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4" name="Text 0"/>
          <p:cNvSpPr txBox="1"/>
          <p:nvPr/>
        </p:nvSpPr>
        <p:spPr>
          <a:xfrm>
            <a:off x="457200" y="4846320"/>
            <a:ext cx="3657600" cy="182880"/>
          </a:xfrm>
          <a:prstGeom prst="rect">
            <a:avLst/>
          </a:prstGeom>
          <a:noFill/>
          <a:ln/>
        </p:spPr>
        <p:txBody>
          <a:bodyPr wrap="square" lIns="0" tIns="0" rIns="0" bIns="0" rtlCol="0" anchor="ctr"/>
          <a:lstStyle/>
          <a:p>
            <a:pPr indent="0" marL="0">
              <a:buNone/>
            </a:pPr>
            <a:r>
              <a:rPr lang="en-US" sz="800" spc="200" kern="0" dirty="0">
                <a:solidFill>
                  <a:schemeClr val="tx2"/>
                </a:solidFill>
              </a:rPr>
              <a:t>SOCIAL MEDIA PREZENTARE</a:t>
            </a:r>
            <a:endParaRPr lang="en-US" sz="8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CHEIE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3.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3.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3.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3.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3.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www.capcut.com/resource/how-to-add-subtitle-in-capcut" TargetMode="External"/><Relationship Id="rId4" Type="http://schemas.openxmlformats.org/officeDocument/2006/relationships/hyperlink" Target="https://www.capcut.com/resource/how-to-speed-up-a-video" TargetMode="External"/><Relationship Id="rId5" Type="http://schemas.openxmlformats.org/officeDocument/2006/relationships/hyperlink" Target="https://www.capcut.com/resource/how-to-add-voice-in-a-video" TargetMode="External"/><Relationship Id="rId6" Type="http://schemas.openxmlformats.org/officeDocument/2006/relationships/hyperlink" Target="https://www.capcut.com/help/use-template" TargetMode="External"/><Relationship Id="rId7" Type="http://schemas.openxmlformats.org/officeDocument/2006/relationships/hyperlink" Target="https://www.capcut.com/resource/epic-transitions-template-tutorial" TargetMode="External"/><Relationship Id="rId8" Type="http://schemas.openxmlformats.org/officeDocument/2006/relationships/hyperlink" Target="https://www.capcut.com/resource/capcut-standard-vs-pro" TargetMode="External"/><Relationship Id="rId1" Type="http://schemas.openxmlformats.org/officeDocument/2006/relationships/image" Target="../media/image-19-1.png"/><Relationship Id="rId2" Type="http://schemas.openxmlformats.org/officeDocument/2006/relationships/image" Target="../media/image-19-2.png"/><Relationship Id="rId9" Type="http://schemas.openxmlformats.org/officeDocument/2006/relationships/slideLayout" Target="../slideLayouts/slideLayout3.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4.xml"/><Relationship Id="rId7"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120640" cy="1737360"/>
          </a:xfrm>
          <a:prstGeom prst="rect">
            <a:avLst/>
          </a:prstGeom>
          <a:noFill/>
          <a:ln/>
        </p:spPr>
        <p:txBody>
          <a:bodyPr wrap="square" lIns="0" tIns="0" rIns="0" bIns="0" rtlCol="0" anchor="ctr"/>
          <a:lstStyle/>
          <a:p>
            <a:pPr algn="l" indent="0" marL="0">
              <a:buNone/>
            </a:pPr>
            <a:r>
              <a:rPr lang="en-US" sz="5000" b="1" dirty="0">
                <a:solidFill>
                  <a:schemeClr val="bg1"/>
                </a:solidFill>
                <a:latin typeface="Cambria" pitchFamily="34" charset="0"/>
                <a:ea typeface="Cambria" pitchFamily="34" charset="-122"/>
                <a:cs typeface="Cambria" pitchFamily="34" charset="-120"/>
              </a:rPr>
              <a:t>SOCIAL MEDIA PREZENTARE</a:t>
            </a:r>
            <a:endParaRPr lang="en-US" sz="5000" dirty="0"/>
          </a:p>
        </p:txBody>
      </p:sp>
      <p:sp>
        <p:nvSpPr>
          <p:cNvPr id="3" name="ring-1"/>
          <p:cNvSpPr/>
          <p:nvPr/>
        </p:nvSpPr>
        <p:spPr>
          <a:xfrm>
            <a:off x="548640" y="3429000"/>
            <a:ext cx="502920" cy="502920"/>
          </a:xfrm>
          <a:prstGeom prst="ellipse">
            <a:avLst/>
          </a:prstGeom>
          <a:solidFill>
            <a:schemeClr val="tx1">
              <a:alpha val="0"/>
            </a:schemeClr>
          </a:solidFill>
          <a:ln w="15875">
            <a:solidFill>
              <a:schemeClr val="accent1"/>
            </a:solidFill>
            <a:prstDash val="solid"/>
          </a:ln>
        </p:spPr>
      </p:sp>
      <p:pic>
        <p:nvPicPr>
          <p:cNvPr id="4" name="icon-2" descr="preencoded.png">    </p:cNvPr>
          <p:cNvPicPr>
            <a:picLocks noChangeAspect="1"/>
          </p:cNvPicPr>
          <p:nvPr/>
        </p:nvPicPr>
        <p:blipFill>
          <a:blip r:embed="rId1"/>
          <a:stretch>
            <a:fillRect/>
          </a:stretch>
        </p:blipFill>
        <p:spPr>
          <a:xfrm>
            <a:off x="676656" y="3557016"/>
            <a:ext cx="246888" cy="246888"/>
          </a:xfrm>
          <a:prstGeom prst="rect">
            <a:avLst/>
          </a:prstGeom>
        </p:spPr>
      </p:pic>
      <p:sp>
        <p:nvSpPr>
          <p:cNvPr id="5" name="text-3"/>
          <p:cNvSpPr txBox="1"/>
          <p:nvPr/>
        </p:nvSpPr>
        <p:spPr>
          <a:xfrm>
            <a:off x="320040" y="4005072"/>
            <a:ext cx="960120" cy="228600"/>
          </a:xfrm>
          <a:prstGeom prst="rect">
            <a:avLst/>
          </a:prstGeom>
          <a:noFill/>
          <a:ln/>
        </p:spPr>
        <p:txBody>
          <a:bodyPr wrap="square" lIns="0" tIns="0" rIns="0" bIns="0" rtlCol="0" anchor="t"/>
          <a:lstStyle/>
          <a:p>
            <a:pPr algn="ctr" indent="0" marL="0">
              <a:buNone/>
            </a:pPr>
            <a:r>
              <a:rPr lang="en-US" sz="1000" dirty="0">
                <a:solidFill>
                  <a:schemeClr val="accent3"/>
                </a:solidFill>
              </a:rPr>
              <a:t>Facebook</a:t>
            </a:r>
            <a:endParaRPr lang="en-US" sz="1000" dirty="0"/>
          </a:p>
        </p:txBody>
      </p:sp>
      <p:sp>
        <p:nvSpPr>
          <p:cNvPr id="6" name="ring-4"/>
          <p:cNvSpPr/>
          <p:nvPr/>
        </p:nvSpPr>
        <p:spPr>
          <a:xfrm>
            <a:off x="1600200" y="3429000"/>
            <a:ext cx="502920" cy="502920"/>
          </a:xfrm>
          <a:prstGeom prst="ellipse">
            <a:avLst/>
          </a:prstGeom>
          <a:solidFill>
            <a:schemeClr val="tx1">
              <a:alpha val="0"/>
            </a:schemeClr>
          </a:solidFill>
          <a:ln w="15875">
            <a:solidFill>
              <a:schemeClr val="accent1"/>
            </a:solidFill>
            <a:prstDash val="solid"/>
          </a:ln>
        </p:spPr>
      </p:sp>
      <p:pic>
        <p:nvPicPr>
          <p:cNvPr id="7" name="icon-5" descr="preencoded.png">    </p:cNvPr>
          <p:cNvPicPr>
            <a:picLocks noChangeAspect="1"/>
          </p:cNvPicPr>
          <p:nvPr/>
        </p:nvPicPr>
        <p:blipFill>
          <a:blip r:embed="rId2"/>
          <a:stretch>
            <a:fillRect/>
          </a:stretch>
        </p:blipFill>
        <p:spPr>
          <a:xfrm>
            <a:off x="1728216" y="3557016"/>
            <a:ext cx="246888" cy="246888"/>
          </a:xfrm>
          <a:prstGeom prst="rect">
            <a:avLst/>
          </a:prstGeom>
        </p:spPr>
      </p:pic>
      <p:sp>
        <p:nvSpPr>
          <p:cNvPr id="8" name="text-6"/>
          <p:cNvSpPr txBox="1"/>
          <p:nvPr/>
        </p:nvSpPr>
        <p:spPr>
          <a:xfrm>
            <a:off x="1371600" y="4005072"/>
            <a:ext cx="960120" cy="228600"/>
          </a:xfrm>
          <a:prstGeom prst="rect">
            <a:avLst/>
          </a:prstGeom>
          <a:noFill/>
          <a:ln/>
        </p:spPr>
        <p:txBody>
          <a:bodyPr wrap="square" lIns="0" tIns="0" rIns="0" bIns="0" rtlCol="0" anchor="t"/>
          <a:lstStyle/>
          <a:p>
            <a:pPr algn="ctr" indent="0" marL="0">
              <a:buNone/>
            </a:pPr>
            <a:r>
              <a:rPr lang="en-US" sz="1000" dirty="0">
                <a:solidFill>
                  <a:schemeClr val="accent3"/>
                </a:solidFill>
              </a:rPr>
              <a:t>Instagram</a:t>
            </a:r>
            <a:endParaRPr lang="en-US" sz="1000" dirty="0"/>
          </a:p>
        </p:txBody>
      </p:sp>
      <p:sp>
        <p:nvSpPr>
          <p:cNvPr id="9" name="ring-7"/>
          <p:cNvSpPr/>
          <p:nvPr/>
        </p:nvSpPr>
        <p:spPr>
          <a:xfrm>
            <a:off x="2651760" y="3429000"/>
            <a:ext cx="502920" cy="502920"/>
          </a:xfrm>
          <a:prstGeom prst="ellipse">
            <a:avLst/>
          </a:prstGeom>
          <a:solidFill>
            <a:schemeClr val="tx1">
              <a:alpha val="0"/>
            </a:schemeClr>
          </a:solidFill>
          <a:ln w="15875">
            <a:solidFill>
              <a:schemeClr val="accent1"/>
            </a:solidFill>
            <a:prstDash val="solid"/>
          </a:ln>
        </p:spPr>
      </p:sp>
      <p:pic>
        <p:nvPicPr>
          <p:cNvPr id="10" name="icon-8" descr="preencoded.png">    </p:cNvPr>
          <p:cNvPicPr>
            <a:picLocks noChangeAspect="1"/>
          </p:cNvPicPr>
          <p:nvPr/>
        </p:nvPicPr>
        <p:blipFill>
          <a:blip r:embed="rId3"/>
          <a:stretch>
            <a:fillRect/>
          </a:stretch>
        </p:blipFill>
        <p:spPr>
          <a:xfrm>
            <a:off x="2779776" y="3557016"/>
            <a:ext cx="246888" cy="246888"/>
          </a:xfrm>
          <a:prstGeom prst="rect">
            <a:avLst/>
          </a:prstGeom>
        </p:spPr>
      </p:pic>
      <p:sp>
        <p:nvSpPr>
          <p:cNvPr id="11" name="text-9"/>
          <p:cNvSpPr txBox="1"/>
          <p:nvPr/>
        </p:nvSpPr>
        <p:spPr>
          <a:xfrm>
            <a:off x="2423160" y="4005072"/>
            <a:ext cx="960120" cy="228600"/>
          </a:xfrm>
          <a:prstGeom prst="rect">
            <a:avLst/>
          </a:prstGeom>
          <a:noFill/>
          <a:ln/>
        </p:spPr>
        <p:txBody>
          <a:bodyPr wrap="square" lIns="0" tIns="0" rIns="0" bIns="0" rtlCol="0" anchor="t"/>
          <a:lstStyle/>
          <a:p>
            <a:pPr algn="ctr" indent="0" marL="0">
              <a:buNone/>
            </a:pPr>
            <a:r>
              <a:rPr lang="en-US" sz="1000" dirty="0">
                <a:solidFill>
                  <a:schemeClr val="accent3"/>
                </a:solidFill>
              </a:rPr>
              <a:t>TikTok</a:t>
            </a:r>
            <a:endParaRPr lang="en-US" sz="1000" dirty="0"/>
          </a:p>
        </p:txBody>
      </p:sp>
      <p:sp>
        <p:nvSpPr>
          <p:cNvPr id="12" name="ring-10"/>
          <p:cNvSpPr/>
          <p:nvPr/>
        </p:nvSpPr>
        <p:spPr>
          <a:xfrm>
            <a:off x="3703320" y="3429000"/>
            <a:ext cx="502920" cy="502920"/>
          </a:xfrm>
          <a:prstGeom prst="ellipse">
            <a:avLst/>
          </a:prstGeom>
          <a:solidFill>
            <a:schemeClr val="tx1">
              <a:alpha val="0"/>
            </a:schemeClr>
          </a:solidFill>
          <a:ln w="15875">
            <a:solidFill>
              <a:schemeClr val="accent1"/>
            </a:solidFill>
            <a:prstDash val="solid"/>
          </a:ln>
        </p:spPr>
      </p:sp>
      <p:pic>
        <p:nvPicPr>
          <p:cNvPr id="13" name="icon-11" descr="preencoded.png">    </p:cNvPr>
          <p:cNvPicPr>
            <a:picLocks noChangeAspect="1"/>
          </p:cNvPicPr>
          <p:nvPr/>
        </p:nvPicPr>
        <p:blipFill>
          <a:blip r:embed="rId4"/>
          <a:stretch>
            <a:fillRect/>
          </a:stretch>
        </p:blipFill>
        <p:spPr>
          <a:xfrm>
            <a:off x="3831336" y="3557016"/>
            <a:ext cx="246888" cy="246888"/>
          </a:xfrm>
          <a:prstGeom prst="rect">
            <a:avLst/>
          </a:prstGeom>
        </p:spPr>
      </p:pic>
      <p:sp>
        <p:nvSpPr>
          <p:cNvPr id="14" name="text-12"/>
          <p:cNvSpPr txBox="1"/>
          <p:nvPr/>
        </p:nvSpPr>
        <p:spPr>
          <a:xfrm>
            <a:off x="3474720" y="4005072"/>
            <a:ext cx="960120" cy="228600"/>
          </a:xfrm>
          <a:prstGeom prst="rect">
            <a:avLst/>
          </a:prstGeom>
          <a:noFill/>
          <a:ln/>
        </p:spPr>
        <p:txBody>
          <a:bodyPr wrap="square" lIns="0" tIns="0" rIns="0" bIns="0" rtlCol="0" anchor="t"/>
          <a:lstStyle/>
          <a:p>
            <a:pPr algn="ctr" indent="0" marL="0">
              <a:buNone/>
            </a:pPr>
            <a:r>
              <a:rPr lang="en-US" sz="1000" dirty="0">
                <a:solidFill>
                  <a:schemeClr val="accent3"/>
                </a:solidFill>
              </a:rPr>
              <a:t>CapCut</a:t>
            </a:r>
            <a:endParaRPr lang="en-US" sz="1000" dirty="0"/>
          </a:p>
        </p:txBody>
      </p:sp>
      <p:sp>
        <p:nvSpPr>
          <p:cNvPr id="15" name="phone-13"/>
          <p:cNvSpPr/>
          <p:nvPr/>
        </p:nvSpPr>
        <p:spPr>
          <a:xfrm>
            <a:off x="6309360" y="502920"/>
            <a:ext cx="2194560" cy="4114800"/>
          </a:xfrm>
          <a:prstGeom prst="roundRect">
            <a:avLst>
              <a:gd name="adj" fmla="val 9167"/>
            </a:avLst>
          </a:prstGeom>
          <a:solidFill>
            <a:schemeClr val="tx1"/>
          </a:solidFill>
          <a:ln w="12700">
            <a:solidFill>
              <a:schemeClr val="tx1"/>
            </a:solidFill>
            <a:prstDash val="solid"/>
          </a:ln>
          <a:effectLst>
            <a:outerShdw sx="100000" sy="100000" kx="0" ky="0" algn="bl" rotWithShape="0" blurRad="101600" dist="25400" dir="5400000">
              <a:srgbClr val="5B4A42">
                <a:alpha val="14000"/>
              </a:srgbClr>
            </a:outerShdw>
          </a:effectLst>
        </p:spPr>
      </p:sp>
      <p:sp>
        <p:nvSpPr>
          <p:cNvPr id="16" name="screen-14"/>
          <p:cNvSpPr/>
          <p:nvPr/>
        </p:nvSpPr>
        <p:spPr>
          <a:xfrm>
            <a:off x="6373368" y="566928"/>
            <a:ext cx="2066544" cy="3986784"/>
          </a:xfrm>
          <a:prstGeom prst="roundRect">
            <a:avLst>
              <a:gd name="adj" fmla="val 7522"/>
            </a:avLst>
          </a:prstGeom>
          <a:solidFill>
            <a:schemeClr val="tx1"/>
          </a:solidFill>
          <a:ln w="12700">
            <a:solidFill>
              <a:schemeClr val="tx1"/>
            </a:solidFill>
            <a:prstDash val="solid"/>
          </a:ln>
        </p:spPr>
      </p:sp>
      <p:sp>
        <p:nvSpPr>
          <p:cNvPr id="17" name="notch-15"/>
          <p:cNvSpPr/>
          <p:nvPr/>
        </p:nvSpPr>
        <p:spPr>
          <a:xfrm>
            <a:off x="7178040" y="603504"/>
            <a:ext cx="457200" cy="64008"/>
          </a:xfrm>
          <a:prstGeom prst="roundRect">
            <a:avLst>
              <a:gd name="adj" fmla="val 42857"/>
            </a:avLst>
          </a:prstGeom>
          <a:solidFill>
            <a:schemeClr val="tx1"/>
          </a:solidFill>
          <a:ln w="12700">
            <a:solidFill>
              <a:schemeClr val="tx1"/>
            </a:solidFill>
            <a:prstDash val="solid"/>
          </a:ln>
        </p:spPr>
      </p:sp>
      <p:pic>
        <p:nvPicPr>
          <p:cNvPr id="18" name="hero-16" descr="preencoded.png">    </p:cNvPr>
          <p:cNvPicPr>
            <a:picLocks noChangeAspect="1"/>
          </p:cNvPicPr>
          <p:nvPr/>
        </p:nvPicPr>
        <p:blipFill>
          <a:blip r:embed="rId5"/>
          <a:srcRect l="3612" r="3612" t="0" b="0"/>
          <a:stretch/>
        </p:blipFill>
        <p:spPr>
          <a:xfrm>
            <a:off x="6373368" y="841248"/>
            <a:ext cx="2066544" cy="3712464"/>
          </a:xfrm>
          <a:prstGeom prst="rect">
            <a:avLst/>
          </a:prstGeom>
        </p:spPr>
      </p:pic>
      <p:pic>
        <p:nvPicPr>
          <p:cNvPr id="19" name="ui-17" descr="preencoded.png">    </p:cNvPr>
          <p:cNvPicPr>
            <a:picLocks noChangeAspect="1"/>
          </p:cNvPicPr>
          <p:nvPr/>
        </p:nvPicPr>
        <p:blipFill>
          <a:blip r:embed="rId6"/>
          <a:stretch>
            <a:fillRect/>
          </a:stretch>
        </p:blipFill>
        <p:spPr>
          <a:xfrm>
            <a:off x="8092440" y="2670048"/>
            <a:ext cx="219456" cy="219456"/>
          </a:xfrm>
          <a:prstGeom prst="rect">
            <a:avLst/>
          </a:prstGeom>
        </p:spPr>
      </p:pic>
      <p:pic>
        <p:nvPicPr>
          <p:cNvPr id="20" name="ui-18" descr="preencoded.png">    </p:cNvPr>
          <p:cNvPicPr>
            <a:picLocks noChangeAspect="1"/>
          </p:cNvPicPr>
          <p:nvPr/>
        </p:nvPicPr>
        <p:blipFill>
          <a:blip r:embed="rId7"/>
          <a:stretch>
            <a:fillRect/>
          </a:stretch>
        </p:blipFill>
        <p:spPr>
          <a:xfrm>
            <a:off x="8092440" y="3054096"/>
            <a:ext cx="219456" cy="219456"/>
          </a:xfrm>
          <a:prstGeom prst="rect">
            <a:avLst/>
          </a:prstGeom>
        </p:spPr>
      </p:pic>
      <p:pic>
        <p:nvPicPr>
          <p:cNvPr id="21" name="ui-19" descr="preencoded.png">    </p:cNvPr>
          <p:cNvPicPr>
            <a:picLocks noChangeAspect="1"/>
          </p:cNvPicPr>
          <p:nvPr/>
        </p:nvPicPr>
        <p:blipFill>
          <a:blip r:embed="rId8"/>
          <a:stretch>
            <a:fillRect/>
          </a:stretch>
        </p:blipFill>
        <p:spPr>
          <a:xfrm>
            <a:off x="8092440" y="3438144"/>
            <a:ext cx="219456" cy="2194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I · CUM ÎNCEPEM</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Clientele te caută întâi pe telefon</a:t>
            </a:r>
            <a:endParaRPr lang="en-US" sz="2800" dirty="0"/>
          </a:p>
        </p:txBody>
      </p:sp>
      <p:sp>
        <p:nvSpPr>
          <p:cNvPr id="4" name="badge-20"/>
          <p:cNvSpPr/>
          <p:nvPr/>
        </p:nvSpPr>
        <p:spPr>
          <a:xfrm>
            <a:off x="457200" y="1234440"/>
            <a:ext cx="502920" cy="502920"/>
          </a:xfrm>
          <a:prstGeom prst="ellipse">
            <a:avLst/>
          </a:prstGeom>
          <a:solidFill>
            <a:schemeClr val="accent1"/>
          </a:solidFill>
          <a:ln w="12700">
            <a:solidFill>
              <a:schemeClr val="accent1"/>
            </a:solidFill>
            <a:prstDash val="solid"/>
          </a:ln>
        </p:spPr>
      </p:sp>
      <p:pic>
        <p:nvPicPr>
          <p:cNvPr id="5" name="icon-21" descr="preencoded.png">    </p:cNvPr>
          <p:cNvPicPr>
            <a:picLocks noChangeAspect="1"/>
          </p:cNvPicPr>
          <p:nvPr/>
        </p:nvPicPr>
        <p:blipFill>
          <a:blip r:embed="rId1"/>
          <a:stretch>
            <a:fillRect/>
          </a:stretch>
        </p:blipFill>
        <p:spPr>
          <a:xfrm>
            <a:off x="582930" y="1360170"/>
            <a:ext cx="251460" cy="251460"/>
          </a:xfrm>
          <a:prstGeom prst="rect">
            <a:avLst/>
          </a:prstGeom>
        </p:spPr>
      </p:pic>
      <p:sp>
        <p:nvSpPr>
          <p:cNvPr id="6" name="text-22"/>
          <p:cNvSpPr txBox="1"/>
          <p:nvPr/>
        </p:nvSpPr>
        <p:spPr>
          <a:xfrm>
            <a:off x="1143000" y="1216152"/>
            <a:ext cx="3108960" cy="274320"/>
          </a:xfrm>
          <a:prstGeom prst="rect">
            <a:avLst/>
          </a:prstGeom>
          <a:noFill/>
          <a:ln/>
        </p:spPr>
        <p:txBody>
          <a:bodyPr wrap="square" lIns="0" tIns="0" rIns="0" bIns="0" rtlCol="0" anchor="t"/>
          <a:lstStyle/>
          <a:p>
            <a:pPr indent="0" marL="0">
              <a:buNone/>
            </a:pPr>
            <a:r>
              <a:rPr lang="en-US" sz="1500" b="1" dirty="0">
                <a:solidFill>
                  <a:schemeClr val="tx1"/>
                </a:solidFill>
              </a:rPr>
              <a:t>Portofoliu deschis non-stop</a:t>
            </a:r>
            <a:endParaRPr lang="en-US" sz="1500" dirty="0"/>
          </a:p>
        </p:txBody>
      </p:sp>
      <p:sp>
        <p:nvSpPr>
          <p:cNvPr id="7" name="text-23"/>
          <p:cNvSpPr txBox="1"/>
          <p:nvPr/>
        </p:nvSpPr>
        <p:spPr>
          <a:xfrm>
            <a:off x="1143000" y="1508760"/>
            <a:ext cx="3108960" cy="457200"/>
          </a:xfrm>
          <a:prstGeom prst="rect">
            <a:avLst/>
          </a:prstGeom>
          <a:noFill/>
          <a:ln/>
        </p:spPr>
        <p:txBody>
          <a:bodyPr wrap="square" lIns="0" tIns="0" rIns="0" bIns="0" rtlCol="0" anchor="t"/>
          <a:lstStyle/>
          <a:p>
            <a:pPr indent="0" marL="0">
              <a:buNone/>
            </a:pPr>
            <a:r>
              <a:rPr lang="en-US" sz="1400" dirty="0">
                <a:solidFill>
                  <a:schemeClr val="tx2"/>
                </a:solidFill>
              </a:rPr>
              <a:t>Lucrările tale vând și când tu dormi.</a:t>
            </a:r>
            <a:endParaRPr lang="en-US" sz="1400" dirty="0"/>
          </a:p>
        </p:txBody>
      </p:sp>
      <p:sp>
        <p:nvSpPr>
          <p:cNvPr id="8" name="badge-24"/>
          <p:cNvSpPr/>
          <p:nvPr/>
        </p:nvSpPr>
        <p:spPr>
          <a:xfrm>
            <a:off x="457200" y="2258568"/>
            <a:ext cx="502920" cy="502920"/>
          </a:xfrm>
          <a:prstGeom prst="ellipse">
            <a:avLst/>
          </a:prstGeom>
          <a:solidFill>
            <a:schemeClr val="accent1"/>
          </a:solidFill>
          <a:ln w="12700">
            <a:solidFill>
              <a:schemeClr val="accent1"/>
            </a:solidFill>
            <a:prstDash val="solid"/>
          </a:ln>
        </p:spPr>
      </p:sp>
      <p:pic>
        <p:nvPicPr>
          <p:cNvPr id="9" name="icon-25" descr="preencoded.png">    </p:cNvPr>
          <p:cNvPicPr>
            <a:picLocks noChangeAspect="1"/>
          </p:cNvPicPr>
          <p:nvPr/>
        </p:nvPicPr>
        <p:blipFill>
          <a:blip r:embed="rId2"/>
          <a:stretch>
            <a:fillRect/>
          </a:stretch>
        </p:blipFill>
        <p:spPr>
          <a:xfrm>
            <a:off x="582930" y="2384298"/>
            <a:ext cx="251460" cy="251460"/>
          </a:xfrm>
          <a:prstGeom prst="rect">
            <a:avLst/>
          </a:prstGeom>
        </p:spPr>
      </p:pic>
      <p:sp>
        <p:nvSpPr>
          <p:cNvPr id="10" name="text-26"/>
          <p:cNvSpPr txBox="1"/>
          <p:nvPr/>
        </p:nvSpPr>
        <p:spPr>
          <a:xfrm>
            <a:off x="1143000" y="2240280"/>
            <a:ext cx="3108960" cy="274320"/>
          </a:xfrm>
          <a:prstGeom prst="rect">
            <a:avLst/>
          </a:prstGeom>
          <a:noFill/>
          <a:ln/>
        </p:spPr>
        <p:txBody>
          <a:bodyPr wrap="square" lIns="0" tIns="0" rIns="0" bIns="0" rtlCol="0" anchor="t"/>
          <a:lstStyle/>
          <a:p>
            <a:pPr indent="0" marL="0">
              <a:buNone/>
            </a:pPr>
            <a:r>
              <a:rPr lang="en-US" sz="1500" b="1" dirty="0">
                <a:solidFill>
                  <a:schemeClr val="tx1"/>
                </a:solidFill>
              </a:rPr>
              <a:t>Încredere înainte de programare</a:t>
            </a:r>
            <a:endParaRPr lang="en-US" sz="1500" dirty="0"/>
          </a:p>
        </p:txBody>
      </p:sp>
      <p:sp>
        <p:nvSpPr>
          <p:cNvPr id="11" name="text-27"/>
          <p:cNvSpPr txBox="1"/>
          <p:nvPr/>
        </p:nvSpPr>
        <p:spPr>
          <a:xfrm>
            <a:off x="1143000" y="2532888"/>
            <a:ext cx="3108960" cy="457200"/>
          </a:xfrm>
          <a:prstGeom prst="rect">
            <a:avLst/>
          </a:prstGeom>
          <a:noFill/>
          <a:ln/>
        </p:spPr>
        <p:txBody>
          <a:bodyPr wrap="square" lIns="0" tIns="0" rIns="0" bIns="0" rtlCol="0" anchor="t"/>
          <a:lstStyle/>
          <a:p>
            <a:pPr indent="0" marL="0">
              <a:buNone/>
            </a:pPr>
            <a:r>
              <a:rPr lang="en-US" sz="1400" dirty="0">
                <a:solidFill>
                  <a:schemeClr val="tx2"/>
                </a:solidFill>
              </a:rPr>
              <a:t>Clienta vede rezultate reale, nu promisiuni.</a:t>
            </a:r>
            <a:endParaRPr lang="en-US" sz="1400" dirty="0"/>
          </a:p>
        </p:txBody>
      </p:sp>
      <p:sp>
        <p:nvSpPr>
          <p:cNvPr id="12" name="badge-28"/>
          <p:cNvSpPr/>
          <p:nvPr/>
        </p:nvSpPr>
        <p:spPr>
          <a:xfrm>
            <a:off x="457200" y="3282696"/>
            <a:ext cx="502920" cy="502920"/>
          </a:xfrm>
          <a:prstGeom prst="ellipse">
            <a:avLst/>
          </a:prstGeom>
          <a:solidFill>
            <a:schemeClr val="accent1"/>
          </a:solidFill>
          <a:ln w="12700">
            <a:solidFill>
              <a:schemeClr val="accent1"/>
            </a:solidFill>
            <a:prstDash val="solid"/>
          </a:ln>
        </p:spPr>
      </p:sp>
      <p:pic>
        <p:nvPicPr>
          <p:cNvPr id="13" name="icon-29" descr="preencoded.png">    </p:cNvPr>
          <p:cNvPicPr>
            <a:picLocks noChangeAspect="1"/>
          </p:cNvPicPr>
          <p:nvPr/>
        </p:nvPicPr>
        <p:blipFill>
          <a:blip r:embed="rId3"/>
          <a:stretch>
            <a:fillRect/>
          </a:stretch>
        </p:blipFill>
        <p:spPr>
          <a:xfrm>
            <a:off x="582930" y="3408426"/>
            <a:ext cx="251460" cy="251460"/>
          </a:xfrm>
          <a:prstGeom prst="rect">
            <a:avLst/>
          </a:prstGeom>
        </p:spPr>
      </p:pic>
      <p:sp>
        <p:nvSpPr>
          <p:cNvPr id="14" name="text-30"/>
          <p:cNvSpPr txBox="1"/>
          <p:nvPr/>
        </p:nvSpPr>
        <p:spPr>
          <a:xfrm>
            <a:off x="1143000" y="3264408"/>
            <a:ext cx="3108960" cy="274320"/>
          </a:xfrm>
          <a:prstGeom prst="rect">
            <a:avLst/>
          </a:prstGeom>
          <a:noFill/>
          <a:ln/>
        </p:spPr>
        <p:txBody>
          <a:bodyPr wrap="square" lIns="0" tIns="0" rIns="0" bIns="0" rtlCol="0" anchor="t"/>
          <a:lstStyle/>
          <a:p>
            <a:pPr indent="0" marL="0">
              <a:buNone/>
            </a:pPr>
            <a:r>
              <a:rPr lang="en-US" sz="1500" b="1" dirty="0">
                <a:solidFill>
                  <a:schemeClr val="tx1"/>
                </a:solidFill>
              </a:rPr>
              <a:t>Cliente noi din zona ta</a:t>
            </a:r>
            <a:endParaRPr lang="en-US" sz="1500" dirty="0"/>
          </a:p>
        </p:txBody>
      </p:sp>
      <p:sp>
        <p:nvSpPr>
          <p:cNvPr id="15" name="text-31"/>
          <p:cNvSpPr txBox="1"/>
          <p:nvPr/>
        </p:nvSpPr>
        <p:spPr>
          <a:xfrm>
            <a:off x="1143000" y="3557016"/>
            <a:ext cx="3108960" cy="457200"/>
          </a:xfrm>
          <a:prstGeom prst="rect">
            <a:avLst/>
          </a:prstGeom>
          <a:noFill/>
          <a:ln/>
        </p:spPr>
        <p:txBody>
          <a:bodyPr wrap="square" lIns="0" tIns="0" rIns="0" bIns="0" rtlCol="0" anchor="t"/>
          <a:lstStyle/>
          <a:p>
            <a:pPr indent="0" marL="0">
              <a:buNone/>
            </a:pPr>
            <a:r>
              <a:rPr lang="en-US" sz="1400" dirty="0">
                <a:solidFill>
                  <a:schemeClr val="tx2"/>
                </a:solidFill>
              </a:rPr>
              <a:t>Cine caută „balayage + orașul tău” te găsește.</a:t>
            </a:r>
            <a:endParaRPr lang="en-US" sz="1400" dirty="0"/>
          </a:p>
        </p:txBody>
      </p:sp>
      <p:sp>
        <p:nvSpPr>
          <p:cNvPr id="16" name="card-32"/>
          <p:cNvSpPr/>
          <p:nvPr/>
        </p:nvSpPr>
        <p:spPr>
          <a:xfrm>
            <a:off x="4526280" y="1143000"/>
            <a:ext cx="4160520" cy="3520440"/>
          </a:xfrm>
          <a:prstGeom prst="roundRect">
            <a:avLst>
              <a:gd name="adj" fmla="val 3117"/>
            </a:avLst>
          </a:prstGeom>
          <a:solidFill>
            <a:schemeClr val="bg2"/>
          </a:solidFill>
          <a:ln w="12700">
            <a:solidFill>
              <a:schemeClr val="bg2"/>
            </a:solidFill>
            <a:prstDash val="solid"/>
          </a:ln>
        </p:spPr>
      </p:sp>
      <p:sp>
        <p:nvSpPr>
          <p:cNvPr id="17" name="text-33"/>
          <p:cNvSpPr txBox="1"/>
          <p:nvPr/>
        </p:nvSpPr>
        <p:spPr>
          <a:xfrm>
            <a:off x="4754880" y="1280160"/>
            <a:ext cx="219456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Alege-ți nișa</a:t>
            </a:r>
            <a:endParaRPr lang="en-US" sz="1800" dirty="0"/>
          </a:p>
        </p:txBody>
      </p:sp>
      <p:sp>
        <p:nvSpPr>
          <p:cNvPr id="18" name="text-34"/>
          <p:cNvSpPr txBox="1"/>
          <p:nvPr/>
        </p:nvSpPr>
        <p:spPr>
          <a:xfrm>
            <a:off x="4754880" y="1627632"/>
            <a:ext cx="2286000" cy="685800"/>
          </a:xfrm>
          <a:prstGeom prst="rect">
            <a:avLst/>
          </a:prstGeom>
          <a:noFill/>
          <a:ln/>
        </p:spPr>
        <p:txBody>
          <a:bodyPr wrap="square" lIns="0" tIns="0" rIns="0" bIns="0" rtlCol="0" anchor="t"/>
          <a:lstStyle/>
          <a:p>
            <a:pPr indent="0" marL="0">
              <a:buNone/>
            </a:pPr>
            <a:r>
              <a:rPr lang="en-US" sz="1400" dirty="0">
                <a:solidFill>
                  <a:schemeClr val="tx2"/>
                </a:solidFill>
              </a:rPr>
              <a:t>Ce știi să faci cel mai bine? Începe DOAR cu aia.</a:t>
            </a:r>
            <a:endParaRPr lang="en-US" sz="1400" dirty="0"/>
          </a:p>
        </p:txBody>
      </p:sp>
      <p:sp>
        <p:nvSpPr>
          <p:cNvPr id="19" name="chip-35"/>
          <p:cNvSpPr/>
          <p:nvPr/>
        </p:nvSpPr>
        <p:spPr>
          <a:xfrm>
            <a:off x="4754880" y="2377440"/>
            <a:ext cx="2240280" cy="292608"/>
          </a:xfrm>
          <a:prstGeom prst="roundRect">
            <a:avLst>
              <a:gd name="adj" fmla="val 50000"/>
            </a:avLst>
          </a:prstGeom>
          <a:solidFill>
            <a:schemeClr val="bg1"/>
          </a:solidFill>
          <a:ln w="9525">
            <a:solidFill>
              <a:schemeClr val="accent1"/>
            </a:solidFill>
            <a:prstDash val="solid"/>
          </a:ln>
        </p:spPr>
      </p:sp>
      <p:sp>
        <p:nvSpPr>
          <p:cNvPr id="20" name="text-36"/>
          <p:cNvSpPr txBox="1"/>
          <p:nvPr/>
        </p:nvSpPr>
        <p:spPr>
          <a:xfrm>
            <a:off x="4754880" y="2377440"/>
            <a:ext cx="2240280" cy="292608"/>
          </a:xfrm>
          <a:prstGeom prst="rect">
            <a:avLst/>
          </a:prstGeom>
          <a:noFill/>
          <a:ln/>
        </p:spPr>
        <p:txBody>
          <a:bodyPr wrap="square" lIns="0" tIns="0" rIns="0" bIns="0" rtlCol="0" anchor="ctr"/>
          <a:lstStyle/>
          <a:p>
            <a:pPr algn="ctr" indent="0" marL="0">
              <a:buNone/>
            </a:pPr>
            <a:r>
              <a:rPr lang="en-US" sz="1200" dirty="0">
                <a:solidFill>
                  <a:schemeClr val="tx1"/>
                </a:solidFill>
              </a:rPr>
              <a:t>Transformări de culoare</a:t>
            </a:r>
            <a:endParaRPr lang="en-US" sz="1200" dirty="0"/>
          </a:p>
        </p:txBody>
      </p:sp>
      <p:sp>
        <p:nvSpPr>
          <p:cNvPr id="21" name="chip-37"/>
          <p:cNvSpPr/>
          <p:nvPr/>
        </p:nvSpPr>
        <p:spPr>
          <a:xfrm>
            <a:off x="4754880" y="2761488"/>
            <a:ext cx="2240280" cy="292608"/>
          </a:xfrm>
          <a:prstGeom prst="roundRect">
            <a:avLst>
              <a:gd name="adj" fmla="val 50000"/>
            </a:avLst>
          </a:prstGeom>
          <a:solidFill>
            <a:schemeClr val="bg1"/>
          </a:solidFill>
          <a:ln w="9525">
            <a:solidFill>
              <a:schemeClr val="accent1"/>
            </a:solidFill>
            <a:prstDash val="solid"/>
          </a:ln>
        </p:spPr>
      </p:sp>
      <p:sp>
        <p:nvSpPr>
          <p:cNvPr id="22" name="text-38"/>
          <p:cNvSpPr txBox="1"/>
          <p:nvPr/>
        </p:nvSpPr>
        <p:spPr>
          <a:xfrm>
            <a:off x="4754880" y="2761488"/>
            <a:ext cx="2240280" cy="292608"/>
          </a:xfrm>
          <a:prstGeom prst="rect">
            <a:avLst/>
          </a:prstGeom>
          <a:noFill/>
          <a:ln/>
        </p:spPr>
        <p:txBody>
          <a:bodyPr wrap="square" lIns="0" tIns="0" rIns="0" bIns="0" rtlCol="0" anchor="ctr"/>
          <a:lstStyle/>
          <a:p>
            <a:pPr algn="ctr" indent="0" marL="0">
              <a:buNone/>
            </a:pPr>
            <a:r>
              <a:rPr lang="en-US" sz="1200" dirty="0">
                <a:solidFill>
                  <a:schemeClr val="tx1"/>
                </a:solidFill>
              </a:rPr>
              <a:t>Blond &amp; balayage</a:t>
            </a:r>
            <a:endParaRPr lang="en-US" sz="1200" dirty="0"/>
          </a:p>
        </p:txBody>
      </p:sp>
      <p:sp>
        <p:nvSpPr>
          <p:cNvPr id="23" name="chip-39"/>
          <p:cNvSpPr/>
          <p:nvPr/>
        </p:nvSpPr>
        <p:spPr>
          <a:xfrm>
            <a:off x="4754880" y="3145536"/>
            <a:ext cx="2240280" cy="292608"/>
          </a:xfrm>
          <a:prstGeom prst="roundRect">
            <a:avLst>
              <a:gd name="adj" fmla="val 50000"/>
            </a:avLst>
          </a:prstGeom>
          <a:solidFill>
            <a:schemeClr val="bg1"/>
          </a:solidFill>
          <a:ln w="9525">
            <a:solidFill>
              <a:schemeClr val="accent1"/>
            </a:solidFill>
            <a:prstDash val="solid"/>
          </a:ln>
        </p:spPr>
      </p:sp>
      <p:sp>
        <p:nvSpPr>
          <p:cNvPr id="24" name="text-40"/>
          <p:cNvSpPr txBox="1"/>
          <p:nvPr/>
        </p:nvSpPr>
        <p:spPr>
          <a:xfrm>
            <a:off x="4754880" y="3145536"/>
            <a:ext cx="2240280" cy="292608"/>
          </a:xfrm>
          <a:prstGeom prst="rect">
            <a:avLst/>
          </a:prstGeom>
          <a:noFill/>
          <a:ln/>
        </p:spPr>
        <p:txBody>
          <a:bodyPr wrap="square" lIns="0" tIns="0" rIns="0" bIns="0" rtlCol="0" anchor="ctr"/>
          <a:lstStyle/>
          <a:p>
            <a:pPr algn="ctr" indent="0" marL="0">
              <a:buNone/>
            </a:pPr>
            <a:r>
              <a:rPr lang="en-US" sz="1200" dirty="0">
                <a:solidFill>
                  <a:schemeClr val="tx1"/>
                </a:solidFill>
              </a:rPr>
              <a:t>AirTouch</a:t>
            </a:r>
            <a:endParaRPr lang="en-US" sz="1200" dirty="0"/>
          </a:p>
        </p:txBody>
      </p:sp>
      <p:sp>
        <p:nvSpPr>
          <p:cNvPr id="25" name="chip-41"/>
          <p:cNvSpPr/>
          <p:nvPr/>
        </p:nvSpPr>
        <p:spPr>
          <a:xfrm>
            <a:off x="4754880" y="3529584"/>
            <a:ext cx="2240280" cy="292608"/>
          </a:xfrm>
          <a:prstGeom prst="roundRect">
            <a:avLst>
              <a:gd name="adj" fmla="val 50000"/>
            </a:avLst>
          </a:prstGeom>
          <a:solidFill>
            <a:schemeClr val="bg1"/>
          </a:solidFill>
          <a:ln w="9525">
            <a:solidFill>
              <a:schemeClr val="accent1"/>
            </a:solidFill>
            <a:prstDash val="solid"/>
          </a:ln>
        </p:spPr>
      </p:sp>
      <p:sp>
        <p:nvSpPr>
          <p:cNvPr id="26" name="text-42"/>
          <p:cNvSpPr txBox="1"/>
          <p:nvPr/>
        </p:nvSpPr>
        <p:spPr>
          <a:xfrm>
            <a:off x="4754880" y="3529584"/>
            <a:ext cx="2240280" cy="292608"/>
          </a:xfrm>
          <a:prstGeom prst="rect">
            <a:avLst/>
          </a:prstGeom>
          <a:noFill/>
          <a:ln/>
        </p:spPr>
        <p:txBody>
          <a:bodyPr wrap="square" lIns="0" tIns="0" rIns="0" bIns="0" rtlCol="0" anchor="ctr"/>
          <a:lstStyle/>
          <a:p>
            <a:pPr algn="ctr" indent="0" marL="0">
              <a:buNone/>
            </a:pPr>
            <a:r>
              <a:rPr lang="en-US" sz="1200" dirty="0">
                <a:solidFill>
                  <a:schemeClr val="tx1"/>
                </a:solidFill>
              </a:rPr>
              <a:t>Coafuri de eveniment</a:t>
            </a:r>
            <a:endParaRPr lang="en-US" sz="1200" dirty="0"/>
          </a:p>
        </p:txBody>
      </p:sp>
      <p:pic>
        <p:nvPicPr>
          <p:cNvPr id="27" name="before-43" descr="preencoded.png">    </p:cNvPr>
          <p:cNvPicPr>
            <a:picLocks noChangeAspect="1"/>
          </p:cNvPicPr>
          <p:nvPr/>
        </p:nvPicPr>
        <p:blipFill>
          <a:blip r:embed="rId4"/>
          <a:stretch>
            <a:fillRect/>
          </a:stretch>
        </p:blipFill>
        <p:spPr>
          <a:xfrm>
            <a:off x="7178040" y="1325880"/>
            <a:ext cx="713232" cy="1188720"/>
          </a:xfrm>
          <a:prstGeom prst="rect">
            <a:avLst/>
          </a:prstGeom>
        </p:spPr>
      </p:pic>
      <p:pic>
        <p:nvPicPr>
          <p:cNvPr id="28" name="after-44" descr="preencoded.png">    </p:cNvPr>
          <p:cNvPicPr>
            <a:picLocks noChangeAspect="1"/>
          </p:cNvPicPr>
          <p:nvPr/>
        </p:nvPicPr>
        <p:blipFill>
          <a:blip r:embed="rId5"/>
          <a:stretch>
            <a:fillRect/>
          </a:stretch>
        </p:blipFill>
        <p:spPr>
          <a:xfrm>
            <a:off x="7882128" y="1325880"/>
            <a:ext cx="713232" cy="1188720"/>
          </a:xfrm>
          <a:prstGeom prst="rect">
            <a:avLst/>
          </a:prstGeom>
        </p:spPr>
      </p:pic>
      <p:sp>
        <p:nvSpPr>
          <p:cNvPr id="29" name="text-45"/>
          <p:cNvSpPr txBox="1"/>
          <p:nvPr/>
        </p:nvSpPr>
        <p:spPr>
          <a:xfrm>
            <a:off x="7086600" y="2578608"/>
            <a:ext cx="1554480" cy="457200"/>
          </a:xfrm>
          <a:prstGeom prst="rect">
            <a:avLst/>
          </a:prstGeom>
          <a:noFill/>
          <a:ln/>
        </p:spPr>
        <p:txBody>
          <a:bodyPr wrap="square" lIns="0" tIns="0" rIns="0" bIns="0" rtlCol="0" anchor="t"/>
          <a:lstStyle/>
          <a:p>
            <a:pPr algn="ctr" indent="0" marL="0">
              <a:buNone/>
            </a:pPr>
            <a:r>
              <a:rPr lang="en-US" sz="1200" b="1" dirty="0">
                <a:solidFill>
                  <a:schemeClr val="accent2"/>
                </a:solidFill>
              </a:rPr>
              <a:t>Începe cu înainte și după</a:t>
            </a:r>
            <a:endParaRPr lang="en-US" sz="1200" dirty="0"/>
          </a:p>
        </p:txBody>
      </p:sp>
      <p:sp>
        <p:nvSpPr>
          <p:cNvPr id="30" name="text-46"/>
          <p:cNvSpPr txBox="1"/>
          <p:nvPr/>
        </p:nvSpPr>
        <p:spPr>
          <a:xfrm>
            <a:off x="4754880" y="3977640"/>
            <a:ext cx="3749040" cy="548640"/>
          </a:xfrm>
          <a:prstGeom prst="rect">
            <a:avLst/>
          </a:prstGeom>
          <a:noFill/>
          <a:ln/>
        </p:spPr>
        <p:txBody>
          <a:bodyPr wrap="square" lIns="0" tIns="0" rIns="0" bIns="0" rtlCol="0" anchor="t"/>
          <a:lstStyle/>
          <a:p>
            <a:pPr indent="0" marL="0">
              <a:buNone/>
            </a:pPr>
            <a:r>
              <a:rPr lang="en-US" sz="1300" b="1" dirty="0">
                <a:solidFill>
                  <a:schemeClr val="tx1"/>
                </a:solidFill>
              </a:rPr>
              <a:t>Identitate vizuală: </a:t>
            </a:r>
            <a:pPr indent="0" marL="0">
              <a:buNone/>
            </a:pPr>
            <a:r>
              <a:rPr lang="en-US" sz="1300" dirty="0">
                <a:solidFill>
                  <a:schemeClr val="tx1"/>
                </a:solidFill>
              </a:rPr>
              <a:t>aceeași lumină, același colț din salon, aceleași 2–3 culori și același font.</a:t>
            </a:r>
            <a:endParaRPr lang="en-US" sz="13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I · CUM ÎNCEPEM</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Cum te filmezi fără emoții: 3 etape</a:t>
            </a:r>
            <a:endParaRPr lang="en-US" sz="2800" dirty="0"/>
          </a:p>
        </p:txBody>
      </p:sp>
      <p:sp>
        <p:nvSpPr>
          <p:cNvPr id="4" name="card-47"/>
          <p:cNvSpPr/>
          <p:nvPr/>
        </p:nvSpPr>
        <p:spPr>
          <a:xfrm>
            <a:off x="457200" y="1783080"/>
            <a:ext cx="2606040"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101600" dist="25400" dir="5400000">
              <a:srgbClr val="5B4A42">
                <a:alpha val="14000"/>
              </a:srgbClr>
            </a:outerShdw>
          </a:effectLst>
        </p:spPr>
      </p:sp>
      <p:sp>
        <p:nvSpPr>
          <p:cNvPr id="5" name="badge-48"/>
          <p:cNvSpPr/>
          <p:nvPr/>
        </p:nvSpPr>
        <p:spPr>
          <a:xfrm>
            <a:off x="658368" y="1984248"/>
            <a:ext cx="502920" cy="502920"/>
          </a:xfrm>
          <a:prstGeom prst="ellipse">
            <a:avLst/>
          </a:prstGeom>
          <a:solidFill>
            <a:schemeClr val="accent2"/>
          </a:solidFill>
          <a:ln w="12700">
            <a:solidFill>
              <a:schemeClr val="accent2"/>
            </a:solidFill>
            <a:prstDash val="solid"/>
          </a:ln>
        </p:spPr>
      </p:sp>
      <p:pic>
        <p:nvPicPr>
          <p:cNvPr id="6" name="icon-49" descr="preencoded.png">    </p:cNvPr>
          <p:cNvPicPr>
            <a:picLocks noChangeAspect="1"/>
          </p:cNvPicPr>
          <p:nvPr/>
        </p:nvPicPr>
        <p:blipFill>
          <a:blip r:embed="rId1"/>
          <a:stretch>
            <a:fillRect/>
          </a:stretch>
        </p:blipFill>
        <p:spPr>
          <a:xfrm>
            <a:off x="784098" y="2109978"/>
            <a:ext cx="251460" cy="251460"/>
          </a:xfrm>
          <a:prstGeom prst="rect">
            <a:avLst/>
          </a:prstGeom>
        </p:spPr>
      </p:pic>
      <p:sp>
        <p:nvSpPr>
          <p:cNvPr id="7" name="text-50"/>
          <p:cNvSpPr txBox="1"/>
          <p:nvPr/>
        </p:nvSpPr>
        <p:spPr>
          <a:xfrm>
            <a:off x="1280160" y="2130552"/>
            <a:ext cx="164592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ETAPA 1</a:t>
            </a:r>
            <a:endParaRPr lang="en-US" sz="1100" dirty="0"/>
          </a:p>
        </p:txBody>
      </p:sp>
      <p:sp>
        <p:nvSpPr>
          <p:cNvPr id="8" name="text-51"/>
          <p:cNvSpPr txBox="1"/>
          <p:nvPr/>
        </p:nvSpPr>
        <p:spPr>
          <a:xfrm>
            <a:off x="658368" y="2587752"/>
            <a:ext cx="228600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Doar transformarea</a:t>
            </a:r>
            <a:endParaRPr lang="en-US" sz="1600" dirty="0"/>
          </a:p>
        </p:txBody>
      </p:sp>
      <p:sp>
        <p:nvSpPr>
          <p:cNvPr id="9" name="text-52"/>
          <p:cNvSpPr txBox="1"/>
          <p:nvPr/>
        </p:nvSpPr>
        <p:spPr>
          <a:xfrm>
            <a:off x="658368" y="2953512"/>
            <a:ext cx="2240280" cy="502920"/>
          </a:xfrm>
          <a:prstGeom prst="rect">
            <a:avLst/>
          </a:prstGeom>
          <a:noFill/>
          <a:ln/>
        </p:spPr>
        <p:txBody>
          <a:bodyPr wrap="square" lIns="0" tIns="0" rIns="0" bIns="0" rtlCol="0" anchor="t"/>
          <a:lstStyle/>
          <a:p>
            <a:pPr indent="0" marL="0">
              <a:buNone/>
            </a:pPr>
            <a:r>
              <a:rPr lang="en-US" sz="1400" dirty="0">
                <a:solidFill>
                  <a:schemeClr val="tx1"/>
                </a:solidFill>
              </a:rPr>
              <a:t>Tu nu apari. Filmezi părul: înainte, procesul, după.</a:t>
            </a:r>
            <a:endParaRPr lang="en-US" sz="1400" dirty="0"/>
          </a:p>
        </p:txBody>
      </p:sp>
      <p:sp>
        <p:nvSpPr>
          <p:cNvPr id="10" name="text-53"/>
          <p:cNvSpPr txBox="1"/>
          <p:nvPr/>
        </p:nvSpPr>
        <p:spPr>
          <a:xfrm>
            <a:off x="658368" y="3474720"/>
            <a:ext cx="2240280" cy="411480"/>
          </a:xfrm>
          <a:prstGeom prst="rect">
            <a:avLst/>
          </a:prstGeom>
          <a:noFill/>
          <a:ln/>
        </p:spPr>
        <p:txBody>
          <a:bodyPr wrap="square" lIns="0" tIns="0" rIns="0" bIns="0" rtlCol="0" anchor="t"/>
          <a:lstStyle/>
          <a:p>
            <a:pPr indent="0" marL="0">
              <a:buNone/>
            </a:pPr>
            <a:r>
              <a:rPr lang="en-US" sz="1200" i="1" dirty="0">
                <a:solidFill>
                  <a:schemeClr val="tx2"/>
                </a:solidFill>
              </a:rPr>
              <a:t>Ex: 7 secunde de „dezvelire” a blondului final.</a:t>
            </a:r>
            <a:endParaRPr lang="en-US" sz="1200" dirty="0"/>
          </a:p>
        </p:txBody>
      </p:sp>
      <p:sp>
        <p:nvSpPr>
          <p:cNvPr id="11" name="card-54"/>
          <p:cNvSpPr/>
          <p:nvPr/>
        </p:nvSpPr>
        <p:spPr>
          <a:xfrm>
            <a:off x="3273552" y="1463040"/>
            <a:ext cx="2606040" cy="2468880"/>
          </a:xfrm>
          <a:prstGeom prst="roundRect">
            <a:avLst>
              <a:gd name="adj" fmla="val 4444"/>
            </a:avLst>
          </a:prstGeom>
          <a:solidFill>
            <a:schemeClr val="bg2"/>
          </a:solidFill>
          <a:ln w="12700">
            <a:solidFill>
              <a:schemeClr val="bg2"/>
            </a:solidFill>
            <a:prstDash val="solid"/>
          </a:ln>
          <a:effectLst>
            <a:outerShdw sx="100000" sy="100000" kx="0" ky="0" algn="bl" rotWithShape="0" blurRad="101600" dist="25400" dir="5400000">
              <a:srgbClr val="5B4A42">
                <a:alpha val="14000"/>
              </a:srgbClr>
            </a:outerShdw>
          </a:effectLst>
        </p:spPr>
      </p:sp>
      <p:sp>
        <p:nvSpPr>
          <p:cNvPr id="12" name="badge-55"/>
          <p:cNvSpPr/>
          <p:nvPr/>
        </p:nvSpPr>
        <p:spPr>
          <a:xfrm>
            <a:off x="3474720" y="1664208"/>
            <a:ext cx="502920" cy="502920"/>
          </a:xfrm>
          <a:prstGeom prst="ellipse">
            <a:avLst/>
          </a:prstGeom>
          <a:solidFill>
            <a:schemeClr val="accent2"/>
          </a:solidFill>
          <a:ln w="12700">
            <a:solidFill>
              <a:schemeClr val="accent2"/>
            </a:solidFill>
            <a:prstDash val="solid"/>
          </a:ln>
        </p:spPr>
      </p:sp>
      <p:pic>
        <p:nvPicPr>
          <p:cNvPr id="13" name="icon-56" descr="preencoded.png">    </p:cNvPr>
          <p:cNvPicPr>
            <a:picLocks noChangeAspect="1"/>
          </p:cNvPicPr>
          <p:nvPr/>
        </p:nvPicPr>
        <p:blipFill>
          <a:blip r:embed="rId2"/>
          <a:stretch>
            <a:fillRect/>
          </a:stretch>
        </p:blipFill>
        <p:spPr>
          <a:xfrm>
            <a:off x="3600450" y="1789938"/>
            <a:ext cx="251460" cy="251460"/>
          </a:xfrm>
          <a:prstGeom prst="rect">
            <a:avLst/>
          </a:prstGeom>
        </p:spPr>
      </p:pic>
      <p:sp>
        <p:nvSpPr>
          <p:cNvPr id="14" name="text-57"/>
          <p:cNvSpPr txBox="1"/>
          <p:nvPr/>
        </p:nvSpPr>
        <p:spPr>
          <a:xfrm>
            <a:off x="4096512" y="1810512"/>
            <a:ext cx="164592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ETAPA 2</a:t>
            </a:r>
            <a:endParaRPr lang="en-US" sz="1100" dirty="0"/>
          </a:p>
        </p:txBody>
      </p:sp>
      <p:sp>
        <p:nvSpPr>
          <p:cNvPr id="15" name="text-58"/>
          <p:cNvSpPr txBox="1"/>
          <p:nvPr/>
        </p:nvSpPr>
        <p:spPr>
          <a:xfrm>
            <a:off x="3474720" y="2267712"/>
            <a:ext cx="228600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Vocea ta pe fundal</a:t>
            </a:r>
            <a:endParaRPr lang="en-US" sz="1600" dirty="0"/>
          </a:p>
        </p:txBody>
      </p:sp>
      <p:sp>
        <p:nvSpPr>
          <p:cNvPr id="16" name="text-59"/>
          <p:cNvSpPr txBox="1"/>
          <p:nvPr/>
        </p:nvSpPr>
        <p:spPr>
          <a:xfrm>
            <a:off x="3474720" y="2633472"/>
            <a:ext cx="2240280" cy="502920"/>
          </a:xfrm>
          <a:prstGeom prst="rect">
            <a:avLst/>
          </a:prstGeom>
          <a:noFill/>
          <a:ln/>
        </p:spPr>
        <p:txBody>
          <a:bodyPr wrap="square" lIns="0" tIns="0" rIns="0" bIns="0" rtlCol="0" anchor="t"/>
          <a:lstStyle/>
          <a:p>
            <a:pPr indent="0" marL="0">
              <a:buNone/>
            </a:pPr>
            <a:r>
              <a:rPr lang="en-US" sz="1400" dirty="0">
                <a:solidFill>
                  <a:schemeClr val="tx1"/>
                </a:solidFill>
              </a:rPr>
              <a:t>Explici ce ai făcut, peste imagini.</a:t>
            </a:r>
            <a:endParaRPr lang="en-US" sz="1400" dirty="0"/>
          </a:p>
        </p:txBody>
      </p:sp>
      <p:sp>
        <p:nvSpPr>
          <p:cNvPr id="17" name="text-60"/>
          <p:cNvSpPr txBox="1"/>
          <p:nvPr/>
        </p:nvSpPr>
        <p:spPr>
          <a:xfrm>
            <a:off x="3474720" y="3154680"/>
            <a:ext cx="2240280" cy="411480"/>
          </a:xfrm>
          <a:prstGeom prst="rect">
            <a:avLst/>
          </a:prstGeom>
          <a:noFill/>
          <a:ln/>
        </p:spPr>
        <p:txBody>
          <a:bodyPr wrap="square" lIns="0" tIns="0" rIns="0" bIns="0" rtlCol="0" anchor="t"/>
          <a:lstStyle/>
          <a:p>
            <a:pPr indent="0" marL="0">
              <a:buNone/>
            </a:pPr>
            <a:r>
              <a:rPr lang="en-US" sz="1200" i="1" dirty="0">
                <a:solidFill>
                  <a:schemeClr val="tx2"/>
                </a:solidFill>
              </a:rPr>
              <a:t>Ex: „Am pornit de la negru vopsit acasă…”</a:t>
            </a:r>
            <a:endParaRPr lang="en-US" sz="1200" dirty="0"/>
          </a:p>
        </p:txBody>
      </p:sp>
      <p:sp>
        <p:nvSpPr>
          <p:cNvPr id="18" name="card-61"/>
          <p:cNvSpPr/>
          <p:nvPr/>
        </p:nvSpPr>
        <p:spPr>
          <a:xfrm>
            <a:off x="6089904" y="1143000"/>
            <a:ext cx="2606040" cy="2788920"/>
          </a:xfrm>
          <a:prstGeom prst="roundRect">
            <a:avLst>
              <a:gd name="adj" fmla="val 4211"/>
            </a:avLst>
          </a:prstGeom>
          <a:solidFill>
            <a:schemeClr val="tx1"/>
          </a:solidFill>
          <a:ln w="12700">
            <a:solidFill>
              <a:schemeClr val="tx1"/>
            </a:solidFill>
            <a:prstDash val="solid"/>
          </a:ln>
          <a:effectLst>
            <a:outerShdw sx="100000" sy="100000" kx="0" ky="0" algn="bl" rotWithShape="0" blurRad="101600" dist="25400" dir="5400000">
              <a:srgbClr val="5B4A42">
                <a:alpha val="14000"/>
              </a:srgbClr>
            </a:outerShdw>
          </a:effectLst>
        </p:spPr>
      </p:sp>
      <p:sp>
        <p:nvSpPr>
          <p:cNvPr id="19" name="badge-62"/>
          <p:cNvSpPr/>
          <p:nvPr/>
        </p:nvSpPr>
        <p:spPr>
          <a:xfrm>
            <a:off x="6291072" y="1344168"/>
            <a:ext cx="502920" cy="502920"/>
          </a:xfrm>
          <a:prstGeom prst="ellipse">
            <a:avLst/>
          </a:prstGeom>
          <a:solidFill>
            <a:schemeClr val="accent1"/>
          </a:solidFill>
          <a:ln w="12700">
            <a:solidFill>
              <a:schemeClr val="accent1"/>
            </a:solidFill>
            <a:prstDash val="solid"/>
          </a:ln>
        </p:spPr>
      </p:sp>
      <p:pic>
        <p:nvPicPr>
          <p:cNvPr id="20" name="icon-63" descr="preencoded.png">    </p:cNvPr>
          <p:cNvPicPr>
            <a:picLocks noChangeAspect="1"/>
          </p:cNvPicPr>
          <p:nvPr/>
        </p:nvPicPr>
        <p:blipFill>
          <a:blip r:embed="rId3"/>
          <a:stretch>
            <a:fillRect/>
          </a:stretch>
        </p:blipFill>
        <p:spPr>
          <a:xfrm>
            <a:off x="6416802" y="1469898"/>
            <a:ext cx="251460" cy="251460"/>
          </a:xfrm>
          <a:prstGeom prst="rect">
            <a:avLst/>
          </a:prstGeom>
        </p:spPr>
      </p:pic>
      <p:sp>
        <p:nvSpPr>
          <p:cNvPr id="21" name="text-64"/>
          <p:cNvSpPr txBox="1"/>
          <p:nvPr/>
        </p:nvSpPr>
        <p:spPr>
          <a:xfrm>
            <a:off x="6912864" y="1490472"/>
            <a:ext cx="1645920" cy="228600"/>
          </a:xfrm>
          <a:prstGeom prst="rect">
            <a:avLst/>
          </a:prstGeom>
          <a:noFill/>
          <a:ln/>
        </p:spPr>
        <p:txBody>
          <a:bodyPr wrap="square" lIns="0" tIns="0" rIns="0" bIns="0" rtlCol="0" anchor="ctr"/>
          <a:lstStyle/>
          <a:p>
            <a:pPr indent="0" marL="0">
              <a:buNone/>
            </a:pPr>
            <a:r>
              <a:rPr lang="en-US" sz="1100" b="1" spc="200" kern="0" dirty="0">
                <a:solidFill>
                  <a:schemeClr val="accent3"/>
                </a:solidFill>
              </a:rPr>
              <a:t>ETAPA 3</a:t>
            </a:r>
            <a:endParaRPr lang="en-US" sz="1100" dirty="0"/>
          </a:p>
        </p:txBody>
      </p:sp>
      <p:sp>
        <p:nvSpPr>
          <p:cNvPr id="22" name="text-65"/>
          <p:cNvSpPr txBox="1"/>
          <p:nvPr/>
        </p:nvSpPr>
        <p:spPr>
          <a:xfrm>
            <a:off x="6291072" y="1947672"/>
            <a:ext cx="2286000" cy="32004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Apari în cadru</a:t>
            </a:r>
            <a:endParaRPr lang="en-US" sz="1600" dirty="0"/>
          </a:p>
        </p:txBody>
      </p:sp>
      <p:sp>
        <p:nvSpPr>
          <p:cNvPr id="23" name="text-66"/>
          <p:cNvSpPr txBox="1"/>
          <p:nvPr/>
        </p:nvSpPr>
        <p:spPr>
          <a:xfrm>
            <a:off x="6291072" y="2313432"/>
            <a:ext cx="2240280" cy="502920"/>
          </a:xfrm>
          <a:prstGeom prst="rect">
            <a:avLst/>
          </a:prstGeom>
          <a:noFill/>
          <a:ln/>
        </p:spPr>
        <p:txBody>
          <a:bodyPr wrap="square" lIns="0" tIns="0" rIns="0" bIns="0" rtlCol="0" anchor="t"/>
          <a:lstStyle/>
          <a:p>
            <a:pPr indent="0" marL="0">
              <a:buNone/>
            </a:pPr>
            <a:r>
              <a:rPr lang="en-US" sz="1400" dirty="0">
                <a:solidFill>
                  <a:schemeClr val="bg1"/>
                </a:solidFill>
              </a:rPr>
              <a:t>Vorbești, zâmbești, arăți cine ești.</a:t>
            </a:r>
            <a:endParaRPr lang="en-US" sz="1400" dirty="0"/>
          </a:p>
        </p:txBody>
      </p:sp>
      <p:sp>
        <p:nvSpPr>
          <p:cNvPr id="24" name="text-67"/>
          <p:cNvSpPr txBox="1"/>
          <p:nvPr/>
        </p:nvSpPr>
        <p:spPr>
          <a:xfrm>
            <a:off x="6291072" y="2834640"/>
            <a:ext cx="2240280" cy="411480"/>
          </a:xfrm>
          <a:prstGeom prst="rect">
            <a:avLst/>
          </a:prstGeom>
          <a:noFill/>
          <a:ln/>
        </p:spPr>
        <p:txBody>
          <a:bodyPr wrap="square" lIns="0" tIns="0" rIns="0" bIns="0" rtlCol="0" anchor="t"/>
          <a:lstStyle/>
          <a:p>
            <a:pPr indent="0" marL="0">
              <a:buNone/>
            </a:pPr>
            <a:r>
              <a:rPr lang="en-US" sz="1200" i="1" dirty="0">
                <a:solidFill>
                  <a:schemeClr val="accent3"/>
                </a:solidFill>
              </a:rPr>
              <a:t>Ex: 3 sfaturi de îngrijire, spuse de tine.</a:t>
            </a:r>
            <a:endParaRPr lang="en-US" sz="1200" dirty="0"/>
          </a:p>
        </p:txBody>
      </p:sp>
      <p:sp>
        <p:nvSpPr>
          <p:cNvPr id="25" name="badge-68"/>
          <p:cNvSpPr/>
          <p:nvPr/>
        </p:nvSpPr>
        <p:spPr>
          <a:xfrm>
            <a:off x="457200" y="4114800"/>
            <a:ext cx="411480" cy="411480"/>
          </a:xfrm>
          <a:prstGeom prst="ellipse">
            <a:avLst/>
          </a:prstGeom>
          <a:solidFill>
            <a:schemeClr val="accent1"/>
          </a:solidFill>
          <a:ln w="12700">
            <a:solidFill>
              <a:schemeClr val="accent1"/>
            </a:solidFill>
            <a:prstDash val="solid"/>
          </a:ln>
        </p:spPr>
      </p:sp>
      <p:pic>
        <p:nvPicPr>
          <p:cNvPr id="26" name="icon-69" descr="preencoded.png">    </p:cNvPr>
          <p:cNvPicPr>
            <a:picLocks noChangeAspect="1"/>
          </p:cNvPicPr>
          <p:nvPr/>
        </p:nvPicPr>
        <p:blipFill>
          <a:blip r:embed="rId4"/>
          <a:stretch>
            <a:fillRect/>
          </a:stretch>
        </p:blipFill>
        <p:spPr>
          <a:xfrm>
            <a:off x="560070" y="4217670"/>
            <a:ext cx="205740" cy="205740"/>
          </a:xfrm>
          <a:prstGeom prst="rect">
            <a:avLst/>
          </a:prstGeom>
        </p:spPr>
      </p:pic>
      <p:sp>
        <p:nvSpPr>
          <p:cNvPr id="27" name="text-70"/>
          <p:cNvSpPr txBox="1"/>
          <p:nvPr/>
        </p:nvSpPr>
        <p:spPr>
          <a:xfrm>
            <a:off x="1005840" y="4087368"/>
            <a:ext cx="7680960" cy="502920"/>
          </a:xfrm>
          <a:prstGeom prst="rect">
            <a:avLst/>
          </a:prstGeom>
          <a:noFill/>
          <a:ln/>
        </p:spPr>
        <p:txBody>
          <a:bodyPr wrap="square" lIns="0" tIns="0" rIns="0" bIns="0" rtlCol="0" anchor="ctr"/>
          <a:lstStyle/>
          <a:p>
            <a:pPr indent="0" marL="0">
              <a:buNone/>
            </a:pPr>
            <a:r>
              <a:rPr lang="en-US" sz="1300" b="1" dirty="0">
                <a:solidFill>
                  <a:schemeClr val="tx1"/>
                </a:solidFill>
              </a:rPr>
              <a:t>Anti-emoții: </a:t>
            </a:r>
            <a:pPr indent="0" marL="0">
              <a:buNone/>
            </a:pPr>
            <a:r>
              <a:rPr lang="en-US" sz="1300" dirty="0">
                <a:solidFill>
                  <a:schemeClr val="tx1"/>
                </a:solidFill>
              </a:rPr>
              <a:t>trepied, nu mână · vorbește cu clienta, nu cu camera · filmează 5 dubluri, publică una · prima postare nu e examen de bacalaureat.</a:t>
            </a:r>
            <a:endParaRPr lang="en-US" sz="13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II · FACEBOOK</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Facebook: pagina salonului, nu profilul tău</a:t>
            </a:r>
            <a:endParaRPr lang="en-US" sz="2800" dirty="0"/>
          </a:p>
        </p:txBody>
      </p:sp>
      <p:pic>
        <p:nvPicPr>
          <p:cNvPr id="4" name="watermark-71" descr="preencoded.png">    </p:cNvPr>
          <p:cNvPicPr>
            <a:picLocks noChangeAspect="1"/>
          </p:cNvPicPr>
          <p:nvPr/>
        </p:nvPicPr>
        <p:blipFill>
          <a:blip r:embed="rId1">
            <a:alphaModFix amt="7000"/>
          </a:blip>
          <a:stretch>
            <a:fillRect/>
          </a:stretch>
        </p:blipFill>
        <p:spPr>
          <a:xfrm>
            <a:off x="7086600" y="3063240"/>
            <a:ext cx="1920240" cy="1920240"/>
          </a:xfrm>
          <a:prstGeom prst="rect">
            <a:avLst/>
          </a:prstGeom>
        </p:spPr>
      </p:pic>
      <p:sp>
        <p:nvSpPr>
          <p:cNvPr id="5" name="card-72"/>
          <p:cNvSpPr/>
          <p:nvPr/>
        </p:nvSpPr>
        <p:spPr>
          <a:xfrm>
            <a:off x="457200" y="1188720"/>
            <a:ext cx="2331720" cy="2331720"/>
          </a:xfrm>
          <a:prstGeom prst="roundRect">
            <a:avLst>
              <a:gd name="adj" fmla="val 4706"/>
            </a:avLst>
          </a:prstGeom>
          <a:solidFill>
            <a:schemeClr val="bg2"/>
          </a:solidFill>
          <a:ln w="12700">
            <a:solidFill>
              <a:schemeClr val="bg2"/>
            </a:solidFill>
            <a:prstDash val="solid"/>
          </a:ln>
        </p:spPr>
      </p:sp>
      <p:sp>
        <p:nvSpPr>
          <p:cNvPr id="6" name="card-73"/>
          <p:cNvSpPr/>
          <p:nvPr/>
        </p:nvSpPr>
        <p:spPr>
          <a:xfrm>
            <a:off x="2926080" y="1188720"/>
            <a:ext cx="2331720" cy="2331720"/>
          </a:xfrm>
          <a:prstGeom prst="roundRect">
            <a:avLst>
              <a:gd name="adj" fmla="val 4706"/>
            </a:avLst>
          </a:prstGeom>
          <a:solidFill>
            <a:schemeClr val="tx1"/>
          </a:solidFill>
          <a:ln w="12700">
            <a:solidFill>
              <a:schemeClr val="tx1"/>
            </a:solidFill>
            <a:prstDash val="solid"/>
          </a:ln>
        </p:spPr>
      </p:sp>
      <p:sp>
        <p:nvSpPr>
          <p:cNvPr id="7" name="text-74"/>
          <p:cNvSpPr txBox="1"/>
          <p:nvPr/>
        </p:nvSpPr>
        <p:spPr>
          <a:xfrm>
            <a:off x="640080" y="1325880"/>
            <a:ext cx="2011680" cy="274320"/>
          </a:xfrm>
          <a:prstGeom prst="rect">
            <a:avLst/>
          </a:prstGeom>
          <a:noFill/>
          <a:ln/>
        </p:spPr>
        <p:txBody>
          <a:bodyPr wrap="square" lIns="0" tIns="0" rIns="0" bIns="0" rtlCol="0" anchor="t"/>
          <a:lstStyle/>
          <a:p>
            <a:pPr indent="0" marL="0">
              <a:buNone/>
            </a:pPr>
            <a:r>
              <a:rPr lang="en-US" sz="1500" b="1" dirty="0">
                <a:solidFill>
                  <a:schemeClr val="tx1"/>
                </a:solidFill>
              </a:rPr>
              <a:t>Profil personal</a:t>
            </a:r>
            <a:endParaRPr lang="en-US" sz="1500" dirty="0"/>
          </a:p>
        </p:txBody>
      </p:sp>
      <p:sp>
        <p:nvSpPr>
          <p:cNvPr id="8" name="text-75"/>
          <p:cNvSpPr txBox="1"/>
          <p:nvPr/>
        </p:nvSpPr>
        <p:spPr>
          <a:xfrm>
            <a:off x="640080" y="1691640"/>
            <a:ext cx="201168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Pentru prieteni și familie</a:t>
            </a:r>
            <a:endParaRPr lang="en-US" sz="1400" dirty="0"/>
          </a:p>
          <a:p>
            <a:pPr marL="342900" indent="-342900">
              <a:spcAft>
                <a:spcPts val="600"/>
              </a:spcAft>
              <a:buSzPct val="100000"/>
              <a:buChar char="•"/>
            </a:pPr>
            <a:r>
              <a:rPr lang="en-US" sz="1400" dirty="0">
                <a:solidFill>
                  <a:schemeClr val="tx2"/>
                </a:solidFill>
              </a:rPr>
              <a:t>Limită de prieteni</a:t>
            </a:r>
            <a:endParaRPr lang="en-US" sz="1400" dirty="0"/>
          </a:p>
          <a:p>
            <a:pPr marL="342900" indent="-342900">
              <a:spcAft>
                <a:spcPts val="600"/>
              </a:spcAft>
              <a:buSzPct val="100000"/>
              <a:buChar char="•"/>
            </a:pPr>
            <a:r>
              <a:rPr lang="en-US" sz="1400" dirty="0">
                <a:solidFill>
                  <a:schemeClr val="tx2"/>
                </a:solidFill>
              </a:rPr>
              <a:t>Viața ta privată</a:t>
            </a:r>
            <a:endParaRPr lang="en-US" sz="1400" dirty="0"/>
          </a:p>
        </p:txBody>
      </p:sp>
      <p:sp>
        <p:nvSpPr>
          <p:cNvPr id="9" name="text-76"/>
          <p:cNvSpPr txBox="1"/>
          <p:nvPr/>
        </p:nvSpPr>
        <p:spPr>
          <a:xfrm>
            <a:off x="3108960" y="1325880"/>
            <a:ext cx="2057400" cy="274320"/>
          </a:xfrm>
          <a:prstGeom prst="rect">
            <a:avLst/>
          </a:prstGeom>
          <a:noFill/>
          <a:ln/>
        </p:spPr>
        <p:txBody>
          <a:bodyPr wrap="square" lIns="0" tIns="0" rIns="0" bIns="0" rtlCol="0" anchor="t"/>
          <a:lstStyle/>
          <a:p>
            <a:pPr indent="0" marL="0">
              <a:buNone/>
            </a:pPr>
            <a:r>
              <a:rPr lang="en-US" sz="1500" b="1" dirty="0">
                <a:solidFill>
                  <a:schemeClr val="accent3"/>
                </a:solidFill>
              </a:rPr>
              <a:t>Pagina profesională</a:t>
            </a:r>
            <a:endParaRPr lang="en-US" sz="1500" dirty="0"/>
          </a:p>
        </p:txBody>
      </p:sp>
      <p:sp>
        <p:nvSpPr>
          <p:cNvPr id="10" name="text-77"/>
          <p:cNvSpPr txBox="1"/>
          <p:nvPr/>
        </p:nvSpPr>
        <p:spPr>
          <a:xfrm>
            <a:off x="3108960" y="1691640"/>
            <a:ext cx="205740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Urmăritori nelimitați</a:t>
            </a:r>
            <a:endParaRPr lang="en-US" sz="1400" dirty="0"/>
          </a:p>
          <a:p>
            <a:pPr marL="342900" indent="-342900">
              <a:spcAft>
                <a:spcPts val="600"/>
              </a:spcAft>
              <a:buSzPct val="100000"/>
              <a:buChar char="•"/>
            </a:pPr>
            <a:r>
              <a:rPr lang="en-US" sz="1400" dirty="0">
                <a:solidFill>
                  <a:schemeClr val="bg1"/>
                </a:solidFill>
              </a:rPr>
              <a:t>Recenzii, program, hartă</a:t>
            </a:r>
            <a:endParaRPr lang="en-US" sz="1400" dirty="0"/>
          </a:p>
          <a:p>
            <a:pPr marL="342900" indent="-342900">
              <a:spcAft>
                <a:spcPts val="600"/>
              </a:spcAft>
              <a:buSzPct val="100000"/>
              <a:buChar char="•"/>
            </a:pPr>
            <a:r>
              <a:rPr lang="en-US" sz="1400" dirty="0">
                <a:solidFill>
                  <a:schemeClr val="bg1"/>
                </a:solidFill>
              </a:rPr>
              <a:t>Statistici și reclame</a:t>
            </a:r>
            <a:endParaRPr lang="en-US" sz="1400" dirty="0"/>
          </a:p>
          <a:p>
            <a:pPr marL="342900" indent="-342900">
              <a:spcAft>
                <a:spcPts val="600"/>
              </a:spcAft>
              <a:buSzPct val="100000"/>
              <a:buChar char="•"/>
            </a:pPr>
            <a:r>
              <a:rPr lang="en-US" sz="1400" dirty="0">
                <a:solidFill>
                  <a:schemeClr val="bg1"/>
                </a:solidFill>
              </a:rPr>
              <a:t>Buton de programare</a:t>
            </a:r>
            <a:endParaRPr lang="en-US" sz="1400" dirty="0"/>
          </a:p>
        </p:txBody>
      </p:sp>
      <p:sp>
        <p:nvSpPr>
          <p:cNvPr id="11" name="text-78"/>
          <p:cNvSpPr txBox="1"/>
          <p:nvPr/>
        </p:nvSpPr>
        <p:spPr>
          <a:xfrm>
            <a:off x="457200" y="3657600"/>
            <a:ext cx="4800600" cy="274320"/>
          </a:xfrm>
          <a:prstGeom prst="rect">
            <a:avLst/>
          </a:prstGeom>
          <a:noFill/>
          <a:ln/>
        </p:spPr>
        <p:txBody>
          <a:bodyPr wrap="square" lIns="0" tIns="0" rIns="0" bIns="0" rtlCol="0" anchor="t"/>
          <a:lstStyle/>
          <a:p>
            <a:pPr indent="0" marL="0">
              <a:buNone/>
            </a:pPr>
            <a:r>
              <a:rPr lang="en-US" sz="1200" i="1" dirty="0">
                <a:solidFill>
                  <a:schemeClr val="tx2"/>
                </a:solidFill>
              </a:rPr>
              <a:t>„Pagina de like-uri” = pagina profesională.</a:t>
            </a:r>
            <a:endParaRPr lang="en-US" sz="1200" dirty="0"/>
          </a:p>
        </p:txBody>
      </p:sp>
      <p:sp>
        <p:nvSpPr>
          <p:cNvPr id="12" name="text-79"/>
          <p:cNvSpPr txBox="1"/>
          <p:nvPr/>
        </p:nvSpPr>
        <p:spPr>
          <a:xfrm>
            <a:off x="457200" y="3977640"/>
            <a:ext cx="4800600" cy="548640"/>
          </a:xfrm>
          <a:prstGeom prst="rect">
            <a:avLst/>
          </a:prstGeom>
          <a:noFill/>
          <a:ln/>
        </p:spPr>
        <p:txBody>
          <a:bodyPr wrap="square" lIns="0" tIns="0" rIns="0" bIns="0" rtlCol="0" anchor="t"/>
          <a:lstStyle/>
          <a:p>
            <a:pPr indent="0" marL="0">
              <a:buNone/>
            </a:pPr>
            <a:r>
              <a:rPr lang="en-US" sz="1300" b="1" dirty="0">
                <a:solidFill>
                  <a:schemeClr val="tx1"/>
                </a:solidFill>
              </a:rPr>
              <a:t>Creezi: </a:t>
            </a:r>
            <a:pPr indent="0" marL="0">
              <a:buNone/>
            </a:pPr>
            <a:r>
              <a:rPr lang="en-US" sz="1300" dirty="0">
                <a:solidFill>
                  <a:schemeClr val="tx1"/>
                </a:solidFill>
              </a:rPr>
              <a:t>Meniu → Pagini → Creează. Categoria: Salon de înfrumusețare / Coafor.</a:t>
            </a:r>
            <a:endParaRPr lang="en-US" sz="1300" dirty="0"/>
          </a:p>
        </p:txBody>
      </p:sp>
      <p:sp>
        <p:nvSpPr>
          <p:cNvPr id="13" name="phone-80"/>
          <p:cNvSpPr/>
          <p:nvPr/>
        </p:nvSpPr>
        <p:spPr>
          <a:xfrm>
            <a:off x="5760720" y="1097280"/>
            <a:ext cx="2057400" cy="3611880"/>
          </a:xfrm>
          <a:prstGeom prst="roundRect">
            <a:avLst>
              <a:gd name="adj" fmla="val 9778"/>
            </a:avLst>
          </a:prstGeom>
          <a:solidFill>
            <a:schemeClr val="tx1"/>
          </a:solidFill>
          <a:ln w="12700">
            <a:solidFill>
              <a:schemeClr val="tx1"/>
            </a:solidFill>
            <a:prstDash val="solid"/>
          </a:ln>
          <a:effectLst>
            <a:outerShdw sx="100000" sy="100000" kx="0" ky="0" algn="bl" rotWithShape="0" blurRad="101600" dist="25400" dir="5400000">
              <a:srgbClr val="5B4A42">
                <a:alpha val="14000"/>
              </a:srgbClr>
            </a:outerShdw>
          </a:effectLst>
        </p:spPr>
      </p:sp>
      <p:sp>
        <p:nvSpPr>
          <p:cNvPr id="14" name="screen-81"/>
          <p:cNvSpPr/>
          <p:nvPr/>
        </p:nvSpPr>
        <p:spPr>
          <a:xfrm>
            <a:off x="5824728" y="1161288"/>
            <a:ext cx="1929384" cy="3483864"/>
          </a:xfrm>
          <a:prstGeom prst="roundRect">
            <a:avLst>
              <a:gd name="adj" fmla="val 8057"/>
            </a:avLst>
          </a:prstGeom>
          <a:solidFill>
            <a:schemeClr val="bg1"/>
          </a:solidFill>
          <a:ln w="12700">
            <a:solidFill>
              <a:schemeClr val="bg1"/>
            </a:solidFill>
            <a:prstDash val="solid"/>
          </a:ln>
        </p:spPr>
      </p:sp>
      <p:sp>
        <p:nvSpPr>
          <p:cNvPr id="15" name="notch-82"/>
          <p:cNvSpPr/>
          <p:nvPr/>
        </p:nvSpPr>
        <p:spPr>
          <a:xfrm>
            <a:off x="6560820" y="1197864"/>
            <a:ext cx="457200" cy="64008"/>
          </a:xfrm>
          <a:prstGeom prst="roundRect">
            <a:avLst>
              <a:gd name="adj" fmla="val 42857"/>
            </a:avLst>
          </a:prstGeom>
          <a:solidFill>
            <a:schemeClr val="tx1"/>
          </a:solidFill>
          <a:ln w="12700">
            <a:solidFill>
              <a:schemeClr val="tx1"/>
            </a:solidFill>
            <a:prstDash val="solid"/>
          </a:ln>
        </p:spPr>
      </p:sp>
      <p:sp>
        <p:nvSpPr>
          <p:cNvPr id="16" name="cover-83"/>
          <p:cNvSpPr/>
          <p:nvPr/>
        </p:nvSpPr>
        <p:spPr>
          <a:xfrm>
            <a:off x="5824728" y="1389888"/>
            <a:ext cx="1929384" cy="685800"/>
          </a:xfrm>
          <a:prstGeom prst="rect">
            <a:avLst/>
          </a:prstGeom>
          <a:solidFill>
            <a:schemeClr val="accent3"/>
          </a:solidFill>
          <a:ln w="12700">
            <a:solidFill>
              <a:schemeClr val="accent3"/>
            </a:solidFill>
            <a:prstDash val="solid"/>
          </a:ln>
        </p:spPr>
      </p:sp>
      <p:sp>
        <p:nvSpPr>
          <p:cNvPr id="17" name="avatar-84"/>
          <p:cNvSpPr/>
          <p:nvPr/>
        </p:nvSpPr>
        <p:spPr>
          <a:xfrm>
            <a:off x="5961888" y="1847088"/>
            <a:ext cx="457200" cy="457200"/>
          </a:xfrm>
          <a:prstGeom prst="ellipse">
            <a:avLst/>
          </a:prstGeom>
          <a:solidFill>
            <a:schemeClr val="accent2"/>
          </a:solidFill>
          <a:ln w="25400">
            <a:solidFill>
              <a:schemeClr val="bg1"/>
            </a:solidFill>
            <a:prstDash val="solid"/>
          </a:ln>
        </p:spPr>
      </p:sp>
      <p:sp>
        <p:nvSpPr>
          <p:cNvPr id="18" name="text-85"/>
          <p:cNvSpPr txBox="1"/>
          <p:nvPr/>
        </p:nvSpPr>
        <p:spPr>
          <a:xfrm>
            <a:off x="5961888" y="2350008"/>
            <a:ext cx="1655064" cy="384048"/>
          </a:xfrm>
          <a:prstGeom prst="rect">
            <a:avLst/>
          </a:prstGeom>
          <a:noFill/>
          <a:ln/>
        </p:spPr>
        <p:txBody>
          <a:bodyPr wrap="square" lIns="0" tIns="0" rIns="0" bIns="0" rtlCol="0" anchor="t"/>
          <a:lstStyle/>
          <a:p>
            <a:pPr indent="0" marL="0">
              <a:buNone/>
            </a:pPr>
            <a:r>
              <a:rPr lang="en-US" sz="1100" b="1" dirty="0">
                <a:solidFill>
                  <a:schemeClr val="tx1"/>
                </a:solidFill>
              </a:rPr>
              <a:t>Salonul Tău · Blond &amp; Balayage</a:t>
            </a:r>
            <a:endParaRPr lang="en-US" sz="1100" dirty="0"/>
          </a:p>
        </p:txBody>
      </p:sp>
      <p:pic>
        <p:nvPicPr>
          <p:cNvPr id="19" name="ui-86" descr="preencoded.png">    </p:cNvPr>
          <p:cNvPicPr>
            <a:picLocks noChangeAspect="1"/>
          </p:cNvPicPr>
          <p:nvPr/>
        </p:nvPicPr>
        <p:blipFill>
          <a:blip r:embed="rId2"/>
          <a:stretch>
            <a:fillRect/>
          </a:stretch>
        </p:blipFill>
        <p:spPr>
          <a:xfrm>
            <a:off x="5980176" y="2807208"/>
            <a:ext cx="146304" cy="146304"/>
          </a:xfrm>
          <a:prstGeom prst="rect">
            <a:avLst/>
          </a:prstGeom>
        </p:spPr>
      </p:pic>
      <p:sp>
        <p:nvSpPr>
          <p:cNvPr id="20" name="text-87"/>
          <p:cNvSpPr txBox="1"/>
          <p:nvPr/>
        </p:nvSpPr>
        <p:spPr>
          <a:xfrm>
            <a:off x="6208776" y="2770632"/>
            <a:ext cx="1472184" cy="219456"/>
          </a:xfrm>
          <a:prstGeom prst="rect">
            <a:avLst/>
          </a:prstGeom>
          <a:noFill/>
          <a:ln/>
        </p:spPr>
        <p:txBody>
          <a:bodyPr wrap="square" lIns="0" tIns="0" rIns="0" bIns="0" rtlCol="0" anchor="t"/>
          <a:lstStyle/>
          <a:p>
            <a:pPr indent="0" marL="0">
              <a:buNone/>
            </a:pPr>
            <a:r>
              <a:rPr lang="en-US" sz="1000" dirty="0">
                <a:solidFill>
                  <a:schemeClr val="tx2"/>
                </a:solidFill>
              </a:rPr>
              <a:t>Adresă + hartă</a:t>
            </a:r>
            <a:endParaRPr lang="en-US" sz="1000" dirty="0"/>
          </a:p>
        </p:txBody>
      </p:sp>
      <p:pic>
        <p:nvPicPr>
          <p:cNvPr id="21" name="ui-88" descr="preencoded.png">    </p:cNvPr>
          <p:cNvPicPr>
            <a:picLocks noChangeAspect="1"/>
          </p:cNvPicPr>
          <p:nvPr/>
        </p:nvPicPr>
        <p:blipFill>
          <a:blip r:embed="rId3"/>
          <a:stretch>
            <a:fillRect/>
          </a:stretch>
        </p:blipFill>
        <p:spPr>
          <a:xfrm>
            <a:off x="5980176" y="3081528"/>
            <a:ext cx="146304" cy="146304"/>
          </a:xfrm>
          <a:prstGeom prst="rect">
            <a:avLst/>
          </a:prstGeom>
        </p:spPr>
      </p:pic>
      <p:sp>
        <p:nvSpPr>
          <p:cNvPr id="22" name="text-89"/>
          <p:cNvSpPr txBox="1"/>
          <p:nvPr/>
        </p:nvSpPr>
        <p:spPr>
          <a:xfrm>
            <a:off x="6208776" y="3044952"/>
            <a:ext cx="1472184" cy="219456"/>
          </a:xfrm>
          <a:prstGeom prst="rect">
            <a:avLst/>
          </a:prstGeom>
          <a:noFill/>
          <a:ln/>
        </p:spPr>
        <p:txBody>
          <a:bodyPr wrap="square" lIns="0" tIns="0" rIns="0" bIns="0" rtlCol="0" anchor="t"/>
          <a:lstStyle/>
          <a:p>
            <a:pPr indent="0" marL="0">
              <a:buNone/>
            </a:pPr>
            <a:r>
              <a:rPr lang="en-US" sz="1000" dirty="0">
                <a:solidFill>
                  <a:schemeClr val="tx2"/>
                </a:solidFill>
              </a:rPr>
              <a:t>Program</a:t>
            </a:r>
            <a:endParaRPr lang="en-US" sz="1000" dirty="0"/>
          </a:p>
        </p:txBody>
      </p:sp>
      <p:pic>
        <p:nvPicPr>
          <p:cNvPr id="23" name="ui-90" descr="preencoded.png">    </p:cNvPr>
          <p:cNvPicPr>
            <a:picLocks noChangeAspect="1"/>
          </p:cNvPicPr>
          <p:nvPr/>
        </p:nvPicPr>
        <p:blipFill>
          <a:blip r:embed="rId4"/>
          <a:stretch>
            <a:fillRect/>
          </a:stretch>
        </p:blipFill>
        <p:spPr>
          <a:xfrm>
            <a:off x="5980176" y="3355848"/>
            <a:ext cx="146304" cy="146304"/>
          </a:xfrm>
          <a:prstGeom prst="rect">
            <a:avLst/>
          </a:prstGeom>
        </p:spPr>
      </p:pic>
      <p:sp>
        <p:nvSpPr>
          <p:cNvPr id="24" name="text-91"/>
          <p:cNvSpPr txBox="1"/>
          <p:nvPr/>
        </p:nvSpPr>
        <p:spPr>
          <a:xfrm>
            <a:off x="6208776" y="3319272"/>
            <a:ext cx="1472184" cy="219456"/>
          </a:xfrm>
          <a:prstGeom prst="rect">
            <a:avLst/>
          </a:prstGeom>
          <a:noFill/>
          <a:ln/>
        </p:spPr>
        <p:txBody>
          <a:bodyPr wrap="square" lIns="0" tIns="0" rIns="0" bIns="0" rtlCol="0" anchor="t"/>
          <a:lstStyle/>
          <a:p>
            <a:pPr indent="0" marL="0">
              <a:buNone/>
            </a:pPr>
            <a:r>
              <a:rPr lang="en-US" sz="1000" dirty="0">
                <a:solidFill>
                  <a:schemeClr val="tx2"/>
                </a:solidFill>
              </a:rPr>
              <a:t>Telefon / WhatsApp</a:t>
            </a:r>
            <a:endParaRPr lang="en-US" sz="1000" dirty="0"/>
          </a:p>
        </p:txBody>
      </p:sp>
      <p:pic>
        <p:nvPicPr>
          <p:cNvPr id="25" name="ui-92" descr="preencoded.png">    </p:cNvPr>
          <p:cNvPicPr>
            <a:picLocks noChangeAspect="1"/>
          </p:cNvPicPr>
          <p:nvPr/>
        </p:nvPicPr>
        <p:blipFill>
          <a:blip r:embed="rId5"/>
          <a:stretch>
            <a:fillRect/>
          </a:stretch>
        </p:blipFill>
        <p:spPr>
          <a:xfrm>
            <a:off x="5980176" y="3630168"/>
            <a:ext cx="146304" cy="146304"/>
          </a:xfrm>
          <a:prstGeom prst="rect">
            <a:avLst/>
          </a:prstGeom>
        </p:spPr>
      </p:pic>
      <p:sp>
        <p:nvSpPr>
          <p:cNvPr id="26" name="text-93"/>
          <p:cNvSpPr txBox="1"/>
          <p:nvPr/>
        </p:nvSpPr>
        <p:spPr>
          <a:xfrm>
            <a:off x="6208776" y="3593592"/>
            <a:ext cx="1472184" cy="219456"/>
          </a:xfrm>
          <a:prstGeom prst="rect">
            <a:avLst/>
          </a:prstGeom>
          <a:noFill/>
          <a:ln/>
        </p:spPr>
        <p:txBody>
          <a:bodyPr wrap="square" lIns="0" tIns="0" rIns="0" bIns="0" rtlCol="0" anchor="t"/>
          <a:lstStyle/>
          <a:p>
            <a:pPr indent="0" marL="0">
              <a:buNone/>
            </a:pPr>
            <a:r>
              <a:rPr lang="en-US" sz="1000" dirty="0">
                <a:solidFill>
                  <a:schemeClr val="tx2"/>
                </a:solidFill>
              </a:rPr>
              <a:t>Recenzii</a:t>
            </a:r>
            <a:endParaRPr lang="en-US" sz="1000" dirty="0"/>
          </a:p>
        </p:txBody>
      </p:sp>
      <p:sp>
        <p:nvSpPr>
          <p:cNvPr id="27" name="cta-94"/>
          <p:cNvSpPr/>
          <p:nvPr/>
        </p:nvSpPr>
        <p:spPr>
          <a:xfrm>
            <a:off x="5961888" y="3995928"/>
            <a:ext cx="1655064" cy="347472"/>
          </a:xfrm>
          <a:prstGeom prst="roundRect">
            <a:avLst>
              <a:gd name="adj" fmla="val 21053"/>
            </a:avLst>
          </a:prstGeom>
          <a:solidFill>
            <a:srgbClr val="1877F2"/>
          </a:solidFill>
          <a:ln w="12700">
            <a:solidFill>
              <a:srgbClr val="1877F2"/>
            </a:solidFill>
            <a:prstDash val="solid"/>
          </a:ln>
        </p:spPr>
      </p:sp>
      <p:sp>
        <p:nvSpPr>
          <p:cNvPr id="28" name="text-95"/>
          <p:cNvSpPr txBox="1"/>
          <p:nvPr/>
        </p:nvSpPr>
        <p:spPr>
          <a:xfrm>
            <a:off x="5961888" y="3995928"/>
            <a:ext cx="1655064" cy="347472"/>
          </a:xfrm>
          <a:prstGeom prst="rect">
            <a:avLst/>
          </a:prstGeom>
          <a:noFill/>
          <a:ln/>
        </p:spPr>
        <p:txBody>
          <a:bodyPr wrap="square" lIns="0" tIns="0" rIns="0" bIns="0" rtlCol="0" anchor="ctr"/>
          <a:lstStyle/>
          <a:p>
            <a:pPr algn="ctr" indent="0" marL="0">
              <a:buNone/>
            </a:pPr>
            <a:r>
              <a:rPr lang="en-US" sz="1200" b="1" dirty="0">
                <a:solidFill>
                  <a:schemeClr val="bg1"/>
                </a:solidFill>
              </a:rPr>
              <a:t>Rezervă acum</a:t>
            </a:r>
            <a:endParaRPr lang="en-US" sz="1200" dirty="0"/>
          </a:p>
        </p:txBody>
      </p:sp>
      <p:sp>
        <p:nvSpPr>
          <p:cNvPr id="29" name="arrow-96"/>
          <p:cNvSpPr/>
          <p:nvPr/>
        </p:nvSpPr>
        <p:spPr>
          <a:xfrm flipH="1" flipV="1">
            <a:off x="7772400" y="4114800"/>
            <a:ext cx="731520" cy="91440"/>
          </a:xfrm>
          <a:prstGeom prst="line">
            <a:avLst/>
          </a:prstGeom>
          <a:noFill/>
          <a:ln w="22225">
            <a:solidFill>
              <a:schemeClr val="accent2"/>
            </a:solidFill>
            <a:prstDash val="solid"/>
            <a:tailEnd type="triangle"/>
          </a:ln>
        </p:spPr>
      </p:sp>
      <p:sp>
        <p:nvSpPr>
          <p:cNvPr id="30" name="text-97"/>
          <p:cNvSpPr txBox="1"/>
          <p:nvPr/>
        </p:nvSpPr>
        <p:spPr>
          <a:xfrm>
            <a:off x="7909560" y="4279392"/>
            <a:ext cx="914400" cy="411480"/>
          </a:xfrm>
          <a:prstGeom prst="rect">
            <a:avLst/>
          </a:prstGeom>
          <a:noFill/>
          <a:ln/>
        </p:spPr>
        <p:txBody>
          <a:bodyPr wrap="square" lIns="0" tIns="0" rIns="0" bIns="0" rtlCol="0" anchor="t"/>
          <a:lstStyle/>
          <a:p>
            <a:pPr indent="0" marL="0">
              <a:buNone/>
            </a:pPr>
            <a:r>
              <a:rPr lang="en-US" sz="1000" b="1" dirty="0">
                <a:solidFill>
                  <a:schemeClr val="accent2"/>
                </a:solidFill>
              </a:rPr>
              <a:t>Butonul de acțiune</a:t>
            </a:r>
            <a:endParaRPr lang="en-US" sz="10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II · FACEBOOK</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Facebook: de la like la programare</a:t>
            </a:r>
            <a:endParaRPr lang="en-US" sz="2800" dirty="0"/>
          </a:p>
        </p:txBody>
      </p:sp>
      <p:pic>
        <p:nvPicPr>
          <p:cNvPr id="4" name="watermark-98" descr="preencoded.png">    </p:cNvPr>
          <p:cNvPicPr>
            <a:picLocks noChangeAspect="1"/>
          </p:cNvPicPr>
          <p:nvPr/>
        </p:nvPicPr>
        <p:blipFill>
          <a:blip r:embed="rId1">
            <a:alphaModFix amt="7000"/>
          </a:blip>
          <a:stretch>
            <a:fillRect/>
          </a:stretch>
        </p:blipFill>
        <p:spPr>
          <a:xfrm>
            <a:off x="7086600" y="3063240"/>
            <a:ext cx="1920240" cy="1920240"/>
          </a:xfrm>
          <a:prstGeom prst="rect">
            <a:avLst/>
          </a:prstGeom>
        </p:spPr>
      </p:pic>
      <p:sp>
        <p:nvSpPr>
          <p:cNvPr id="5" name="card-99"/>
          <p:cNvSpPr/>
          <p:nvPr/>
        </p:nvSpPr>
        <p:spPr>
          <a:xfrm>
            <a:off x="457200" y="1188720"/>
            <a:ext cx="2377440" cy="1600200"/>
          </a:xfrm>
          <a:prstGeom prst="roundRect">
            <a:avLst>
              <a:gd name="adj" fmla="val 6857"/>
            </a:avLst>
          </a:prstGeom>
          <a:solidFill>
            <a:schemeClr val="bg2"/>
          </a:solidFill>
          <a:ln w="12700">
            <a:solidFill>
              <a:schemeClr val="bg2"/>
            </a:solidFill>
            <a:prstDash val="solid"/>
          </a:ln>
        </p:spPr>
      </p:sp>
      <p:sp>
        <p:nvSpPr>
          <p:cNvPr id="6" name="badge-100"/>
          <p:cNvSpPr/>
          <p:nvPr/>
        </p:nvSpPr>
        <p:spPr>
          <a:xfrm>
            <a:off x="621792" y="1353312"/>
            <a:ext cx="411480" cy="411480"/>
          </a:xfrm>
          <a:prstGeom prst="ellipse">
            <a:avLst/>
          </a:prstGeom>
          <a:solidFill>
            <a:schemeClr val="accent2"/>
          </a:solidFill>
          <a:ln w="12700">
            <a:solidFill>
              <a:schemeClr val="accent2"/>
            </a:solidFill>
            <a:prstDash val="solid"/>
          </a:ln>
        </p:spPr>
      </p:sp>
      <p:pic>
        <p:nvPicPr>
          <p:cNvPr id="7" name="icon-101" descr="preencoded.png">    </p:cNvPr>
          <p:cNvPicPr>
            <a:picLocks noChangeAspect="1"/>
          </p:cNvPicPr>
          <p:nvPr/>
        </p:nvPicPr>
        <p:blipFill>
          <a:blip r:embed="rId2"/>
          <a:stretch>
            <a:fillRect/>
          </a:stretch>
        </p:blipFill>
        <p:spPr>
          <a:xfrm>
            <a:off x="724662" y="1456182"/>
            <a:ext cx="205740" cy="205740"/>
          </a:xfrm>
          <a:prstGeom prst="rect">
            <a:avLst/>
          </a:prstGeom>
        </p:spPr>
      </p:pic>
      <p:sp>
        <p:nvSpPr>
          <p:cNvPr id="8" name="text-102"/>
          <p:cNvSpPr txBox="1"/>
          <p:nvPr/>
        </p:nvSpPr>
        <p:spPr>
          <a:xfrm>
            <a:off x="1143000" y="1353312"/>
            <a:ext cx="1600200" cy="411480"/>
          </a:xfrm>
          <a:prstGeom prst="rect">
            <a:avLst/>
          </a:prstGeom>
          <a:noFill/>
          <a:ln/>
        </p:spPr>
        <p:txBody>
          <a:bodyPr wrap="square" lIns="0" tIns="0" rIns="0" bIns="0" rtlCol="0" anchor="ctr"/>
          <a:lstStyle/>
          <a:p>
            <a:pPr indent="0" marL="0">
              <a:buNone/>
            </a:pPr>
            <a:r>
              <a:rPr lang="en-US" sz="1300" b="1" dirty="0">
                <a:solidFill>
                  <a:schemeClr val="tx1"/>
                </a:solidFill>
              </a:rPr>
              <a:t>Carusel cu 3–5 poze</a:t>
            </a:r>
            <a:endParaRPr lang="en-US" sz="1300" dirty="0"/>
          </a:p>
        </p:txBody>
      </p:sp>
      <p:sp>
        <p:nvSpPr>
          <p:cNvPr id="9" name="text-103"/>
          <p:cNvSpPr txBox="1"/>
          <p:nvPr/>
        </p:nvSpPr>
        <p:spPr>
          <a:xfrm>
            <a:off x="621792" y="1874520"/>
            <a:ext cx="2103120" cy="868680"/>
          </a:xfrm>
          <a:prstGeom prst="rect">
            <a:avLst/>
          </a:prstGeom>
          <a:noFill/>
          <a:ln/>
        </p:spPr>
        <p:txBody>
          <a:bodyPr wrap="square" lIns="0" tIns="0" rIns="0" bIns="0" rtlCol="0" anchor="t"/>
          <a:lstStyle/>
          <a:p>
            <a:pPr indent="0" marL="0">
              <a:buNone/>
            </a:pPr>
            <a:r>
              <a:rPr lang="en-US" sz="1200" dirty="0">
                <a:solidFill>
                  <a:schemeClr val="tx2"/>
                </a:solidFill>
              </a:rPr>
              <a:t>Înainte, procesul, după, detaliu. Povestea întreagă ține omul mai mult pe postare.</a:t>
            </a:r>
            <a:endParaRPr lang="en-US" sz="1200" dirty="0"/>
          </a:p>
        </p:txBody>
      </p:sp>
      <p:sp>
        <p:nvSpPr>
          <p:cNvPr id="10" name="card-104"/>
          <p:cNvSpPr/>
          <p:nvPr/>
        </p:nvSpPr>
        <p:spPr>
          <a:xfrm>
            <a:off x="2971800" y="1188720"/>
            <a:ext cx="2377440" cy="1600200"/>
          </a:xfrm>
          <a:prstGeom prst="roundRect">
            <a:avLst>
              <a:gd name="adj" fmla="val 6857"/>
            </a:avLst>
          </a:prstGeom>
          <a:solidFill>
            <a:schemeClr val="bg2"/>
          </a:solidFill>
          <a:ln w="12700">
            <a:solidFill>
              <a:schemeClr val="bg2"/>
            </a:solidFill>
            <a:prstDash val="solid"/>
          </a:ln>
        </p:spPr>
      </p:sp>
      <p:sp>
        <p:nvSpPr>
          <p:cNvPr id="11" name="badge-105"/>
          <p:cNvSpPr/>
          <p:nvPr/>
        </p:nvSpPr>
        <p:spPr>
          <a:xfrm>
            <a:off x="3136392" y="1353312"/>
            <a:ext cx="411480" cy="411480"/>
          </a:xfrm>
          <a:prstGeom prst="ellipse">
            <a:avLst/>
          </a:prstGeom>
          <a:solidFill>
            <a:schemeClr val="accent2"/>
          </a:solidFill>
          <a:ln w="12700">
            <a:solidFill>
              <a:schemeClr val="accent2"/>
            </a:solidFill>
            <a:prstDash val="solid"/>
          </a:ln>
        </p:spPr>
      </p:sp>
      <p:pic>
        <p:nvPicPr>
          <p:cNvPr id="12" name="icon-106" descr="preencoded.png">    </p:cNvPr>
          <p:cNvPicPr>
            <a:picLocks noChangeAspect="1"/>
          </p:cNvPicPr>
          <p:nvPr/>
        </p:nvPicPr>
        <p:blipFill>
          <a:blip r:embed="rId3"/>
          <a:stretch>
            <a:fillRect/>
          </a:stretch>
        </p:blipFill>
        <p:spPr>
          <a:xfrm>
            <a:off x="3239262" y="1456182"/>
            <a:ext cx="205740" cy="205740"/>
          </a:xfrm>
          <a:prstGeom prst="rect">
            <a:avLst/>
          </a:prstGeom>
        </p:spPr>
      </p:pic>
      <p:sp>
        <p:nvSpPr>
          <p:cNvPr id="13" name="text-107"/>
          <p:cNvSpPr txBox="1"/>
          <p:nvPr/>
        </p:nvSpPr>
        <p:spPr>
          <a:xfrm>
            <a:off x="3657600" y="1353312"/>
            <a:ext cx="1600200" cy="411480"/>
          </a:xfrm>
          <a:prstGeom prst="rect">
            <a:avLst/>
          </a:prstGeom>
          <a:noFill/>
          <a:ln/>
        </p:spPr>
        <p:txBody>
          <a:bodyPr wrap="square" lIns="0" tIns="0" rIns="0" bIns="0" rtlCol="0" anchor="ctr"/>
          <a:lstStyle/>
          <a:p>
            <a:pPr indent="0" marL="0">
              <a:buNone/>
            </a:pPr>
            <a:r>
              <a:rPr lang="en-US" sz="1300" b="1" dirty="0">
                <a:solidFill>
                  <a:schemeClr val="tx1"/>
                </a:solidFill>
              </a:rPr>
              <a:t>Înainte și după alăturat</a:t>
            </a:r>
            <a:endParaRPr lang="en-US" sz="1300" dirty="0"/>
          </a:p>
        </p:txBody>
      </p:sp>
      <p:sp>
        <p:nvSpPr>
          <p:cNvPr id="14" name="text-108"/>
          <p:cNvSpPr txBox="1"/>
          <p:nvPr/>
        </p:nvSpPr>
        <p:spPr>
          <a:xfrm>
            <a:off x="3136392" y="1874520"/>
            <a:ext cx="2103120" cy="868680"/>
          </a:xfrm>
          <a:prstGeom prst="rect">
            <a:avLst/>
          </a:prstGeom>
          <a:noFill/>
          <a:ln/>
        </p:spPr>
        <p:txBody>
          <a:bodyPr wrap="square" lIns="0" tIns="0" rIns="0" bIns="0" rtlCol="0" anchor="t"/>
          <a:lstStyle/>
          <a:p>
            <a:pPr indent="0" marL="0">
              <a:buNone/>
            </a:pPr>
            <a:r>
              <a:rPr lang="en-US" sz="1200" dirty="0">
                <a:solidFill>
                  <a:schemeClr val="tx2"/>
                </a:solidFill>
              </a:rPr>
              <a:t>Aceeași lumină și unghi. Prima poză = cea mai spectaculoasă.</a:t>
            </a:r>
            <a:endParaRPr lang="en-US" sz="1200" dirty="0"/>
          </a:p>
        </p:txBody>
      </p:sp>
      <p:sp>
        <p:nvSpPr>
          <p:cNvPr id="15" name="card-109"/>
          <p:cNvSpPr/>
          <p:nvPr/>
        </p:nvSpPr>
        <p:spPr>
          <a:xfrm>
            <a:off x="457200" y="2926080"/>
            <a:ext cx="2377440" cy="1600200"/>
          </a:xfrm>
          <a:prstGeom prst="roundRect">
            <a:avLst>
              <a:gd name="adj" fmla="val 6857"/>
            </a:avLst>
          </a:prstGeom>
          <a:solidFill>
            <a:schemeClr val="bg2"/>
          </a:solidFill>
          <a:ln w="12700">
            <a:solidFill>
              <a:schemeClr val="bg2"/>
            </a:solidFill>
            <a:prstDash val="solid"/>
          </a:ln>
        </p:spPr>
      </p:sp>
      <p:sp>
        <p:nvSpPr>
          <p:cNvPr id="16" name="badge-110"/>
          <p:cNvSpPr/>
          <p:nvPr/>
        </p:nvSpPr>
        <p:spPr>
          <a:xfrm>
            <a:off x="621792" y="3090672"/>
            <a:ext cx="411480" cy="411480"/>
          </a:xfrm>
          <a:prstGeom prst="ellipse">
            <a:avLst/>
          </a:prstGeom>
          <a:solidFill>
            <a:schemeClr val="accent2"/>
          </a:solidFill>
          <a:ln w="12700">
            <a:solidFill>
              <a:schemeClr val="accent2"/>
            </a:solidFill>
            <a:prstDash val="solid"/>
          </a:ln>
        </p:spPr>
      </p:sp>
      <p:pic>
        <p:nvPicPr>
          <p:cNvPr id="17" name="icon-111" descr="preencoded.png">    </p:cNvPr>
          <p:cNvPicPr>
            <a:picLocks noChangeAspect="1"/>
          </p:cNvPicPr>
          <p:nvPr/>
        </p:nvPicPr>
        <p:blipFill>
          <a:blip r:embed="rId4"/>
          <a:stretch>
            <a:fillRect/>
          </a:stretch>
        </p:blipFill>
        <p:spPr>
          <a:xfrm>
            <a:off x="724662" y="3193542"/>
            <a:ext cx="205740" cy="205740"/>
          </a:xfrm>
          <a:prstGeom prst="rect">
            <a:avLst/>
          </a:prstGeom>
        </p:spPr>
      </p:pic>
      <p:sp>
        <p:nvSpPr>
          <p:cNvPr id="18" name="text-112"/>
          <p:cNvSpPr txBox="1"/>
          <p:nvPr/>
        </p:nvSpPr>
        <p:spPr>
          <a:xfrm>
            <a:off x="1143000" y="3090672"/>
            <a:ext cx="1600200" cy="411480"/>
          </a:xfrm>
          <a:prstGeom prst="rect">
            <a:avLst/>
          </a:prstGeom>
          <a:noFill/>
          <a:ln/>
        </p:spPr>
        <p:txBody>
          <a:bodyPr wrap="square" lIns="0" tIns="0" rIns="0" bIns="0" rtlCol="0" anchor="ctr"/>
          <a:lstStyle/>
          <a:p>
            <a:pPr indent="0" marL="0">
              <a:buNone/>
            </a:pPr>
            <a:r>
              <a:rPr lang="en-US" sz="1300" b="1" dirty="0">
                <a:solidFill>
                  <a:schemeClr val="tx1"/>
                </a:solidFill>
              </a:rPr>
              <a:t>Gândește local</a:t>
            </a:r>
            <a:endParaRPr lang="en-US" sz="1300" dirty="0"/>
          </a:p>
        </p:txBody>
      </p:sp>
      <p:sp>
        <p:nvSpPr>
          <p:cNvPr id="19" name="text-113"/>
          <p:cNvSpPr txBox="1"/>
          <p:nvPr/>
        </p:nvSpPr>
        <p:spPr>
          <a:xfrm>
            <a:off x="621792" y="3611880"/>
            <a:ext cx="2103120" cy="868680"/>
          </a:xfrm>
          <a:prstGeom prst="rect">
            <a:avLst/>
          </a:prstGeom>
          <a:noFill/>
          <a:ln/>
        </p:spPr>
        <p:txBody>
          <a:bodyPr wrap="square" lIns="0" tIns="0" rIns="0" bIns="0" rtlCol="0" anchor="t"/>
          <a:lstStyle/>
          <a:p>
            <a:pPr indent="0" marL="0">
              <a:buNone/>
            </a:pPr>
            <a:r>
              <a:rPr lang="en-US" sz="1200" dirty="0">
                <a:solidFill>
                  <a:schemeClr val="tx2"/>
                </a:solidFill>
              </a:rPr>
              <a:t>Orașul în text, locația etichetată, grupuri locale (cu regulile lor).</a:t>
            </a:r>
            <a:endParaRPr lang="en-US" sz="1200" dirty="0"/>
          </a:p>
        </p:txBody>
      </p:sp>
      <p:sp>
        <p:nvSpPr>
          <p:cNvPr id="20" name="card-114"/>
          <p:cNvSpPr/>
          <p:nvPr/>
        </p:nvSpPr>
        <p:spPr>
          <a:xfrm>
            <a:off x="2971800" y="2926080"/>
            <a:ext cx="2377440" cy="1600200"/>
          </a:xfrm>
          <a:prstGeom prst="roundRect">
            <a:avLst>
              <a:gd name="adj" fmla="val 6857"/>
            </a:avLst>
          </a:prstGeom>
          <a:solidFill>
            <a:schemeClr val="bg2"/>
          </a:solidFill>
          <a:ln w="12700">
            <a:solidFill>
              <a:schemeClr val="bg2"/>
            </a:solidFill>
            <a:prstDash val="solid"/>
          </a:ln>
        </p:spPr>
      </p:sp>
      <p:sp>
        <p:nvSpPr>
          <p:cNvPr id="21" name="badge-115"/>
          <p:cNvSpPr/>
          <p:nvPr/>
        </p:nvSpPr>
        <p:spPr>
          <a:xfrm>
            <a:off x="3136392" y="3090672"/>
            <a:ext cx="411480" cy="411480"/>
          </a:xfrm>
          <a:prstGeom prst="ellipse">
            <a:avLst/>
          </a:prstGeom>
          <a:solidFill>
            <a:schemeClr val="accent2"/>
          </a:solidFill>
          <a:ln w="12700">
            <a:solidFill>
              <a:schemeClr val="accent2"/>
            </a:solidFill>
            <a:prstDash val="solid"/>
          </a:ln>
        </p:spPr>
      </p:sp>
      <p:pic>
        <p:nvPicPr>
          <p:cNvPr id="22" name="icon-116" descr="preencoded.png">    </p:cNvPr>
          <p:cNvPicPr>
            <a:picLocks noChangeAspect="1"/>
          </p:cNvPicPr>
          <p:nvPr/>
        </p:nvPicPr>
        <p:blipFill>
          <a:blip r:embed="rId5"/>
          <a:stretch>
            <a:fillRect/>
          </a:stretch>
        </p:blipFill>
        <p:spPr>
          <a:xfrm>
            <a:off x="3239262" y="3193542"/>
            <a:ext cx="205740" cy="205740"/>
          </a:xfrm>
          <a:prstGeom prst="rect">
            <a:avLst/>
          </a:prstGeom>
        </p:spPr>
      </p:pic>
      <p:sp>
        <p:nvSpPr>
          <p:cNvPr id="23" name="text-117"/>
          <p:cNvSpPr txBox="1"/>
          <p:nvPr/>
        </p:nvSpPr>
        <p:spPr>
          <a:xfrm>
            <a:off x="3657600" y="3090672"/>
            <a:ext cx="1600200" cy="411480"/>
          </a:xfrm>
          <a:prstGeom prst="rect">
            <a:avLst/>
          </a:prstGeom>
          <a:noFill/>
          <a:ln/>
        </p:spPr>
        <p:txBody>
          <a:bodyPr wrap="square" lIns="0" tIns="0" rIns="0" bIns="0" rtlCol="0" anchor="ctr"/>
          <a:lstStyle/>
          <a:p>
            <a:pPr indent="0" marL="0">
              <a:buNone/>
            </a:pPr>
            <a:r>
              <a:rPr lang="en-US" sz="1300" b="1" dirty="0">
                <a:solidFill>
                  <a:schemeClr val="tx1"/>
                </a:solidFill>
              </a:rPr>
              <a:t>Video scurt + răspunsuri</a:t>
            </a:r>
            <a:endParaRPr lang="en-US" sz="1300" dirty="0"/>
          </a:p>
        </p:txBody>
      </p:sp>
      <p:sp>
        <p:nvSpPr>
          <p:cNvPr id="24" name="text-118"/>
          <p:cNvSpPr txBox="1"/>
          <p:nvPr/>
        </p:nvSpPr>
        <p:spPr>
          <a:xfrm>
            <a:off x="3136392" y="3611880"/>
            <a:ext cx="2103120" cy="868680"/>
          </a:xfrm>
          <a:prstGeom prst="rect">
            <a:avLst/>
          </a:prstGeom>
          <a:noFill/>
          <a:ln/>
        </p:spPr>
        <p:txBody>
          <a:bodyPr wrap="square" lIns="0" tIns="0" rIns="0" bIns="0" rtlCol="0" anchor="t"/>
          <a:lstStyle/>
          <a:p>
            <a:pPr indent="0" marL="0">
              <a:buNone/>
            </a:pPr>
            <a:r>
              <a:rPr lang="en-US" sz="1200" dirty="0">
                <a:solidFill>
                  <a:schemeClr val="tx2"/>
                </a:solidFill>
              </a:rPr>
              <a:t>Reels de 10–30 sec. Răspunde la fiecare comentariu.</a:t>
            </a:r>
            <a:endParaRPr lang="en-US" sz="1200" dirty="0"/>
          </a:p>
        </p:txBody>
      </p:sp>
      <p:sp>
        <p:nvSpPr>
          <p:cNvPr id="25" name="text-119"/>
          <p:cNvSpPr txBox="1"/>
          <p:nvPr/>
        </p:nvSpPr>
        <p:spPr>
          <a:xfrm>
            <a:off x="5715000" y="1188720"/>
            <a:ext cx="2926080"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Interes → programare</a:t>
            </a:r>
            <a:endParaRPr lang="en-US" sz="1500" dirty="0"/>
          </a:p>
        </p:txBody>
      </p:sp>
      <p:sp>
        <p:nvSpPr>
          <p:cNvPr id="26" name="badge-120"/>
          <p:cNvSpPr/>
          <p:nvPr/>
        </p:nvSpPr>
        <p:spPr>
          <a:xfrm>
            <a:off x="5715000" y="1600200"/>
            <a:ext cx="457200" cy="457200"/>
          </a:xfrm>
          <a:prstGeom prst="ellipse">
            <a:avLst/>
          </a:prstGeom>
          <a:solidFill>
            <a:schemeClr val="accent1"/>
          </a:solidFill>
          <a:ln w="12700">
            <a:solidFill>
              <a:schemeClr val="accent1"/>
            </a:solidFill>
            <a:prstDash val="solid"/>
          </a:ln>
        </p:spPr>
      </p:sp>
      <p:pic>
        <p:nvPicPr>
          <p:cNvPr id="27" name="icon-121" descr="preencoded.png">    </p:cNvPr>
          <p:cNvPicPr>
            <a:picLocks noChangeAspect="1"/>
          </p:cNvPicPr>
          <p:nvPr/>
        </p:nvPicPr>
        <p:blipFill>
          <a:blip r:embed="rId6"/>
          <a:stretch>
            <a:fillRect/>
          </a:stretch>
        </p:blipFill>
        <p:spPr>
          <a:xfrm>
            <a:off x="5829300" y="1714500"/>
            <a:ext cx="228600" cy="228600"/>
          </a:xfrm>
          <a:prstGeom prst="rect">
            <a:avLst/>
          </a:prstGeom>
        </p:spPr>
      </p:pic>
      <p:sp>
        <p:nvSpPr>
          <p:cNvPr id="28" name="text-122"/>
          <p:cNvSpPr txBox="1"/>
          <p:nvPr/>
        </p:nvSpPr>
        <p:spPr>
          <a:xfrm>
            <a:off x="6309360" y="1600200"/>
            <a:ext cx="2377440" cy="457200"/>
          </a:xfrm>
          <a:prstGeom prst="rect">
            <a:avLst/>
          </a:prstGeom>
          <a:noFill/>
          <a:ln/>
        </p:spPr>
        <p:txBody>
          <a:bodyPr wrap="square" lIns="0" tIns="0" rIns="0" bIns="0" rtlCol="0" anchor="ctr"/>
          <a:lstStyle/>
          <a:p>
            <a:pPr indent="0" marL="0">
              <a:buNone/>
            </a:pPr>
            <a:r>
              <a:rPr lang="en-US" sz="1300" dirty="0">
                <a:solidFill>
                  <a:schemeClr val="tx1"/>
                </a:solidFill>
              </a:rPr>
              <a:t>Like / comentariu „Preț?”</a:t>
            </a:r>
            <a:endParaRPr lang="en-US" sz="1300" dirty="0"/>
          </a:p>
        </p:txBody>
      </p:sp>
      <p:sp>
        <p:nvSpPr>
          <p:cNvPr id="29" name="arrow-123"/>
          <p:cNvSpPr/>
          <p:nvPr/>
        </p:nvSpPr>
        <p:spPr>
          <a:xfrm>
            <a:off x="5943600" y="2075688"/>
            <a:ext cx="914" cy="283464"/>
          </a:xfrm>
          <a:prstGeom prst="line">
            <a:avLst/>
          </a:prstGeom>
          <a:noFill/>
          <a:ln w="22225">
            <a:solidFill>
              <a:schemeClr val="accent1"/>
            </a:solidFill>
            <a:prstDash val="solid"/>
            <a:tailEnd type="triangle"/>
          </a:ln>
        </p:spPr>
      </p:sp>
      <p:sp>
        <p:nvSpPr>
          <p:cNvPr id="30" name="badge-124"/>
          <p:cNvSpPr/>
          <p:nvPr/>
        </p:nvSpPr>
        <p:spPr>
          <a:xfrm>
            <a:off x="5715000" y="2377440"/>
            <a:ext cx="457200" cy="457200"/>
          </a:xfrm>
          <a:prstGeom prst="ellipse">
            <a:avLst/>
          </a:prstGeom>
          <a:solidFill>
            <a:schemeClr val="accent1"/>
          </a:solidFill>
          <a:ln w="12700">
            <a:solidFill>
              <a:schemeClr val="accent1"/>
            </a:solidFill>
            <a:prstDash val="solid"/>
          </a:ln>
        </p:spPr>
      </p:sp>
      <p:pic>
        <p:nvPicPr>
          <p:cNvPr id="31" name="icon-125" descr="preencoded.png">    </p:cNvPr>
          <p:cNvPicPr>
            <a:picLocks noChangeAspect="1"/>
          </p:cNvPicPr>
          <p:nvPr/>
        </p:nvPicPr>
        <p:blipFill>
          <a:blip r:embed="rId7"/>
          <a:stretch>
            <a:fillRect/>
          </a:stretch>
        </p:blipFill>
        <p:spPr>
          <a:xfrm>
            <a:off x="5829300" y="2491740"/>
            <a:ext cx="228600" cy="228600"/>
          </a:xfrm>
          <a:prstGeom prst="rect">
            <a:avLst/>
          </a:prstGeom>
        </p:spPr>
      </p:pic>
      <p:sp>
        <p:nvSpPr>
          <p:cNvPr id="32" name="text-126"/>
          <p:cNvSpPr txBox="1"/>
          <p:nvPr/>
        </p:nvSpPr>
        <p:spPr>
          <a:xfrm>
            <a:off x="6309360" y="2377440"/>
            <a:ext cx="2377440" cy="457200"/>
          </a:xfrm>
          <a:prstGeom prst="rect">
            <a:avLst/>
          </a:prstGeom>
          <a:noFill/>
          <a:ln/>
        </p:spPr>
        <p:txBody>
          <a:bodyPr wrap="square" lIns="0" tIns="0" rIns="0" bIns="0" rtlCol="0" anchor="ctr"/>
          <a:lstStyle/>
          <a:p>
            <a:pPr indent="0" marL="0">
              <a:buNone/>
            </a:pPr>
            <a:r>
              <a:rPr lang="en-US" sz="1300" dirty="0">
                <a:solidFill>
                  <a:schemeClr val="tx1"/>
                </a:solidFill>
              </a:rPr>
              <a:t>Răspuns public + mesaj privat</a:t>
            </a:r>
            <a:endParaRPr lang="en-US" sz="1300" dirty="0"/>
          </a:p>
        </p:txBody>
      </p:sp>
      <p:sp>
        <p:nvSpPr>
          <p:cNvPr id="33" name="arrow-127"/>
          <p:cNvSpPr/>
          <p:nvPr/>
        </p:nvSpPr>
        <p:spPr>
          <a:xfrm>
            <a:off x="5943600" y="2852928"/>
            <a:ext cx="914" cy="283464"/>
          </a:xfrm>
          <a:prstGeom prst="line">
            <a:avLst/>
          </a:prstGeom>
          <a:noFill/>
          <a:ln w="22225">
            <a:solidFill>
              <a:schemeClr val="accent1"/>
            </a:solidFill>
            <a:prstDash val="solid"/>
            <a:tailEnd type="triangle"/>
          </a:ln>
        </p:spPr>
      </p:sp>
      <p:sp>
        <p:nvSpPr>
          <p:cNvPr id="34" name="badge-128"/>
          <p:cNvSpPr/>
          <p:nvPr/>
        </p:nvSpPr>
        <p:spPr>
          <a:xfrm>
            <a:off x="5715000" y="3154680"/>
            <a:ext cx="457200" cy="457200"/>
          </a:xfrm>
          <a:prstGeom prst="ellipse">
            <a:avLst/>
          </a:prstGeom>
          <a:solidFill>
            <a:schemeClr val="accent1"/>
          </a:solidFill>
          <a:ln w="12700">
            <a:solidFill>
              <a:schemeClr val="accent1"/>
            </a:solidFill>
            <a:prstDash val="solid"/>
          </a:ln>
        </p:spPr>
      </p:sp>
      <p:pic>
        <p:nvPicPr>
          <p:cNvPr id="35" name="icon-129" descr="preencoded.png">    </p:cNvPr>
          <p:cNvPicPr>
            <a:picLocks noChangeAspect="1"/>
          </p:cNvPicPr>
          <p:nvPr/>
        </p:nvPicPr>
        <p:blipFill>
          <a:blip r:embed="rId8"/>
          <a:stretch>
            <a:fillRect/>
          </a:stretch>
        </p:blipFill>
        <p:spPr>
          <a:xfrm>
            <a:off x="5829300" y="3268980"/>
            <a:ext cx="228600" cy="228600"/>
          </a:xfrm>
          <a:prstGeom prst="rect">
            <a:avLst/>
          </a:prstGeom>
        </p:spPr>
      </p:pic>
      <p:sp>
        <p:nvSpPr>
          <p:cNvPr id="36" name="text-130"/>
          <p:cNvSpPr txBox="1"/>
          <p:nvPr/>
        </p:nvSpPr>
        <p:spPr>
          <a:xfrm>
            <a:off x="6309360" y="3154680"/>
            <a:ext cx="2377440" cy="457200"/>
          </a:xfrm>
          <a:prstGeom prst="rect">
            <a:avLst/>
          </a:prstGeom>
          <a:noFill/>
          <a:ln/>
        </p:spPr>
        <p:txBody>
          <a:bodyPr wrap="square" lIns="0" tIns="0" rIns="0" bIns="0" rtlCol="0" anchor="ctr"/>
          <a:lstStyle/>
          <a:p>
            <a:pPr indent="0" marL="0">
              <a:buNone/>
            </a:pPr>
            <a:r>
              <a:rPr lang="en-US" sz="1300" dirty="0">
                <a:solidFill>
                  <a:schemeClr val="tx1"/>
                </a:solidFill>
              </a:rPr>
              <a:t>Întrebare: „Ce zi îți convine?”</a:t>
            </a:r>
            <a:endParaRPr lang="en-US" sz="1300" dirty="0"/>
          </a:p>
        </p:txBody>
      </p:sp>
      <p:sp>
        <p:nvSpPr>
          <p:cNvPr id="37" name="arrow-131"/>
          <p:cNvSpPr/>
          <p:nvPr/>
        </p:nvSpPr>
        <p:spPr>
          <a:xfrm>
            <a:off x="5943600" y="3630168"/>
            <a:ext cx="914" cy="283464"/>
          </a:xfrm>
          <a:prstGeom prst="line">
            <a:avLst/>
          </a:prstGeom>
          <a:noFill/>
          <a:ln w="22225">
            <a:solidFill>
              <a:schemeClr val="accent1"/>
            </a:solidFill>
            <a:prstDash val="solid"/>
            <a:tailEnd type="triangle"/>
          </a:ln>
        </p:spPr>
      </p:sp>
      <p:sp>
        <p:nvSpPr>
          <p:cNvPr id="38" name="badge-132"/>
          <p:cNvSpPr/>
          <p:nvPr/>
        </p:nvSpPr>
        <p:spPr>
          <a:xfrm>
            <a:off x="5715000" y="3931920"/>
            <a:ext cx="457200" cy="457200"/>
          </a:xfrm>
          <a:prstGeom prst="ellipse">
            <a:avLst/>
          </a:prstGeom>
          <a:solidFill>
            <a:schemeClr val="accent5"/>
          </a:solidFill>
          <a:ln w="12700">
            <a:solidFill>
              <a:schemeClr val="accent5"/>
            </a:solidFill>
            <a:prstDash val="solid"/>
          </a:ln>
        </p:spPr>
      </p:sp>
      <p:pic>
        <p:nvPicPr>
          <p:cNvPr id="39" name="icon-133" descr="preencoded.png">    </p:cNvPr>
          <p:cNvPicPr>
            <a:picLocks noChangeAspect="1"/>
          </p:cNvPicPr>
          <p:nvPr/>
        </p:nvPicPr>
        <p:blipFill>
          <a:blip r:embed="rId9"/>
          <a:stretch>
            <a:fillRect/>
          </a:stretch>
        </p:blipFill>
        <p:spPr>
          <a:xfrm>
            <a:off x="5829300" y="4046220"/>
            <a:ext cx="228600" cy="228600"/>
          </a:xfrm>
          <a:prstGeom prst="rect">
            <a:avLst/>
          </a:prstGeom>
        </p:spPr>
      </p:pic>
      <p:sp>
        <p:nvSpPr>
          <p:cNvPr id="40" name="text-134"/>
          <p:cNvSpPr txBox="1"/>
          <p:nvPr/>
        </p:nvSpPr>
        <p:spPr>
          <a:xfrm>
            <a:off x="6309360" y="3931920"/>
            <a:ext cx="2377440" cy="457200"/>
          </a:xfrm>
          <a:prstGeom prst="rect">
            <a:avLst/>
          </a:prstGeom>
          <a:noFill/>
          <a:ln/>
        </p:spPr>
        <p:txBody>
          <a:bodyPr wrap="square" lIns="0" tIns="0" rIns="0" bIns="0" rtlCol="0" anchor="ctr"/>
          <a:lstStyle/>
          <a:p>
            <a:pPr indent="0" marL="0">
              <a:buNone/>
            </a:pPr>
            <a:r>
              <a:rPr lang="en-US" sz="1300" b="1" dirty="0">
                <a:solidFill>
                  <a:schemeClr val="tx1"/>
                </a:solidFill>
              </a:rPr>
              <a:t>Programare confirmată</a:t>
            </a:r>
            <a:endParaRPr lang="en-US" sz="13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III · INSTAGRAM</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Story, Reels sau postare? Fiecare are rolul ei</a:t>
            </a:r>
            <a:endParaRPr lang="en-US" sz="2800" dirty="0"/>
          </a:p>
        </p:txBody>
      </p:sp>
      <p:pic>
        <p:nvPicPr>
          <p:cNvPr id="4" name="watermark-135" descr="preencoded.png">    </p:cNvPr>
          <p:cNvPicPr>
            <a:picLocks noChangeAspect="1"/>
          </p:cNvPicPr>
          <p:nvPr/>
        </p:nvPicPr>
        <p:blipFill>
          <a:blip r:embed="rId1">
            <a:alphaModFix amt="7000"/>
          </a:blip>
          <a:stretch>
            <a:fillRect/>
          </a:stretch>
        </p:blipFill>
        <p:spPr>
          <a:xfrm>
            <a:off x="7086600" y="3063240"/>
            <a:ext cx="1920240" cy="1920240"/>
          </a:xfrm>
          <a:prstGeom prst="rect">
            <a:avLst/>
          </a:prstGeom>
        </p:spPr>
      </p:pic>
      <p:sp>
        <p:nvSpPr>
          <p:cNvPr id="5" name="card-136"/>
          <p:cNvSpPr/>
          <p:nvPr/>
        </p:nvSpPr>
        <p:spPr>
          <a:xfrm>
            <a:off x="457200" y="1188720"/>
            <a:ext cx="2606040" cy="347472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5B4A42">
                <a:alpha val="14000"/>
              </a:srgbClr>
            </a:outerShdw>
          </a:effectLst>
        </p:spPr>
      </p:sp>
      <p:sp>
        <p:nvSpPr>
          <p:cNvPr id="6" name="badge-137"/>
          <p:cNvSpPr/>
          <p:nvPr/>
        </p:nvSpPr>
        <p:spPr>
          <a:xfrm>
            <a:off x="640080" y="1353312"/>
            <a:ext cx="502920" cy="502920"/>
          </a:xfrm>
          <a:prstGeom prst="ellipse">
            <a:avLst/>
          </a:prstGeom>
          <a:solidFill>
            <a:srgbClr val="E1306C"/>
          </a:solidFill>
          <a:ln w="12700">
            <a:solidFill>
              <a:srgbClr val="E1306C"/>
            </a:solidFill>
            <a:prstDash val="solid"/>
          </a:ln>
        </p:spPr>
      </p:sp>
      <p:pic>
        <p:nvPicPr>
          <p:cNvPr id="7" name="icon-138" descr="preencoded.png">    </p:cNvPr>
          <p:cNvPicPr>
            <a:picLocks noChangeAspect="1"/>
          </p:cNvPicPr>
          <p:nvPr/>
        </p:nvPicPr>
        <p:blipFill>
          <a:blip r:embed="rId2"/>
          <a:stretch>
            <a:fillRect/>
          </a:stretch>
        </p:blipFill>
        <p:spPr>
          <a:xfrm>
            <a:off x="765810" y="1479042"/>
            <a:ext cx="251460" cy="251460"/>
          </a:xfrm>
          <a:prstGeom prst="rect">
            <a:avLst/>
          </a:prstGeom>
        </p:spPr>
      </p:pic>
      <p:sp>
        <p:nvSpPr>
          <p:cNvPr id="8" name="text-139"/>
          <p:cNvSpPr txBox="1"/>
          <p:nvPr/>
        </p:nvSpPr>
        <p:spPr>
          <a:xfrm>
            <a:off x="1280160" y="1325880"/>
            <a:ext cx="1691640" cy="292608"/>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Story</a:t>
            </a:r>
            <a:endParaRPr lang="en-US" sz="1800" dirty="0"/>
          </a:p>
        </p:txBody>
      </p:sp>
      <p:sp>
        <p:nvSpPr>
          <p:cNvPr id="9" name="text-140"/>
          <p:cNvSpPr txBox="1"/>
          <p:nvPr/>
        </p:nvSpPr>
        <p:spPr>
          <a:xfrm>
            <a:off x="1280160" y="1627632"/>
            <a:ext cx="1691640" cy="237744"/>
          </a:xfrm>
          <a:prstGeom prst="rect">
            <a:avLst/>
          </a:prstGeom>
          <a:noFill/>
          <a:ln/>
        </p:spPr>
        <p:txBody>
          <a:bodyPr wrap="square" lIns="0" tIns="0" rIns="0" bIns="0" rtlCol="0" anchor="t"/>
          <a:lstStyle/>
          <a:p>
            <a:pPr indent="0" marL="0">
              <a:buNone/>
            </a:pPr>
            <a:r>
              <a:rPr lang="en-US" sz="1200" b="1" dirty="0">
                <a:solidFill>
                  <a:schemeClr val="accent2"/>
                </a:solidFill>
              </a:rPr>
              <a:t>Dispare după 24 h</a:t>
            </a:r>
            <a:endParaRPr lang="en-US" sz="1200" dirty="0"/>
          </a:p>
        </p:txBody>
      </p:sp>
      <p:sp>
        <p:nvSpPr>
          <p:cNvPr id="10" name="text-141"/>
          <p:cNvSpPr txBox="1"/>
          <p:nvPr/>
        </p:nvSpPr>
        <p:spPr>
          <a:xfrm>
            <a:off x="640080" y="2057400"/>
            <a:ext cx="2194560" cy="228600"/>
          </a:xfrm>
          <a:prstGeom prst="rect">
            <a:avLst/>
          </a:prstGeom>
          <a:noFill/>
          <a:ln/>
        </p:spPr>
        <p:txBody>
          <a:bodyPr wrap="square" lIns="0" tIns="0" rIns="0" bIns="0" rtlCol="0" anchor="t"/>
          <a:lstStyle/>
          <a:p>
            <a:pPr indent="0" marL="0">
              <a:buNone/>
            </a:pPr>
            <a:r>
              <a:rPr lang="en-US" sz="1200" dirty="0">
                <a:solidFill>
                  <a:schemeClr val="tx2"/>
                </a:solidFill>
              </a:rPr>
              <a:t>Folosești pentru:</a:t>
            </a:r>
            <a:endParaRPr lang="en-US" sz="1200" dirty="0"/>
          </a:p>
        </p:txBody>
      </p:sp>
      <p:sp>
        <p:nvSpPr>
          <p:cNvPr id="11" name="text-142"/>
          <p:cNvSpPr txBox="1"/>
          <p:nvPr/>
        </p:nvSpPr>
        <p:spPr>
          <a:xfrm>
            <a:off x="640080" y="2304288"/>
            <a:ext cx="22860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Culise din salon</a:t>
            </a:r>
            <a:endParaRPr lang="en-US" sz="1400" dirty="0"/>
          </a:p>
          <a:p>
            <a:pPr marL="342900" indent="-342900">
              <a:spcAft>
                <a:spcPts val="400"/>
              </a:spcAft>
              <a:buSzPct val="100000"/>
              <a:buChar char="•"/>
            </a:pPr>
            <a:r>
              <a:rPr lang="en-US" sz="1400" dirty="0">
                <a:solidFill>
                  <a:schemeClr val="tx1"/>
                </a:solidFill>
              </a:rPr>
              <a:t>Locuri libere azi</a:t>
            </a:r>
            <a:endParaRPr lang="en-US" sz="1400" dirty="0"/>
          </a:p>
          <a:p>
            <a:pPr marL="342900" indent="-342900">
              <a:spcAft>
                <a:spcPts val="400"/>
              </a:spcAft>
              <a:buSzPct val="100000"/>
              <a:buChar char="•"/>
            </a:pPr>
            <a:r>
              <a:rPr lang="en-US" sz="1400" dirty="0">
                <a:solidFill>
                  <a:schemeClr val="tx1"/>
                </a:solidFill>
              </a:rPr>
              <a:t>Sondaje și întrebări</a:t>
            </a:r>
            <a:endParaRPr lang="en-US" sz="1400" dirty="0"/>
          </a:p>
        </p:txBody>
      </p:sp>
      <p:sp>
        <p:nvSpPr>
          <p:cNvPr id="12" name="text-143"/>
          <p:cNvSpPr txBox="1"/>
          <p:nvPr/>
        </p:nvSpPr>
        <p:spPr>
          <a:xfrm>
            <a:off x="640080" y="3520440"/>
            <a:ext cx="2286000" cy="960120"/>
          </a:xfrm>
          <a:prstGeom prst="rect">
            <a:avLst/>
          </a:prstGeom>
          <a:noFill/>
          <a:ln/>
        </p:spPr>
        <p:txBody>
          <a:bodyPr wrap="square" lIns="0" tIns="0" rIns="0" bIns="0" rtlCol="0" anchor="t"/>
          <a:lstStyle/>
          <a:p>
            <a:pPr indent="0" marL="0">
              <a:buNone/>
            </a:pPr>
            <a:r>
              <a:rPr lang="en-US" sz="1200" i="1" dirty="0">
                <a:solidFill>
                  <a:schemeClr val="tx2"/>
                </a:solidFill>
              </a:rPr>
              <a:t>Ajunge mai ales la urmăritori. Salvează-l în Evidențiate.</a:t>
            </a:r>
            <a:endParaRPr lang="en-US" sz="1200" dirty="0"/>
          </a:p>
        </p:txBody>
      </p:sp>
      <p:sp>
        <p:nvSpPr>
          <p:cNvPr id="13" name="card-144"/>
          <p:cNvSpPr/>
          <p:nvPr/>
        </p:nvSpPr>
        <p:spPr>
          <a:xfrm>
            <a:off x="3246120" y="1188720"/>
            <a:ext cx="2606040" cy="3474720"/>
          </a:xfrm>
          <a:prstGeom prst="roundRect">
            <a:avLst>
              <a:gd name="adj" fmla="val 4211"/>
            </a:avLst>
          </a:prstGeom>
          <a:solidFill>
            <a:schemeClr val="tx1"/>
          </a:solidFill>
          <a:ln w="12700">
            <a:solidFill>
              <a:schemeClr val="tx1"/>
            </a:solidFill>
            <a:prstDash val="solid"/>
          </a:ln>
          <a:effectLst>
            <a:outerShdw sx="100000" sy="100000" kx="0" ky="0" algn="bl" rotWithShape="0" blurRad="101600" dist="25400" dir="5400000">
              <a:srgbClr val="5B4A42">
                <a:alpha val="14000"/>
              </a:srgbClr>
            </a:outerShdw>
          </a:effectLst>
        </p:spPr>
      </p:sp>
      <p:sp>
        <p:nvSpPr>
          <p:cNvPr id="14" name="badge-145"/>
          <p:cNvSpPr/>
          <p:nvPr/>
        </p:nvSpPr>
        <p:spPr>
          <a:xfrm>
            <a:off x="3429000" y="1353312"/>
            <a:ext cx="502920" cy="502920"/>
          </a:xfrm>
          <a:prstGeom prst="ellipse">
            <a:avLst/>
          </a:prstGeom>
          <a:solidFill>
            <a:schemeClr val="accent1"/>
          </a:solidFill>
          <a:ln w="12700">
            <a:solidFill>
              <a:schemeClr val="accent1"/>
            </a:solidFill>
            <a:prstDash val="solid"/>
          </a:ln>
        </p:spPr>
      </p:sp>
      <p:pic>
        <p:nvPicPr>
          <p:cNvPr id="15" name="icon-146" descr="preencoded.png">    </p:cNvPr>
          <p:cNvPicPr>
            <a:picLocks noChangeAspect="1"/>
          </p:cNvPicPr>
          <p:nvPr/>
        </p:nvPicPr>
        <p:blipFill>
          <a:blip r:embed="rId3"/>
          <a:stretch>
            <a:fillRect/>
          </a:stretch>
        </p:blipFill>
        <p:spPr>
          <a:xfrm>
            <a:off x="3554730" y="1479042"/>
            <a:ext cx="251460" cy="251460"/>
          </a:xfrm>
          <a:prstGeom prst="rect">
            <a:avLst/>
          </a:prstGeom>
        </p:spPr>
      </p:pic>
      <p:sp>
        <p:nvSpPr>
          <p:cNvPr id="16" name="text-147"/>
          <p:cNvSpPr txBox="1"/>
          <p:nvPr/>
        </p:nvSpPr>
        <p:spPr>
          <a:xfrm>
            <a:off x="4069080" y="1325880"/>
            <a:ext cx="1691640" cy="292608"/>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Reels</a:t>
            </a:r>
            <a:endParaRPr lang="en-US" sz="1800" dirty="0"/>
          </a:p>
        </p:txBody>
      </p:sp>
      <p:sp>
        <p:nvSpPr>
          <p:cNvPr id="17" name="text-148"/>
          <p:cNvSpPr txBox="1"/>
          <p:nvPr/>
        </p:nvSpPr>
        <p:spPr>
          <a:xfrm>
            <a:off x="4069080" y="1627632"/>
            <a:ext cx="1691640" cy="237744"/>
          </a:xfrm>
          <a:prstGeom prst="rect">
            <a:avLst/>
          </a:prstGeom>
          <a:noFill/>
          <a:ln/>
        </p:spPr>
        <p:txBody>
          <a:bodyPr wrap="square" lIns="0" tIns="0" rIns="0" bIns="0" rtlCol="0" anchor="t"/>
          <a:lstStyle/>
          <a:p>
            <a:pPr indent="0" marL="0">
              <a:buNone/>
            </a:pPr>
            <a:r>
              <a:rPr lang="en-US" sz="1200" b="1" dirty="0">
                <a:solidFill>
                  <a:schemeClr val="accent3"/>
                </a:solidFill>
              </a:rPr>
              <a:t>Video vertical 9:16</a:t>
            </a:r>
            <a:endParaRPr lang="en-US" sz="1200" dirty="0"/>
          </a:p>
        </p:txBody>
      </p:sp>
      <p:sp>
        <p:nvSpPr>
          <p:cNvPr id="18" name="text-149"/>
          <p:cNvSpPr txBox="1"/>
          <p:nvPr/>
        </p:nvSpPr>
        <p:spPr>
          <a:xfrm>
            <a:off x="3429000" y="2057400"/>
            <a:ext cx="2194560" cy="228600"/>
          </a:xfrm>
          <a:prstGeom prst="rect">
            <a:avLst/>
          </a:prstGeom>
          <a:noFill/>
          <a:ln/>
        </p:spPr>
        <p:txBody>
          <a:bodyPr wrap="square" lIns="0" tIns="0" rIns="0" bIns="0" rtlCol="0" anchor="t"/>
          <a:lstStyle/>
          <a:p>
            <a:pPr indent="0" marL="0">
              <a:buNone/>
            </a:pPr>
            <a:r>
              <a:rPr lang="en-US" sz="1200" dirty="0">
                <a:solidFill>
                  <a:schemeClr val="accent3"/>
                </a:solidFill>
              </a:rPr>
              <a:t>Folosești pentru:</a:t>
            </a:r>
            <a:endParaRPr lang="en-US" sz="1200" dirty="0"/>
          </a:p>
        </p:txBody>
      </p:sp>
      <p:sp>
        <p:nvSpPr>
          <p:cNvPr id="19" name="text-150"/>
          <p:cNvSpPr txBox="1"/>
          <p:nvPr/>
        </p:nvSpPr>
        <p:spPr>
          <a:xfrm>
            <a:off x="3429000" y="2304288"/>
            <a:ext cx="22860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Transformări</a:t>
            </a:r>
            <a:endParaRPr lang="en-US" sz="1400" dirty="0"/>
          </a:p>
          <a:p>
            <a:pPr marL="342900" indent="-342900">
              <a:spcAft>
                <a:spcPts val="400"/>
              </a:spcAft>
              <a:buSzPct val="100000"/>
              <a:buChar char="•"/>
            </a:pPr>
            <a:r>
              <a:rPr lang="en-US" sz="1400" dirty="0">
                <a:solidFill>
                  <a:schemeClr val="bg1"/>
                </a:solidFill>
              </a:rPr>
              <a:t>Proces pe repede</a:t>
            </a:r>
            <a:endParaRPr lang="en-US" sz="1400" dirty="0"/>
          </a:p>
          <a:p>
            <a:pPr marL="342900" indent="-342900">
              <a:spcAft>
                <a:spcPts val="400"/>
              </a:spcAft>
              <a:buSzPct val="100000"/>
              <a:buChar char="•"/>
            </a:pPr>
            <a:r>
              <a:rPr lang="en-US" sz="1400" dirty="0">
                <a:solidFill>
                  <a:schemeClr val="bg1"/>
                </a:solidFill>
              </a:rPr>
              <a:t>Sfaturi scurte</a:t>
            </a:r>
            <a:endParaRPr lang="en-US" sz="1400" dirty="0"/>
          </a:p>
        </p:txBody>
      </p:sp>
      <p:sp>
        <p:nvSpPr>
          <p:cNvPr id="20" name="text-151"/>
          <p:cNvSpPr txBox="1"/>
          <p:nvPr/>
        </p:nvSpPr>
        <p:spPr>
          <a:xfrm>
            <a:off x="3429000" y="3520440"/>
            <a:ext cx="2286000" cy="960120"/>
          </a:xfrm>
          <a:prstGeom prst="rect">
            <a:avLst/>
          </a:prstGeom>
          <a:noFill/>
          <a:ln/>
        </p:spPr>
        <p:txBody>
          <a:bodyPr wrap="square" lIns="0" tIns="0" rIns="0" bIns="0" rtlCol="0" anchor="t"/>
          <a:lstStyle/>
          <a:p>
            <a:pPr indent="0" marL="0">
              <a:buNone/>
            </a:pPr>
            <a:r>
              <a:rPr lang="en-US" sz="1200" i="1" dirty="0">
                <a:solidFill>
                  <a:schemeClr val="accent3"/>
                </a:solidFill>
              </a:rPr>
              <a:t>Poate ajunge la oameni care nu te urmăresc → descoperire.</a:t>
            </a:r>
            <a:endParaRPr lang="en-US" sz="1200" dirty="0"/>
          </a:p>
        </p:txBody>
      </p:sp>
      <p:sp>
        <p:nvSpPr>
          <p:cNvPr id="21" name="card-152"/>
          <p:cNvSpPr/>
          <p:nvPr/>
        </p:nvSpPr>
        <p:spPr>
          <a:xfrm>
            <a:off x="6035040" y="1188720"/>
            <a:ext cx="2606040" cy="3474720"/>
          </a:xfrm>
          <a:prstGeom prst="roundRect">
            <a:avLst>
              <a:gd name="adj" fmla="val 4211"/>
            </a:avLst>
          </a:prstGeom>
          <a:solidFill>
            <a:schemeClr val="bg2"/>
          </a:solidFill>
          <a:ln w="12700">
            <a:solidFill>
              <a:schemeClr val="bg2"/>
            </a:solidFill>
            <a:prstDash val="solid"/>
          </a:ln>
          <a:effectLst>
            <a:outerShdw sx="100000" sy="100000" kx="0" ky="0" algn="bl" rotWithShape="0" blurRad="101600" dist="25400" dir="5400000">
              <a:srgbClr val="5B4A42">
                <a:alpha val="14000"/>
              </a:srgbClr>
            </a:outerShdw>
          </a:effectLst>
        </p:spPr>
      </p:sp>
      <p:sp>
        <p:nvSpPr>
          <p:cNvPr id="22" name="badge-153"/>
          <p:cNvSpPr/>
          <p:nvPr/>
        </p:nvSpPr>
        <p:spPr>
          <a:xfrm>
            <a:off x="6217920" y="1353312"/>
            <a:ext cx="502920" cy="502920"/>
          </a:xfrm>
          <a:prstGeom prst="ellipse">
            <a:avLst/>
          </a:prstGeom>
          <a:solidFill>
            <a:srgbClr val="E1306C"/>
          </a:solidFill>
          <a:ln w="12700">
            <a:solidFill>
              <a:srgbClr val="E1306C"/>
            </a:solidFill>
            <a:prstDash val="solid"/>
          </a:ln>
        </p:spPr>
      </p:sp>
      <p:pic>
        <p:nvPicPr>
          <p:cNvPr id="23" name="icon-154" descr="preencoded.png">    </p:cNvPr>
          <p:cNvPicPr>
            <a:picLocks noChangeAspect="1"/>
          </p:cNvPicPr>
          <p:nvPr/>
        </p:nvPicPr>
        <p:blipFill>
          <a:blip r:embed="rId4"/>
          <a:stretch>
            <a:fillRect/>
          </a:stretch>
        </p:blipFill>
        <p:spPr>
          <a:xfrm>
            <a:off x="6343650" y="1479042"/>
            <a:ext cx="251460" cy="251460"/>
          </a:xfrm>
          <a:prstGeom prst="rect">
            <a:avLst/>
          </a:prstGeom>
        </p:spPr>
      </p:pic>
      <p:sp>
        <p:nvSpPr>
          <p:cNvPr id="24" name="text-155"/>
          <p:cNvSpPr txBox="1"/>
          <p:nvPr/>
        </p:nvSpPr>
        <p:spPr>
          <a:xfrm>
            <a:off x="6858000" y="1325880"/>
            <a:ext cx="1691640" cy="292608"/>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Postare</a:t>
            </a:r>
            <a:endParaRPr lang="en-US" sz="1800" dirty="0"/>
          </a:p>
        </p:txBody>
      </p:sp>
      <p:sp>
        <p:nvSpPr>
          <p:cNvPr id="25" name="text-156"/>
          <p:cNvSpPr txBox="1"/>
          <p:nvPr/>
        </p:nvSpPr>
        <p:spPr>
          <a:xfrm>
            <a:off x="6858000" y="1627632"/>
            <a:ext cx="1691640" cy="237744"/>
          </a:xfrm>
          <a:prstGeom prst="rect">
            <a:avLst/>
          </a:prstGeom>
          <a:noFill/>
          <a:ln/>
        </p:spPr>
        <p:txBody>
          <a:bodyPr wrap="square" lIns="0" tIns="0" rIns="0" bIns="0" rtlCol="0" anchor="t"/>
          <a:lstStyle/>
          <a:p>
            <a:pPr indent="0" marL="0">
              <a:buNone/>
            </a:pPr>
            <a:r>
              <a:rPr lang="en-US" sz="1200" b="1" dirty="0">
                <a:solidFill>
                  <a:schemeClr val="accent2"/>
                </a:solidFill>
              </a:rPr>
              <a:t>Foto sau carusel</a:t>
            </a:r>
            <a:endParaRPr lang="en-US" sz="1200" dirty="0"/>
          </a:p>
        </p:txBody>
      </p:sp>
      <p:sp>
        <p:nvSpPr>
          <p:cNvPr id="26" name="text-157"/>
          <p:cNvSpPr txBox="1"/>
          <p:nvPr/>
        </p:nvSpPr>
        <p:spPr>
          <a:xfrm>
            <a:off x="6217920" y="2057400"/>
            <a:ext cx="2194560" cy="228600"/>
          </a:xfrm>
          <a:prstGeom prst="rect">
            <a:avLst/>
          </a:prstGeom>
          <a:noFill/>
          <a:ln/>
        </p:spPr>
        <p:txBody>
          <a:bodyPr wrap="square" lIns="0" tIns="0" rIns="0" bIns="0" rtlCol="0" anchor="t"/>
          <a:lstStyle/>
          <a:p>
            <a:pPr indent="0" marL="0">
              <a:buNone/>
            </a:pPr>
            <a:r>
              <a:rPr lang="en-US" sz="1200" dirty="0">
                <a:solidFill>
                  <a:schemeClr val="tx2"/>
                </a:solidFill>
              </a:rPr>
              <a:t>Folosești pentru:</a:t>
            </a:r>
            <a:endParaRPr lang="en-US" sz="1200" dirty="0"/>
          </a:p>
        </p:txBody>
      </p:sp>
      <p:sp>
        <p:nvSpPr>
          <p:cNvPr id="27" name="text-158"/>
          <p:cNvSpPr txBox="1"/>
          <p:nvPr/>
        </p:nvSpPr>
        <p:spPr>
          <a:xfrm>
            <a:off x="6217920" y="2304288"/>
            <a:ext cx="22860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Înainte și după foto</a:t>
            </a:r>
            <a:endParaRPr lang="en-US" sz="1400" dirty="0"/>
          </a:p>
          <a:p>
            <a:pPr marL="342900" indent="-342900">
              <a:spcAft>
                <a:spcPts val="400"/>
              </a:spcAft>
              <a:buSzPct val="100000"/>
              <a:buChar char="•"/>
            </a:pPr>
            <a:r>
              <a:rPr lang="en-US" sz="1400" dirty="0">
                <a:solidFill>
                  <a:schemeClr val="tx1"/>
                </a:solidFill>
              </a:rPr>
              <a:t>Detalii de culoare</a:t>
            </a:r>
            <a:endParaRPr lang="en-US" sz="1400" dirty="0"/>
          </a:p>
          <a:p>
            <a:pPr marL="342900" indent="-342900">
              <a:spcAft>
                <a:spcPts val="400"/>
              </a:spcAft>
              <a:buSzPct val="100000"/>
              <a:buChar char="•"/>
            </a:pPr>
            <a:r>
              <a:rPr lang="en-US" sz="1400" dirty="0">
                <a:solidFill>
                  <a:schemeClr val="tx1"/>
                </a:solidFill>
              </a:rPr>
              <a:t>Recenzii</a:t>
            </a:r>
            <a:endParaRPr lang="en-US" sz="1400" dirty="0"/>
          </a:p>
        </p:txBody>
      </p:sp>
      <p:sp>
        <p:nvSpPr>
          <p:cNvPr id="28" name="text-159"/>
          <p:cNvSpPr txBox="1"/>
          <p:nvPr/>
        </p:nvSpPr>
        <p:spPr>
          <a:xfrm>
            <a:off x="6217920" y="3520440"/>
            <a:ext cx="2286000" cy="960120"/>
          </a:xfrm>
          <a:prstGeom prst="rect">
            <a:avLst/>
          </a:prstGeom>
          <a:noFill/>
          <a:ln/>
        </p:spPr>
        <p:txBody>
          <a:bodyPr wrap="square" lIns="0" tIns="0" rIns="0" bIns="0" rtlCol="0" anchor="t"/>
          <a:lstStyle/>
          <a:p>
            <a:pPr indent="0" marL="0">
              <a:buNone/>
            </a:pPr>
            <a:r>
              <a:rPr lang="en-US" sz="1200" i="1" dirty="0">
                <a:solidFill>
                  <a:schemeClr val="tx2"/>
                </a:solidFill>
              </a:rPr>
              <a:t>Rămâne pe profil: portofoliul tău. Caruselul ține până la 20 de imagini.</a:t>
            </a:r>
            <a:endParaRPr lang="en-US" sz="12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III · INSTAGRAM</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Profil atractiv, urmăritori potriviți, ritm realist</a:t>
            </a:r>
            <a:endParaRPr lang="en-US" sz="2800" dirty="0"/>
          </a:p>
        </p:txBody>
      </p:sp>
      <p:pic>
        <p:nvPicPr>
          <p:cNvPr id="4" name="watermark-160" descr="preencoded.png">    </p:cNvPr>
          <p:cNvPicPr>
            <a:picLocks noChangeAspect="1"/>
          </p:cNvPicPr>
          <p:nvPr/>
        </p:nvPicPr>
        <p:blipFill>
          <a:blip r:embed="rId1">
            <a:alphaModFix amt="7000"/>
          </a:blip>
          <a:stretch>
            <a:fillRect/>
          </a:stretch>
        </p:blipFill>
        <p:spPr>
          <a:xfrm>
            <a:off x="7086600" y="3063240"/>
            <a:ext cx="1920240" cy="1920240"/>
          </a:xfrm>
          <a:prstGeom prst="rect">
            <a:avLst/>
          </a:prstGeom>
        </p:spPr>
      </p:pic>
      <p:sp>
        <p:nvSpPr>
          <p:cNvPr id="5" name="phone-161"/>
          <p:cNvSpPr/>
          <p:nvPr/>
        </p:nvSpPr>
        <p:spPr>
          <a:xfrm>
            <a:off x="457200" y="1097280"/>
            <a:ext cx="2103120" cy="3611880"/>
          </a:xfrm>
          <a:prstGeom prst="roundRect">
            <a:avLst>
              <a:gd name="adj" fmla="val 9565"/>
            </a:avLst>
          </a:prstGeom>
          <a:solidFill>
            <a:schemeClr val="tx1"/>
          </a:solidFill>
          <a:ln w="12700">
            <a:solidFill>
              <a:schemeClr val="tx1"/>
            </a:solidFill>
            <a:prstDash val="solid"/>
          </a:ln>
          <a:effectLst>
            <a:outerShdw sx="100000" sy="100000" kx="0" ky="0" algn="bl" rotWithShape="0" blurRad="101600" dist="25400" dir="5400000">
              <a:srgbClr val="5B4A42">
                <a:alpha val="14000"/>
              </a:srgbClr>
            </a:outerShdw>
          </a:effectLst>
        </p:spPr>
      </p:sp>
      <p:sp>
        <p:nvSpPr>
          <p:cNvPr id="6" name="screen-162"/>
          <p:cNvSpPr/>
          <p:nvPr/>
        </p:nvSpPr>
        <p:spPr>
          <a:xfrm>
            <a:off x="521208" y="1161288"/>
            <a:ext cx="1975104" cy="3483864"/>
          </a:xfrm>
          <a:prstGeom prst="roundRect">
            <a:avLst>
              <a:gd name="adj" fmla="val 7870"/>
            </a:avLst>
          </a:prstGeom>
          <a:solidFill>
            <a:schemeClr val="bg1"/>
          </a:solidFill>
          <a:ln w="12700">
            <a:solidFill>
              <a:schemeClr val="bg1"/>
            </a:solidFill>
            <a:prstDash val="solid"/>
          </a:ln>
        </p:spPr>
      </p:sp>
      <p:sp>
        <p:nvSpPr>
          <p:cNvPr id="7" name="notch-163"/>
          <p:cNvSpPr/>
          <p:nvPr/>
        </p:nvSpPr>
        <p:spPr>
          <a:xfrm>
            <a:off x="1280160" y="1197864"/>
            <a:ext cx="457200" cy="64008"/>
          </a:xfrm>
          <a:prstGeom prst="roundRect">
            <a:avLst>
              <a:gd name="adj" fmla="val 42857"/>
            </a:avLst>
          </a:prstGeom>
          <a:solidFill>
            <a:schemeClr val="tx1"/>
          </a:solidFill>
          <a:ln w="12700">
            <a:solidFill>
              <a:schemeClr val="tx1"/>
            </a:solidFill>
            <a:prstDash val="solid"/>
          </a:ln>
        </p:spPr>
      </p:sp>
      <p:sp>
        <p:nvSpPr>
          <p:cNvPr id="8" name="avatar-164"/>
          <p:cNvSpPr/>
          <p:nvPr/>
        </p:nvSpPr>
        <p:spPr>
          <a:xfrm>
            <a:off x="658368" y="1453896"/>
            <a:ext cx="502920" cy="502920"/>
          </a:xfrm>
          <a:prstGeom prst="ellipse">
            <a:avLst/>
          </a:prstGeom>
          <a:solidFill>
            <a:schemeClr val="accent3"/>
          </a:solidFill>
          <a:ln w="25400">
            <a:solidFill>
              <a:srgbClr val="E1306C"/>
            </a:solidFill>
            <a:prstDash val="solid"/>
          </a:ln>
        </p:spPr>
      </p:sp>
      <p:sp>
        <p:nvSpPr>
          <p:cNvPr id="9" name="text-165"/>
          <p:cNvSpPr txBox="1"/>
          <p:nvPr/>
        </p:nvSpPr>
        <p:spPr>
          <a:xfrm>
            <a:off x="1252728" y="1481328"/>
            <a:ext cx="1152144" cy="228600"/>
          </a:xfrm>
          <a:prstGeom prst="rect">
            <a:avLst/>
          </a:prstGeom>
          <a:noFill/>
          <a:ln/>
        </p:spPr>
        <p:txBody>
          <a:bodyPr wrap="square" lIns="0" tIns="0" rIns="0" bIns="0" rtlCol="0" anchor="t"/>
          <a:lstStyle/>
          <a:p>
            <a:pPr indent="0" marL="0">
              <a:buNone/>
            </a:pPr>
            <a:r>
              <a:rPr lang="en-US" sz="900" b="1" dirty="0">
                <a:solidFill>
                  <a:schemeClr val="tx1"/>
                </a:solidFill>
              </a:rPr>
              <a:t>Ana | Blond &amp; Balayage</a:t>
            </a:r>
            <a:endParaRPr lang="en-US" sz="900" dirty="0"/>
          </a:p>
        </p:txBody>
      </p:sp>
      <p:sp>
        <p:nvSpPr>
          <p:cNvPr id="10" name="text-166"/>
          <p:cNvSpPr txBox="1"/>
          <p:nvPr/>
        </p:nvSpPr>
        <p:spPr>
          <a:xfrm>
            <a:off x="1252728" y="1709928"/>
            <a:ext cx="1152144" cy="201168"/>
          </a:xfrm>
          <a:prstGeom prst="rect">
            <a:avLst/>
          </a:prstGeom>
          <a:noFill/>
          <a:ln/>
        </p:spPr>
        <p:txBody>
          <a:bodyPr wrap="square" lIns="0" tIns="0" rIns="0" bIns="0" rtlCol="0" anchor="t"/>
          <a:lstStyle/>
          <a:p>
            <a:pPr indent="0" marL="0">
              <a:buNone/>
            </a:pPr>
            <a:r>
              <a:rPr lang="en-US" sz="900" dirty="0">
                <a:solidFill>
                  <a:schemeClr val="tx2"/>
                </a:solidFill>
              </a:rPr>
              <a:t>Coloristă · Cluj</a:t>
            </a:r>
            <a:endParaRPr lang="en-US" sz="900" dirty="0"/>
          </a:p>
        </p:txBody>
      </p:sp>
      <p:sp>
        <p:nvSpPr>
          <p:cNvPr id="11" name="text-167"/>
          <p:cNvSpPr txBox="1"/>
          <p:nvPr/>
        </p:nvSpPr>
        <p:spPr>
          <a:xfrm>
            <a:off x="658368" y="2029968"/>
            <a:ext cx="1700784" cy="548640"/>
          </a:xfrm>
          <a:prstGeom prst="rect">
            <a:avLst/>
          </a:prstGeom>
          <a:noFill/>
          <a:ln/>
        </p:spPr>
        <p:txBody>
          <a:bodyPr wrap="square" lIns="0" tIns="0" rIns="0" bIns="0" rtlCol="0" anchor="t"/>
          <a:lstStyle/>
          <a:p>
            <a:pPr indent="0" marL="0">
              <a:buNone/>
            </a:pPr>
            <a:r>
              <a:rPr lang="en-US" sz="800" dirty="0">
                <a:solidFill>
                  <a:schemeClr val="tx1"/>
                </a:solidFill>
              </a:rPr>
              <a:t>Specialist blond rece &amp; AirTouch</a:t>
            </a:r>
            <a:endParaRPr lang="en-US" sz="800" dirty="0"/>
          </a:p>
          <a:p>
            <a:pPr indent="0" marL="0">
              <a:buNone/>
            </a:pPr>
            <a:r>
              <a:rPr lang="en-US" sz="800" dirty="0">
                <a:solidFill>
                  <a:schemeClr val="tx1"/>
                </a:solidFill>
              </a:rPr>
              <a:t>Programări: link mai jos</a:t>
            </a:r>
            <a:endParaRPr lang="en-US" sz="800" dirty="0"/>
          </a:p>
          <a:p>
            <a:pPr indent="0" marL="0">
              <a:buNone/>
            </a:pPr>
            <a:r>
              <a:rPr lang="en-US" sz="800" dirty="0">
                <a:solidFill>
                  <a:schemeClr val="tx1"/>
                </a:solidFill>
              </a:rPr>
              <a:t>Salonul X, str. Exemplu 10</a:t>
            </a:r>
            <a:endParaRPr lang="en-US" sz="800" dirty="0"/>
          </a:p>
        </p:txBody>
      </p:sp>
      <p:sp>
        <p:nvSpPr>
          <p:cNvPr id="12" name="hl-168"/>
          <p:cNvSpPr/>
          <p:nvPr/>
        </p:nvSpPr>
        <p:spPr>
          <a:xfrm>
            <a:off x="667512" y="2670048"/>
            <a:ext cx="347472" cy="347472"/>
          </a:xfrm>
          <a:prstGeom prst="ellipse">
            <a:avLst/>
          </a:prstGeom>
          <a:solidFill>
            <a:schemeClr val="bg2"/>
          </a:solidFill>
          <a:ln w="12700">
            <a:solidFill>
              <a:schemeClr val="accent1"/>
            </a:solidFill>
            <a:prstDash val="solid"/>
          </a:ln>
        </p:spPr>
      </p:sp>
      <p:sp>
        <p:nvSpPr>
          <p:cNvPr id="13" name="text-169"/>
          <p:cNvSpPr txBox="1"/>
          <p:nvPr/>
        </p:nvSpPr>
        <p:spPr>
          <a:xfrm>
            <a:off x="576072" y="3035808"/>
            <a:ext cx="530352" cy="182880"/>
          </a:xfrm>
          <a:prstGeom prst="rect">
            <a:avLst/>
          </a:prstGeom>
          <a:noFill/>
          <a:ln/>
        </p:spPr>
        <p:txBody>
          <a:bodyPr wrap="square" lIns="0" tIns="0" rIns="0" bIns="0" rtlCol="0" anchor="t"/>
          <a:lstStyle/>
          <a:p>
            <a:pPr algn="ctr" indent="0" marL="0">
              <a:buNone/>
            </a:pPr>
            <a:r>
              <a:rPr lang="en-US" sz="600" dirty="0">
                <a:solidFill>
                  <a:schemeClr val="tx2"/>
                </a:solidFill>
              </a:rPr>
              <a:t>Prețuri</a:t>
            </a:r>
            <a:endParaRPr lang="en-US" sz="600" dirty="0"/>
          </a:p>
        </p:txBody>
      </p:sp>
      <p:sp>
        <p:nvSpPr>
          <p:cNvPr id="14" name="hl-170"/>
          <p:cNvSpPr/>
          <p:nvPr/>
        </p:nvSpPr>
        <p:spPr>
          <a:xfrm>
            <a:off x="1152144" y="2670048"/>
            <a:ext cx="347472" cy="347472"/>
          </a:xfrm>
          <a:prstGeom prst="ellipse">
            <a:avLst/>
          </a:prstGeom>
          <a:solidFill>
            <a:schemeClr val="bg2"/>
          </a:solidFill>
          <a:ln w="12700">
            <a:solidFill>
              <a:schemeClr val="accent1"/>
            </a:solidFill>
            <a:prstDash val="solid"/>
          </a:ln>
        </p:spPr>
      </p:sp>
      <p:sp>
        <p:nvSpPr>
          <p:cNvPr id="15" name="text-171"/>
          <p:cNvSpPr txBox="1"/>
          <p:nvPr/>
        </p:nvSpPr>
        <p:spPr>
          <a:xfrm>
            <a:off x="1060704" y="3035808"/>
            <a:ext cx="530352" cy="182880"/>
          </a:xfrm>
          <a:prstGeom prst="rect">
            <a:avLst/>
          </a:prstGeom>
          <a:noFill/>
          <a:ln/>
        </p:spPr>
        <p:txBody>
          <a:bodyPr wrap="square" lIns="0" tIns="0" rIns="0" bIns="0" rtlCol="0" anchor="t"/>
          <a:lstStyle/>
          <a:p>
            <a:pPr algn="ctr" indent="0" marL="0">
              <a:buNone/>
            </a:pPr>
            <a:r>
              <a:rPr lang="en-US" sz="600" dirty="0">
                <a:solidFill>
                  <a:schemeClr val="tx2"/>
                </a:solidFill>
              </a:rPr>
              <a:t>Înainte/după</a:t>
            </a:r>
            <a:endParaRPr lang="en-US" sz="600" dirty="0"/>
          </a:p>
        </p:txBody>
      </p:sp>
      <p:sp>
        <p:nvSpPr>
          <p:cNvPr id="16" name="hl-172"/>
          <p:cNvSpPr/>
          <p:nvPr/>
        </p:nvSpPr>
        <p:spPr>
          <a:xfrm>
            <a:off x="1636776" y="2670048"/>
            <a:ext cx="347472" cy="347472"/>
          </a:xfrm>
          <a:prstGeom prst="ellipse">
            <a:avLst/>
          </a:prstGeom>
          <a:solidFill>
            <a:schemeClr val="bg2"/>
          </a:solidFill>
          <a:ln w="12700">
            <a:solidFill>
              <a:schemeClr val="accent1"/>
            </a:solidFill>
            <a:prstDash val="solid"/>
          </a:ln>
        </p:spPr>
      </p:sp>
      <p:sp>
        <p:nvSpPr>
          <p:cNvPr id="17" name="text-173"/>
          <p:cNvSpPr txBox="1"/>
          <p:nvPr/>
        </p:nvSpPr>
        <p:spPr>
          <a:xfrm>
            <a:off x="1545336" y="3035808"/>
            <a:ext cx="530352" cy="182880"/>
          </a:xfrm>
          <a:prstGeom prst="rect">
            <a:avLst/>
          </a:prstGeom>
          <a:noFill/>
          <a:ln/>
        </p:spPr>
        <p:txBody>
          <a:bodyPr wrap="square" lIns="0" tIns="0" rIns="0" bIns="0" rtlCol="0" anchor="t"/>
          <a:lstStyle/>
          <a:p>
            <a:pPr algn="ctr" indent="0" marL="0">
              <a:buNone/>
            </a:pPr>
            <a:r>
              <a:rPr lang="en-US" sz="600" dirty="0">
                <a:solidFill>
                  <a:schemeClr val="tx2"/>
                </a:solidFill>
              </a:rPr>
              <a:t>Recenzii</a:t>
            </a:r>
            <a:endParaRPr lang="en-US" sz="600" dirty="0"/>
          </a:p>
        </p:txBody>
      </p:sp>
      <p:sp>
        <p:nvSpPr>
          <p:cNvPr id="18" name="hl-174"/>
          <p:cNvSpPr/>
          <p:nvPr/>
        </p:nvSpPr>
        <p:spPr>
          <a:xfrm>
            <a:off x="2121408" y="2670048"/>
            <a:ext cx="347472" cy="347472"/>
          </a:xfrm>
          <a:prstGeom prst="ellipse">
            <a:avLst/>
          </a:prstGeom>
          <a:solidFill>
            <a:schemeClr val="bg2"/>
          </a:solidFill>
          <a:ln w="12700">
            <a:solidFill>
              <a:schemeClr val="accent1"/>
            </a:solidFill>
            <a:prstDash val="solid"/>
          </a:ln>
        </p:spPr>
      </p:sp>
      <p:sp>
        <p:nvSpPr>
          <p:cNvPr id="19" name="text-175"/>
          <p:cNvSpPr txBox="1"/>
          <p:nvPr/>
        </p:nvSpPr>
        <p:spPr>
          <a:xfrm>
            <a:off x="2029968" y="3035808"/>
            <a:ext cx="530352" cy="182880"/>
          </a:xfrm>
          <a:prstGeom prst="rect">
            <a:avLst/>
          </a:prstGeom>
          <a:noFill/>
          <a:ln/>
        </p:spPr>
        <p:txBody>
          <a:bodyPr wrap="square" lIns="0" tIns="0" rIns="0" bIns="0" rtlCol="0" anchor="t"/>
          <a:lstStyle/>
          <a:p>
            <a:pPr algn="ctr" indent="0" marL="0">
              <a:buNone/>
            </a:pPr>
            <a:r>
              <a:rPr lang="en-US" sz="600" dirty="0">
                <a:solidFill>
                  <a:schemeClr val="tx2"/>
                </a:solidFill>
              </a:rPr>
              <a:t>Locație</a:t>
            </a:r>
            <a:endParaRPr lang="en-US" sz="600" dirty="0"/>
          </a:p>
        </p:txBody>
      </p:sp>
      <p:sp>
        <p:nvSpPr>
          <p:cNvPr id="20" name="grid-176"/>
          <p:cNvSpPr/>
          <p:nvPr/>
        </p:nvSpPr>
        <p:spPr>
          <a:xfrm>
            <a:off x="548640" y="3310128"/>
            <a:ext cx="627888" cy="548640"/>
          </a:xfrm>
          <a:prstGeom prst="rect">
            <a:avLst/>
          </a:prstGeom>
          <a:solidFill>
            <a:srgbClr val="E7CF9C"/>
          </a:solidFill>
          <a:ln w="12700">
            <a:solidFill>
              <a:srgbClr val="E7CF9C"/>
            </a:solidFill>
            <a:prstDash val="solid"/>
          </a:ln>
        </p:spPr>
      </p:sp>
      <p:sp>
        <p:nvSpPr>
          <p:cNvPr id="21" name="grid-177"/>
          <p:cNvSpPr/>
          <p:nvPr/>
        </p:nvSpPr>
        <p:spPr>
          <a:xfrm>
            <a:off x="1194816" y="3310128"/>
            <a:ext cx="627888" cy="548640"/>
          </a:xfrm>
          <a:prstGeom prst="rect">
            <a:avLst/>
          </a:prstGeom>
          <a:solidFill>
            <a:srgbClr val="5B4A42"/>
          </a:solidFill>
          <a:ln w="12700">
            <a:solidFill>
              <a:srgbClr val="5B4A42"/>
            </a:solidFill>
            <a:prstDash val="solid"/>
          </a:ln>
        </p:spPr>
      </p:sp>
      <p:sp>
        <p:nvSpPr>
          <p:cNvPr id="22" name="grid-178"/>
          <p:cNvSpPr/>
          <p:nvPr/>
        </p:nvSpPr>
        <p:spPr>
          <a:xfrm>
            <a:off x="1840992" y="3310128"/>
            <a:ext cx="627888" cy="548640"/>
          </a:xfrm>
          <a:prstGeom prst="rect">
            <a:avLst/>
          </a:prstGeom>
          <a:solidFill>
            <a:srgbClr val="C9A26B"/>
          </a:solidFill>
          <a:ln w="12700">
            <a:solidFill>
              <a:srgbClr val="C9A26B"/>
            </a:solidFill>
            <a:prstDash val="solid"/>
          </a:ln>
        </p:spPr>
      </p:sp>
      <p:sp>
        <p:nvSpPr>
          <p:cNvPr id="23" name="grid-179"/>
          <p:cNvSpPr/>
          <p:nvPr/>
        </p:nvSpPr>
        <p:spPr>
          <a:xfrm>
            <a:off x="548640" y="3877056"/>
            <a:ext cx="627888" cy="548640"/>
          </a:xfrm>
          <a:prstGeom prst="rect">
            <a:avLst/>
          </a:prstGeom>
          <a:solidFill>
            <a:srgbClr val="D9B98A"/>
          </a:solidFill>
          <a:ln w="12700">
            <a:solidFill>
              <a:srgbClr val="D9B98A"/>
            </a:solidFill>
            <a:prstDash val="solid"/>
          </a:ln>
        </p:spPr>
      </p:sp>
      <p:sp>
        <p:nvSpPr>
          <p:cNvPr id="24" name="grid-180"/>
          <p:cNvSpPr/>
          <p:nvPr/>
        </p:nvSpPr>
        <p:spPr>
          <a:xfrm>
            <a:off x="1194816" y="3877056"/>
            <a:ext cx="627888" cy="548640"/>
          </a:xfrm>
          <a:prstGeom prst="rect">
            <a:avLst/>
          </a:prstGeom>
          <a:solidFill>
            <a:srgbClr val="E7CF9C"/>
          </a:solidFill>
          <a:ln w="12700">
            <a:solidFill>
              <a:srgbClr val="E7CF9C"/>
            </a:solidFill>
            <a:prstDash val="solid"/>
          </a:ln>
        </p:spPr>
      </p:sp>
      <p:sp>
        <p:nvSpPr>
          <p:cNvPr id="25" name="grid-181"/>
          <p:cNvSpPr/>
          <p:nvPr/>
        </p:nvSpPr>
        <p:spPr>
          <a:xfrm>
            <a:off x="1840992" y="3877056"/>
            <a:ext cx="627888" cy="548640"/>
          </a:xfrm>
          <a:prstGeom prst="rect">
            <a:avLst/>
          </a:prstGeom>
          <a:solidFill>
            <a:srgbClr val="8A6A50"/>
          </a:solidFill>
          <a:ln w="12700">
            <a:solidFill>
              <a:srgbClr val="8A6A50"/>
            </a:solidFill>
            <a:prstDash val="solid"/>
          </a:ln>
        </p:spPr>
      </p:sp>
      <p:sp>
        <p:nvSpPr>
          <p:cNvPr id="26" name="arrow-182"/>
          <p:cNvSpPr/>
          <p:nvPr/>
        </p:nvSpPr>
        <p:spPr>
          <a:xfrm flipH="1">
            <a:off x="2331720" y="1737360"/>
            <a:ext cx="594360" cy="914"/>
          </a:xfrm>
          <a:prstGeom prst="line">
            <a:avLst/>
          </a:prstGeom>
          <a:noFill/>
          <a:ln w="22225">
            <a:solidFill>
              <a:schemeClr val="accent2"/>
            </a:solidFill>
            <a:prstDash val="solid"/>
            <a:tailEnd type="triangle"/>
          </a:ln>
        </p:spPr>
      </p:sp>
      <p:sp>
        <p:nvSpPr>
          <p:cNvPr id="27" name="text-183"/>
          <p:cNvSpPr txBox="1"/>
          <p:nvPr/>
        </p:nvSpPr>
        <p:spPr>
          <a:xfrm>
            <a:off x="3017520" y="1600200"/>
            <a:ext cx="2286000" cy="274320"/>
          </a:xfrm>
          <a:prstGeom prst="rect">
            <a:avLst/>
          </a:prstGeom>
          <a:noFill/>
          <a:ln/>
        </p:spPr>
        <p:txBody>
          <a:bodyPr wrap="square" lIns="0" tIns="0" rIns="0" bIns="0" rtlCol="0" anchor="t"/>
          <a:lstStyle/>
          <a:p>
            <a:pPr indent="0" marL="0">
              <a:buNone/>
            </a:pPr>
            <a:r>
              <a:rPr lang="en-US" sz="1200" b="1" dirty="0">
                <a:solidFill>
                  <a:schemeClr val="accent2"/>
                </a:solidFill>
              </a:rPr>
              <a:t>Cine ești + ce faci + unde</a:t>
            </a:r>
            <a:endParaRPr lang="en-US" sz="1200" dirty="0"/>
          </a:p>
        </p:txBody>
      </p:sp>
      <p:sp>
        <p:nvSpPr>
          <p:cNvPr id="28" name="arrow-184"/>
          <p:cNvSpPr/>
          <p:nvPr/>
        </p:nvSpPr>
        <p:spPr>
          <a:xfrm flipH="1">
            <a:off x="2331720" y="2788920"/>
            <a:ext cx="594360" cy="914"/>
          </a:xfrm>
          <a:prstGeom prst="line">
            <a:avLst/>
          </a:prstGeom>
          <a:noFill/>
          <a:ln w="22225">
            <a:solidFill>
              <a:schemeClr val="accent2"/>
            </a:solidFill>
            <a:prstDash val="solid"/>
            <a:tailEnd type="triangle"/>
          </a:ln>
        </p:spPr>
      </p:sp>
      <p:sp>
        <p:nvSpPr>
          <p:cNvPr id="29" name="text-185"/>
          <p:cNvSpPr txBox="1"/>
          <p:nvPr/>
        </p:nvSpPr>
        <p:spPr>
          <a:xfrm>
            <a:off x="3017520" y="2651760"/>
            <a:ext cx="2286000" cy="274320"/>
          </a:xfrm>
          <a:prstGeom prst="rect">
            <a:avLst/>
          </a:prstGeom>
          <a:noFill/>
          <a:ln/>
        </p:spPr>
        <p:txBody>
          <a:bodyPr wrap="square" lIns="0" tIns="0" rIns="0" bIns="0" rtlCol="0" anchor="t"/>
          <a:lstStyle/>
          <a:p>
            <a:pPr indent="0" marL="0">
              <a:buNone/>
            </a:pPr>
            <a:r>
              <a:rPr lang="en-US" sz="1200" b="1" dirty="0">
                <a:solidFill>
                  <a:schemeClr val="accent2"/>
                </a:solidFill>
              </a:rPr>
              <a:t>Evidențiate = răspunsuri gata făcute</a:t>
            </a:r>
            <a:endParaRPr lang="en-US" sz="1200" dirty="0"/>
          </a:p>
        </p:txBody>
      </p:sp>
      <p:sp>
        <p:nvSpPr>
          <p:cNvPr id="30" name="text-186"/>
          <p:cNvSpPr txBox="1"/>
          <p:nvPr/>
        </p:nvSpPr>
        <p:spPr>
          <a:xfrm>
            <a:off x="5486400" y="1188720"/>
            <a:ext cx="3200400"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Atragi urmăritorii potriviți</a:t>
            </a:r>
            <a:endParaRPr lang="en-US" sz="1500" dirty="0"/>
          </a:p>
        </p:txBody>
      </p:sp>
      <p:sp>
        <p:nvSpPr>
          <p:cNvPr id="31" name="text-187"/>
          <p:cNvSpPr txBox="1"/>
          <p:nvPr/>
        </p:nvSpPr>
        <p:spPr>
          <a:xfrm>
            <a:off x="5486400" y="1536192"/>
            <a:ext cx="3200400" cy="10972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Locație + 3–5 hashtaguri de nișă</a:t>
            </a:r>
            <a:endParaRPr lang="en-US" sz="1400" dirty="0"/>
          </a:p>
          <a:p>
            <a:pPr marL="342900" indent="-342900">
              <a:spcAft>
                <a:spcPts val="400"/>
              </a:spcAft>
              <a:buSzPct val="100000"/>
              <a:buChar char="•"/>
            </a:pPr>
            <a:r>
              <a:rPr lang="en-US" sz="1400" dirty="0">
                <a:solidFill>
                  <a:schemeClr val="tx1"/>
                </a:solidFill>
              </a:rPr>
              <a:t>Colaborări cu machiaj, foto, mirese</a:t>
            </a:r>
            <a:endParaRPr lang="en-US" sz="1400" dirty="0"/>
          </a:p>
          <a:p>
            <a:pPr marL="342900" indent="-342900">
              <a:spcAft>
                <a:spcPts val="400"/>
              </a:spcAft>
              <a:buSzPct val="100000"/>
              <a:buChar char="•"/>
            </a:pPr>
            <a:r>
              <a:rPr lang="en-US" sz="1400" dirty="0">
                <a:solidFill>
                  <a:schemeClr val="tx1"/>
                </a:solidFill>
              </a:rPr>
              <a:t>Răspunzi la comentarii și mesaje</a:t>
            </a:r>
            <a:endParaRPr lang="en-US" sz="1400" dirty="0"/>
          </a:p>
        </p:txBody>
      </p:sp>
      <p:sp>
        <p:nvSpPr>
          <p:cNvPr id="32" name="text-188"/>
          <p:cNvSpPr txBox="1"/>
          <p:nvPr/>
        </p:nvSpPr>
        <p:spPr>
          <a:xfrm>
            <a:off x="3017520" y="3246120"/>
            <a:ext cx="3657600"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Ritm realist pe săptămână</a:t>
            </a:r>
            <a:endParaRPr lang="en-US" sz="1500" dirty="0"/>
          </a:p>
        </p:txBody>
      </p:sp>
      <p:sp>
        <p:nvSpPr>
          <p:cNvPr id="33" name="day-189"/>
          <p:cNvSpPr/>
          <p:nvPr/>
        </p:nvSpPr>
        <p:spPr>
          <a:xfrm>
            <a:off x="3017520" y="3611880"/>
            <a:ext cx="731520" cy="731520"/>
          </a:xfrm>
          <a:prstGeom prst="roundRect">
            <a:avLst>
              <a:gd name="adj" fmla="val 12500"/>
            </a:avLst>
          </a:prstGeom>
          <a:solidFill>
            <a:schemeClr val="accent2"/>
          </a:solidFill>
          <a:ln w="6350">
            <a:solidFill>
              <a:schemeClr val="accent1"/>
            </a:solidFill>
            <a:prstDash val="solid"/>
          </a:ln>
        </p:spPr>
      </p:sp>
      <p:sp>
        <p:nvSpPr>
          <p:cNvPr id="34" name="text-190"/>
          <p:cNvSpPr txBox="1"/>
          <p:nvPr/>
        </p:nvSpPr>
        <p:spPr>
          <a:xfrm>
            <a:off x="3017520" y="3675888"/>
            <a:ext cx="731520" cy="256032"/>
          </a:xfrm>
          <a:prstGeom prst="rect">
            <a:avLst/>
          </a:prstGeom>
          <a:noFill/>
          <a:ln/>
        </p:spPr>
        <p:txBody>
          <a:bodyPr wrap="square" lIns="0" tIns="0" rIns="0" bIns="0" rtlCol="0" anchor="t"/>
          <a:lstStyle/>
          <a:p>
            <a:pPr algn="ctr" indent="0" marL="0">
              <a:buNone/>
            </a:pPr>
            <a:r>
              <a:rPr lang="en-US" sz="1400" b="1" dirty="0">
                <a:solidFill>
                  <a:schemeClr val="bg1"/>
                </a:solidFill>
              </a:rPr>
              <a:t>L</a:t>
            </a:r>
            <a:endParaRPr lang="en-US" sz="1400" dirty="0"/>
          </a:p>
        </p:txBody>
      </p:sp>
      <p:sp>
        <p:nvSpPr>
          <p:cNvPr id="35" name="text-191"/>
          <p:cNvSpPr txBox="1"/>
          <p:nvPr/>
        </p:nvSpPr>
        <p:spPr>
          <a:xfrm>
            <a:off x="3017520" y="3977640"/>
            <a:ext cx="731520" cy="274320"/>
          </a:xfrm>
          <a:prstGeom prst="rect">
            <a:avLst/>
          </a:prstGeom>
          <a:noFill/>
          <a:ln/>
        </p:spPr>
        <p:txBody>
          <a:bodyPr wrap="square" lIns="0" tIns="0" rIns="0" bIns="0" rtlCol="0" anchor="t"/>
          <a:lstStyle/>
          <a:p>
            <a:pPr algn="ctr" indent="0" marL="0">
              <a:buNone/>
            </a:pPr>
            <a:r>
              <a:rPr lang="en-US" sz="1100" dirty="0">
                <a:solidFill>
                  <a:schemeClr val="bg1"/>
                </a:solidFill>
              </a:rPr>
              <a:t>Reel</a:t>
            </a:r>
            <a:endParaRPr lang="en-US" sz="1100" dirty="0"/>
          </a:p>
        </p:txBody>
      </p:sp>
      <p:sp>
        <p:nvSpPr>
          <p:cNvPr id="36" name="day-192"/>
          <p:cNvSpPr/>
          <p:nvPr/>
        </p:nvSpPr>
        <p:spPr>
          <a:xfrm>
            <a:off x="3822192" y="3611880"/>
            <a:ext cx="731520" cy="731520"/>
          </a:xfrm>
          <a:prstGeom prst="roundRect">
            <a:avLst>
              <a:gd name="adj" fmla="val 12500"/>
            </a:avLst>
          </a:prstGeom>
          <a:solidFill>
            <a:schemeClr val="bg2"/>
          </a:solidFill>
          <a:ln w="6350">
            <a:solidFill>
              <a:schemeClr val="accent1"/>
            </a:solidFill>
            <a:prstDash val="solid"/>
          </a:ln>
        </p:spPr>
      </p:sp>
      <p:sp>
        <p:nvSpPr>
          <p:cNvPr id="37" name="text-193"/>
          <p:cNvSpPr txBox="1"/>
          <p:nvPr/>
        </p:nvSpPr>
        <p:spPr>
          <a:xfrm>
            <a:off x="3822192" y="3675888"/>
            <a:ext cx="731520" cy="256032"/>
          </a:xfrm>
          <a:prstGeom prst="rect">
            <a:avLst/>
          </a:prstGeom>
          <a:noFill/>
          <a:ln/>
        </p:spPr>
        <p:txBody>
          <a:bodyPr wrap="square" lIns="0" tIns="0" rIns="0" bIns="0" rtlCol="0" anchor="t"/>
          <a:lstStyle/>
          <a:p>
            <a:pPr algn="ctr" indent="0" marL="0">
              <a:buNone/>
            </a:pPr>
            <a:r>
              <a:rPr lang="en-US" sz="1400" b="1" dirty="0">
                <a:solidFill>
                  <a:schemeClr val="tx1"/>
                </a:solidFill>
              </a:rPr>
              <a:t>Ma</a:t>
            </a:r>
            <a:endParaRPr lang="en-US" sz="1400" dirty="0"/>
          </a:p>
        </p:txBody>
      </p:sp>
      <p:sp>
        <p:nvSpPr>
          <p:cNvPr id="38" name="text-194"/>
          <p:cNvSpPr txBox="1"/>
          <p:nvPr/>
        </p:nvSpPr>
        <p:spPr>
          <a:xfrm>
            <a:off x="3822192" y="3977640"/>
            <a:ext cx="731520" cy="274320"/>
          </a:xfrm>
          <a:prstGeom prst="rect">
            <a:avLst/>
          </a:prstGeom>
          <a:noFill/>
          <a:ln/>
        </p:spPr>
        <p:txBody>
          <a:bodyPr wrap="square" lIns="0" tIns="0" rIns="0" bIns="0" rtlCol="0" anchor="t"/>
          <a:lstStyle/>
          <a:p>
            <a:pPr algn="ctr" indent="0" marL="0">
              <a:buNone/>
            </a:pPr>
            <a:r>
              <a:rPr lang="en-US" sz="1100" dirty="0">
                <a:solidFill>
                  <a:schemeClr val="tx2"/>
                </a:solidFill>
              </a:rPr>
              <a:t>Story</a:t>
            </a:r>
            <a:endParaRPr lang="en-US" sz="1100" dirty="0"/>
          </a:p>
        </p:txBody>
      </p:sp>
      <p:sp>
        <p:nvSpPr>
          <p:cNvPr id="39" name="day-195"/>
          <p:cNvSpPr/>
          <p:nvPr/>
        </p:nvSpPr>
        <p:spPr>
          <a:xfrm>
            <a:off x="4626864" y="3611880"/>
            <a:ext cx="731520" cy="731520"/>
          </a:xfrm>
          <a:prstGeom prst="roundRect">
            <a:avLst>
              <a:gd name="adj" fmla="val 12500"/>
            </a:avLst>
          </a:prstGeom>
          <a:solidFill>
            <a:schemeClr val="accent1"/>
          </a:solidFill>
          <a:ln w="6350">
            <a:solidFill>
              <a:schemeClr val="accent1"/>
            </a:solidFill>
            <a:prstDash val="solid"/>
          </a:ln>
        </p:spPr>
      </p:sp>
      <p:sp>
        <p:nvSpPr>
          <p:cNvPr id="40" name="text-196"/>
          <p:cNvSpPr txBox="1"/>
          <p:nvPr/>
        </p:nvSpPr>
        <p:spPr>
          <a:xfrm>
            <a:off x="4626864" y="3675888"/>
            <a:ext cx="731520" cy="256032"/>
          </a:xfrm>
          <a:prstGeom prst="rect">
            <a:avLst/>
          </a:prstGeom>
          <a:noFill/>
          <a:ln/>
        </p:spPr>
        <p:txBody>
          <a:bodyPr wrap="square" lIns="0" tIns="0" rIns="0" bIns="0" rtlCol="0" anchor="t"/>
          <a:lstStyle/>
          <a:p>
            <a:pPr algn="ctr" indent="0" marL="0">
              <a:buNone/>
            </a:pPr>
            <a:r>
              <a:rPr lang="en-US" sz="1400" b="1" dirty="0">
                <a:solidFill>
                  <a:schemeClr val="bg1"/>
                </a:solidFill>
              </a:rPr>
              <a:t>Mi</a:t>
            </a:r>
            <a:endParaRPr lang="en-US" sz="1400" dirty="0"/>
          </a:p>
        </p:txBody>
      </p:sp>
      <p:sp>
        <p:nvSpPr>
          <p:cNvPr id="41" name="text-197"/>
          <p:cNvSpPr txBox="1"/>
          <p:nvPr/>
        </p:nvSpPr>
        <p:spPr>
          <a:xfrm>
            <a:off x="4626864" y="3977640"/>
            <a:ext cx="731520" cy="274320"/>
          </a:xfrm>
          <a:prstGeom prst="rect">
            <a:avLst/>
          </a:prstGeom>
          <a:noFill/>
          <a:ln/>
        </p:spPr>
        <p:txBody>
          <a:bodyPr wrap="square" lIns="0" tIns="0" rIns="0" bIns="0" rtlCol="0" anchor="t"/>
          <a:lstStyle/>
          <a:p>
            <a:pPr algn="ctr" indent="0" marL="0">
              <a:buNone/>
            </a:pPr>
            <a:r>
              <a:rPr lang="en-US" sz="1100" dirty="0">
                <a:solidFill>
                  <a:schemeClr val="bg1"/>
                </a:solidFill>
              </a:rPr>
              <a:t>Carusel</a:t>
            </a:r>
            <a:endParaRPr lang="en-US" sz="1100" dirty="0"/>
          </a:p>
        </p:txBody>
      </p:sp>
      <p:sp>
        <p:nvSpPr>
          <p:cNvPr id="42" name="day-198"/>
          <p:cNvSpPr/>
          <p:nvPr/>
        </p:nvSpPr>
        <p:spPr>
          <a:xfrm>
            <a:off x="5431536" y="3611880"/>
            <a:ext cx="731520" cy="731520"/>
          </a:xfrm>
          <a:prstGeom prst="roundRect">
            <a:avLst>
              <a:gd name="adj" fmla="val 12500"/>
            </a:avLst>
          </a:prstGeom>
          <a:solidFill>
            <a:schemeClr val="bg2"/>
          </a:solidFill>
          <a:ln w="6350">
            <a:solidFill>
              <a:schemeClr val="accent1"/>
            </a:solidFill>
            <a:prstDash val="solid"/>
          </a:ln>
        </p:spPr>
      </p:sp>
      <p:sp>
        <p:nvSpPr>
          <p:cNvPr id="43" name="text-199"/>
          <p:cNvSpPr txBox="1"/>
          <p:nvPr/>
        </p:nvSpPr>
        <p:spPr>
          <a:xfrm>
            <a:off x="5431536" y="3675888"/>
            <a:ext cx="731520" cy="256032"/>
          </a:xfrm>
          <a:prstGeom prst="rect">
            <a:avLst/>
          </a:prstGeom>
          <a:noFill/>
          <a:ln/>
        </p:spPr>
        <p:txBody>
          <a:bodyPr wrap="square" lIns="0" tIns="0" rIns="0" bIns="0" rtlCol="0" anchor="t"/>
          <a:lstStyle/>
          <a:p>
            <a:pPr algn="ctr" indent="0" marL="0">
              <a:buNone/>
            </a:pPr>
            <a:r>
              <a:rPr lang="en-US" sz="1400" b="1" dirty="0">
                <a:solidFill>
                  <a:schemeClr val="tx1"/>
                </a:solidFill>
              </a:rPr>
              <a:t>J</a:t>
            </a:r>
            <a:endParaRPr lang="en-US" sz="1400" dirty="0"/>
          </a:p>
        </p:txBody>
      </p:sp>
      <p:sp>
        <p:nvSpPr>
          <p:cNvPr id="44" name="text-200"/>
          <p:cNvSpPr txBox="1"/>
          <p:nvPr/>
        </p:nvSpPr>
        <p:spPr>
          <a:xfrm>
            <a:off x="5431536" y="3977640"/>
            <a:ext cx="731520" cy="274320"/>
          </a:xfrm>
          <a:prstGeom prst="rect">
            <a:avLst/>
          </a:prstGeom>
          <a:noFill/>
          <a:ln/>
        </p:spPr>
        <p:txBody>
          <a:bodyPr wrap="square" lIns="0" tIns="0" rIns="0" bIns="0" rtlCol="0" anchor="t"/>
          <a:lstStyle/>
          <a:p>
            <a:pPr algn="ctr" indent="0" marL="0">
              <a:buNone/>
            </a:pPr>
            <a:r>
              <a:rPr lang="en-US" sz="1100" dirty="0">
                <a:solidFill>
                  <a:schemeClr val="tx2"/>
                </a:solidFill>
              </a:rPr>
              <a:t>Story</a:t>
            </a:r>
            <a:endParaRPr lang="en-US" sz="1100" dirty="0"/>
          </a:p>
        </p:txBody>
      </p:sp>
      <p:sp>
        <p:nvSpPr>
          <p:cNvPr id="45" name="day-201"/>
          <p:cNvSpPr/>
          <p:nvPr/>
        </p:nvSpPr>
        <p:spPr>
          <a:xfrm>
            <a:off x="6236208" y="3611880"/>
            <a:ext cx="731520" cy="731520"/>
          </a:xfrm>
          <a:prstGeom prst="roundRect">
            <a:avLst>
              <a:gd name="adj" fmla="val 12500"/>
            </a:avLst>
          </a:prstGeom>
          <a:solidFill>
            <a:schemeClr val="accent2"/>
          </a:solidFill>
          <a:ln w="6350">
            <a:solidFill>
              <a:schemeClr val="accent1"/>
            </a:solidFill>
            <a:prstDash val="solid"/>
          </a:ln>
        </p:spPr>
      </p:sp>
      <p:sp>
        <p:nvSpPr>
          <p:cNvPr id="46" name="text-202"/>
          <p:cNvSpPr txBox="1"/>
          <p:nvPr/>
        </p:nvSpPr>
        <p:spPr>
          <a:xfrm>
            <a:off x="6236208" y="3675888"/>
            <a:ext cx="731520" cy="256032"/>
          </a:xfrm>
          <a:prstGeom prst="rect">
            <a:avLst/>
          </a:prstGeom>
          <a:noFill/>
          <a:ln/>
        </p:spPr>
        <p:txBody>
          <a:bodyPr wrap="square" lIns="0" tIns="0" rIns="0" bIns="0" rtlCol="0" anchor="t"/>
          <a:lstStyle/>
          <a:p>
            <a:pPr algn="ctr" indent="0" marL="0">
              <a:buNone/>
            </a:pPr>
            <a:r>
              <a:rPr lang="en-US" sz="1400" b="1" dirty="0">
                <a:solidFill>
                  <a:schemeClr val="bg1"/>
                </a:solidFill>
              </a:rPr>
              <a:t>V</a:t>
            </a:r>
            <a:endParaRPr lang="en-US" sz="1400" dirty="0"/>
          </a:p>
        </p:txBody>
      </p:sp>
      <p:sp>
        <p:nvSpPr>
          <p:cNvPr id="47" name="text-203"/>
          <p:cNvSpPr txBox="1"/>
          <p:nvPr/>
        </p:nvSpPr>
        <p:spPr>
          <a:xfrm>
            <a:off x="6236208" y="3977640"/>
            <a:ext cx="731520" cy="274320"/>
          </a:xfrm>
          <a:prstGeom prst="rect">
            <a:avLst/>
          </a:prstGeom>
          <a:noFill/>
          <a:ln/>
        </p:spPr>
        <p:txBody>
          <a:bodyPr wrap="square" lIns="0" tIns="0" rIns="0" bIns="0" rtlCol="0" anchor="t"/>
          <a:lstStyle/>
          <a:p>
            <a:pPr algn="ctr" indent="0" marL="0">
              <a:buNone/>
            </a:pPr>
            <a:r>
              <a:rPr lang="en-US" sz="1100" dirty="0">
                <a:solidFill>
                  <a:schemeClr val="bg1"/>
                </a:solidFill>
              </a:rPr>
              <a:t>Reel</a:t>
            </a:r>
            <a:endParaRPr lang="en-US" sz="1100" dirty="0"/>
          </a:p>
        </p:txBody>
      </p:sp>
      <p:sp>
        <p:nvSpPr>
          <p:cNvPr id="48" name="day-204"/>
          <p:cNvSpPr/>
          <p:nvPr/>
        </p:nvSpPr>
        <p:spPr>
          <a:xfrm>
            <a:off x="7040880" y="3611880"/>
            <a:ext cx="731520" cy="731520"/>
          </a:xfrm>
          <a:prstGeom prst="roundRect">
            <a:avLst>
              <a:gd name="adj" fmla="val 12500"/>
            </a:avLst>
          </a:prstGeom>
          <a:solidFill>
            <a:schemeClr val="bg2"/>
          </a:solidFill>
          <a:ln w="6350">
            <a:solidFill>
              <a:schemeClr val="accent1"/>
            </a:solidFill>
            <a:prstDash val="solid"/>
          </a:ln>
        </p:spPr>
      </p:sp>
      <p:sp>
        <p:nvSpPr>
          <p:cNvPr id="49" name="text-205"/>
          <p:cNvSpPr txBox="1"/>
          <p:nvPr/>
        </p:nvSpPr>
        <p:spPr>
          <a:xfrm>
            <a:off x="7040880" y="3675888"/>
            <a:ext cx="731520" cy="256032"/>
          </a:xfrm>
          <a:prstGeom prst="rect">
            <a:avLst/>
          </a:prstGeom>
          <a:noFill/>
          <a:ln/>
        </p:spPr>
        <p:txBody>
          <a:bodyPr wrap="square" lIns="0" tIns="0" rIns="0" bIns="0" rtlCol="0" anchor="t"/>
          <a:lstStyle/>
          <a:p>
            <a:pPr algn="ctr" indent="0" marL="0">
              <a:buNone/>
            </a:pPr>
            <a:r>
              <a:rPr lang="en-US" sz="1400" b="1" dirty="0">
                <a:solidFill>
                  <a:schemeClr val="tx1"/>
                </a:solidFill>
              </a:rPr>
              <a:t>S</a:t>
            </a:r>
            <a:endParaRPr lang="en-US" sz="1400" dirty="0"/>
          </a:p>
        </p:txBody>
      </p:sp>
      <p:sp>
        <p:nvSpPr>
          <p:cNvPr id="50" name="text-206"/>
          <p:cNvSpPr txBox="1"/>
          <p:nvPr/>
        </p:nvSpPr>
        <p:spPr>
          <a:xfrm>
            <a:off x="7040880" y="3977640"/>
            <a:ext cx="731520" cy="274320"/>
          </a:xfrm>
          <a:prstGeom prst="rect">
            <a:avLst/>
          </a:prstGeom>
          <a:noFill/>
          <a:ln/>
        </p:spPr>
        <p:txBody>
          <a:bodyPr wrap="square" lIns="0" tIns="0" rIns="0" bIns="0" rtlCol="0" anchor="t"/>
          <a:lstStyle/>
          <a:p>
            <a:pPr algn="ctr" indent="0" marL="0">
              <a:buNone/>
            </a:pPr>
            <a:r>
              <a:rPr lang="en-US" sz="1100" dirty="0">
                <a:solidFill>
                  <a:schemeClr val="tx2"/>
                </a:solidFill>
              </a:rPr>
              <a:t>Story</a:t>
            </a:r>
            <a:endParaRPr lang="en-US" sz="1100" dirty="0"/>
          </a:p>
        </p:txBody>
      </p:sp>
      <p:sp>
        <p:nvSpPr>
          <p:cNvPr id="51" name="day-207"/>
          <p:cNvSpPr/>
          <p:nvPr/>
        </p:nvSpPr>
        <p:spPr>
          <a:xfrm>
            <a:off x="7845552" y="3611880"/>
            <a:ext cx="731520" cy="731520"/>
          </a:xfrm>
          <a:prstGeom prst="roundRect">
            <a:avLst>
              <a:gd name="adj" fmla="val 12500"/>
            </a:avLst>
          </a:prstGeom>
          <a:solidFill>
            <a:schemeClr val="bg1"/>
          </a:solidFill>
          <a:ln w="6350">
            <a:solidFill>
              <a:schemeClr val="accent1"/>
            </a:solidFill>
            <a:prstDash val="solid"/>
          </a:ln>
        </p:spPr>
      </p:sp>
      <p:sp>
        <p:nvSpPr>
          <p:cNvPr id="52" name="text-208"/>
          <p:cNvSpPr txBox="1"/>
          <p:nvPr/>
        </p:nvSpPr>
        <p:spPr>
          <a:xfrm>
            <a:off x="7845552" y="3675888"/>
            <a:ext cx="731520" cy="256032"/>
          </a:xfrm>
          <a:prstGeom prst="rect">
            <a:avLst/>
          </a:prstGeom>
          <a:noFill/>
          <a:ln/>
        </p:spPr>
        <p:txBody>
          <a:bodyPr wrap="square" lIns="0" tIns="0" rIns="0" bIns="0" rtlCol="0" anchor="t"/>
          <a:lstStyle/>
          <a:p>
            <a:pPr algn="ctr" indent="0" marL="0">
              <a:buNone/>
            </a:pPr>
            <a:r>
              <a:rPr lang="en-US" sz="1400" b="1" dirty="0">
                <a:solidFill>
                  <a:schemeClr val="tx1"/>
                </a:solidFill>
              </a:rPr>
              <a:t>D</a:t>
            </a:r>
            <a:endParaRPr lang="en-US" sz="1400" dirty="0"/>
          </a:p>
        </p:txBody>
      </p:sp>
      <p:sp>
        <p:nvSpPr>
          <p:cNvPr id="53" name="text-209"/>
          <p:cNvSpPr txBox="1"/>
          <p:nvPr/>
        </p:nvSpPr>
        <p:spPr>
          <a:xfrm>
            <a:off x="7845552" y="3977640"/>
            <a:ext cx="731520" cy="274320"/>
          </a:xfrm>
          <a:prstGeom prst="rect">
            <a:avLst/>
          </a:prstGeom>
          <a:noFill/>
          <a:ln/>
        </p:spPr>
        <p:txBody>
          <a:bodyPr wrap="square" lIns="0" tIns="0" rIns="0" bIns="0" rtlCol="0" anchor="t"/>
          <a:lstStyle/>
          <a:p>
            <a:pPr algn="ctr" indent="0" marL="0">
              <a:buNone/>
            </a:pPr>
            <a:r>
              <a:rPr lang="en-US" sz="1100" dirty="0">
                <a:solidFill>
                  <a:schemeClr val="tx2"/>
                </a:solidFill>
              </a:rPr>
              <a:t>Pauză</a:t>
            </a:r>
            <a:endParaRPr lang="en-US" sz="1100" dirty="0"/>
          </a:p>
        </p:txBody>
      </p:sp>
      <p:sp>
        <p:nvSpPr>
          <p:cNvPr id="54" name="text-210"/>
          <p:cNvSpPr txBox="1"/>
          <p:nvPr/>
        </p:nvSpPr>
        <p:spPr>
          <a:xfrm>
            <a:off x="3017520" y="4434840"/>
            <a:ext cx="5669280" cy="256032"/>
          </a:xfrm>
          <a:prstGeom prst="rect">
            <a:avLst/>
          </a:prstGeom>
          <a:noFill/>
          <a:ln/>
        </p:spPr>
        <p:txBody>
          <a:bodyPr wrap="square" lIns="0" tIns="0" rIns="0" bIns="0" rtlCol="0" anchor="t"/>
          <a:lstStyle/>
          <a:p>
            <a:pPr indent="0" marL="0">
              <a:buNone/>
            </a:pPr>
            <a:r>
              <a:rPr lang="en-US" sz="1200" i="1" dirty="0">
                <a:solidFill>
                  <a:schemeClr val="tx2"/>
                </a:solidFill>
              </a:rPr>
              <a:t>Story zilnic + 2–3 Reels pe săptămână = un început foarte bun.</a:t>
            </a:r>
            <a:endParaRPr lang="en-US" sz="12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III · INSTAGRAM</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Îndemnul la acțiune și înainte și după corect</a:t>
            </a:r>
            <a:endParaRPr lang="en-US" sz="2800" dirty="0"/>
          </a:p>
        </p:txBody>
      </p:sp>
      <p:pic>
        <p:nvPicPr>
          <p:cNvPr id="4" name="watermark-211" descr="preencoded.png">    </p:cNvPr>
          <p:cNvPicPr>
            <a:picLocks noChangeAspect="1"/>
          </p:cNvPicPr>
          <p:nvPr/>
        </p:nvPicPr>
        <p:blipFill>
          <a:blip r:embed="rId1">
            <a:alphaModFix amt="7000"/>
          </a:blip>
          <a:stretch>
            <a:fillRect/>
          </a:stretch>
        </p:blipFill>
        <p:spPr>
          <a:xfrm>
            <a:off x="7086600" y="3063240"/>
            <a:ext cx="1920240" cy="1920240"/>
          </a:xfrm>
          <a:prstGeom prst="rect">
            <a:avLst/>
          </a:prstGeom>
        </p:spPr>
      </p:pic>
      <p:sp>
        <p:nvSpPr>
          <p:cNvPr id="5" name="text-212"/>
          <p:cNvSpPr txBox="1"/>
          <p:nvPr/>
        </p:nvSpPr>
        <p:spPr>
          <a:xfrm>
            <a:off x="457200" y="1188720"/>
            <a:ext cx="4572000"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Spune clar ce să facă omul acum:</a:t>
            </a:r>
            <a:endParaRPr lang="en-US" sz="1500" dirty="0"/>
          </a:p>
        </p:txBody>
      </p:sp>
      <p:sp>
        <p:nvSpPr>
          <p:cNvPr id="6" name="card-213"/>
          <p:cNvSpPr/>
          <p:nvPr/>
        </p:nvSpPr>
        <p:spPr>
          <a:xfrm>
            <a:off x="457200" y="1600200"/>
            <a:ext cx="4480560" cy="841248"/>
          </a:xfrm>
          <a:prstGeom prst="roundRect">
            <a:avLst>
              <a:gd name="adj" fmla="val 13043"/>
            </a:avLst>
          </a:prstGeom>
          <a:solidFill>
            <a:schemeClr val="bg2"/>
          </a:solidFill>
          <a:ln w="12700">
            <a:solidFill>
              <a:schemeClr val="bg2"/>
            </a:solidFill>
            <a:prstDash val="solid"/>
          </a:ln>
        </p:spPr>
      </p:sp>
      <p:sp>
        <p:nvSpPr>
          <p:cNvPr id="7" name="badge-214"/>
          <p:cNvSpPr/>
          <p:nvPr/>
        </p:nvSpPr>
        <p:spPr>
          <a:xfrm>
            <a:off x="621792" y="1783080"/>
            <a:ext cx="475488" cy="475488"/>
          </a:xfrm>
          <a:prstGeom prst="ellipse">
            <a:avLst/>
          </a:prstGeom>
          <a:solidFill>
            <a:schemeClr val="accent2"/>
          </a:solidFill>
          <a:ln w="12700">
            <a:solidFill>
              <a:schemeClr val="accent2"/>
            </a:solidFill>
            <a:prstDash val="solid"/>
          </a:ln>
        </p:spPr>
      </p:sp>
      <p:pic>
        <p:nvPicPr>
          <p:cNvPr id="8" name="icon-215" descr="preencoded.png">    </p:cNvPr>
          <p:cNvPicPr>
            <a:picLocks noChangeAspect="1"/>
          </p:cNvPicPr>
          <p:nvPr/>
        </p:nvPicPr>
        <p:blipFill>
          <a:blip r:embed="rId2"/>
          <a:stretch>
            <a:fillRect/>
          </a:stretch>
        </p:blipFill>
        <p:spPr>
          <a:xfrm>
            <a:off x="740664" y="1901952"/>
            <a:ext cx="237744" cy="237744"/>
          </a:xfrm>
          <a:prstGeom prst="rect">
            <a:avLst/>
          </a:prstGeom>
        </p:spPr>
      </p:pic>
      <p:sp>
        <p:nvSpPr>
          <p:cNvPr id="9" name="text-216"/>
          <p:cNvSpPr txBox="1"/>
          <p:nvPr/>
        </p:nvSpPr>
        <p:spPr>
          <a:xfrm>
            <a:off x="1261872" y="1709928"/>
            <a:ext cx="3474720" cy="256032"/>
          </a:xfrm>
          <a:prstGeom prst="rect">
            <a:avLst/>
          </a:prstGeom>
          <a:noFill/>
          <a:ln/>
        </p:spPr>
        <p:txBody>
          <a:bodyPr wrap="square" lIns="0" tIns="0" rIns="0" bIns="0" rtlCol="0" anchor="t"/>
          <a:lstStyle/>
          <a:p>
            <a:pPr indent="0" marL="0">
              <a:buNone/>
            </a:pPr>
            <a:r>
              <a:rPr lang="en-US" sz="1300" b="1" dirty="0">
                <a:solidFill>
                  <a:schemeClr val="accent2"/>
                </a:solidFill>
              </a:rPr>
              <a:t>Comentarii</a:t>
            </a:r>
            <a:endParaRPr lang="en-US" sz="1300" dirty="0"/>
          </a:p>
        </p:txBody>
      </p:sp>
      <p:sp>
        <p:nvSpPr>
          <p:cNvPr id="10" name="text-217"/>
          <p:cNvSpPr txBox="1"/>
          <p:nvPr/>
        </p:nvSpPr>
        <p:spPr>
          <a:xfrm>
            <a:off x="1261872" y="1965960"/>
            <a:ext cx="3566160" cy="411480"/>
          </a:xfrm>
          <a:prstGeom prst="rect">
            <a:avLst/>
          </a:prstGeom>
          <a:noFill/>
          <a:ln/>
        </p:spPr>
        <p:txBody>
          <a:bodyPr wrap="square" lIns="0" tIns="0" rIns="0" bIns="0" rtlCol="0" anchor="t"/>
          <a:lstStyle/>
          <a:p>
            <a:pPr indent="0" marL="0">
              <a:buNone/>
            </a:pPr>
            <a:r>
              <a:rPr lang="en-US" sz="1400" i="1" dirty="0">
                <a:solidFill>
                  <a:schemeClr val="tx1"/>
                </a:solidFill>
              </a:rPr>
              <a:t>„Scrie BLOND și îți spun ce nuanță ți se potrivește.”</a:t>
            </a:r>
            <a:endParaRPr lang="en-US" sz="1400" dirty="0"/>
          </a:p>
        </p:txBody>
      </p:sp>
      <p:sp>
        <p:nvSpPr>
          <p:cNvPr id="11" name="card-218"/>
          <p:cNvSpPr/>
          <p:nvPr/>
        </p:nvSpPr>
        <p:spPr>
          <a:xfrm>
            <a:off x="457200" y="2587752"/>
            <a:ext cx="4480560" cy="841248"/>
          </a:xfrm>
          <a:prstGeom prst="roundRect">
            <a:avLst>
              <a:gd name="adj" fmla="val 13043"/>
            </a:avLst>
          </a:prstGeom>
          <a:solidFill>
            <a:schemeClr val="bg2"/>
          </a:solidFill>
          <a:ln w="12700">
            <a:solidFill>
              <a:schemeClr val="bg2"/>
            </a:solidFill>
            <a:prstDash val="solid"/>
          </a:ln>
        </p:spPr>
      </p:sp>
      <p:sp>
        <p:nvSpPr>
          <p:cNvPr id="12" name="badge-219"/>
          <p:cNvSpPr/>
          <p:nvPr/>
        </p:nvSpPr>
        <p:spPr>
          <a:xfrm>
            <a:off x="621792" y="2770632"/>
            <a:ext cx="475488" cy="475488"/>
          </a:xfrm>
          <a:prstGeom prst="ellipse">
            <a:avLst/>
          </a:prstGeom>
          <a:solidFill>
            <a:schemeClr val="accent2"/>
          </a:solidFill>
          <a:ln w="12700">
            <a:solidFill>
              <a:schemeClr val="accent2"/>
            </a:solidFill>
            <a:prstDash val="solid"/>
          </a:ln>
        </p:spPr>
      </p:sp>
      <p:pic>
        <p:nvPicPr>
          <p:cNvPr id="13" name="icon-220" descr="preencoded.png">    </p:cNvPr>
          <p:cNvPicPr>
            <a:picLocks noChangeAspect="1"/>
          </p:cNvPicPr>
          <p:nvPr/>
        </p:nvPicPr>
        <p:blipFill>
          <a:blip r:embed="rId3"/>
          <a:stretch>
            <a:fillRect/>
          </a:stretch>
        </p:blipFill>
        <p:spPr>
          <a:xfrm>
            <a:off x="740664" y="2889504"/>
            <a:ext cx="237744" cy="237744"/>
          </a:xfrm>
          <a:prstGeom prst="rect">
            <a:avLst/>
          </a:prstGeom>
        </p:spPr>
      </p:pic>
      <p:sp>
        <p:nvSpPr>
          <p:cNvPr id="14" name="text-221"/>
          <p:cNvSpPr txBox="1"/>
          <p:nvPr/>
        </p:nvSpPr>
        <p:spPr>
          <a:xfrm>
            <a:off x="1261872" y="2697480"/>
            <a:ext cx="3474720" cy="256032"/>
          </a:xfrm>
          <a:prstGeom prst="rect">
            <a:avLst/>
          </a:prstGeom>
          <a:noFill/>
          <a:ln/>
        </p:spPr>
        <p:txBody>
          <a:bodyPr wrap="square" lIns="0" tIns="0" rIns="0" bIns="0" rtlCol="0" anchor="t"/>
          <a:lstStyle/>
          <a:p>
            <a:pPr indent="0" marL="0">
              <a:buNone/>
            </a:pPr>
            <a:r>
              <a:rPr lang="en-US" sz="1300" b="1" dirty="0">
                <a:solidFill>
                  <a:schemeClr val="accent2"/>
                </a:solidFill>
              </a:rPr>
              <a:t>Salvări</a:t>
            </a:r>
            <a:endParaRPr lang="en-US" sz="1300" dirty="0"/>
          </a:p>
        </p:txBody>
      </p:sp>
      <p:sp>
        <p:nvSpPr>
          <p:cNvPr id="15" name="text-222"/>
          <p:cNvSpPr txBox="1"/>
          <p:nvPr/>
        </p:nvSpPr>
        <p:spPr>
          <a:xfrm>
            <a:off x="1261872" y="2953512"/>
            <a:ext cx="3566160" cy="411480"/>
          </a:xfrm>
          <a:prstGeom prst="rect">
            <a:avLst/>
          </a:prstGeom>
          <a:noFill/>
          <a:ln/>
        </p:spPr>
        <p:txBody>
          <a:bodyPr wrap="square" lIns="0" tIns="0" rIns="0" bIns="0" rtlCol="0" anchor="t"/>
          <a:lstStyle/>
          <a:p>
            <a:pPr indent="0" marL="0">
              <a:buNone/>
            </a:pPr>
            <a:r>
              <a:rPr lang="en-US" sz="1400" i="1" dirty="0">
                <a:solidFill>
                  <a:schemeClr val="tx1"/>
                </a:solidFill>
              </a:rPr>
              <a:t>„Salvează și arată-i poza coloristei tale.”</a:t>
            </a:r>
            <a:endParaRPr lang="en-US" sz="1400" dirty="0"/>
          </a:p>
        </p:txBody>
      </p:sp>
      <p:sp>
        <p:nvSpPr>
          <p:cNvPr id="16" name="card-223"/>
          <p:cNvSpPr/>
          <p:nvPr/>
        </p:nvSpPr>
        <p:spPr>
          <a:xfrm>
            <a:off x="457200" y="3575304"/>
            <a:ext cx="4480560" cy="841248"/>
          </a:xfrm>
          <a:prstGeom prst="roundRect">
            <a:avLst>
              <a:gd name="adj" fmla="val 13043"/>
            </a:avLst>
          </a:prstGeom>
          <a:solidFill>
            <a:schemeClr val="bg2"/>
          </a:solidFill>
          <a:ln w="12700">
            <a:solidFill>
              <a:schemeClr val="bg2"/>
            </a:solidFill>
            <a:prstDash val="solid"/>
          </a:ln>
        </p:spPr>
      </p:sp>
      <p:sp>
        <p:nvSpPr>
          <p:cNvPr id="17" name="badge-224"/>
          <p:cNvSpPr/>
          <p:nvPr/>
        </p:nvSpPr>
        <p:spPr>
          <a:xfrm>
            <a:off x="621792" y="3758184"/>
            <a:ext cx="475488" cy="475488"/>
          </a:xfrm>
          <a:prstGeom prst="ellipse">
            <a:avLst/>
          </a:prstGeom>
          <a:solidFill>
            <a:schemeClr val="accent2"/>
          </a:solidFill>
          <a:ln w="12700">
            <a:solidFill>
              <a:schemeClr val="accent2"/>
            </a:solidFill>
            <a:prstDash val="solid"/>
          </a:ln>
        </p:spPr>
      </p:sp>
      <p:pic>
        <p:nvPicPr>
          <p:cNvPr id="18" name="icon-225" descr="preencoded.png">    </p:cNvPr>
          <p:cNvPicPr>
            <a:picLocks noChangeAspect="1"/>
          </p:cNvPicPr>
          <p:nvPr/>
        </p:nvPicPr>
        <p:blipFill>
          <a:blip r:embed="rId4"/>
          <a:stretch>
            <a:fillRect/>
          </a:stretch>
        </p:blipFill>
        <p:spPr>
          <a:xfrm>
            <a:off x="740664" y="3877056"/>
            <a:ext cx="237744" cy="237744"/>
          </a:xfrm>
          <a:prstGeom prst="rect">
            <a:avLst/>
          </a:prstGeom>
        </p:spPr>
      </p:pic>
      <p:sp>
        <p:nvSpPr>
          <p:cNvPr id="19" name="text-226"/>
          <p:cNvSpPr txBox="1"/>
          <p:nvPr/>
        </p:nvSpPr>
        <p:spPr>
          <a:xfrm>
            <a:off x="1261872" y="3685032"/>
            <a:ext cx="3474720" cy="256032"/>
          </a:xfrm>
          <a:prstGeom prst="rect">
            <a:avLst/>
          </a:prstGeom>
          <a:noFill/>
          <a:ln/>
        </p:spPr>
        <p:txBody>
          <a:bodyPr wrap="square" lIns="0" tIns="0" rIns="0" bIns="0" rtlCol="0" anchor="t"/>
          <a:lstStyle/>
          <a:p>
            <a:pPr indent="0" marL="0">
              <a:buNone/>
            </a:pPr>
            <a:r>
              <a:rPr lang="en-US" sz="1300" b="1" dirty="0">
                <a:solidFill>
                  <a:schemeClr val="accent2"/>
                </a:solidFill>
              </a:rPr>
              <a:t>Programări</a:t>
            </a:r>
            <a:endParaRPr lang="en-US" sz="1300" dirty="0"/>
          </a:p>
        </p:txBody>
      </p:sp>
      <p:sp>
        <p:nvSpPr>
          <p:cNvPr id="20" name="text-227"/>
          <p:cNvSpPr txBox="1"/>
          <p:nvPr/>
        </p:nvSpPr>
        <p:spPr>
          <a:xfrm>
            <a:off x="1261872" y="3941064"/>
            <a:ext cx="3566160" cy="411480"/>
          </a:xfrm>
          <a:prstGeom prst="rect">
            <a:avLst/>
          </a:prstGeom>
          <a:noFill/>
          <a:ln/>
        </p:spPr>
        <p:txBody>
          <a:bodyPr wrap="square" lIns="0" tIns="0" rIns="0" bIns="0" rtlCol="0" anchor="t"/>
          <a:lstStyle/>
          <a:p>
            <a:pPr indent="0" marL="0">
              <a:buNone/>
            </a:pPr>
            <a:r>
              <a:rPr lang="en-US" sz="1400" i="1" dirty="0">
                <a:solidFill>
                  <a:schemeClr val="tx1"/>
                </a:solidFill>
              </a:rPr>
              <a:t>„Mai am 2 locuri vineri. Scrie-mi «VINERI».”</a:t>
            </a:r>
            <a:endParaRPr lang="en-US" sz="1400" dirty="0"/>
          </a:p>
        </p:txBody>
      </p:sp>
      <p:sp>
        <p:nvSpPr>
          <p:cNvPr id="21" name="card-228"/>
          <p:cNvSpPr/>
          <p:nvPr/>
        </p:nvSpPr>
        <p:spPr>
          <a:xfrm>
            <a:off x="5212080" y="1188720"/>
            <a:ext cx="3474720" cy="3474720"/>
          </a:xfrm>
          <a:prstGeom prst="roundRect">
            <a:avLst>
              <a:gd name="adj" fmla="val 3158"/>
            </a:avLst>
          </a:prstGeom>
          <a:solidFill>
            <a:schemeClr val="tx1"/>
          </a:solidFill>
          <a:ln w="12700">
            <a:solidFill>
              <a:schemeClr val="tx1"/>
            </a:solidFill>
            <a:prstDash val="solid"/>
          </a:ln>
        </p:spPr>
      </p:sp>
      <p:sp>
        <p:nvSpPr>
          <p:cNvPr id="22" name="text-229"/>
          <p:cNvSpPr txBox="1"/>
          <p:nvPr/>
        </p:nvSpPr>
        <p:spPr>
          <a:xfrm>
            <a:off x="5440680" y="1325880"/>
            <a:ext cx="3108960" cy="292608"/>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Înainte și după, ca la carte</a:t>
            </a:r>
            <a:endParaRPr lang="en-US" sz="1500" dirty="0"/>
          </a:p>
        </p:txBody>
      </p:sp>
      <p:pic>
        <p:nvPicPr>
          <p:cNvPr id="23" name="before-230" descr="preencoded.png">    </p:cNvPr>
          <p:cNvPicPr>
            <a:picLocks noChangeAspect="1"/>
          </p:cNvPicPr>
          <p:nvPr/>
        </p:nvPicPr>
        <p:blipFill>
          <a:blip r:embed="rId5"/>
          <a:stretch>
            <a:fillRect/>
          </a:stretch>
        </p:blipFill>
        <p:spPr>
          <a:xfrm>
            <a:off x="5440680" y="1783080"/>
            <a:ext cx="658368" cy="1097280"/>
          </a:xfrm>
          <a:prstGeom prst="rect">
            <a:avLst/>
          </a:prstGeom>
        </p:spPr>
      </p:pic>
      <p:pic>
        <p:nvPicPr>
          <p:cNvPr id="24" name="after-231" descr="preencoded.png">    </p:cNvPr>
          <p:cNvPicPr>
            <a:picLocks noChangeAspect="1"/>
          </p:cNvPicPr>
          <p:nvPr/>
        </p:nvPicPr>
        <p:blipFill>
          <a:blip r:embed="rId6"/>
          <a:stretch>
            <a:fillRect/>
          </a:stretch>
        </p:blipFill>
        <p:spPr>
          <a:xfrm>
            <a:off x="6144768" y="1783080"/>
            <a:ext cx="658368" cy="1097280"/>
          </a:xfrm>
          <a:prstGeom prst="rect">
            <a:avLst/>
          </a:prstGeom>
        </p:spPr>
      </p:pic>
      <p:pic>
        <p:nvPicPr>
          <p:cNvPr id="25" name="check-232" descr="preencoded.png">    </p:cNvPr>
          <p:cNvPicPr>
            <a:picLocks noChangeAspect="1"/>
          </p:cNvPicPr>
          <p:nvPr/>
        </p:nvPicPr>
        <p:blipFill>
          <a:blip r:embed="rId7"/>
          <a:stretch>
            <a:fillRect/>
          </a:stretch>
        </p:blipFill>
        <p:spPr>
          <a:xfrm>
            <a:off x="6995160" y="1828800"/>
            <a:ext cx="164592" cy="164592"/>
          </a:xfrm>
          <a:prstGeom prst="rect">
            <a:avLst/>
          </a:prstGeom>
        </p:spPr>
      </p:pic>
      <p:sp>
        <p:nvSpPr>
          <p:cNvPr id="26" name="text-233"/>
          <p:cNvSpPr txBox="1"/>
          <p:nvPr/>
        </p:nvSpPr>
        <p:spPr>
          <a:xfrm>
            <a:off x="7242048" y="1773936"/>
            <a:ext cx="1417320" cy="274320"/>
          </a:xfrm>
          <a:prstGeom prst="rect">
            <a:avLst/>
          </a:prstGeom>
          <a:noFill/>
          <a:ln/>
        </p:spPr>
        <p:txBody>
          <a:bodyPr wrap="square" lIns="0" tIns="0" rIns="0" bIns="0" rtlCol="0" anchor="t"/>
          <a:lstStyle/>
          <a:p>
            <a:pPr indent="0" marL="0">
              <a:buNone/>
            </a:pPr>
            <a:r>
              <a:rPr lang="en-US" sz="1200" dirty="0">
                <a:solidFill>
                  <a:schemeClr val="bg1"/>
                </a:solidFill>
              </a:rPr>
              <a:t>Aceeași lumină</a:t>
            </a:r>
            <a:endParaRPr lang="en-US" sz="1200" dirty="0"/>
          </a:p>
        </p:txBody>
      </p:sp>
      <p:pic>
        <p:nvPicPr>
          <p:cNvPr id="27" name="check-234" descr="preencoded.png">    </p:cNvPr>
          <p:cNvPicPr>
            <a:picLocks noChangeAspect="1"/>
          </p:cNvPicPr>
          <p:nvPr/>
        </p:nvPicPr>
        <p:blipFill>
          <a:blip r:embed="rId8"/>
          <a:stretch>
            <a:fillRect/>
          </a:stretch>
        </p:blipFill>
        <p:spPr>
          <a:xfrm>
            <a:off x="6995160" y="2194560"/>
            <a:ext cx="164592" cy="164592"/>
          </a:xfrm>
          <a:prstGeom prst="rect">
            <a:avLst/>
          </a:prstGeom>
        </p:spPr>
      </p:pic>
      <p:sp>
        <p:nvSpPr>
          <p:cNvPr id="28" name="text-235"/>
          <p:cNvSpPr txBox="1"/>
          <p:nvPr/>
        </p:nvSpPr>
        <p:spPr>
          <a:xfrm>
            <a:off x="7242048" y="2139696"/>
            <a:ext cx="1417320" cy="274320"/>
          </a:xfrm>
          <a:prstGeom prst="rect">
            <a:avLst/>
          </a:prstGeom>
          <a:noFill/>
          <a:ln/>
        </p:spPr>
        <p:txBody>
          <a:bodyPr wrap="square" lIns="0" tIns="0" rIns="0" bIns="0" rtlCol="0" anchor="t"/>
          <a:lstStyle/>
          <a:p>
            <a:pPr indent="0" marL="0">
              <a:buNone/>
            </a:pPr>
            <a:r>
              <a:rPr lang="en-US" sz="1200" dirty="0">
                <a:solidFill>
                  <a:schemeClr val="bg1"/>
                </a:solidFill>
              </a:rPr>
              <a:t>Același unghi</a:t>
            </a:r>
            <a:endParaRPr lang="en-US" sz="1200" dirty="0"/>
          </a:p>
        </p:txBody>
      </p:sp>
      <p:pic>
        <p:nvPicPr>
          <p:cNvPr id="29" name="check-236" descr="preencoded.png">    </p:cNvPr>
          <p:cNvPicPr>
            <a:picLocks noChangeAspect="1"/>
          </p:cNvPicPr>
          <p:nvPr/>
        </p:nvPicPr>
        <p:blipFill>
          <a:blip r:embed="rId9"/>
          <a:stretch>
            <a:fillRect/>
          </a:stretch>
        </p:blipFill>
        <p:spPr>
          <a:xfrm>
            <a:off x="6995160" y="2560320"/>
            <a:ext cx="164592" cy="164592"/>
          </a:xfrm>
          <a:prstGeom prst="rect">
            <a:avLst/>
          </a:prstGeom>
        </p:spPr>
      </p:pic>
      <p:sp>
        <p:nvSpPr>
          <p:cNvPr id="30" name="text-237"/>
          <p:cNvSpPr txBox="1"/>
          <p:nvPr/>
        </p:nvSpPr>
        <p:spPr>
          <a:xfrm>
            <a:off x="7242048" y="2505456"/>
            <a:ext cx="1417320" cy="274320"/>
          </a:xfrm>
          <a:prstGeom prst="rect">
            <a:avLst/>
          </a:prstGeom>
          <a:noFill/>
          <a:ln/>
        </p:spPr>
        <p:txBody>
          <a:bodyPr wrap="square" lIns="0" tIns="0" rIns="0" bIns="0" rtlCol="0" anchor="t"/>
          <a:lstStyle/>
          <a:p>
            <a:pPr indent="0" marL="0">
              <a:buNone/>
            </a:pPr>
            <a:r>
              <a:rPr lang="en-US" sz="1200" dirty="0">
                <a:solidFill>
                  <a:schemeClr val="bg1"/>
                </a:solidFill>
              </a:rPr>
              <a:t>Păr pieptănat</a:t>
            </a:r>
            <a:endParaRPr lang="en-US" sz="1200" dirty="0"/>
          </a:p>
        </p:txBody>
      </p:sp>
      <p:pic>
        <p:nvPicPr>
          <p:cNvPr id="31" name="check-238" descr="preencoded.png">    </p:cNvPr>
          <p:cNvPicPr>
            <a:picLocks noChangeAspect="1"/>
          </p:cNvPicPr>
          <p:nvPr/>
        </p:nvPicPr>
        <p:blipFill>
          <a:blip r:embed="rId10"/>
          <a:stretch>
            <a:fillRect/>
          </a:stretch>
        </p:blipFill>
        <p:spPr>
          <a:xfrm>
            <a:off x="6995160" y="2926080"/>
            <a:ext cx="164592" cy="164592"/>
          </a:xfrm>
          <a:prstGeom prst="rect">
            <a:avLst/>
          </a:prstGeom>
        </p:spPr>
      </p:pic>
      <p:sp>
        <p:nvSpPr>
          <p:cNvPr id="32" name="text-239"/>
          <p:cNvSpPr txBox="1"/>
          <p:nvPr/>
        </p:nvSpPr>
        <p:spPr>
          <a:xfrm>
            <a:off x="7242048" y="2871216"/>
            <a:ext cx="1417320" cy="274320"/>
          </a:xfrm>
          <a:prstGeom prst="rect">
            <a:avLst/>
          </a:prstGeom>
          <a:noFill/>
          <a:ln/>
        </p:spPr>
        <p:txBody>
          <a:bodyPr wrap="square" lIns="0" tIns="0" rIns="0" bIns="0" rtlCol="0" anchor="t"/>
          <a:lstStyle/>
          <a:p>
            <a:pPr indent="0" marL="0">
              <a:buNone/>
            </a:pPr>
            <a:r>
              <a:rPr lang="en-US" sz="1200" dirty="0">
                <a:solidFill>
                  <a:schemeClr val="bg1"/>
                </a:solidFill>
              </a:rPr>
              <a:t>Fără filtre de culoare</a:t>
            </a:r>
            <a:endParaRPr lang="en-US" sz="1200" dirty="0"/>
          </a:p>
        </p:txBody>
      </p:sp>
      <p:pic>
        <p:nvPicPr>
          <p:cNvPr id="33" name="check-240" descr="preencoded.png">    </p:cNvPr>
          <p:cNvPicPr>
            <a:picLocks noChangeAspect="1"/>
          </p:cNvPicPr>
          <p:nvPr/>
        </p:nvPicPr>
        <p:blipFill>
          <a:blip r:embed="rId11"/>
          <a:stretch>
            <a:fillRect/>
          </a:stretch>
        </p:blipFill>
        <p:spPr>
          <a:xfrm>
            <a:off x="6995160" y="3291840"/>
            <a:ext cx="164592" cy="164592"/>
          </a:xfrm>
          <a:prstGeom prst="rect">
            <a:avLst/>
          </a:prstGeom>
        </p:spPr>
      </p:pic>
      <p:sp>
        <p:nvSpPr>
          <p:cNvPr id="34" name="text-241"/>
          <p:cNvSpPr txBox="1"/>
          <p:nvPr/>
        </p:nvSpPr>
        <p:spPr>
          <a:xfrm>
            <a:off x="7242048" y="3236976"/>
            <a:ext cx="1417320" cy="274320"/>
          </a:xfrm>
          <a:prstGeom prst="rect">
            <a:avLst/>
          </a:prstGeom>
          <a:noFill/>
          <a:ln/>
        </p:spPr>
        <p:txBody>
          <a:bodyPr wrap="square" lIns="0" tIns="0" rIns="0" bIns="0" rtlCol="0" anchor="t"/>
          <a:lstStyle/>
          <a:p>
            <a:pPr indent="0" marL="0">
              <a:buNone/>
            </a:pPr>
            <a:r>
              <a:rPr lang="en-US" sz="1200" dirty="0">
                <a:solidFill>
                  <a:schemeClr val="bg1"/>
                </a:solidFill>
              </a:rPr>
              <a:t>Acordul clientei</a:t>
            </a:r>
            <a:endParaRPr lang="en-US" sz="1200" dirty="0"/>
          </a:p>
        </p:txBody>
      </p:sp>
      <p:sp>
        <p:nvSpPr>
          <p:cNvPr id="35" name="text-242"/>
          <p:cNvSpPr txBox="1"/>
          <p:nvPr/>
        </p:nvSpPr>
        <p:spPr>
          <a:xfrm>
            <a:off x="5440680" y="3794760"/>
            <a:ext cx="3063240" cy="731520"/>
          </a:xfrm>
          <a:prstGeom prst="rect">
            <a:avLst/>
          </a:prstGeom>
          <a:noFill/>
          <a:ln/>
        </p:spPr>
        <p:txBody>
          <a:bodyPr wrap="square" lIns="0" tIns="0" rIns="0" bIns="0" rtlCol="0" anchor="t"/>
          <a:lstStyle/>
          <a:p>
            <a:pPr indent="0" marL="0">
              <a:buNone/>
            </a:pPr>
            <a:r>
              <a:rPr lang="en-US" sz="1200" i="1" dirty="0">
                <a:solidFill>
                  <a:schemeClr val="accent3"/>
                </a:solidFill>
              </a:rPr>
              <a:t>Dacă se schimbă lumina, nu se mai vede ce a schimbat culoarea.</a:t>
            </a:r>
            <a:endParaRPr lang="en-US" sz="12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III · INSTAGRAM</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Giveaway: concurs cu premii, făcut ca la carte</a:t>
            </a:r>
            <a:endParaRPr lang="en-US" sz="2800" dirty="0"/>
          </a:p>
        </p:txBody>
      </p:sp>
      <p:pic>
        <p:nvPicPr>
          <p:cNvPr id="4" name="watermark-243" descr="preencoded.png">    </p:cNvPr>
          <p:cNvPicPr>
            <a:picLocks noChangeAspect="1"/>
          </p:cNvPicPr>
          <p:nvPr/>
        </p:nvPicPr>
        <p:blipFill>
          <a:blip r:embed="rId1">
            <a:alphaModFix amt="7000"/>
          </a:blip>
          <a:stretch>
            <a:fillRect/>
          </a:stretch>
        </p:blipFill>
        <p:spPr>
          <a:xfrm>
            <a:off x="7086600" y="3063240"/>
            <a:ext cx="1920240" cy="1920240"/>
          </a:xfrm>
          <a:prstGeom prst="rect">
            <a:avLst/>
          </a:prstGeom>
        </p:spPr>
      </p:pic>
      <p:sp>
        <p:nvSpPr>
          <p:cNvPr id="5" name="num-244"/>
          <p:cNvSpPr/>
          <p:nvPr/>
        </p:nvSpPr>
        <p:spPr>
          <a:xfrm>
            <a:off x="457200" y="1207008"/>
            <a:ext cx="411480" cy="411480"/>
          </a:xfrm>
          <a:prstGeom prst="ellipse">
            <a:avLst/>
          </a:prstGeom>
          <a:solidFill>
            <a:schemeClr val="accent2"/>
          </a:solidFill>
          <a:ln w="12700">
            <a:solidFill>
              <a:schemeClr val="accent2"/>
            </a:solidFill>
            <a:prstDash val="solid"/>
          </a:ln>
        </p:spPr>
      </p:sp>
      <p:sp>
        <p:nvSpPr>
          <p:cNvPr id="6" name="text-245"/>
          <p:cNvSpPr txBox="1"/>
          <p:nvPr/>
        </p:nvSpPr>
        <p:spPr>
          <a:xfrm>
            <a:off x="457200" y="12070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246"/>
          <p:cNvSpPr txBox="1"/>
          <p:nvPr/>
        </p:nvSpPr>
        <p:spPr>
          <a:xfrm>
            <a:off x="1005840" y="1207008"/>
            <a:ext cx="2011680" cy="411480"/>
          </a:xfrm>
          <a:prstGeom prst="rect">
            <a:avLst/>
          </a:prstGeom>
          <a:noFill/>
          <a:ln/>
        </p:spPr>
        <p:txBody>
          <a:bodyPr wrap="square" lIns="0" tIns="0" rIns="0" bIns="0" rtlCol="0" anchor="ctr"/>
          <a:lstStyle/>
          <a:p>
            <a:pPr indent="0" marL="0">
              <a:buNone/>
            </a:pPr>
            <a:r>
              <a:rPr lang="en-US" sz="1400" b="1" dirty="0">
                <a:solidFill>
                  <a:schemeClr val="tx1"/>
                </a:solidFill>
              </a:rPr>
              <a:t>Obiectiv clar</a:t>
            </a:r>
            <a:endParaRPr lang="en-US" sz="1400" dirty="0"/>
          </a:p>
        </p:txBody>
      </p:sp>
      <p:sp>
        <p:nvSpPr>
          <p:cNvPr id="8" name="conn-247"/>
          <p:cNvSpPr/>
          <p:nvPr/>
        </p:nvSpPr>
        <p:spPr>
          <a:xfrm>
            <a:off x="662940" y="1636776"/>
            <a:ext cx="0" cy="256032"/>
          </a:xfrm>
          <a:prstGeom prst="line">
            <a:avLst/>
          </a:prstGeom>
          <a:noFill/>
          <a:ln w="19050">
            <a:solidFill>
              <a:schemeClr val="accent1"/>
            </a:solidFill>
            <a:prstDash val="solid"/>
          </a:ln>
        </p:spPr>
      </p:sp>
      <p:sp>
        <p:nvSpPr>
          <p:cNvPr id="9" name="num-248"/>
          <p:cNvSpPr/>
          <p:nvPr/>
        </p:nvSpPr>
        <p:spPr>
          <a:xfrm>
            <a:off x="457200" y="1892808"/>
            <a:ext cx="411480" cy="411480"/>
          </a:xfrm>
          <a:prstGeom prst="ellipse">
            <a:avLst/>
          </a:prstGeom>
          <a:solidFill>
            <a:schemeClr val="accent2"/>
          </a:solidFill>
          <a:ln w="12700">
            <a:solidFill>
              <a:schemeClr val="accent2"/>
            </a:solidFill>
            <a:prstDash val="solid"/>
          </a:ln>
        </p:spPr>
      </p:sp>
      <p:sp>
        <p:nvSpPr>
          <p:cNvPr id="10" name="text-249"/>
          <p:cNvSpPr txBox="1"/>
          <p:nvPr/>
        </p:nvSpPr>
        <p:spPr>
          <a:xfrm>
            <a:off x="457200" y="18928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250"/>
          <p:cNvSpPr txBox="1"/>
          <p:nvPr/>
        </p:nvSpPr>
        <p:spPr>
          <a:xfrm>
            <a:off x="1005840" y="1892808"/>
            <a:ext cx="2011680" cy="411480"/>
          </a:xfrm>
          <a:prstGeom prst="rect">
            <a:avLst/>
          </a:prstGeom>
          <a:noFill/>
          <a:ln/>
        </p:spPr>
        <p:txBody>
          <a:bodyPr wrap="square" lIns="0" tIns="0" rIns="0" bIns="0" rtlCol="0" anchor="ctr"/>
          <a:lstStyle/>
          <a:p>
            <a:pPr indent="0" marL="0">
              <a:buNone/>
            </a:pPr>
            <a:r>
              <a:rPr lang="en-US" sz="1400" b="1" dirty="0">
                <a:solidFill>
                  <a:schemeClr val="tx1"/>
                </a:solidFill>
              </a:rPr>
              <a:t>Premiu relevant</a:t>
            </a:r>
            <a:endParaRPr lang="en-US" sz="1400" dirty="0"/>
          </a:p>
        </p:txBody>
      </p:sp>
      <p:sp>
        <p:nvSpPr>
          <p:cNvPr id="12" name="conn-251"/>
          <p:cNvSpPr/>
          <p:nvPr/>
        </p:nvSpPr>
        <p:spPr>
          <a:xfrm>
            <a:off x="662940" y="2322576"/>
            <a:ext cx="0" cy="256032"/>
          </a:xfrm>
          <a:prstGeom prst="line">
            <a:avLst/>
          </a:prstGeom>
          <a:noFill/>
          <a:ln w="19050">
            <a:solidFill>
              <a:schemeClr val="accent1"/>
            </a:solidFill>
            <a:prstDash val="solid"/>
          </a:ln>
        </p:spPr>
      </p:sp>
      <p:sp>
        <p:nvSpPr>
          <p:cNvPr id="13" name="num-252"/>
          <p:cNvSpPr/>
          <p:nvPr/>
        </p:nvSpPr>
        <p:spPr>
          <a:xfrm>
            <a:off x="457200" y="2578608"/>
            <a:ext cx="411480" cy="411480"/>
          </a:xfrm>
          <a:prstGeom prst="ellipse">
            <a:avLst/>
          </a:prstGeom>
          <a:solidFill>
            <a:schemeClr val="accent2"/>
          </a:solidFill>
          <a:ln w="12700">
            <a:solidFill>
              <a:schemeClr val="accent2"/>
            </a:solidFill>
            <a:prstDash val="solid"/>
          </a:ln>
        </p:spPr>
      </p:sp>
      <p:sp>
        <p:nvSpPr>
          <p:cNvPr id="14" name="text-253"/>
          <p:cNvSpPr txBox="1"/>
          <p:nvPr/>
        </p:nvSpPr>
        <p:spPr>
          <a:xfrm>
            <a:off x="457200" y="25786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254"/>
          <p:cNvSpPr txBox="1"/>
          <p:nvPr/>
        </p:nvSpPr>
        <p:spPr>
          <a:xfrm>
            <a:off x="1005840" y="2578608"/>
            <a:ext cx="2011680" cy="411480"/>
          </a:xfrm>
          <a:prstGeom prst="rect">
            <a:avLst/>
          </a:prstGeom>
          <a:noFill/>
          <a:ln/>
        </p:spPr>
        <p:txBody>
          <a:bodyPr wrap="square" lIns="0" tIns="0" rIns="0" bIns="0" rtlCol="0" anchor="ctr"/>
          <a:lstStyle/>
          <a:p>
            <a:pPr indent="0" marL="0">
              <a:buNone/>
            </a:pPr>
            <a:r>
              <a:rPr lang="en-US" sz="1400" b="1" dirty="0">
                <a:solidFill>
                  <a:schemeClr val="tx1"/>
                </a:solidFill>
              </a:rPr>
              <a:t>Regulament public</a:t>
            </a:r>
            <a:endParaRPr lang="en-US" sz="1400" dirty="0"/>
          </a:p>
        </p:txBody>
      </p:sp>
      <p:sp>
        <p:nvSpPr>
          <p:cNvPr id="16" name="conn-255"/>
          <p:cNvSpPr/>
          <p:nvPr/>
        </p:nvSpPr>
        <p:spPr>
          <a:xfrm>
            <a:off x="662940" y="3008376"/>
            <a:ext cx="0" cy="256032"/>
          </a:xfrm>
          <a:prstGeom prst="line">
            <a:avLst/>
          </a:prstGeom>
          <a:noFill/>
          <a:ln w="19050">
            <a:solidFill>
              <a:schemeClr val="accent1"/>
            </a:solidFill>
            <a:prstDash val="solid"/>
          </a:ln>
        </p:spPr>
      </p:sp>
      <p:sp>
        <p:nvSpPr>
          <p:cNvPr id="17" name="num-256"/>
          <p:cNvSpPr/>
          <p:nvPr/>
        </p:nvSpPr>
        <p:spPr>
          <a:xfrm>
            <a:off x="457200" y="3264408"/>
            <a:ext cx="411480" cy="411480"/>
          </a:xfrm>
          <a:prstGeom prst="ellipse">
            <a:avLst/>
          </a:prstGeom>
          <a:solidFill>
            <a:schemeClr val="accent2"/>
          </a:solidFill>
          <a:ln w="12700">
            <a:solidFill>
              <a:schemeClr val="accent2"/>
            </a:solidFill>
            <a:prstDash val="solid"/>
          </a:ln>
        </p:spPr>
      </p:sp>
      <p:sp>
        <p:nvSpPr>
          <p:cNvPr id="18" name="text-257"/>
          <p:cNvSpPr txBox="1"/>
          <p:nvPr/>
        </p:nvSpPr>
        <p:spPr>
          <a:xfrm>
            <a:off x="457200" y="32644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258"/>
          <p:cNvSpPr txBox="1"/>
          <p:nvPr/>
        </p:nvSpPr>
        <p:spPr>
          <a:xfrm>
            <a:off x="1005840" y="3264408"/>
            <a:ext cx="2011680" cy="411480"/>
          </a:xfrm>
          <a:prstGeom prst="rect">
            <a:avLst/>
          </a:prstGeom>
          <a:noFill/>
          <a:ln/>
        </p:spPr>
        <p:txBody>
          <a:bodyPr wrap="square" lIns="0" tIns="0" rIns="0" bIns="0" rtlCol="0" anchor="ctr"/>
          <a:lstStyle/>
          <a:p>
            <a:pPr indent="0" marL="0">
              <a:buNone/>
            </a:pPr>
            <a:r>
              <a:rPr lang="en-US" sz="1400" b="1" dirty="0">
                <a:solidFill>
                  <a:schemeClr val="tx1"/>
                </a:solidFill>
              </a:rPr>
              <a:t>Durată 3–7 zile</a:t>
            </a:r>
            <a:endParaRPr lang="en-US" sz="1400" dirty="0"/>
          </a:p>
        </p:txBody>
      </p:sp>
      <p:sp>
        <p:nvSpPr>
          <p:cNvPr id="20" name="conn-259"/>
          <p:cNvSpPr/>
          <p:nvPr/>
        </p:nvSpPr>
        <p:spPr>
          <a:xfrm>
            <a:off x="662940" y="3694176"/>
            <a:ext cx="0" cy="256032"/>
          </a:xfrm>
          <a:prstGeom prst="line">
            <a:avLst/>
          </a:prstGeom>
          <a:noFill/>
          <a:ln w="19050">
            <a:solidFill>
              <a:schemeClr val="accent1"/>
            </a:solidFill>
            <a:prstDash val="solid"/>
          </a:ln>
        </p:spPr>
      </p:sp>
      <p:sp>
        <p:nvSpPr>
          <p:cNvPr id="21" name="num-260"/>
          <p:cNvSpPr/>
          <p:nvPr/>
        </p:nvSpPr>
        <p:spPr>
          <a:xfrm>
            <a:off x="457200" y="3950208"/>
            <a:ext cx="411480" cy="411480"/>
          </a:xfrm>
          <a:prstGeom prst="ellipse">
            <a:avLst/>
          </a:prstGeom>
          <a:solidFill>
            <a:schemeClr val="accent2"/>
          </a:solidFill>
          <a:ln w="12700">
            <a:solidFill>
              <a:schemeClr val="accent2"/>
            </a:solidFill>
            <a:prstDash val="solid"/>
          </a:ln>
        </p:spPr>
      </p:sp>
      <p:sp>
        <p:nvSpPr>
          <p:cNvPr id="22" name="text-261"/>
          <p:cNvSpPr txBox="1"/>
          <p:nvPr/>
        </p:nvSpPr>
        <p:spPr>
          <a:xfrm>
            <a:off x="457200" y="39502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3" name="text-262"/>
          <p:cNvSpPr txBox="1"/>
          <p:nvPr/>
        </p:nvSpPr>
        <p:spPr>
          <a:xfrm>
            <a:off x="1005840" y="3950208"/>
            <a:ext cx="2011680" cy="411480"/>
          </a:xfrm>
          <a:prstGeom prst="rect">
            <a:avLst/>
          </a:prstGeom>
          <a:noFill/>
          <a:ln/>
        </p:spPr>
        <p:txBody>
          <a:bodyPr wrap="square" lIns="0" tIns="0" rIns="0" bIns="0" rtlCol="0" anchor="ctr"/>
          <a:lstStyle/>
          <a:p>
            <a:pPr indent="0" marL="0">
              <a:buNone/>
            </a:pPr>
            <a:r>
              <a:rPr lang="en-US" sz="1400" b="1" dirty="0">
                <a:solidFill>
                  <a:schemeClr val="tx1"/>
                </a:solidFill>
              </a:rPr>
              <a:t>Extragere corectă</a:t>
            </a:r>
            <a:endParaRPr lang="en-US" sz="1400" dirty="0"/>
          </a:p>
        </p:txBody>
      </p:sp>
      <p:sp>
        <p:nvSpPr>
          <p:cNvPr id="24" name="card-263"/>
          <p:cNvSpPr/>
          <p:nvPr/>
        </p:nvSpPr>
        <p:spPr>
          <a:xfrm>
            <a:off x="3154680" y="1188720"/>
            <a:ext cx="2606040" cy="3474720"/>
          </a:xfrm>
          <a:prstGeom prst="roundRect">
            <a:avLst>
              <a:gd name="adj" fmla="val 4211"/>
            </a:avLst>
          </a:prstGeom>
          <a:solidFill>
            <a:schemeClr val="bg2"/>
          </a:solidFill>
          <a:ln w="12700">
            <a:solidFill>
              <a:schemeClr val="bg2"/>
            </a:solidFill>
            <a:prstDash val="solid"/>
          </a:ln>
        </p:spPr>
      </p:sp>
      <p:sp>
        <p:nvSpPr>
          <p:cNvPr id="25" name="badge-264"/>
          <p:cNvSpPr/>
          <p:nvPr/>
        </p:nvSpPr>
        <p:spPr>
          <a:xfrm>
            <a:off x="3337560" y="1353312"/>
            <a:ext cx="457200" cy="457200"/>
          </a:xfrm>
          <a:prstGeom prst="ellipse">
            <a:avLst/>
          </a:prstGeom>
          <a:solidFill>
            <a:schemeClr val="accent2"/>
          </a:solidFill>
          <a:ln w="12700">
            <a:solidFill>
              <a:schemeClr val="accent2"/>
            </a:solidFill>
            <a:prstDash val="solid"/>
          </a:ln>
        </p:spPr>
      </p:sp>
      <p:pic>
        <p:nvPicPr>
          <p:cNvPr id="26" name="icon-265" descr="preencoded.png">    </p:cNvPr>
          <p:cNvPicPr>
            <a:picLocks noChangeAspect="1"/>
          </p:cNvPicPr>
          <p:nvPr/>
        </p:nvPicPr>
        <p:blipFill>
          <a:blip r:embed="rId2"/>
          <a:stretch>
            <a:fillRect/>
          </a:stretch>
        </p:blipFill>
        <p:spPr>
          <a:xfrm>
            <a:off x="3451860" y="1467612"/>
            <a:ext cx="228600" cy="228600"/>
          </a:xfrm>
          <a:prstGeom prst="rect">
            <a:avLst/>
          </a:prstGeom>
        </p:spPr>
      </p:pic>
      <p:sp>
        <p:nvSpPr>
          <p:cNvPr id="27" name="text-266"/>
          <p:cNvSpPr txBox="1"/>
          <p:nvPr/>
        </p:nvSpPr>
        <p:spPr>
          <a:xfrm>
            <a:off x="3886200" y="1371600"/>
            <a:ext cx="1828800" cy="41148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Premiul potrivit</a:t>
            </a:r>
            <a:endParaRPr lang="en-US" sz="1500" dirty="0"/>
          </a:p>
        </p:txBody>
      </p:sp>
      <p:sp>
        <p:nvSpPr>
          <p:cNvPr id="28" name="text-267"/>
          <p:cNvSpPr txBox="1"/>
          <p:nvPr/>
        </p:nvSpPr>
        <p:spPr>
          <a:xfrm>
            <a:off x="3337560" y="1965960"/>
            <a:ext cx="2286000" cy="15544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Tratament + tuns</a:t>
            </a:r>
            <a:endParaRPr lang="en-US" sz="1400" dirty="0"/>
          </a:p>
          <a:p>
            <a:pPr marL="342900" indent="-342900">
              <a:spcAft>
                <a:spcPts val="500"/>
              </a:spcAft>
              <a:buSzPct val="100000"/>
              <a:buChar char="•"/>
            </a:pPr>
            <a:r>
              <a:rPr lang="en-US" sz="1400" dirty="0">
                <a:solidFill>
                  <a:schemeClr val="tx1"/>
                </a:solidFill>
              </a:rPr>
              <a:t>Voucher de împrospătare a blondului</a:t>
            </a:r>
            <a:endParaRPr lang="en-US" sz="1400" dirty="0"/>
          </a:p>
          <a:p>
            <a:pPr marL="342900" indent="-342900">
              <a:spcAft>
                <a:spcPts val="500"/>
              </a:spcAft>
              <a:buSzPct val="100000"/>
              <a:buChar char="•"/>
            </a:pPr>
            <a:r>
              <a:rPr lang="en-US" sz="1400" dirty="0">
                <a:solidFill>
                  <a:schemeClr val="tx1"/>
                </a:solidFill>
              </a:rPr>
              <a:t>Kit profesional de îngrijire</a:t>
            </a:r>
            <a:endParaRPr lang="en-US" sz="1400" dirty="0"/>
          </a:p>
        </p:txBody>
      </p:sp>
      <p:sp>
        <p:nvSpPr>
          <p:cNvPr id="29" name="text-268"/>
          <p:cNvSpPr txBox="1"/>
          <p:nvPr/>
        </p:nvSpPr>
        <p:spPr>
          <a:xfrm>
            <a:off x="3337560" y="3657600"/>
            <a:ext cx="2286000" cy="822960"/>
          </a:xfrm>
          <a:prstGeom prst="rect">
            <a:avLst/>
          </a:prstGeom>
          <a:noFill/>
          <a:ln/>
        </p:spPr>
        <p:txBody>
          <a:bodyPr wrap="square" lIns="0" tIns="0" rIns="0" bIns="0" rtlCol="0" anchor="t"/>
          <a:lstStyle/>
          <a:p>
            <a:pPr indent="0" marL="0">
              <a:buNone/>
            </a:pPr>
            <a:r>
              <a:rPr lang="en-US" sz="1200" i="1" dirty="0">
                <a:solidFill>
                  <a:schemeClr val="accent2"/>
                </a:solidFill>
              </a:rPr>
              <a:t>Evită un telefon: atrage vânători de premii, nu cliente.</a:t>
            </a:r>
            <a:endParaRPr lang="en-US" sz="1200" dirty="0"/>
          </a:p>
        </p:txBody>
      </p:sp>
      <p:sp>
        <p:nvSpPr>
          <p:cNvPr id="30" name="card-269"/>
          <p:cNvSpPr/>
          <p:nvPr/>
        </p:nvSpPr>
        <p:spPr>
          <a:xfrm>
            <a:off x="5943600" y="1188720"/>
            <a:ext cx="2743200" cy="3474720"/>
          </a:xfrm>
          <a:prstGeom prst="roundRect">
            <a:avLst>
              <a:gd name="adj" fmla="val 4000"/>
            </a:avLst>
          </a:prstGeom>
          <a:solidFill>
            <a:schemeClr val="tx1"/>
          </a:solidFill>
          <a:ln w="12700">
            <a:solidFill>
              <a:schemeClr val="tx1"/>
            </a:solidFill>
            <a:prstDash val="solid"/>
          </a:ln>
        </p:spPr>
      </p:sp>
      <p:sp>
        <p:nvSpPr>
          <p:cNvPr id="31" name="badge-270"/>
          <p:cNvSpPr/>
          <p:nvPr/>
        </p:nvSpPr>
        <p:spPr>
          <a:xfrm>
            <a:off x="6126480" y="1353312"/>
            <a:ext cx="457200" cy="457200"/>
          </a:xfrm>
          <a:prstGeom prst="ellipse">
            <a:avLst/>
          </a:prstGeom>
          <a:solidFill>
            <a:schemeClr val="accent1"/>
          </a:solidFill>
          <a:ln w="12700">
            <a:solidFill>
              <a:schemeClr val="accent1"/>
            </a:solidFill>
            <a:prstDash val="solid"/>
          </a:ln>
        </p:spPr>
      </p:sp>
      <p:pic>
        <p:nvPicPr>
          <p:cNvPr id="32" name="icon-271" descr="preencoded.png">    </p:cNvPr>
          <p:cNvPicPr>
            <a:picLocks noChangeAspect="1"/>
          </p:cNvPicPr>
          <p:nvPr/>
        </p:nvPicPr>
        <p:blipFill>
          <a:blip r:embed="rId3"/>
          <a:stretch>
            <a:fillRect/>
          </a:stretch>
        </p:blipFill>
        <p:spPr>
          <a:xfrm>
            <a:off x="6240780" y="1467612"/>
            <a:ext cx="228600" cy="228600"/>
          </a:xfrm>
          <a:prstGeom prst="rect">
            <a:avLst/>
          </a:prstGeom>
        </p:spPr>
      </p:pic>
      <p:sp>
        <p:nvSpPr>
          <p:cNvPr id="33" name="text-272"/>
          <p:cNvSpPr txBox="1"/>
          <p:nvPr/>
        </p:nvSpPr>
        <p:spPr>
          <a:xfrm>
            <a:off x="6675120" y="1371600"/>
            <a:ext cx="1920240" cy="411480"/>
          </a:xfrm>
          <a:prstGeom prst="rect">
            <a:avLst/>
          </a:prstGeom>
          <a:noFill/>
          <a:ln/>
        </p:spPr>
        <p:txBody>
          <a:bodyPr wrap="square" lIns="0" tIns="0" rIns="0" bIns="0" rtlCol="0" anchor="ctr"/>
          <a:lstStyle/>
          <a:p>
            <a:pPr indent="0" marL="0">
              <a:buNone/>
            </a:pPr>
            <a:r>
              <a:rPr lang="en-US" sz="1500" b="1" dirty="0">
                <a:solidFill>
                  <a:schemeClr val="bg1"/>
                </a:solidFill>
                <a:latin typeface="Cambria" pitchFamily="34" charset="0"/>
                <a:ea typeface="Cambria" pitchFamily="34" charset="-122"/>
                <a:cs typeface="Cambria" pitchFamily="34" charset="-120"/>
              </a:rPr>
              <a:t>Reguli obligatorii</a:t>
            </a:r>
            <a:endParaRPr lang="en-US" sz="1500" dirty="0"/>
          </a:p>
        </p:txBody>
      </p:sp>
      <p:sp>
        <p:nvSpPr>
          <p:cNvPr id="34" name="text-273"/>
          <p:cNvSpPr txBox="1"/>
          <p:nvPr/>
        </p:nvSpPr>
        <p:spPr>
          <a:xfrm>
            <a:off x="6126480" y="1965960"/>
            <a:ext cx="2423160" cy="26060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bg1"/>
                </a:solidFill>
              </a:rPr>
              <a:t>Regulament oficial, public și gratuit</a:t>
            </a:r>
            <a:endParaRPr lang="en-US" sz="1200" dirty="0"/>
          </a:p>
          <a:p>
            <a:pPr marL="342900" indent="-342900">
              <a:spcAft>
                <a:spcPts val="500"/>
              </a:spcAft>
              <a:buSzPct val="100000"/>
              <a:buChar char="•"/>
            </a:pPr>
            <a:r>
              <a:rPr lang="en-US" sz="1200" dirty="0">
                <a:solidFill>
                  <a:schemeClr val="bg1"/>
                </a:solidFill>
              </a:rPr>
              <a:t>Vârstă, țară, perioadă, cum alegi câștigătorul</a:t>
            </a:r>
            <a:endParaRPr lang="en-US" sz="1200" dirty="0"/>
          </a:p>
          <a:p>
            <a:pPr marL="342900" indent="-342900">
              <a:spcAft>
                <a:spcPts val="500"/>
              </a:spcAft>
              <a:buSzPct val="100000"/>
              <a:buChar char="•"/>
            </a:pPr>
            <a:r>
              <a:rPr lang="en-US" sz="1200" dirty="0">
                <a:solidFill>
                  <a:schemeClr val="bg1"/>
                </a:solidFill>
              </a:rPr>
              <a:t>„Concursul nu este sponsorizat sau administrat de Instagram”</a:t>
            </a:r>
            <a:endParaRPr lang="en-US" sz="1200" dirty="0"/>
          </a:p>
          <a:p>
            <a:pPr marL="342900" indent="-342900">
              <a:spcAft>
                <a:spcPts val="500"/>
              </a:spcAft>
              <a:buSzPct val="100000"/>
              <a:buChar char="•"/>
            </a:pPr>
            <a:r>
              <a:rPr lang="en-US" sz="1200" dirty="0">
                <a:solidFill>
                  <a:schemeClr val="bg1"/>
                </a:solidFill>
              </a:rPr>
              <a:t>Date personale conform GDPR</a:t>
            </a:r>
            <a:endParaRPr lang="en-US" sz="12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III · INSTAGRAM</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Sfaturi și trucuri pentru Instagram</a:t>
            </a:r>
            <a:endParaRPr lang="en-US" sz="2800" dirty="0"/>
          </a:p>
        </p:txBody>
      </p:sp>
      <p:pic>
        <p:nvPicPr>
          <p:cNvPr id="4" name="watermark-274" descr="preencoded.png">    </p:cNvPr>
          <p:cNvPicPr>
            <a:picLocks noChangeAspect="1"/>
          </p:cNvPicPr>
          <p:nvPr/>
        </p:nvPicPr>
        <p:blipFill>
          <a:blip r:embed="rId1">
            <a:alphaModFix amt="7000"/>
          </a:blip>
          <a:stretch>
            <a:fillRect/>
          </a:stretch>
        </p:blipFill>
        <p:spPr>
          <a:xfrm>
            <a:off x="7086600" y="3063240"/>
            <a:ext cx="1920240" cy="1920240"/>
          </a:xfrm>
          <a:prstGeom prst="rect">
            <a:avLst/>
          </a:prstGeom>
        </p:spPr>
      </p:pic>
      <p:sp>
        <p:nvSpPr>
          <p:cNvPr id="5" name="card-275"/>
          <p:cNvSpPr/>
          <p:nvPr/>
        </p:nvSpPr>
        <p:spPr>
          <a:xfrm>
            <a:off x="457200" y="1188720"/>
            <a:ext cx="2148840" cy="777240"/>
          </a:xfrm>
          <a:prstGeom prst="roundRect">
            <a:avLst>
              <a:gd name="adj" fmla="val 14118"/>
            </a:avLst>
          </a:prstGeom>
          <a:solidFill>
            <a:schemeClr val="bg2"/>
          </a:solidFill>
          <a:ln w="12700">
            <a:solidFill>
              <a:schemeClr val="bg2"/>
            </a:solidFill>
            <a:prstDash val="solid"/>
          </a:ln>
        </p:spPr>
      </p:sp>
      <p:sp>
        <p:nvSpPr>
          <p:cNvPr id="6" name="num-276"/>
          <p:cNvSpPr/>
          <p:nvPr/>
        </p:nvSpPr>
        <p:spPr>
          <a:xfrm>
            <a:off x="594360" y="1389888"/>
            <a:ext cx="365760" cy="365760"/>
          </a:xfrm>
          <a:prstGeom prst="ellipse">
            <a:avLst/>
          </a:prstGeom>
          <a:solidFill>
            <a:schemeClr val="accent2"/>
          </a:solidFill>
          <a:ln w="12700">
            <a:solidFill>
              <a:schemeClr val="accent2"/>
            </a:solidFill>
            <a:prstDash val="solid"/>
          </a:ln>
        </p:spPr>
      </p:sp>
      <p:sp>
        <p:nvSpPr>
          <p:cNvPr id="7" name="text-277"/>
          <p:cNvSpPr txBox="1"/>
          <p:nvPr/>
        </p:nvSpPr>
        <p:spPr>
          <a:xfrm>
            <a:off x="594360" y="13898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278"/>
          <p:cNvSpPr txBox="1"/>
          <p:nvPr/>
        </p:nvSpPr>
        <p:spPr>
          <a:xfrm>
            <a:off x="1078992" y="1261872"/>
            <a:ext cx="1463040" cy="640080"/>
          </a:xfrm>
          <a:prstGeom prst="rect">
            <a:avLst/>
          </a:prstGeom>
          <a:noFill/>
          <a:ln/>
        </p:spPr>
        <p:txBody>
          <a:bodyPr wrap="square" lIns="0" tIns="0" rIns="0" bIns="0" rtlCol="0" anchor="ctr"/>
          <a:lstStyle/>
          <a:p>
            <a:pPr indent="0" marL="0">
              <a:buNone/>
            </a:pPr>
            <a:r>
              <a:rPr lang="en-US" sz="1300" dirty="0">
                <a:solidFill>
                  <a:schemeClr val="tx1"/>
                </a:solidFill>
              </a:rPr>
              <a:t>Rezultatul final în prima secundă</a:t>
            </a:r>
            <a:endParaRPr lang="en-US" sz="1300" dirty="0"/>
          </a:p>
        </p:txBody>
      </p:sp>
      <p:sp>
        <p:nvSpPr>
          <p:cNvPr id="9" name="card-279"/>
          <p:cNvSpPr/>
          <p:nvPr/>
        </p:nvSpPr>
        <p:spPr>
          <a:xfrm>
            <a:off x="2743200" y="1188720"/>
            <a:ext cx="2148840" cy="777240"/>
          </a:xfrm>
          <a:prstGeom prst="roundRect">
            <a:avLst>
              <a:gd name="adj" fmla="val 14118"/>
            </a:avLst>
          </a:prstGeom>
          <a:solidFill>
            <a:schemeClr val="bg2"/>
          </a:solidFill>
          <a:ln w="12700">
            <a:solidFill>
              <a:schemeClr val="bg2"/>
            </a:solidFill>
            <a:prstDash val="solid"/>
          </a:ln>
        </p:spPr>
      </p:sp>
      <p:sp>
        <p:nvSpPr>
          <p:cNvPr id="10" name="num-280"/>
          <p:cNvSpPr/>
          <p:nvPr/>
        </p:nvSpPr>
        <p:spPr>
          <a:xfrm>
            <a:off x="2880360" y="1389888"/>
            <a:ext cx="365760" cy="365760"/>
          </a:xfrm>
          <a:prstGeom prst="ellipse">
            <a:avLst/>
          </a:prstGeom>
          <a:solidFill>
            <a:schemeClr val="accent2"/>
          </a:solidFill>
          <a:ln w="12700">
            <a:solidFill>
              <a:schemeClr val="accent2"/>
            </a:solidFill>
            <a:prstDash val="solid"/>
          </a:ln>
        </p:spPr>
      </p:sp>
      <p:sp>
        <p:nvSpPr>
          <p:cNvPr id="11" name="text-281"/>
          <p:cNvSpPr txBox="1"/>
          <p:nvPr/>
        </p:nvSpPr>
        <p:spPr>
          <a:xfrm>
            <a:off x="2880360" y="13898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282"/>
          <p:cNvSpPr txBox="1"/>
          <p:nvPr/>
        </p:nvSpPr>
        <p:spPr>
          <a:xfrm>
            <a:off x="3364992" y="1261872"/>
            <a:ext cx="1463040" cy="640080"/>
          </a:xfrm>
          <a:prstGeom prst="rect">
            <a:avLst/>
          </a:prstGeom>
          <a:noFill/>
          <a:ln/>
        </p:spPr>
        <p:txBody>
          <a:bodyPr wrap="square" lIns="0" tIns="0" rIns="0" bIns="0" rtlCol="0" anchor="ctr"/>
          <a:lstStyle/>
          <a:p>
            <a:pPr indent="0" marL="0">
              <a:buNone/>
            </a:pPr>
            <a:r>
              <a:rPr lang="en-US" sz="1300" dirty="0">
                <a:solidFill>
                  <a:schemeClr val="tx1"/>
                </a:solidFill>
              </a:rPr>
              <a:t>Text pe ecran: mulți privesc fără sunet</a:t>
            </a:r>
            <a:endParaRPr lang="en-US" sz="1300" dirty="0"/>
          </a:p>
        </p:txBody>
      </p:sp>
      <p:sp>
        <p:nvSpPr>
          <p:cNvPr id="13" name="card-283"/>
          <p:cNvSpPr/>
          <p:nvPr/>
        </p:nvSpPr>
        <p:spPr>
          <a:xfrm>
            <a:off x="457200" y="2103120"/>
            <a:ext cx="2148840" cy="777240"/>
          </a:xfrm>
          <a:prstGeom prst="roundRect">
            <a:avLst>
              <a:gd name="adj" fmla="val 14118"/>
            </a:avLst>
          </a:prstGeom>
          <a:solidFill>
            <a:schemeClr val="bg2"/>
          </a:solidFill>
          <a:ln w="12700">
            <a:solidFill>
              <a:schemeClr val="bg2"/>
            </a:solidFill>
            <a:prstDash val="solid"/>
          </a:ln>
        </p:spPr>
      </p:sp>
      <p:sp>
        <p:nvSpPr>
          <p:cNvPr id="14" name="num-284"/>
          <p:cNvSpPr/>
          <p:nvPr/>
        </p:nvSpPr>
        <p:spPr>
          <a:xfrm>
            <a:off x="594360" y="2304288"/>
            <a:ext cx="365760" cy="365760"/>
          </a:xfrm>
          <a:prstGeom prst="ellipse">
            <a:avLst/>
          </a:prstGeom>
          <a:solidFill>
            <a:schemeClr val="accent2"/>
          </a:solidFill>
          <a:ln w="12700">
            <a:solidFill>
              <a:schemeClr val="accent2"/>
            </a:solidFill>
            <a:prstDash val="solid"/>
          </a:ln>
        </p:spPr>
      </p:sp>
      <p:sp>
        <p:nvSpPr>
          <p:cNvPr id="15" name="text-285"/>
          <p:cNvSpPr txBox="1"/>
          <p:nvPr/>
        </p:nvSpPr>
        <p:spPr>
          <a:xfrm>
            <a:off x="594360" y="23042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286"/>
          <p:cNvSpPr txBox="1"/>
          <p:nvPr/>
        </p:nvSpPr>
        <p:spPr>
          <a:xfrm>
            <a:off x="1078992" y="2176272"/>
            <a:ext cx="1463040" cy="640080"/>
          </a:xfrm>
          <a:prstGeom prst="rect">
            <a:avLst/>
          </a:prstGeom>
          <a:noFill/>
          <a:ln/>
        </p:spPr>
        <p:txBody>
          <a:bodyPr wrap="square" lIns="0" tIns="0" rIns="0" bIns="0" rtlCol="0" anchor="ctr"/>
          <a:lstStyle/>
          <a:p>
            <a:pPr indent="0" marL="0">
              <a:buNone/>
            </a:pPr>
            <a:r>
              <a:rPr lang="en-US" sz="1300" dirty="0">
                <a:solidFill>
                  <a:schemeClr val="tx1"/>
                </a:solidFill>
              </a:rPr>
              <a:t>Coperți de Reels în culorile grilei</a:t>
            </a:r>
            <a:endParaRPr lang="en-US" sz="1300" dirty="0"/>
          </a:p>
        </p:txBody>
      </p:sp>
      <p:sp>
        <p:nvSpPr>
          <p:cNvPr id="17" name="card-287"/>
          <p:cNvSpPr/>
          <p:nvPr/>
        </p:nvSpPr>
        <p:spPr>
          <a:xfrm>
            <a:off x="2743200" y="2103120"/>
            <a:ext cx="2148840" cy="777240"/>
          </a:xfrm>
          <a:prstGeom prst="roundRect">
            <a:avLst>
              <a:gd name="adj" fmla="val 14118"/>
            </a:avLst>
          </a:prstGeom>
          <a:solidFill>
            <a:schemeClr val="bg2"/>
          </a:solidFill>
          <a:ln w="12700">
            <a:solidFill>
              <a:schemeClr val="bg2"/>
            </a:solidFill>
            <a:prstDash val="solid"/>
          </a:ln>
        </p:spPr>
      </p:sp>
      <p:sp>
        <p:nvSpPr>
          <p:cNvPr id="18" name="num-288"/>
          <p:cNvSpPr/>
          <p:nvPr/>
        </p:nvSpPr>
        <p:spPr>
          <a:xfrm>
            <a:off x="2880360" y="2304288"/>
            <a:ext cx="365760" cy="365760"/>
          </a:xfrm>
          <a:prstGeom prst="ellipse">
            <a:avLst/>
          </a:prstGeom>
          <a:solidFill>
            <a:schemeClr val="accent2"/>
          </a:solidFill>
          <a:ln w="12700">
            <a:solidFill>
              <a:schemeClr val="accent2"/>
            </a:solidFill>
            <a:prstDash val="solid"/>
          </a:ln>
        </p:spPr>
      </p:sp>
      <p:sp>
        <p:nvSpPr>
          <p:cNvPr id="19" name="text-289"/>
          <p:cNvSpPr txBox="1"/>
          <p:nvPr/>
        </p:nvSpPr>
        <p:spPr>
          <a:xfrm>
            <a:off x="2880360" y="23042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text-290"/>
          <p:cNvSpPr txBox="1"/>
          <p:nvPr/>
        </p:nvSpPr>
        <p:spPr>
          <a:xfrm>
            <a:off x="3364992" y="2176272"/>
            <a:ext cx="1463040" cy="640080"/>
          </a:xfrm>
          <a:prstGeom prst="rect">
            <a:avLst/>
          </a:prstGeom>
          <a:noFill/>
          <a:ln/>
        </p:spPr>
        <p:txBody>
          <a:bodyPr wrap="square" lIns="0" tIns="0" rIns="0" bIns="0" rtlCol="0" anchor="ctr"/>
          <a:lstStyle/>
          <a:p>
            <a:pPr indent="0" marL="0">
              <a:buNone/>
            </a:pPr>
            <a:r>
              <a:rPr lang="en-US" sz="1300" dirty="0">
                <a:solidFill>
                  <a:schemeClr val="tx1"/>
                </a:solidFill>
              </a:rPr>
              <a:t>Story-urile bune merg în Evidențiate</a:t>
            </a:r>
            <a:endParaRPr lang="en-US" sz="1300" dirty="0"/>
          </a:p>
        </p:txBody>
      </p:sp>
      <p:sp>
        <p:nvSpPr>
          <p:cNvPr id="21" name="card-291"/>
          <p:cNvSpPr/>
          <p:nvPr/>
        </p:nvSpPr>
        <p:spPr>
          <a:xfrm>
            <a:off x="457200" y="3017520"/>
            <a:ext cx="2148840" cy="777240"/>
          </a:xfrm>
          <a:prstGeom prst="roundRect">
            <a:avLst>
              <a:gd name="adj" fmla="val 14118"/>
            </a:avLst>
          </a:prstGeom>
          <a:solidFill>
            <a:schemeClr val="bg2"/>
          </a:solidFill>
          <a:ln w="12700">
            <a:solidFill>
              <a:schemeClr val="bg2"/>
            </a:solidFill>
            <a:prstDash val="solid"/>
          </a:ln>
        </p:spPr>
      </p:sp>
      <p:sp>
        <p:nvSpPr>
          <p:cNvPr id="22" name="num-292"/>
          <p:cNvSpPr/>
          <p:nvPr/>
        </p:nvSpPr>
        <p:spPr>
          <a:xfrm>
            <a:off x="594360" y="3218688"/>
            <a:ext cx="365760" cy="365760"/>
          </a:xfrm>
          <a:prstGeom prst="ellipse">
            <a:avLst/>
          </a:prstGeom>
          <a:solidFill>
            <a:schemeClr val="accent2"/>
          </a:solidFill>
          <a:ln w="12700">
            <a:solidFill>
              <a:schemeClr val="accent2"/>
            </a:solidFill>
            <a:prstDash val="solid"/>
          </a:ln>
        </p:spPr>
      </p:sp>
      <p:sp>
        <p:nvSpPr>
          <p:cNvPr id="23" name="text-293"/>
          <p:cNvSpPr txBox="1"/>
          <p:nvPr/>
        </p:nvSpPr>
        <p:spPr>
          <a:xfrm>
            <a:off x="594360" y="32186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4" name="text-294"/>
          <p:cNvSpPr txBox="1"/>
          <p:nvPr/>
        </p:nvSpPr>
        <p:spPr>
          <a:xfrm>
            <a:off x="1078992" y="3090672"/>
            <a:ext cx="1463040" cy="640080"/>
          </a:xfrm>
          <a:prstGeom prst="rect">
            <a:avLst/>
          </a:prstGeom>
          <a:noFill/>
          <a:ln/>
        </p:spPr>
        <p:txBody>
          <a:bodyPr wrap="square" lIns="0" tIns="0" rIns="0" bIns="0" rtlCol="0" anchor="ctr"/>
          <a:lstStyle/>
          <a:p>
            <a:pPr indent="0" marL="0">
              <a:buNone/>
            </a:pPr>
            <a:r>
              <a:rPr lang="en-US" sz="1300" dirty="0">
                <a:solidFill>
                  <a:schemeClr val="tx1"/>
                </a:solidFill>
              </a:rPr>
              <a:t>Colaborare cu clienta sau MUA-ul</a:t>
            </a:r>
            <a:endParaRPr lang="en-US" sz="1300" dirty="0"/>
          </a:p>
        </p:txBody>
      </p:sp>
      <p:sp>
        <p:nvSpPr>
          <p:cNvPr id="25" name="card-295"/>
          <p:cNvSpPr/>
          <p:nvPr/>
        </p:nvSpPr>
        <p:spPr>
          <a:xfrm>
            <a:off x="2743200" y="3017520"/>
            <a:ext cx="2148840" cy="777240"/>
          </a:xfrm>
          <a:prstGeom prst="roundRect">
            <a:avLst>
              <a:gd name="adj" fmla="val 14118"/>
            </a:avLst>
          </a:prstGeom>
          <a:solidFill>
            <a:schemeClr val="bg2"/>
          </a:solidFill>
          <a:ln w="12700">
            <a:solidFill>
              <a:schemeClr val="bg2"/>
            </a:solidFill>
            <a:prstDash val="solid"/>
          </a:ln>
        </p:spPr>
      </p:sp>
      <p:sp>
        <p:nvSpPr>
          <p:cNvPr id="26" name="num-296"/>
          <p:cNvSpPr/>
          <p:nvPr/>
        </p:nvSpPr>
        <p:spPr>
          <a:xfrm>
            <a:off x="2880360" y="3218688"/>
            <a:ext cx="365760" cy="365760"/>
          </a:xfrm>
          <a:prstGeom prst="ellipse">
            <a:avLst/>
          </a:prstGeom>
          <a:solidFill>
            <a:schemeClr val="accent2"/>
          </a:solidFill>
          <a:ln w="12700">
            <a:solidFill>
              <a:schemeClr val="accent2"/>
            </a:solidFill>
            <a:prstDash val="solid"/>
          </a:ln>
        </p:spPr>
      </p:sp>
      <p:sp>
        <p:nvSpPr>
          <p:cNvPr id="27" name="text-297"/>
          <p:cNvSpPr txBox="1"/>
          <p:nvPr/>
        </p:nvSpPr>
        <p:spPr>
          <a:xfrm>
            <a:off x="2880360" y="32186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8" name="text-298"/>
          <p:cNvSpPr txBox="1"/>
          <p:nvPr/>
        </p:nvSpPr>
        <p:spPr>
          <a:xfrm>
            <a:off x="3364992" y="3090672"/>
            <a:ext cx="1463040" cy="640080"/>
          </a:xfrm>
          <a:prstGeom prst="rect">
            <a:avLst/>
          </a:prstGeom>
          <a:noFill/>
          <a:ln/>
        </p:spPr>
        <p:txBody>
          <a:bodyPr wrap="square" lIns="0" tIns="0" rIns="0" bIns="0" rtlCol="0" anchor="ctr"/>
          <a:lstStyle/>
          <a:p>
            <a:pPr indent="0" marL="0">
              <a:buNone/>
            </a:pPr>
            <a:r>
              <a:rPr lang="en-US" sz="1300" dirty="0">
                <a:solidFill>
                  <a:schemeClr val="tx1"/>
                </a:solidFill>
              </a:rPr>
              <a:t>Statistici o dată pe săptămână</a:t>
            </a:r>
            <a:endParaRPr lang="en-US" sz="1300" dirty="0"/>
          </a:p>
        </p:txBody>
      </p:sp>
      <p:sp>
        <p:nvSpPr>
          <p:cNvPr id="29" name="text-299"/>
          <p:cNvSpPr txBox="1"/>
          <p:nvPr/>
        </p:nvSpPr>
        <p:spPr>
          <a:xfrm>
            <a:off x="5212080" y="1188720"/>
            <a:ext cx="3474720"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Descrieri scurte</a:t>
            </a:r>
            <a:endParaRPr lang="en-US" sz="1500" dirty="0"/>
          </a:p>
        </p:txBody>
      </p:sp>
      <p:sp>
        <p:nvSpPr>
          <p:cNvPr id="30" name="text-300"/>
          <p:cNvSpPr txBox="1"/>
          <p:nvPr/>
        </p:nvSpPr>
        <p:spPr>
          <a:xfrm>
            <a:off x="5212080" y="1508760"/>
            <a:ext cx="3474720" cy="1188720"/>
          </a:xfrm>
          <a:prstGeom prst="rect">
            <a:avLst/>
          </a:prstGeom>
          <a:noFill/>
          <a:ln/>
        </p:spPr>
        <p:txBody>
          <a:bodyPr wrap="square" lIns="0" tIns="0" rIns="0" bIns="0" rtlCol="0" anchor="t"/>
          <a:lstStyle/>
          <a:p>
            <a:pPr indent="0" marL="0">
              <a:spcAft>
                <a:spcPts val="600"/>
              </a:spcAft>
              <a:buNone/>
            </a:pPr>
            <a:r>
              <a:rPr lang="en-US" sz="1300" i="1" dirty="0">
                <a:solidFill>
                  <a:schemeClr val="tx2"/>
                </a:solidFill>
              </a:rPr>
              <a:t>„De la negru vopsit acasă la bej rece, în 2 ședințe. Răbdarea e cel mai bun decolorant.”</a:t>
            </a:r>
            <a:endParaRPr lang="en-US" sz="1300" dirty="0"/>
          </a:p>
          <a:p>
            <a:pPr indent="0" marL="0">
              <a:spcAft>
                <a:spcPts val="600"/>
              </a:spcAft>
              <a:buNone/>
            </a:pPr>
            <a:r>
              <a:rPr lang="en-US" sz="1300" i="1" dirty="0">
                <a:solidFill>
                  <a:schemeClr val="tx2"/>
                </a:solidFill>
              </a:rPr>
              <a:t>„AirTouch = blond care crește frumos. Revii peste 4 luni, nu peste 4 săptămâni.”</a:t>
            </a:r>
            <a:endParaRPr lang="en-US" sz="1300" dirty="0"/>
          </a:p>
        </p:txBody>
      </p:sp>
      <p:sp>
        <p:nvSpPr>
          <p:cNvPr id="31" name="text-301"/>
          <p:cNvSpPr txBox="1"/>
          <p:nvPr/>
        </p:nvSpPr>
        <p:spPr>
          <a:xfrm>
            <a:off x="5212080" y="2788920"/>
            <a:ext cx="3474720"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Idei de videoclipuri</a:t>
            </a:r>
            <a:endParaRPr lang="en-US" sz="1500" dirty="0"/>
          </a:p>
        </p:txBody>
      </p:sp>
      <p:sp>
        <p:nvSpPr>
          <p:cNvPr id="32" name="text-302"/>
          <p:cNvSpPr txBox="1"/>
          <p:nvPr/>
        </p:nvSpPr>
        <p:spPr>
          <a:xfrm>
            <a:off x="5212080" y="3108960"/>
            <a:ext cx="3474720" cy="15544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Din portocaliu în bej perlat în 15 sec</a:t>
            </a:r>
            <a:endParaRPr lang="en-US" sz="1400" dirty="0"/>
          </a:p>
          <a:p>
            <a:pPr marL="342900" indent="-342900">
              <a:spcAft>
                <a:spcPts val="300"/>
              </a:spcAft>
              <a:buSzPct val="100000"/>
              <a:buChar char="•"/>
            </a:pPr>
            <a:r>
              <a:rPr lang="en-US" sz="1400" dirty="0">
                <a:solidFill>
                  <a:schemeClr val="tx1"/>
                </a:solidFill>
              </a:rPr>
              <a:t>3 greșeli care îți strică blondul acasă</a:t>
            </a:r>
            <a:endParaRPr lang="en-US" sz="1400" dirty="0"/>
          </a:p>
          <a:p>
            <a:pPr marL="342900" indent="-342900">
              <a:spcAft>
                <a:spcPts val="300"/>
              </a:spcAft>
              <a:buSzPct val="100000"/>
              <a:buChar char="•"/>
            </a:pPr>
            <a:r>
              <a:rPr lang="en-US" sz="1400" dirty="0">
                <a:solidFill>
                  <a:schemeClr val="tx1"/>
                </a:solidFill>
              </a:rPr>
              <a:t>Poza cerută vs. ce s-a putut realist</a:t>
            </a:r>
            <a:endParaRPr lang="en-US" sz="1400" dirty="0"/>
          </a:p>
          <a:p>
            <a:pPr marL="342900" indent="-342900">
              <a:spcAft>
                <a:spcPts val="300"/>
              </a:spcAft>
              <a:buSzPct val="100000"/>
              <a:buChar char="•"/>
            </a:pPr>
            <a:r>
              <a:rPr lang="en-US" sz="1400" dirty="0">
                <a:solidFill>
                  <a:schemeClr val="tx1"/>
                </a:solidFill>
              </a:rPr>
              <a:t>Cum se face AirTouch, pas cu pas</a:t>
            </a:r>
            <a:endParaRPr lang="en-US" sz="14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IV · TIKTOK</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Algoritmul TikTok, pe înțelesul tuturor</a:t>
            </a:r>
            <a:endParaRPr lang="en-US" sz="2800" dirty="0"/>
          </a:p>
        </p:txBody>
      </p:sp>
      <p:pic>
        <p:nvPicPr>
          <p:cNvPr id="4" name="watermark-303" descr="preencoded.png">    </p:cNvPr>
          <p:cNvPicPr>
            <a:picLocks noChangeAspect="1"/>
          </p:cNvPicPr>
          <p:nvPr/>
        </p:nvPicPr>
        <p:blipFill>
          <a:blip r:embed="rId1">
            <a:alphaModFix amt="5000"/>
          </a:blip>
          <a:stretch>
            <a:fillRect/>
          </a:stretch>
        </p:blipFill>
        <p:spPr>
          <a:xfrm>
            <a:off x="7086600" y="3063240"/>
            <a:ext cx="1920240" cy="1920240"/>
          </a:xfrm>
          <a:prstGeom prst="rect">
            <a:avLst/>
          </a:prstGeom>
        </p:spPr>
      </p:pic>
      <p:sp>
        <p:nvSpPr>
          <p:cNvPr id="5" name="badge-304"/>
          <p:cNvSpPr/>
          <p:nvPr/>
        </p:nvSpPr>
        <p:spPr>
          <a:xfrm>
            <a:off x="457200" y="1188720"/>
            <a:ext cx="502920" cy="502920"/>
          </a:xfrm>
          <a:prstGeom prst="ellipse">
            <a:avLst/>
          </a:prstGeom>
          <a:solidFill>
            <a:schemeClr val="tx1"/>
          </a:solidFill>
          <a:ln w="12700">
            <a:solidFill>
              <a:schemeClr val="tx1"/>
            </a:solidFill>
            <a:prstDash val="solid"/>
          </a:ln>
        </p:spPr>
      </p:sp>
      <p:pic>
        <p:nvPicPr>
          <p:cNvPr id="6" name="icon-305" descr="preencoded.png">    </p:cNvPr>
          <p:cNvPicPr>
            <a:picLocks noChangeAspect="1"/>
          </p:cNvPicPr>
          <p:nvPr/>
        </p:nvPicPr>
        <p:blipFill>
          <a:blip r:embed="rId2"/>
          <a:stretch>
            <a:fillRect/>
          </a:stretch>
        </p:blipFill>
        <p:spPr>
          <a:xfrm>
            <a:off x="582930" y="1314450"/>
            <a:ext cx="251460" cy="251460"/>
          </a:xfrm>
          <a:prstGeom prst="rect">
            <a:avLst/>
          </a:prstGeom>
        </p:spPr>
      </p:pic>
      <p:sp>
        <p:nvSpPr>
          <p:cNvPr id="7" name="text-306"/>
          <p:cNvSpPr txBox="1"/>
          <p:nvPr/>
        </p:nvSpPr>
        <p:spPr>
          <a:xfrm>
            <a:off x="1143000" y="1188720"/>
            <a:ext cx="2926080" cy="502920"/>
          </a:xfrm>
          <a:prstGeom prst="rect">
            <a:avLst/>
          </a:prstGeom>
          <a:noFill/>
          <a:ln/>
        </p:spPr>
        <p:txBody>
          <a:bodyPr wrap="square" lIns="0" tIns="0" rIns="0" bIns="0" rtlCol="0" anchor="ctr"/>
          <a:lstStyle/>
          <a:p>
            <a:pPr indent="0" marL="0">
              <a:buNone/>
            </a:pPr>
            <a:r>
              <a:rPr lang="en-US" sz="1400" dirty="0">
                <a:solidFill>
                  <a:schemeClr val="tx1"/>
                </a:solidFill>
              </a:rPr>
              <a:t>Publici videoclipul</a:t>
            </a:r>
            <a:endParaRPr lang="en-US" sz="1400" dirty="0"/>
          </a:p>
        </p:txBody>
      </p:sp>
      <p:sp>
        <p:nvSpPr>
          <p:cNvPr id="8" name="arrow-307"/>
          <p:cNvSpPr/>
          <p:nvPr/>
        </p:nvSpPr>
        <p:spPr>
          <a:xfrm>
            <a:off x="708660" y="1719072"/>
            <a:ext cx="914" cy="320040"/>
          </a:xfrm>
          <a:prstGeom prst="line">
            <a:avLst/>
          </a:prstGeom>
          <a:noFill/>
          <a:ln w="22225">
            <a:solidFill>
              <a:schemeClr val="accent1"/>
            </a:solidFill>
            <a:prstDash val="solid"/>
            <a:tailEnd type="triangle"/>
          </a:ln>
        </p:spPr>
      </p:sp>
      <p:sp>
        <p:nvSpPr>
          <p:cNvPr id="9" name="badge-308"/>
          <p:cNvSpPr/>
          <p:nvPr/>
        </p:nvSpPr>
        <p:spPr>
          <a:xfrm>
            <a:off x="457200" y="2057400"/>
            <a:ext cx="502920" cy="502920"/>
          </a:xfrm>
          <a:prstGeom prst="ellipse">
            <a:avLst/>
          </a:prstGeom>
          <a:solidFill>
            <a:schemeClr val="tx1"/>
          </a:solidFill>
          <a:ln w="12700">
            <a:solidFill>
              <a:schemeClr val="tx1"/>
            </a:solidFill>
            <a:prstDash val="solid"/>
          </a:ln>
        </p:spPr>
      </p:sp>
      <p:pic>
        <p:nvPicPr>
          <p:cNvPr id="10" name="icon-309" descr="preencoded.png">    </p:cNvPr>
          <p:cNvPicPr>
            <a:picLocks noChangeAspect="1"/>
          </p:cNvPicPr>
          <p:nvPr/>
        </p:nvPicPr>
        <p:blipFill>
          <a:blip r:embed="rId3"/>
          <a:stretch>
            <a:fillRect/>
          </a:stretch>
        </p:blipFill>
        <p:spPr>
          <a:xfrm>
            <a:off x="582930" y="2183130"/>
            <a:ext cx="251460" cy="251460"/>
          </a:xfrm>
          <a:prstGeom prst="rect">
            <a:avLst/>
          </a:prstGeom>
        </p:spPr>
      </p:pic>
      <p:sp>
        <p:nvSpPr>
          <p:cNvPr id="11" name="text-310"/>
          <p:cNvSpPr txBox="1"/>
          <p:nvPr/>
        </p:nvSpPr>
        <p:spPr>
          <a:xfrm>
            <a:off x="1143000" y="2057400"/>
            <a:ext cx="2926080" cy="502920"/>
          </a:xfrm>
          <a:prstGeom prst="rect">
            <a:avLst/>
          </a:prstGeom>
          <a:noFill/>
          <a:ln/>
        </p:spPr>
        <p:txBody>
          <a:bodyPr wrap="square" lIns="0" tIns="0" rIns="0" bIns="0" rtlCol="0" anchor="ctr"/>
          <a:lstStyle/>
          <a:p>
            <a:pPr indent="0" marL="0">
              <a:buNone/>
            </a:pPr>
            <a:r>
              <a:rPr lang="en-US" sz="1400" dirty="0">
                <a:solidFill>
                  <a:schemeClr val="tx1"/>
                </a:solidFill>
              </a:rPr>
              <a:t>Îl vede un grup mic, și persoane care nu te urmăresc</a:t>
            </a:r>
            <a:endParaRPr lang="en-US" sz="1400" dirty="0"/>
          </a:p>
        </p:txBody>
      </p:sp>
      <p:sp>
        <p:nvSpPr>
          <p:cNvPr id="12" name="arrow-311"/>
          <p:cNvSpPr/>
          <p:nvPr/>
        </p:nvSpPr>
        <p:spPr>
          <a:xfrm>
            <a:off x="708660" y="2587752"/>
            <a:ext cx="914" cy="320040"/>
          </a:xfrm>
          <a:prstGeom prst="line">
            <a:avLst/>
          </a:prstGeom>
          <a:noFill/>
          <a:ln w="22225">
            <a:solidFill>
              <a:schemeClr val="accent1"/>
            </a:solidFill>
            <a:prstDash val="solid"/>
            <a:tailEnd type="triangle"/>
          </a:ln>
        </p:spPr>
      </p:sp>
      <p:sp>
        <p:nvSpPr>
          <p:cNvPr id="13" name="badge-312"/>
          <p:cNvSpPr/>
          <p:nvPr/>
        </p:nvSpPr>
        <p:spPr>
          <a:xfrm>
            <a:off x="457200" y="2926080"/>
            <a:ext cx="502920" cy="502920"/>
          </a:xfrm>
          <a:prstGeom prst="ellipse">
            <a:avLst/>
          </a:prstGeom>
          <a:solidFill>
            <a:schemeClr val="tx1"/>
          </a:solidFill>
          <a:ln w="12700">
            <a:solidFill>
              <a:schemeClr val="tx1"/>
            </a:solidFill>
            <a:prstDash val="solid"/>
          </a:ln>
        </p:spPr>
      </p:sp>
      <p:pic>
        <p:nvPicPr>
          <p:cNvPr id="14" name="icon-313" descr="preencoded.png">    </p:cNvPr>
          <p:cNvPicPr>
            <a:picLocks noChangeAspect="1"/>
          </p:cNvPicPr>
          <p:nvPr/>
        </p:nvPicPr>
        <p:blipFill>
          <a:blip r:embed="rId4"/>
          <a:stretch>
            <a:fillRect/>
          </a:stretch>
        </p:blipFill>
        <p:spPr>
          <a:xfrm>
            <a:off x="582930" y="3051810"/>
            <a:ext cx="251460" cy="251460"/>
          </a:xfrm>
          <a:prstGeom prst="rect">
            <a:avLst/>
          </a:prstGeom>
        </p:spPr>
      </p:pic>
      <p:sp>
        <p:nvSpPr>
          <p:cNvPr id="15" name="text-314"/>
          <p:cNvSpPr txBox="1"/>
          <p:nvPr/>
        </p:nvSpPr>
        <p:spPr>
          <a:xfrm>
            <a:off x="1143000" y="2926080"/>
            <a:ext cx="2926080" cy="502920"/>
          </a:xfrm>
          <a:prstGeom prst="rect">
            <a:avLst/>
          </a:prstGeom>
          <a:noFill/>
          <a:ln/>
        </p:spPr>
        <p:txBody>
          <a:bodyPr wrap="square" lIns="0" tIns="0" rIns="0" bIns="0" rtlCol="0" anchor="ctr"/>
          <a:lstStyle/>
          <a:p>
            <a:pPr indent="0" marL="0">
              <a:buNone/>
            </a:pPr>
            <a:r>
              <a:rPr lang="en-US" sz="1400" dirty="0">
                <a:solidFill>
                  <a:schemeClr val="tx1"/>
                </a:solidFill>
              </a:rPr>
              <a:t>TikTok urmărește reacțiile</a:t>
            </a:r>
            <a:endParaRPr lang="en-US" sz="1400" dirty="0"/>
          </a:p>
        </p:txBody>
      </p:sp>
      <p:sp>
        <p:nvSpPr>
          <p:cNvPr id="16" name="arrow-315"/>
          <p:cNvSpPr/>
          <p:nvPr/>
        </p:nvSpPr>
        <p:spPr>
          <a:xfrm>
            <a:off x="708660" y="3456432"/>
            <a:ext cx="914" cy="320040"/>
          </a:xfrm>
          <a:prstGeom prst="line">
            <a:avLst/>
          </a:prstGeom>
          <a:noFill/>
          <a:ln w="22225">
            <a:solidFill>
              <a:schemeClr val="accent1"/>
            </a:solidFill>
            <a:prstDash val="solid"/>
            <a:tailEnd type="triangle"/>
          </a:ln>
        </p:spPr>
      </p:sp>
      <p:sp>
        <p:nvSpPr>
          <p:cNvPr id="17" name="badge-316"/>
          <p:cNvSpPr/>
          <p:nvPr/>
        </p:nvSpPr>
        <p:spPr>
          <a:xfrm>
            <a:off x="457200" y="3794760"/>
            <a:ext cx="502920" cy="502920"/>
          </a:xfrm>
          <a:prstGeom prst="ellipse">
            <a:avLst/>
          </a:prstGeom>
          <a:solidFill>
            <a:schemeClr val="accent2"/>
          </a:solidFill>
          <a:ln w="12700">
            <a:solidFill>
              <a:schemeClr val="accent2"/>
            </a:solidFill>
            <a:prstDash val="solid"/>
          </a:ln>
        </p:spPr>
      </p:sp>
      <p:pic>
        <p:nvPicPr>
          <p:cNvPr id="18" name="icon-317" descr="preencoded.png">    </p:cNvPr>
          <p:cNvPicPr>
            <a:picLocks noChangeAspect="1"/>
          </p:cNvPicPr>
          <p:nvPr/>
        </p:nvPicPr>
        <p:blipFill>
          <a:blip r:embed="rId5"/>
          <a:stretch>
            <a:fillRect/>
          </a:stretch>
        </p:blipFill>
        <p:spPr>
          <a:xfrm>
            <a:off x="582930" y="3920490"/>
            <a:ext cx="251460" cy="251460"/>
          </a:xfrm>
          <a:prstGeom prst="rect">
            <a:avLst/>
          </a:prstGeom>
        </p:spPr>
      </p:pic>
      <p:sp>
        <p:nvSpPr>
          <p:cNvPr id="19" name="text-318"/>
          <p:cNvSpPr txBox="1"/>
          <p:nvPr/>
        </p:nvSpPr>
        <p:spPr>
          <a:xfrm>
            <a:off x="1143000" y="3794760"/>
            <a:ext cx="2926080" cy="502920"/>
          </a:xfrm>
          <a:prstGeom prst="rect">
            <a:avLst/>
          </a:prstGeom>
          <a:noFill/>
          <a:ln/>
        </p:spPr>
        <p:txBody>
          <a:bodyPr wrap="square" lIns="0" tIns="0" rIns="0" bIns="0" rtlCol="0" anchor="ctr"/>
          <a:lstStyle/>
          <a:p>
            <a:pPr indent="0" marL="0">
              <a:buNone/>
            </a:pPr>
            <a:r>
              <a:rPr lang="en-US" sz="1400" b="1" dirty="0">
                <a:solidFill>
                  <a:schemeClr val="tx1"/>
                </a:solidFill>
              </a:rPr>
              <a:t>Dacă plac, îl arată mai multor oameni cu interese similare</a:t>
            </a:r>
            <a:endParaRPr lang="en-US" sz="1400" dirty="0"/>
          </a:p>
        </p:txBody>
      </p:sp>
      <p:sp>
        <p:nvSpPr>
          <p:cNvPr id="20" name="card-319"/>
          <p:cNvSpPr/>
          <p:nvPr/>
        </p:nvSpPr>
        <p:spPr>
          <a:xfrm>
            <a:off x="4343400" y="1188720"/>
            <a:ext cx="4343400" cy="1325880"/>
          </a:xfrm>
          <a:prstGeom prst="roundRect">
            <a:avLst>
              <a:gd name="adj" fmla="val 8276"/>
            </a:avLst>
          </a:prstGeom>
          <a:solidFill>
            <a:schemeClr val="bg2"/>
          </a:solidFill>
          <a:ln w="12700">
            <a:solidFill>
              <a:schemeClr val="bg2"/>
            </a:solidFill>
            <a:prstDash val="solid"/>
          </a:ln>
        </p:spPr>
      </p:sp>
      <p:sp>
        <p:nvSpPr>
          <p:cNvPr id="21" name="text-320"/>
          <p:cNvSpPr txBox="1"/>
          <p:nvPr/>
        </p:nvSpPr>
        <p:spPr>
          <a:xfrm>
            <a:off x="4526280" y="1280160"/>
            <a:ext cx="3931920" cy="274320"/>
          </a:xfrm>
          <a:prstGeom prst="rect">
            <a:avLst/>
          </a:prstGeom>
          <a:noFill/>
          <a:ln/>
        </p:spPr>
        <p:txBody>
          <a:bodyPr wrap="square" lIns="0" tIns="0" rIns="0" bIns="0" rtlCol="0" anchor="t"/>
          <a:lstStyle/>
          <a:p>
            <a:pPr indent="0" marL="0">
              <a:buNone/>
            </a:pPr>
            <a:r>
              <a:rPr lang="en-US" sz="1400" b="1" dirty="0">
                <a:solidFill>
                  <a:schemeClr val="tx1"/>
                </a:solidFill>
              </a:rPr>
              <a:t>Semnale importante</a:t>
            </a:r>
            <a:endParaRPr lang="en-US" sz="1400" dirty="0"/>
          </a:p>
        </p:txBody>
      </p:sp>
      <p:pic>
        <p:nvPicPr>
          <p:cNvPr id="22" name="ui-321" descr="preencoded.png">    </p:cNvPr>
          <p:cNvPicPr>
            <a:picLocks noChangeAspect="1"/>
          </p:cNvPicPr>
          <p:nvPr/>
        </p:nvPicPr>
        <p:blipFill>
          <a:blip r:embed="rId6"/>
          <a:stretch>
            <a:fillRect/>
          </a:stretch>
        </p:blipFill>
        <p:spPr>
          <a:xfrm>
            <a:off x="4526280" y="1673352"/>
            <a:ext cx="201168" cy="201168"/>
          </a:xfrm>
          <a:prstGeom prst="rect">
            <a:avLst/>
          </a:prstGeom>
        </p:spPr>
      </p:pic>
      <p:sp>
        <p:nvSpPr>
          <p:cNvPr id="23" name="text-322"/>
          <p:cNvSpPr txBox="1"/>
          <p:nvPr/>
        </p:nvSpPr>
        <p:spPr>
          <a:xfrm>
            <a:off x="4800600" y="1645920"/>
            <a:ext cx="1783080" cy="274320"/>
          </a:xfrm>
          <a:prstGeom prst="rect">
            <a:avLst/>
          </a:prstGeom>
          <a:noFill/>
          <a:ln/>
        </p:spPr>
        <p:txBody>
          <a:bodyPr wrap="square" lIns="0" tIns="0" rIns="0" bIns="0" rtlCol="0" anchor="t"/>
          <a:lstStyle/>
          <a:p>
            <a:pPr indent="0" marL="0">
              <a:buNone/>
            </a:pPr>
            <a:r>
              <a:rPr lang="en-US" sz="1200" dirty="0">
                <a:solidFill>
                  <a:schemeClr val="tx1"/>
                </a:solidFill>
              </a:rPr>
              <a:t>Timp de vizionare</a:t>
            </a:r>
            <a:endParaRPr lang="en-US" sz="1200" dirty="0"/>
          </a:p>
        </p:txBody>
      </p:sp>
      <p:pic>
        <p:nvPicPr>
          <p:cNvPr id="24" name="ui-323" descr="preencoded.png">    </p:cNvPr>
          <p:cNvPicPr>
            <a:picLocks noChangeAspect="1"/>
          </p:cNvPicPr>
          <p:nvPr/>
        </p:nvPicPr>
        <p:blipFill>
          <a:blip r:embed="rId7"/>
          <a:stretch>
            <a:fillRect/>
          </a:stretch>
        </p:blipFill>
        <p:spPr>
          <a:xfrm>
            <a:off x="6629400" y="1673352"/>
            <a:ext cx="201168" cy="201168"/>
          </a:xfrm>
          <a:prstGeom prst="rect">
            <a:avLst/>
          </a:prstGeom>
        </p:spPr>
      </p:pic>
      <p:sp>
        <p:nvSpPr>
          <p:cNvPr id="25" name="text-324"/>
          <p:cNvSpPr txBox="1"/>
          <p:nvPr/>
        </p:nvSpPr>
        <p:spPr>
          <a:xfrm>
            <a:off x="6903720" y="1645920"/>
            <a:ext cx="1783080" cy="274320"/>
          </a:xfrm>
          <a:prstGeom prst="rect">
            <a:avLst/>
          </a:prstGeom>
          <a:noFill/>
          <a:ln/>
        </p:spPr>
        <p:txBody>
          <a:bodyPr wrap="square" lIns="0" tIns="0" rIns="0" bIns="0" rtlCol="0" anchor="t"/>
          <a:lstStyle/>
          <a:p>
            <a:pPr indent="0" marL="0">
              <a:buNone/>
            </a:pPr>
            <a:r>
              <a:rPr lang="en-US" sz="1200" dirty="0">
                <a:solidFill>
                  <a:schemeClr val="tx1"/>
                </a:solidFill>
              </a:rPr>
              <a:t>Vizionare completă / re-vizionare</a:t>
            </a:r>
            <a:endParaRPr lang="en-US" sz="1200" dirty="0"/>
          </a:p>
        </p:txBody>
      </p:sp>
      <p:pic>
        <p:nvPicPr>
          <p:cNvPr id="26" name="ui-325" descr="preencoded.png">    </p:cNvPr>
          <p:cNvPicPr>
            <a:picLocks noChangeAspect="1"/>
          </p:cNvPicPr>
          <p:nvPr/>
        </p:nvPicPr>
        <p:blipFill>
          <a:blip r:embed="rId8"/>
          <a:stretch>
            <a:fillRect/>
          </a:stretch>
        </p:blipFill>
        <p:spPr>
          <a:xfrm>
            <a:off x="4526280" y="2057400"/>
            <a:ext cx="201168" cy="201168"/>
          </a:xfrm>
          <a:prstGeom prst="rect">
            <a:avLst/>
          </a:prstGeom>
        </p:spPr>
      </p:pic>
      <p:sp>
        <p:nvSpPr>
          <p:cNvPr id="27" name="text-326"/>
          <p:cNvSpPr txBox="1"/>
          <p:nvPr/>
        </p:nvSpPr>
        <p:spPr>
          <a:xfrm>
            <a:off x="4800600" y="2029968"/>
            <a:ext cx="1783080" cy="274320"/>
          </a:xfrm>
          <a:prstGeom prst="rect">
            <a:avLst/>
          </a:prstGeom>
          <a:noFill/>
          <a:ln/>
        </p:spPr>
        <p:txBody>
          <a:bodyPr wrap="square" lIns="0" tIns="0" rIns="0" bIns="0" rtlCol="0" anchor="t"/>
          <a:lstStyle/>
          <a:p>
            <a:pPr indent="0" marL="0">
              <a:buNone/>
            </a:pPr>
            <a:r>
              <a:rPr lang="en-US" sz="1200" dirty="0">
                <a:solidFill>
                  <a:schemeClr val="tx1"/>
                </a:solidFill>
              </a:rPr>
              <a:t>Comentarii</a:t>
            </a:r>
            <a:endParaRPr lang="en-US" sz="1200" dirty="0"/>
          </a:p>
        </p:txBody>
      </p:sp>
      <p:pic>
        <p:nvPicPr>
          <p:cNvPr id="28" name="ui-327" descr="preencoded.png">    </p:cNvPr>
          <p:cNvPicPr>
            <a:picLocks noChangeAspect="1"/>
          </p:cNvPicPr>
          <p:nvPr/>
        </p:nvPicPr>
        <p:blipFill>
          <a:blip r:embed="rId9"/>
          <a:stretch>
            <a:fillRect/>
          </a:stretch>
        </p:blipFill>
        <p:spPr>
          <a:xfrm>
            <a:off x="6629400" y="2057400"/>
            <a:ext cx="201168" cy="201168"/>
          </a:xfrm>
          <a:prstGeom prst="rect">
            <a:avLst/>
          </a:prstGeom>
        </p:spPr>
      </p:pic>
      <p:sp>
        <p:nvSpPr>
          <p:cNvPr id="29" name="text-328"/>
          <p:cNvSpPr txBox="1"/>
          <p:nvPr/>
        </p:nvSpPr>
        <p:spPr>
          <a:xfrm>
            <a:off x="6903720" y="2029968"/>
            <a:ext cx="1783080" cy="274320"/>
          </a:xfrm>
          <a:prstGeom prst="rect">
            <a:avLst/>
          </a:prstGeom>
          <a:noFill/>
          <a:ln/>
        </p:spPr>
        <p:txBody>
          <a:bodyPr wrap="square" lIns="0" tIns="0" rIns="0" bIns="0" rtlCol="0" anchor="t"/>
          <a:lstStyle/>
          <a:p>
            <a:pPr indent="0" marL="0">
              <a:buNone/>
            </a:pPr>
            <a:r>
              <a:rPr lang="en-US" sz="1200" dirty="0">
                <a:solidFill>
                  <a:schemeClr val="tx1"/>
                </a:solidFill>
              </a:rPr>
              <a:t>Distribuiri și salvări</a:t>
            </a:r>
            <a:endParaRPr lang="en-US" sz="1200" dirty="0"/>
          </a:p>
        </p:txBody>
      </p:sp>
      <p:sp>
        <p:nvSpPr>
          <p:cNvPr id="30" name="card-329"/>
          <p:cNvSpPr/>
          <p:nvPr/>
        </p:nvSpPr>
        <p:spPr>
          <a:xfrm>
            <a:off x="4343400" y="2651760"/>
            <a:ext cx="2103120" cy="2011680"/>
          </a:xfrm>
          <a:prstGeom prst="roundRect">
            <a:avLst>
              <a:gd name="adj" fmla="val 5455"/>
            </a:avLst>
          </a:prstGeom>
          <a:solidFill>
            <a:schemeClr val="tx1"/>
          </a:solidFill>
          <a:ln w="12700">
            <a:solidFill>
              <a:schemeClr val="tx1"/>
            </a:solidFill>
            <a:prstDash val="solid"/>
          </a:ln>
        </p:spPr>
      </p:sp>
      <p:sp>
        <p:nvSpPr>
          <p:cNvPr id="31" name="card-330"/>
          <p:cNvSpPr/>
          <p:nvPr/>
        </p:nvSpPr>
        <p:spPr>
          <a:xfrm>
            <a:off x="6583680" y="2651760"/>
            <a:ext cx="2103120" cy="2011680"/>
          </a:xfrm>
          <a:prstGeom prst="roundRect">
            <a:avLst>
              <a:gd name="adj" fmla="val 5455"/>
            </a:avLst>
          </a:prstGeom>
          <a:solidFill>
            <a:schemeClr val="bg2"/>
          </a:solidFill>
          <a:ln w="12700">
            <a:solidFill>
              <a:schemeClr val="bg2"/>
            </a:solidFill>
            <a:prstDash val="solid"/>
          </a:ln>
        </p:spPr>
      </p:sp>
      <p:sp>
        <p:nvSpPr>
          <p:cNvPr id="32" name="text-331"/>
          <p:cNvSpPr txBox="1"/>
          <p:nvPr/>
        </p:nvSpPr>
        <p:spPr>
          <a:xfrm>
            <a:off x="4480560" y="2743200"/>
            <a:ext cx="1828800" cy="457200"/>
          </a:xfrm>
          <a:prstGeom prst="rect">
            <a:avLst/>
          </a:prstGeom>
          <a:noFill/>
          <a:ln/>
        </p:spPr>
        <p:txBody>
          <a:bodyPr wrap="square" lIns="0" tIns="0" rIns="0" bIns="0" rtlCol="0" anchor="t"/>
          <a:lstStyle/>
          <a:p>
            <a:pPr indent="0" marL="0">
              <a:buNone/>
            </a:pPr>
            <a:r>
              <a:rPr lang="en-US" sz="1300" b="1" dirty="0">
                <a:solidFill>
                  <a:schemeClr val="accent3"/>
                </a:solidFill>
              </a:rPr>
              <a:t>Primele SECUNDE din video</a:t>
            </a:r>
            <a:endParaRPr lang="en-US" sz="1300" dirty="0"/>
          </a:p>
        </p:txBody>
      </p:sp>
      <p:sp>
        <p:nvSpPr>
          <p:cNvPr id="33" name="text-332"/>
          <p:cNvSpPr txBox="1"/>
          <p:nvPr/>
        </p:nvSpPr>
        <p:spPr>
          <a:xfrm>
            <a:off x="4480560" y="3246120"/>
            <a:ext cx="1828800" cy="1280160"/>
          </a:xfrm>
          <a:prstGeom prst="rect">
            <a:avLst/>
          </a:prstGeom>
          <a:noFill/>
          <a:ln/>
        </p:spPr>
        <p:txBody>
          <a:bodyPr wrap="square" lIns="0" tIns="0" rIns="0" bIns="0" rtlCol="0" anchor="t"/>
          <a:lstStyle/>
          <a:p>
            <a:pPr indent="0" marL="0">
              <a:buNone/>
            </a:pPr>
            <a:r>
              <a:rPr lang="en-US" sz="1300" dirty="0">
                <a:solidFill>
                  <a:schemeClr val="bg1"/>
                </a:solidFill>
              </a:rPr>
              <a:t>Decid dacă omul rămâne sau derulează. Le controlezi tu.</a:t>
            </a:r>
            <a:endParaRPr lang="en-US" sz="1300" dirty="0"/>
          </a:p>
        </p:txBody>
      </p:sp>
      <p:sp>
        <p:nvSpPr>
          <p:cNvPr id="34" name="text-333"/>
          <p:cNvSpPr txBox="1"/>
          <p:nvPr/>
        </p:nvSpPr>
        <p:spPr>
          <a:xfrm>
            <a:off x="6720840" y="2743200"/>
            <a:ext cx="1828800" cy="457200"/>
          </a:xfrm>
          <a:prstGeom prst="rect">
            <a:avLst/>
          </a:prstGeom>
          <a:noFill/>
          <a:ln/>
        </p:spPr>
        <p:txBody>
          <a:bodyPr wrap="square" lIns="0" tIns="0" rIns="0" bIns="0" rtlCol="0" anchor="t"/>
          <a:lstStyle/>
          <a:p>
            <a:pPr indent="0" marL="0">
              <a:buNone/>
            </a:pPr>
            <a:r>
              <a:rPr lang="en-US" sz="1300" b="1" dirty="0">
                <a:solidFill>
                  <a:schemeClr val="accent2"/>
                </a:solidFill>
              </a:rPr>
              <a:t>Primele MINUTE după publicare</a:t>
            </a:r>
            <a:endParaRPr lang="en-US" sz="1300" dirty="0"/>
          </a:p>
        </p:txBody>
      </p:sp>
      <p:sp>
        <p:nvSpPr>
          <p:cNvPr id="35" name="text-334"/>
          <p:cNvSpPr txBox="1"/>
          <p:nvPr/>
        </p:nvSpPr>
        <p:spPr>
          <a:xfrm>
            <a:off x="6720840" y="3246120"/>
            <a:ext cx="1874520" cy="1325880"/>
          </a:xfrm>
          <a:prstGeom prst="rect">
            <a:avLst/>
          </a:prstGeom>
          <a:noFill/>
          <a:ln/>
        </p:spPr>
        <p:txBody>
          <a:bodyPr wrap="square" lIns="0" tIns="0" rIns="0" bIns="0" rtlCol="0" anchor="t"/>
          <a:lstStyle/>
          <a:p>
            <a:pPr indent="0" marL="0">
              <a:buNone/>
            </a:pPr>
            <a:r>
              <a:rPr lang="en-US" sz="1200" dirty="0">
                <a:solidFill>
                  <a:schemeClr val="tx1"/>
                </a:solidFill>
              </a:rPr>
              <a:t>Primele reacții contează, dar nu sunt un verdict final. Un video poate crește și după zile.</a:t>
            </a:r>
            <a:endParaRPr lang="en-US" sz="12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IV · TIKTOK</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Trenduri, sunete și tranziții</a:t>
            </a:r>
            <a:endParaRPr lang="en-US" sz="2800" dirty="0"/>
          </a:p>
        </p:txBody>
      </p:sp>
      <p:pic>
        <p:nvPicPr>
          <p:cNvPr id="4" name="watermark-335" descr="preencoded.png">    </p:cNvPr>
          <p:cNvPicPr>
            <a:picLocks noChangeAspect="1"/>
          </p:cNvPicPr>
          <p:nvPr/>
        </p:nvPicPr>
        <p:blipFill>
          <a:blip r:embed="rId1">
            <a:alphaModFix amt="5000"/>
          </a:blip>
          <a:stretch>
            <a:fillRect/>
          </a:stretch>
        </p:blipFill>
        <p:spPr>
          <a:xfrm>
            <a:off x="7086600" y="3063240"/>
            <a:ext cx="1920240" cy="1920240"/>
          </a:xfrm>
          <a:prstGeom prst="rect">
            <a:avLst/>
          </a:prstGeom>
        </p:spPr>
      </p:pic>
      <p:sp>
        <p:nvSpPr>
          <p:cNvPr id="5" name="card-336"/>
          <p:cNvSpPr/>
          <p:nvPr/>
        </p:nvSpPr>
        <p:spPr>
          <a:xfrm>
            <a:off x="457200" y="1188720"/>
            <a:ext cx="2606040" cy="3474720"/>
          </a:xfrm>
          <a:prstGeom prst="roundRect">
            <a:avLst>
              <a:gd name="adj" fmla="val 4211"/>
            </a:avLst>
          </a:prstGeom>
          <a:solidFill>
            <a:schemeClr val="bg2"/>
          </a:solidFill>
          <a:ln w="12700">
            <a:solidFill>
              <a:schemeClr val="bg2"/>
            </a:solidFill>
            <a:prstDash val="solid"/>
          </a:ln>
        </p:spPr>
      </p:sp>
      <p:sp>
        <p:nvSpPr>
          <p:cNvPr id="6" name="badge-337"/>
          <p:cNvSpPr/>
          <p:nvPr/>
        </p:nvSpPr>
        <p:spPr>
          <a:xfrm>
            <a:off x="640080" y="1353312"/>
            <a:ext cx="457200" cy="457200"/>
          </a:xfrm>
          <a:prstGeom prst="ellipse">
            <a:avLst/>
          </a:prstGeom>
          <a:solidFill>
            <a:schemeClr val="tx1"/>
          </a:solidFill>
          <a:ln w="12700">
            <a:solidFill>
              <a:schemeClr val="tx1"/>
            </a:solidFill>
            <a:prstDash val="solid"/>
          </a:ln>
        </p:spPr>
      </p:sp>
      <p:pic>
        <p:nvPicPr>
          <p:cNvPr id="7" name="icon-338" descr="preencoded.png">    </p:cNvPr>
          <p:cNvPicPr>
            <a:picLocks noChangeAspect="1"/>
          </p:cNvPicPr>
          <p:nvPr/>
        </p:nvPicPr>
        <p:blipFill>
          <a:blip r:embed="rId2"/>
          <a:stretch>
            <a:fillRect/>
          </a:stretch>
        </p:blipFill>
        <p:spPr>
          <a:xfrm>
            <a:off x="754380" y="1467612"/>
            <a:ext cx="228600" cy="228600"/>
          </a:xfrm>
          <a:prstGeom prst="rect">
            <a:avLst/>
          </a:prstGeom>
        </p:spPr>
      </p:pic>
      <p:sp>
        <p:nvSpPr>
          <p:cNvPr id="8" name="text-339"/>
          <p:cNvSpPr txBox="1"/>
          <p:nvPr/>
        </p:nvSpPr>
        <p:spPr>
          <a:xfrm>
            <a:off x="1207008" y="135331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Trenduri</a:t>
            </a:r>
            <a:endParaRPr lang="en-US" sz="1600" dirty="0"/>
          </a:p>
        </p:txBody>
      </p:sp>
      <p:sp>
        <p:nvSpPr>
          <p:cNvPr id="9" name="text-340"/>
          <p:cNvSpPr txBox="1"/>
          <p:nvPr/>
        </p:nvSpPr>
        <p:spPr>
          <a:xfrm>
            <a:off x="640080" y="1965960"/>
            <a:ext cx="2286000" cy="17830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Un format copiat de mulți: sunet, structură, glumă</a:t>
            </a:r>
            <a:endParaRPr lang="en-US" sz="1300" dirty="0"/>
          </a:p>
          <a:p>
            <a:pPr marL="342900" indent="-342900">
              <a:spcAft>
                <a:spcPts val="500"/>
              </a:spcAft>
              <a:buSzPct val="100000"/>
              <a:buChar char="•"/>
            </a:pPr>
            <a:r>
              <a:rPr lang="en-US" sz="1300" dirty="0">
                <a:solidFill>
                  <a:schemeClr val="tx1"/>
                </a:solidFill>
              </a:rPr>
              <a:t>Le găsești în Pentru tine, Căutare, Creative Center</a:t>
            </a:r>
            <a:endParaRPr lang="en-US" sz="1300" dirty="0"/>
          </a:p>
          <a:p>
            <a:pPr marL="342900" indent="-342900">
              <a:spcAft>
                <a:spcPts val="500"/>
              </a:spcAft>
              <a:buSzPct val="100000"/>
              <a:buChar char="•"/>
            </a:pPr>
            <a:r>
              <a:rPr lang="en-US" sz="1300" dirty="0">
                <a:solidFill>
                  <a:schemeClr val="tx1"/>
                </a:solidFill>
              </a:rPr>
              <a:t>Păstrezi formatul, schimbi subiectul: părul</a:t>
            </a:r>
            <a:endParaRPr lang="en-US" sz="1300" dirty="0"/>
          </a:p>
        </p:txBody>
      </p:sp>
      <p:sp>
        <p:nvSpPr>
          <p:cNvPr id="10" name="text-341"/>
          <p:cNvSpPr txBox="1"/>
          <p:nvPr/>
        </p:nvSpPr>
        <p:spPr>
          <a:xfrm>
            <a:off x="640080" y="3749040"/>
            <a:ext cx="2286000" cy="822960"/>
          </a:xfrm>
          <a:prstGeom prst="rect">
            <a:avLst/>
          </a:prstGeom>
          <a:noFill/>
          <a:ln/>
        </p:spPr>
        <p:txBody>
          <a:bodyPr wrap="square" lIns="0" tIns="0" rIns="0" bIns="0" rtlCol="0" anchor="t"/>
          <a:lstStyle/>
          <a:p>
            <a:pPr indent="0" marL="0">
              <a:buNone/>
            </a:pPr>
            <a:r>
              <a:rPr lang="en-US" sz="1200" i="1" dirty="0">
                <a:solidFill>
                  <a:schemeClr val="accent2"/>
                </a:solidFill>
              </a:rPr>
              <a:t>„Spune-mi că ești coloristă fără să-mi spui.”</a:t>
            </a:r>
            <a:endParaRPr lang="en-US" sz="1200" dirty="0"/>
          </a:p>
        </p:txBody>
      </p:sp>
      <p:sp>
        <p:nvSpPr>
          <p:cNvPr id="11" name="card-342"/>
          <p:cNvSpPr/>
          <p:nvPr/>
        </p:nvSpPr>
        <p:spPr>
          <a:xfrm>
            <a:off x="3246120" y="1188720"/>
            <a:ext cx="2606040" cy="3474720"/>
          </a:xfrm>
          <a:prstGeom prst="roundRect">
            <a:avLst>
              <a:gd name="adj" fmla="val 4211"/>
            </a:avLst>
          </a:prstGeom>
          <a:solidFill>
            <a:schemeClr val="bg2"/>
          </a:solidFill>
          <a:ln w="12700">
            <a:solidFill>
              <a:schemeClr val="bg2"/>
            </a:solidFill>
            <a:prstDash val="solid"/>
          </a:ln>
        </p:spPr>
      </p:sp>
      <p:sp>
        <p:nvSpPr>
          <p:cNvPr id="12" name="badge-343"/>
          <p:cNvSpPr/>
          <p:nvPr/>
        </p:nvSpPr>
        <p:spPr>
          <a:xfrm>
            <a:off x="3429000" y="1353312"/>
            <a:ext cx="457200" cy="457200"/>
          </a:xfrm>
          <a:prstGeom prst="ellipse">
            <a:avLst/>
          </a:prstGeom>
          <a:solidFill>
            <a:schemeClr val="tx1"/>
          </a:solidFill>
          <a:ln w="12700">
            <a:solidFill>
              <a:schemeClr val="tx1"/>
            </a:solidFill>
            <a:prstDash val="solid"/>
          </a:ln>
        </p:spPr>
      </p:sp>
      <p:pic>
        <p:nvPicPr>
          <p:cNvPr id="13" name="icon-344" descr="preencoded.png">    </p:cNvPr>
          <p:cNvPicPr>
            <a:picLocks noChangeAspect="1"/>
          </p:cNvPicPr>
          <p:nvPr/>
        </p:nvPicPr>
        <p:blipFill>
          <a:blip r:embed="rId3"/>
          <a:stretch>
            <a:fillRect/>
          </a:stretch>
        </p:blipFill>
        <p:spPr>
          <a:xfrm>
            <a:off x="3543300" y="1467612"/>
            <a:ext cx="228600" cy="228600"/>
          </a:xfrm>
          <a:prstGeom prst="rect">
            <a:avLst/>
          </a:prstGeom>
        </p:spPr>
      </p:pic>
      <p:sp>
        <p:nvSpPr>
          <p:cNvPr id="14" name="text-345"/>
          <p:cNvSpPr txBox="1"/>
          <p:nvPr/>
        </p:nvSpPr>
        <p:spPr>
          <a:xfrm>
            <a:off x="3995928" y="135331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Sunete</a:t>
            </a:r>
            <a:endParaRPr lang="en-US" sz="1600" dirty="0"/>
          </a:p>
        </p:txBody>
      </p:sp>
      <p:sp>
        <p:nvSpPr>
          <p:cNvPr id="15" name="text-346"/>
          <p:cNvSpPr txBox="1"/>
          <p:nvPr/>
        </p:nvSpPr>
        <p:spPr>
          <a:xfrm>
            <a:off x="3429000" y="1965960"/>
            <a:ext cx="2286000" cy="17830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Un sunet în creștere poate ajuta, dacă se potrivește</a:t>
            </a:r>
            <a:endParaRPr lang="en-US" sz="1300" dirty="0"/>
          </a:p>
          <a:p>
            <a:pPr marL="342900" indent="-342900">
              <a:spcAft>
                <a:spcPts val="500"/>
              </a:spcAft>
              <a:buSzPct val="100000"/>
              <a:buChar char="•"/>
            </a:pPr>
            <a:r>
              <a:rPr lang="en-US" sz="1300" dirty="0">
                <a:solidFill>
                  <a:schemeClr val="tx1"/>
                </a:solidFill>
              </a:rPr>
              <a:t>Vocea ta = sunet original</a:t>
            </a:r>
            <a:endParaRPr lang="en-US" sz="1300" dirty="0"/>
          </a:p>
          <a:p>
            <a:pPr marL="342900" indent="-342900">
              <a:spcAft>
                <a:spcPts val="500"/>
              </a:spcAft>
              <a:buSzPct val="100000"/>
              <a:buChar char="•"/>
            </a:pPr>
            <a:r>
              <a:rPr lang="en-US" sz="1300" dirty="0">
                <a:solidFill>
                  <a:schemeClr val="tx1"/>
                </a:solidFill>
              </a:rPr>
              <a:t>Cont de business: doar Biblioteca de muzică comercială</a:t>
            </a:r>
            <a:endParaRPr lang="en-US" sz="1300" dirty="0"/>
          </a:p>
        </p:txBody>
      </p:sp>
      <p:sp>
        <p:nvSpPr>
          <p:cNvPr id="16" name="text-347"/>
          <p:cNvSpPr txBox="1"/>
          <p:nvPr/>
        </p:nvSpPr>
        <p:spPr>
          <a:xfrm>
            <a:off x="3429000" y="3749040"/>
            <a:ext cx="2286000" cy="822960"/>
          </a:xfrm>
          <a:prstGeom prst="rect">
            <a:avLst/>
          </a:prstGeom>
          <a:noFill/>
          <a:ln/>
        </p:spPr>
        <p:txBody>
          <a:bodyPr wrap="square" lIns="0" tIns="0" rIns="0" bIns="0" rtlCol="0" anchor="t"/>
          <a:lstStyle/>
          <a:p>
            <a:pPr indent="0" marL="0">
              <a:buNone/>
            </a:pPr>
            <a:r>
              <a:rPr lang="en-US" sz="1200" i="1" dirty="0">
                <a:solidFill>
                  <a:schemeClr val="accent2"/>
                </a:solidFill>
              </a:rPr>
              <a:t>Sunetul ajută, nu garantează.</a:t>
            </a:r>
            <a:endParaRPr lang="en-US" sz="1200" dirty="0"/>
          </a:p>
        </p:txBody>
      </p:sp>
      <p:sp>
        <p:nvSpPr>
          <p:cNvPr id="17" name="card-348"/>
          <p:cNvSpPr/>
          <p:nvPr/>
        </p:nvSpPr>
        <p:spPr>
          <a:xfrm>
            <a:off x="6035040" y="1188720"/>
            <a:ext cx="2651760" cy="3474720"/>
          </a:xfrm>
          <a:prstGeom prst="roundRect">
            <a:avLst>
              <a:gd name="adj" fmla="val 4138"/>
            </a:avLst>
          </a:prstGeom>
          <a:solidFill>
            <a:schemeClr val="bg2"/>
          </a:solidFill>
          <a:ln w="12700">
            <a:solidFill>
              <a:schemeClr val="bg2"/>
            </a:solidFill>
            <a:prstDash val="solid"/>
          </a:ln>
        </p:spPr>
      </p:sp>
      <p:sp>
        <p:nvSpPr>
          <p:cNvPr id="18" name="badge-349"/>
          <p:cNvSpPr/>
          <p:nvPr/>
        </p:nvSpPr>
        <p:spPr>
          <a:xfrm>
            <a:off x="6217920" y="1353312"/>
            <a:ext cx="457200" cy="457200"/>
          </a:xfrm>
          <a:prstGeom prst="ellipse">
            <a:avLst/>
          </a:prstGeom>
          <a:solidFill>
            <a:schemeClr val="tx1"/>
          </a:solidFill>
          <a:ln w="12700">
            <a:solidFill>
              <a:schemeClr val="tx1"/>
            </a:solidFill>
            <a:prstDash val="solid"/>
          </a:ln>
        </p:spPr>
      </p:sp>
      <p:pic>
        <p:nvPicPr>
          <p:cNvPr id="19" name="icon-350" descr="preencoded.png">    </p:cNvPr>
          <p:cNvPicPr>
            <a:picLocks noChangeAspect="1"/>
          </p:cNvPicPr>
          <p:nvPr/>
        </p:nvPicPr>
        <p:blipFill>
          <a:blip r:embed="rId4"/>
          <a:stretch>
            <a:fillRect/>
          </a:stretch>
        </p:blipFill>
        <p:spPr>
          <a:xfrm>
            <a:off x="6332220" y="1467612"/>
            <a:ext cx="228600" cy="228600"/>
          </a:xfrm>
          <a:prstGeom prst="rect">
            <a:avLst/>
          </a:prstGeom>
        </p:spPr>
      </p:pic>
      <p:sp>
        <p:nvSpPr>
          <p:cNvPr id="20" name="text-351"/>
          <p:cNvSpPr txBox="1"/>
          <p:nvPr/>
        </p:nvSpPr>
        <p:spPr>
          <a:xfrm>
            <a:off x="6784848" y="135331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Tranziții</a:t>
            </a:r>
            <a:endParaRPr lang="en-US" sz="1600" dirty="0"/>
          </a:p>
        </p:txBody>
      </p:sp>
      <p:sp>
        <p:nvSpPr>
          <p:cNvPr id="21" name="text-352"/>
          <p:cNvSpPr txBox="1"/>
          <p:nvPr/>
        </p:nvSpPr>
        <p:spPr>
          <a:xfrm>
            <a:off x="6217920" y="1938528"/>
            <a:ext cx="2331720" cy="457200"/>
          </a:xfrm>
          <a:prstGeom prst="rect">
            <a:avLst/>
          </a:prstGeom>
          <a:noFill/>
          <a:ln/>
        </p:spPr>
        <p:txBody>
          <a:bodyPr wrap="square" lIns="0" tIns="0" rIns="0" bIns="0" rtlCol="0" anchor="t"/>
          <a:lstStyle/>
          <a:p>
            <a:pPr indent="0" marL="0">
              <a:buNone/>
            </a:pPr>
            <a:r>
              <a:rPr lang="en-US" sz="1300" dirty="0">
                <a:solidFill>
                  <a:schemeClr val="tx1"/>
                </a:solidFill>
              </a:rPr>
              <a:t>Trecerea dintre două cadre, ca un „abracadabra”.</a:t>
            </a:r>
            <a:endParaRPr lang="en-US" sz="1300" dirty="0"/>
          </a:p>
        </p:txBody>
      </p:sp>
      <p:pic>
        <p:nvPicPr>
          <p:cNvPr id="22" name="before-353" descr="preencoded.png">    </p:cNvPr>
          <p:cNvPicPr>
            <a:picLocks noChangeAspect="1"/>
          </p:cNvPicPr>
          <p:nvPr/>
        </p:nvPicPr>
        <p:blipFill>
          <a:blip r:embed="rId5"/>
          <a:stretch>
            <a:fillRect/>
          </a:stretch>
        </p:blipFill>
        <p:spPr>
          <a:xfrm>
            <a:off x="6263640" y="2514600"/>
            <a:ext cx="548640" cy="914400"/>
          </a:xfrm>
          <a:prstGeom prst="rect">
            <a:avLst/>
          </a:prstGeom>
        </p:spPr>
      </p:pic>
      <p:sp>
        <p:nvSpPr>
          <p:cNvPr id="23" name="badge-354"/>
          <p:cNvSpPr/>
          <p:nvPr/>
        </p:nvSpPr>
        <p:spPr>
          <a:xfrm>
            <a:off x="6967728" y="2743200"/>
            <a:ext cx="457200" cy="457200"/>
          </a:xfrm>
          <a:prstGeom prst="ellipse">
            <a:avLst/>
          </a:prstGeom>
          <a:solidFill>
            <a:schemeClr val="accent2"/>
          </a:solidFill>
          <a:ln w="12700">
            <a:solidFill>
              <a:schemeClr val="accent2"/>
            </a:solidFill>
            <a:prstDash val="solid"/>
          </a:ln>
        </p:spPr>
      </p:sp>
      <p:pic>
        <p:nvPicPr>
          <p:cNvPr id="24" name="icon-355" descr="preencoded.png">    </p:cNvPr>
          <p:cNvPicPr>
            <a:picLocks noChangeAspect="1"/>
          </p:cNvPicPr>
          <p:nvPr/>
        </p:nvPicPr>
        <p:blipFill>
          <a:blip r:embed="rId6"/>
          <a:stretch>
            <a:fillRect/>
          </a:stretch>
        </p:blipFill>
        <p:spPr>
          <a:xfrm>
            <a:off x="7082028" y="2857500"/>
            <a:ext cx="228600" cy="228600"/>
          </a:xfrm>
          <a:prstGeom prst="rect">
            <a:avLst/>
          </a:prstGeom>
        </p:spPr>
      </p:pic>
      <p:pic>
        <p:nvPicPr>
          <p:cNvPr id="25" name="after-356" descr="preencoded.png">    </p:cNvPr>
          <p:cNvPicPr>
            <a:picLocks noChangeAspect="1"/>
          </p:cNvPicPr>
          <p:nvPr/>
        </p:nvPicPr>
        <p:blipFill>
          <a:blip r:embed="rId7"/>
          <a:stretch>
            <a:fillRect/>
          </a:stretch>
        </p:blipFill>
        <p:spPr>
          <a:xfrm>
            <a:off x="7589520" y="2514600"/>
            <a:ext cx="548640" cy="914400"/>
          </a:xfrm>
          <a:prstGeom prst="rect">
            <a:avLst/>
          </a:prstGeom>
        </p:spPr>
      </p:pic>
      <p:sp>
        <p:nvSpPr>
          <p:cNvPr id="26" name="arrow-357"/>
          <p:cNvSpPr/>
          <p:nvPr/>
        </p:nvSpPr>
        <p:spPr>
          <a:xfrm>
            <a:off x="6839712" y="2971800"/>
            <a:ext cx="109728" cy="914"/>
          </a:xfrm>
          <a:prstGeom prst="line">
            <a:avLst/>
          </a:prstGeom>
          <a:noFill/>
          <a:ln w="22225">
            <a:solidFill>
              <a:schemeClr val="accent2"/>
            </a:solidFill>
            <a:prstDash val="solid"/>
            <a:tailEnd type="triangle"/>
          </a:ln>
        </p:spPr>
      </p:sp>
      <p:sp>
        <p:nvSpPr>
          <p:cNvPr id="27" name="arrow-358"/>
          <p:cNvSpPr/>
          <p:nvPr/>
        </p:nvSpPr>
        <p:spPr>
          <a:xfrm>
            <a:off x="7443216" y="2971800"/>
            <a:ext cx="118872" cy="914"/>
          </a:xfrm>
          <a:prstGeom prst="line">
            <a:avLst/>
          </a:prstGeom>
          <a:noFill/>
          <a:ln w="22225">
            <a:solidFill>
              <a:schemeClr val="accent2"/>
            </a:solidFill>
            <a:prstDash val="solid"/>
            <a:tailEnd type="triangle"/>
          </a:ln>
        </p:spPr>
      </p:sp>
      <p:sp>
        <p:nvSpPr>
          <p:cNvPr id="28" name="text-359"/>
          <p:cNvSpPr txBox="1"/>
          <p:nvPr/>
        </p:nvSpPr>
        <p:spPr>
          <a:xfrm>
            <a:off x="6217920" y="3566160"/>
            <a:ext cx="2377440" cy="685800"/>
          </a:xfrm>
          <a:prstGeom prst="rect">
            <a:avLst/>
          </a:prstGeom>
          <a:noFill/>
          <a:ln/>
        </p:spPr>
        <p:txBody>
          <a:bodyPr wrap="square" lIns="0" tIns="0" rIns="0" bIns="0" rtlCol="0" anchor="t"/>
          <a:lstStyle/>
          <a:p>
            <a:pPr indent="0" marL="0">
              <a:buNone/>
            </a:pPr>
            <a:r>
              <a:rPr lang="en-US" sz="1200" dirty="0">
                <a:solidFill>
                  <a:schemeClr val="tx2"/>
                </a:solidFill>
              </a:rPr>
              <a:t>Mâna acoperă camera → tai → mâna se ia de pe cameră → DUPĂ</a:t>
            </a:r>
            <a:endParaRPr lang="en-US" sz="1200" dirty="0"/>
          </a:p>
        </p:txBody>
      </p:sp>
      <p:sp>
        <p:nvSpPr>
          <p:cNvPr id="29" name="text-360"/>
          <p:cNvSpPr txBox="1"/>
          <p:nvPr/>
        </p:nvSpPr>
        <p:spPr>
          <a:xfrm>
            <a:off x="6217920" y="4224528"/>
            <a:ext cx="2377440" cy="365760"/>
          </a:xfrm>
          <a:prstGeom prst="rect">
            <a:avLst/>
          </a:prstGeom>
          <a:noFill/>
          <a:ln/>
        </p:spPr>
        <p:txBody>
          <a:bodyPr wrap="square" lIns="0" tIns="0" rIns="0" bIns="0" rtlCol="0" anchor="t"/>
          <a:lstStyle/>
          <a:p>
            <a:pPr indent="0" marL="0">
              <a:buNone/>
            </a:pPr>
            <a:r>
              <a:rPr lang="en-US" sz="1200" i="1" dirty="0">
                <a:solidFill>
                  <a:schemeClr val="accent2"/>
                </a:solidFill>
              </a:rPr>
              <a:t>Telefonul stă în același loc.</a:t>
            </a:r>
            <a:endParaRPr lang="en-US" sz="12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IV · TIKTOK</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Monetizare și LIVE: ce poți accesa din România</a:t>
            </a:r>
            <a:endParaRPr lang="en-US" sz="2800" dirty="0"/>
          </a:p>
        </p:txBody>
      </p:sp>
      <p:pic>
        <p:nvPicPr>
          <p:cNvPr id="4" name="watermark-361" descr="preencoded.png">    </p:cNvPr>
          <p:cNvPicPr>
            <a:picLocks noChangeAspect="1"/>
          </p:cNvPicPr>
          <p:nvPr/>
        </p:nvPicPr>
        <p:blipFill>
          <a:blip r:embed="rId1">
            <a:alphaModFix amt="5000"/>
          </a:blip>
          <a:stretch>
            <a:fillRect/>
          </a:stretch>
        </p:blipFill>
        <p:spPr>
          <a:xfrm>
            <a:off x="7086600" y="3063240"/>
            <a:ext cx="1920240" cy="1920240"/>
          </a:xfrm>
          <a:prstGeom prst="rect">
            <a:avLst/>
          </a:prstGeom>
        </p:spPr>
      </p:pic>
      <p:sp>
        <p:nvSpPr>
          <p:cNvPr id="5" name="card-362"/>
          <p:cNvSpPr/>
          <p:nvPr/>
        </p:nvSpPr>
        <p:spPr>
          <a:xfrm>
            <a:off x="457200" y="1188720"/>
            <a:ext cx="4023360" cy="3474720"/>
          </a:xfrm>
          <a:prstGeom prst="roundRect">
            <a:avLst>
              <a:gd name="adj" fmla="val 3158"/>
            </a:avLst>
          </a:prstGeom>
          <a:solidFill>
            <a:schemeClr val="bg2"/>
          </a:solidFill>
          <a:ln w="12700">
            <a:solidFill>
              <a:schemeClr val="bg2"/>
            </a:solidFill>
            <a:prstDash val="solid"/>
          </a:ln>
        </p:spPr>
      </p:sp>
      <p:sp>
        <p:nvSpPr>
          <p:cNvPr id="6" name="badge-363"/>
          <p:cNvSpPr/>
          <p:nvPr/>
        </p:nvSpPr>
        <p:spPr>
          <a:xfrm>
            <a:off x="640080" y="1325880"/>
            <a:ext cx="457200" cy="457200"/>
          </a:xfrm>
          <a:prstGeom prst="ellipse">
            <a:avLst/>
          </a:prstGeom>
          <a:solidFill>
            <a:schemeClr val="accent1"/>
          </a:solidFill>
          <a:ln w="12700">
            <a:solidFill>
              <a:schemeClr val="accent1"/>
            </a:solidFill>
            <a:prstDash val="solid"/>
          </a:ln>
        </p:spPr>
      </p:sp>
      <p:pic>
        <p:nvPicPr>
          <p:cNvPr id="7" name="icon-364" descr="preencoded.png">    </p:cNvPr>
          <p:cNvPicPr>
            <a:picLocks noChangeAspect="1"/>
          </p:cNvPicPr>
          <p:nvPr/>
        </p:nvPicPr>
        <p:blipFill>
          <a:blip r:embed="rId2"/>
          <a:stretch>
            <a:fillRect/>
          </a:stretch>
        </p:blipFill>
        <p:spPr>
          <a:xfrm>
            <a:off x="754380" y="1440180"/>
            <a:ext cx="228600" cy="228600"/>
          </a:xfrm>
          <a:prstGeom prst="rect">
            <a:avLst/>
          </a:prstGeom>
        </p:spPr>
      </p:pic>
      <p:sp>
        <p:nvSpPr>
          <p:cNvPr id="8" name="text-365"/>
          <p:cNvSpPr txBox="1"/>
          <p:nvPr/>
        </p:nvSpPr>
        <p:spPr>
          <a:xfrm>
            <a:off x="1207008" y="1325880"/>
            <a:ext cx="3154680" cy="457200"/>
          </a:xfrm>
          <a:prstGeom prst="rect">
            <a:avLst/>
          </a:prstGeom>
          <a:noFill/>
          <a:ln/>
        </p:spPr>
        <p:txBody>
          <a:bodyPr wrap="square" lIns="0" tIns="0" rIns="0" bIns="0" rtlCol="0" anchor="ctr"/>
          <a:lstStyle/>
          <a:p>
            <a:pPr indent="0" marL="0">
              <a:buNone/>
            </a:pPr>
            <a:r>
              <a:rPr lang="en-US" sz="1400" b="1" dirty="0">
                <a:solidFill>
                  <a:schemeClr val="tx1"/>
                </a:solidFill>
              </a:rPr>
              <a:t>Monetizare = bani direct din platformă</a:t>
            </a:r>
            <a:endParaRPr lang="en-US" sz="1400" dirty="0"/>
          </a:p>
        </p:txBody>
      </p:sp>
      <p:sp>
        <p:nvSpPr>
          <p:cNvPr id="9" name="text-366"/>
          <p:cNvSpPr txBox="1"/>
          <p:nvPr/>
        </p:nvSpPr>
        <p:spPr>
          <a:xfrm>
            <a:off x="640080" y="1920240"/>
            <a:ext cx="3657600" cy="256032"/>
          </a:xfrm>
          <a:prstGeom prst="rect">
            <a:avLst/>
          </a:prstGeom>
          <a:noFill/>
          <a:ln/>
        </p:spPr>
        <p:txBody>
          <a:bodyPr wrap="square" lIns="0" tIns="0" rIns="0" bIns="0" rtlCol="0" anchor="t"/>
          <a:lstStyle/>
          <a:p>
            <a:pPr indent="0" marL="0">
              <a:buNone/>
            </a:pPr>
            <a:r>
              <a:rPr lang="en-US" sz="1300" b="1" dirty="0">
                <a:solidFill>
                  <a:schemeClr val="accent2"/>
                </a:solidFill>
              </a:rPr>
              <a:t>Creator Rewards Program</a:t>
            </a:r>
            <a:endParaRPr lang="en-US" sz="1300" dirty="0"/>
          </a:p>
        </p:txBody>
      </p:sp>
      <p:sp>
        <p:nvSpPr>
          <p:cNvPr id="10" name="text-367"/>
          <p:cNvSpPr txBox="1"/>
          <p:nvPr/>
        </p:nvSpPr>
        <p:spPr>
          <a:xfrm>
            <a:off x="640080" y="2212848"/>
            <a:ext cx="3657600" cy="118872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1"/>
                </a:solidFill>
              </a:rPr>
              <a:t>18+, cont personal, fără încălcări</a:t>
            </a:r>
            <a:endParaRPr lang="en-US" sz="1300" dirty="0"/>
          </a:p>
          <a:p>
            <a:pPr marL="342900" indent="-342900">
              <a:spcAft>
                <a:spcPts val="200"/>
              </a:spcAft>
              <a:buSzPct val="100000"/>
              <a:buChar char="•"/>
            </a:pPr>
            <a:r>
              <a:rPr lang="en-US" sz="1300" dirty="0">
                <a:solidFill>
                  <a:schemeClr val="tx1"/>
                </a:solidFill>
              </a:rPr>
              <a:t>10.000 urmăritori</a:t>
            </a:r>
            <a:endParaRPr lang="en-US" sz="1300" dirty="0"/>
          </a:p>
          <a:p>
            <a:pPr marL="342900" indent="-342900">
              <a:spcAft>
                <a:spcPts val="200"/>
              </a:spcAft>
              <a:buSzPct val="100000"/>
              <a:buChar char="•"/>
            </a:pPr>
            <a:r>
              <a:rPr lang="en-US" sz="1300" dirty="0">
                <a:solidFill>
                  <a:schemeClr val="tx1"/>
                </a:solidFill>
              </a:rPr>
              <a:t>100.000 vizualizări în ultimele 30 de zile</a:t>
            </a:r>
            <a:endParaRPr lang="en-US" sz="1300" dirty="0"/>
          </a:p>
          <a:p>
            <a:pPr marL="342900" indent="-342900">
              <a:spcAft>
                <a:spcPts val="200"/>
              </a:spcAft>
              <a:buSzPct val="100000"/>
              <a:buChar char="•"/>
            </a:pPr>
            <a:r>
              <a:rPr lang="en-US" sz="1300" dirty="0">
                <a:solidFill>
                  <a:schemeClr val="tx1"/>
                </a:solidFill>
              </a:rPr>
              <a:t>Videoclipuri originale de peste 1 minut</a:t>
            </a:r>
            <a:endParaRPr lang="en-US" sz="1300" dirty="0"/>
          </a:p>
        </p:txBody>
      </p:sp>
      <p:sp>
        <p:nvSpPr>
          <p:cNvPr id="11" name="card-368"/>
          <p:cNvSpPr/>
          <p:nvPr/>
        </p:nvSpPr>
        <p:spPr>
          <a:xfrm>
            <a:off x="640080" y="3474720"/>
            <a:ext cx="3657600" cy="1024128"/>
          </a:xfrm>
          <a:prstGeom prst="roundRect">
            <a:avLst>
              <a:gd name="adj" fmla="val 10714"/>
            </a:avLst>
          </a:prstGeom>
          <a:solidFill>
            <a:schemeClr val="tx1"/>
          </a:solidFill>
          <a:ln w="12700">
            <a:solidFill>
              <a:schemeClr val="tx1"/>
            </a:solidFill>
            <a:prstDash val="solid"/>
          </a:ln>
        </p:spPr>
      </p:sp>
      <p:sp>
        <p:nvSpPr>
          <p:cNvPr id="12" name="text-369"/>
          <p:cNvSpPr txBox="1"/>
          <p:nvPr/>
        </p:nvSpPr>
        <p:spPr>
          <a:xfrm>
            <a:off x="777240" y="3547872"/>
            <a:ext cx="3429000" cy="896112"/>
          </a:xfrm>
          <a:prstGeom prst="rect">
            <a:avLst/>
          </a:prstGeom>
          <a:noFill/>
          <a:ln/>
        </p:spPr>
        <p:txBody>
          <a:bodyPr wrap="square" lIns="0" tIns="0" rIns="0" bIns="0" rtlCol="0" anchor="ctr"/>
          <a:lstStyle/>
          <a:p>
            <a:pPr indent="0" marL="0">
              <a:buNone/>
            </a:pPr>
            <a:r>
              <a:rPr lang="en-US" sz="1200" b="1" dirty="0">
                <a:solidFill>
                  <a:schemeClr val="accent3"/>
                </a:solidFill>
              </a:rPr>
              <a:t>România: </a:t>
            </a:r>
            <a:pPr indent="0" marL="0">
              <a:buNone/>
            </a:pPr>
            <a:r>
              <a:rPr lang="en-US" sz="1200" dirty="0">
                <a:solidFill>
                  <a:schemeClr val="bg1"/>
                </a:solidFill>
              </a:rPr>
              <a:t>programul nu apare pe lista oficială a țărilor eligibile (oct. 2026). Pentru tine, monetizarea reală = programări.</a:t>
            </a:r>
            <a:endParaRPr lang="en-US" sz="1200" dirty="0"/>
          </a:p>
        </p:txBody>
      </p:sp>
      <p:sp>
        <p:nvSpPr>
          <p:cNvPr id="13" name="card-370"/>
          <p:cNvSpPr/>
          <p:nvPr/>
        </p:nvSpPr>
        <p:spPr>
          <a:xfrm>
            <a:off x="4663440" y="1188720"/>
            <a:ext cx="4023360" cy="3474720"/>
          </a:xfrm>
          <a:prstGeom prst="roundRect">
            <a:avLst>
              <a:gd name="adj" fmla="val 3158"/>
            </a:avLst>
          </a:prstGeom>
          <a:solidFill>
            <a:schemeClr val="bg2"/>
          </a:solidFill>
          <a:ln w="12700">
            <a:solidFill>
              <a:schemeClr val="bg2"/>
            </a:solidFill>
            <a:prstDash val="solid"/>
          </a:ln>
        </p:spPr>
      </p:sp>
      <p:sp>
        <p:nvSpPr>
          <p:cNvPr id="14" name="badge-371"/>
          <p:cNvSpPr/>
          <p:nvPr/>
        </p:nvSpPr>
        <p:spPr>
          <a:xfrm>
            <a:off x="4846320" y="1325880"/>
            <a:ext cx="457200" cy="457200"/>
          </a:xfrm>
          <a:prstGeom prst="ellipse">
            <a:avLst/>
          </a:prstGeom>
          <a:solidFill>
            <a:schemeClr val="accent2"/>
          </a:solidFill>
          <a:ln w="12700">
            <a:solidFill>
              <a:schemeClr val="accent2"/>
            </a:solidFill>
            <a:prstDash val="solid"/>
          </a:ln>
        </p:spPr>
      </p:sp>
      <p:pic>
        <p:nvPicPr>
          <p:cNvPr id="15" name="icon-372" descr="preencoded.png">    </p:cNvPr>
          <p:cNvPicPr>
            <a:picLocks noChangeAspect="1"/>
          </p:cNvPicPr>
          <p:nvPr/>
        </p:nvPicPr>
        <p:blipFill>
          <a:blip r:embed="rId3"/>
          <a:stretch>
            <a:fillRect/>
          </a:stretch>
        </p:blipFill>
        <p:spPr>
          <a:xfrm>
            <a:off x="4960620" y="1440180"/>
            <a:ext cx="228600" cy="228600"/>
          </a:xfrm>
          <a:prstGeom prst="rect">
            <a:avLst/>
          </a:prstGeom>
        </p:spPr>
      </p:pic>
      <p:sp>
        <p:nvSpPr>
          <p:cNvPr id="16" name="text-373"/>
          <p:cNvSpPr txBox="1"/>
          <p:nvPr/>
        </p:nvSpPr>
        <p:spPr>
          <a:xfrm>
            <a:off x="5413248" y="1325880"/>
            <a:ext cx="3154680" cy="457200"/>
          </a:xfrm>
          <a:prstGeom prst="rect">
            <a:avLst/>
          </a:prstGeom>
          <a:noFill/>
          <a:ln/>
        </p:spPr>
        <p:txBody>
          <a:bodyPr wrap="square" lIns="0" tIns="0" rIns="0" bIns="0" rtlCol="0" anchor="ctr"/>
          <a:lstStyle/>
          <a:p>
            <a:pPr indent="0" marL="0">
              <a:buNone/>
            </a:pPr>
            <a:r>
              <a:rPr lang="en-US" sz="1400" b="1" dirty="0">
                <a:solidFill>
                  <a:schemeClr val="tx1"/>
                </a:solidFill>
              </a:rPr>
              <a:t>LIVE = transmisiune în direct</a:t>
            </a:r>
            <a:endParaRPr lang="en-US" sz="1400" dirty="0"/>
          </a:p>
        </p:txBody>
      </p:sp>
      <p:sp>
        <p:nvSpPr>
          <p:cNvPr id="17" name="text-374"/>
          <p:cNvSpPr txBox="1"/>
          <p:nvPr/>
        </p:nvSpPr>
        <p:spPr>
          <a:xfrm>
            <a:off x="4846320" y="1920240"/>
            <a:ext cx="3657600" cy="256032"/>
          </a:xfrm>
          <a:prstGeom prst="rect">
            <a:avLst/>
          </a:prstGeom>
          <a:noFill/>
          <a:ln/>
        </p:spPr>
        <p:txBody>
          <a:bodyPr wrap="square" lIns="0" tIns="0" rIns="0" bIns="0" rtlCol="0" anchor="t"/>
          <a:lstStyle/>
          <a:p>
            <a:pPr indent="0" marL="0">
              <a:buNone/>
            </a:pPr>
            <a:r>
              <a:rPr lang="en-US" sz="1300" b="1" dirty="0">
                <a:solidFill>
                  <a:schemeClr val="accent2"/>
                </a:solidFill>
              </a:rPr>
              <a:t>Eligibilitate</a:t>
            </a:r>
            <a:endParaRPr lang="en-US" sz="1300" dirty="0"/>
          </a:p>
        </p:txBody>
      </p:sp>
      <p:sp>
        <p:nvSpPr>
          <p:cNvPr id="18" name="text-375"/>
          <p:cNvSpPr txBox="1"/>
          <p:nvPr/>
        </p:nvSpPr>
        <p:spPr>
          <a:xfrm>
            <a:off x="4846320" y="2212848"/>
            <a:ext cx="3657600" cy="91440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1"/>
                </a:solidFill>
              </a:rPr>
              <a:t>Minimum 18 ani</a:t>
            </a:r>
            <a:endParaRPr lang="en-US" sz="1300" dirty="0"/>
          </a:p>
          <a:p>
            <a:pPr marL="342900" indent="-342900">
              <a:spcAft>
                <a:spcPts val="200"/>
              </a:spcAft>
              <a:buSzPct val="100000"/>
              <a:buChar char="•"/>
            </a:pPr>
            <a:r>
              <a:rPr lang="en-US" sz="1300" dirty="0">
                <a:solidFill>
                  <a:schemeClr val="tx1"/>
                </a:solidFill>
              </a:rPr>
              <a:t>Prag de urmăritori stabilit pe piață (des: 1.000)</a:t>
            </a:r>
            <a:endParaRPr lang="en-US" sz="1300" dirty="0"/>
          </a:p>
          <a:p>
            <a:pPr marL="342900" indent="-342900">
              <a:spcAft>
                <a:spcPts val="200"/>
              </a:spcAft>
              <a:buSzPct val="100000"/>
              <a:buChar char="•"/>
            </a:pPr>
            <a:r>
              <a:rPr lang="en-US" sz="1300" dirty="0">
                <a:solidFill>
                  <a:schemeClr val="tx1"/>
                </a:solidFill>
              </a:rPr>
              <a:t>Cont fără încălcări ale regulilor</a:t>
            </a:r>
            <a:endParaRPr lang="en-US" sz="1300" dirty="0"/>
          </a:p>
        </p:txBody>
      </p:sp>
      <p:sp>
        <p:nvSpPr>
          <p:cNvPr id="19" name="text-376"/>
          <p:cNvSpPr txBox="1"/>
          <p:nvPr/>
        </p:nvSpPr>
        <p:spPr>
          <a:xfrm>
            <a:off x="4846320" y="3108960"/>
            <a:ext cx="3657600" cy="411480"/>
          </a:xfrm>
          <a:prstGeom prst="rect">
            <a:avLst/>
          </a:prstGeom>
          <a:noFill/>
          <a:ln/>
        </p:spPr>
        <p:txBody>
          <a:bodyPr wrap="square" lIns="0" tIns="0" rIns="0" bIns="0" rtlCol="0" anchor="t"/>
          <a:lstStyle/>
          <a:p>
            <a:pPr indent="0" marL="0">
              <a:buNone/>
            </a:pPr>
            <a:r>
              <a:rPr lang="en-US" sz="1200" i="1" dirty="0">
                <a:solidFill>
                  <a:schemeClr val="tx2"/>
                </a:solidFill>
              </a:rPr>
              <a:t>Idei: întrebări despre blond, tonifiere în direct, rutina de îngrijire</a:t>
            </a:r>
            <a:endParaRPr lang="en-US" sz="1200" dirty="0"/>
          </a:p>
        </p:txBody>
      </p:sp>
      <p:sp>
        <p:nvSpPr>
          <p:cNvPr id="20" name="card-377"/>
          <p:cNvSpPr/>
          <p:nvPr/>
        </p:nvSpPr>
        <p:spPr>
          <a:xfrm>
            <a:off x="4846320" y="3566160"/>
            <a:ext cx="3657600" cy="932688"/>
          </a:xfrm>
          <a:prstGeom prst="roundRect">
            <a:avLst>
              <a:gd name="adj" fmla="val 11765"/>
            </a:avLst>
          </a:prstGeom>
          <a:solidFill>
            <a:schemeClr val="tx1"/>
          </a:solidFill>
          <a:ln w="12700">
            <a:solidFill>
              <a:schemeClr val="tx1"/>
            </a:solidFill>
            <a:prstDash val="solid"/>
          </a:ln>
        </p:spPr>
      </p:sp>
      <p:sp>
        <p:nvSpPr>
          <p:cNvPr id="21" name="text-378"/>
          <p:cNvSpPr txBox="1"/>
          <p:nvPr/>
        </p:nvSpPr>
        <p:spPr>
          <a:xfrm>
            <a:off x="4983480" y="3611880"/>
            <a:ext cx="3429000" cy="841248"/>
          </a:xfrm>
          <a:prstGeom prst="rect">
            <a:avLst/>
          </a:prstGeom>
          <a:noFill/>
          <a:ln/>
        </p:spPr>
        <p:txBody>
          <a:bodyPr wrap="square" lIns="0" tIns="0" rIns="0" bIns="0" rtlCol="0" anchor="ctr"/>
          <a:lstStyle/>
          <a:p>
            <a:pPr indent="0" marL="0">
              <a:buNone/>
            </a:pPr>
            <a:r>
              <a:rPr lang="en-US" sz="1200" b="1" dirty="0">
                <a:solidFill>
                  <a:schemeClr val="accent3"/>
                </a:solidFill>
              </a:rPr>
              <a:t>Verifici: </a:t>
            </a:r>
            <a:pPr indent="0" marL="0">
              <a:buNone/>
            </a:pPr>
            <a:r>
              <a:rPr lang="en-US" sz="1200" dirty="0">
                <a:solidFill>
                  <a:schemeClr val="bg1"/>
                </a:solidFill>
              </a:rPr>
              <a:t>Profil → ☰ → TikTok Studio → Monetizare. LIVE: butonul + → vezi dacă apare „LIVE”.</a:t>
            </a:r>
            <a:endParaRPr lang="en-US" sz="12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IV · TIKTOK</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Comentarii negative: răspunde, nu reacționa</a:t>
            </a:r>
            <a:endParaRPr lang="en-US" sz="2800" dirty="0"/>
          </a:p>
        </p:txBody>
      </p:sp>
      <p:pic>
        <p:nvPicPr>
          <p:cNvPr id="4" name="watermark-379" descr="preencoded.png">    </p:cNvPr>
          <p:cNvPicPr>
            <a:picLocks noChangeAspect="1"/>
          </p:cNvPicPr>
          <p:nvPr/>
        </p:nvPicPr>
        <p:blipFill>
          <a:blip r:embed="rId1">
            <a:alphaModFix amt="5000"/>
          </a:blip>
          <a:stretch>
            <a:fillRect/>
          </a:stretch>
        </p:blipFill>
        <p:spPr>
          <a:xfrm>
            <a:off x="7086600" y="3063240"/>
            <a:ext cx="1920240" cy="1920240"/>
          </a:xfrm>
          <a:prstGeom prst="rect">
            <a:avLst/>
          </a:prstGeom>
        </p:spPr>
      </p:pic>
      <p:sp>
        <p:nvSpPr>
          <p:cNvPr id="5" name="card-380"/>
          <p:cNvSpPr/>
          <p:nvPr/>
        </p:nvSpPr>
        <p:spPr>
          <a:xfrm>
            <a:off x="457200" y="1188720"/>
            <a:ext cx="3291840" cy="3474720"/>
          </a:xfrm>
          <a:prstGeom prst="roundRect">
            <a:avLst>
              <a:gd name="adj" fmla="val 3333"/>
            </a:avLst>
          </a:prstGeom>
          <a:solidFill>
            <a:schemeClr val="bg2"/>
          </a:solidFill>
          <a:ln w="12700">
            <a:solidFill>
              <a:schemeClr val="bg2"/>
            </a:solidFill>
            <a:prstDash val="solid"/>
          </a:ln>
        </p:spPr>
      </p:sp>
      <p:sp>
        <p:nvSpPr>
          <p:cNvPr id="6" name="text-381"/>
          <p:cNvSpPr txBox="1"/>
          <p:nvPr/>
        </p:nvSpPr>
        <p:spPr>
          <a:xfrm>
            <a:off x="640080" y="1325880"/>
            <a:ext cx="2926080" cy="2743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Ce e hate-ul</a:t>
            </a:r>
            <a:endParaRPr lang="en-US" sz="1500" dirty="0"/>
          </a:p>
        </p:txBody>
      </p:sp>
      <p:sp>
        <p:nvSpPr>
          <p:cNvPr id="7" name="text-382"/>
          <p:cNvSpPr txBox="1"/>
          <p:nvPr/>
        </p:nvSpPr>
        <p:spPr>
          <a:xfrm>
            <a:off x="640080" y="1645920"/>
            <a:ext cx="2926080" cy="640080"/>
          </a:xfrm>
          <a:prstGeom prst="rect">
            <a:avLst/>
          </a:prstGeom>
          <a:noFill/>
          <a:ln/>
        </p:spPr>
        <p:txBody>
          <a:bodyPr wrap="square" lIns="0" tIns="0" rIns="0" bIns="0" rtlCol="0" anchor="t"/>
          <a:lstStyle/>
          <a:p>
            <a:pPr indent="0" marL="0">
              <a:buNone/>
            </a:pPr>
            <a:r>
              <a:rPr lang="en-US" sz="1300" dirty="0">
                <a:solidFill>
                  <a:schemeClr val="tx2"/>
                </a:solidFill>
              </a:rPr>
              <a:t>Comentarii jignitoare, fără argumente, făcute ca să rănească.</a:t>
            </a:r>
            <a:endParaRPr lang="en-US" sz="1300" dirty="0"/>
          </a:p>
        </p:txBody>
      </p:sp>
      <p:sp>
        <p:nvSpPr>
          <p:cNvPr id="8" name="text-383"/>
          <p:cNvSpPr txBox="1"/>
          <p:nvPr/>
        </p:nvSpPr>
        <p:spPr>
          <a:xfrm>
            <a:off x="640080" y="2331720"/>
            <a:ext cx="2926080" cy="457200"/>
          </a:xfrm>
          <a:prstGeom prst="rect">
            <a:avLst/>
          </a:prstGeom>
          <a:noFill/>
          <a:ln/>
        </p:spPr>
        <p:txBody>
          <a:bodyPr wrap="square" lIns="0" tIns="0" rIns="0" bIns="0" rtlCol="0" anchor="t"/>
          <a:lstStyle/>
          <a:p>
            <a:pPr indent="0" marL="0">
              <a:buNone/>
            </a:pPr>
            <a:r>
              <a:rPr lang="en-US" sz="1300" b="1" dirty="0">
                <a:solidFill>
                  <a:schemeClr val="tx1"/>
                </a:solidFill>
              </a:rPr>
              <a:t>De ce apar mai multe comentarii la controverse?</a:t>
            </a:r>
            <a:endParaRPr lang="en-US" sz="1300" dirty="0"/>
          </a:p>
        </p:txBody>
      </p:sp>
      <p:sp>
        <p:nvSpPr>
          <p:cNvPr id="9" name="text-384"/>
          <p:cNvSpPr txBox="1"/>
          <p:nvPr/>
        </p:nvSpPr>
        <p:spPr>
          <a:xfrm>
            <a:off x="640080" y="2788920"/>
            <a:ext cx="2926080" cy="914400"/>
          </a:xfrm>
          <a:prstGeom prst="rect">
            <a:avLst/>
          </a:prstGeom>
          <a:noFill/>
          <a:ln/>
        </p:spPr>
        <p:txBody>
          <a:bodyPr wrap="square" lIns="0" tIns="0" rIns="0" bIns="0" rtlCol="0" anchor="t"/>
          <a:lstStyle/>
          <a:p>
            <a:pPr indent="0" marL="0">
              <a:buNone/>
            </a:pPr>
            <a:r>
              <a:rPr lang="en-US" sz="1300" dirty="0">
                <a:solidFill>
                  <a:schemeClr val="tx2"/>
                </a:solidFill>
              </a:rPr>
              <a:t>Oamenii reacționează la ce îi provoacă. Comentariile sunt interacțiuni și pot influența distribuirea.</a:t>
            </a:r>
            <a:endParaRPr lang="en-US" sz="1300" dirty="0"/>
          </a:p>
        </p:txBody>
      </p:sp>
      <p:sp>
        <p:nvSpPr>
          <p:cNvPr id="10" name="text-385"/>
          <p:cNvSpPr txBox="1"/>
          <p:nvPr/>
        </p:nvSpPr>
        <p:spPr>
          <a:xfrm>
            <a:off x="640080" y="3840480"/>
            <a:ext cx="2926080" cy="640080"/>
          </a:xfrm>
          <a:prstGeom prst="rect">
            <a:avLst/>
          </a:prstGeom>
          <a:noFill/>
          <a:ln/>
        </p:spPr>
        <p:txBody>
          <a:bodyPr wrap="square" lIns="0" tIns="0" rIns="0" bIns="0" rtlCol="0" anchor="t"/>
          <a:lstStyle/>
          <a:p>
            <a:pPr indent="0" marL="0">
              <a:buNone/>
            </a:pPr>
            <a:r>
              <a:rPr lang="en-US" sz="1300" b="1" i="1" dirty="0">
                <a:solidFill>
                  <a:schemeClr val="accent2"/>
                </a:solidFill>
              </a:rPr>
              <a:t>Nu e o strategie: clientele citesc și ele comentariile.</a:t>
            </a:r>
            <a:endParaRPr lang="en-US" sz="1300" dirty="0"/>
          </a:p>
        </p:txBody>
      </p:sp>
      <p:sp>
        <p:nvSpPr>
          <p:cNvPr id="11" name="card-386"/>
          <p:cNvSpPr/>
          <p:nvPr/>
        </p:nvSpPr>
        <p:spPr>
          <a:xfrm>
            <a:off x="3977640" y="1188720"/>
            <a:ext cx="4709160" cy="603504"/>
          </a:xfrm>
          <a:prstGeom prst="roundRect">
            <a:avLst>
              <a:gd name="adj" fmla="val 18182"/>
            </a:avLst>
          </a:prstGeom>
          <a:solidFill>
            <a:schemeClr val="bg1"/>
          </a:solidFill>
          <a:ln w="12700">
            <a:solidFill>
              <a:schemeClr val="bg2"/>
            </a:solidFill>
            <a:prstDash val="solid"/>
          </a:ln>
        </p:spPr>
      </p:sp>
      <p:sp>
        <p:nvSpPr>
          <p:cNvPr id="12" name="badge-387"/>
          <p:cNvSpPr/>
          <p:nvPr/>
        </p:nvSpPr>
        <p:spPr>
          <a:xfrm>
            <a:off x="4087368" y="1280160"/>
            <a:ext cx="420624" cy="420624"/>
          </a:xfrm>
          <a:prstGeom prst="ellipse">
            <a:avLst/>
          </a:prstGeom>
          <a:solidFill>
            <a:schemeClr val="accent5"/>
          </a:solidFill>
          <a:ln w="12700">
            <a:solidFill>
              <a:schemeClr val="accent5"/>
            </a:solidFill>
            <a:prstDash val="solid"/>
          </a:ln>
        </p:spPr>
      </p:sp>
      <p:pic>
        <p:nvPicPr>
          <p:cNvPr id="13" name="icon-388" descr="preencoded.png">    </p:cNvPr>
          <p:cNvPicPr>
            <a:picLocks noChangeAspect="1"/>
          </p:cNvPicPr>
          <p:nvPr/>
        </p:nvPicPr>
        <p:blipFill>
          <a:blip r:embed="rId2"/>
          <a:stretch>
            <a:fillRect/>
          </a:stretch>
        </p:blipFill>
        <p:spPr>
          <a:xfrm>
            <a:off x="4192524" y="1385316"/>
            <a:ext cx="210312" cy="210312"/>
          </a:xfrm>
          <a:prstGeom prst="rect">
            <a:avLst/>
          </a:prstGeom>
        </p:spPr>
      </p:pic>
      <p:sp>
        <p:nvSpPr>
          <p:cNvPr id="14" name="text-389"/>
          <p:cNvSpPr txBox="1"/>
          <p:nvPr/>
        </p:nvSpPr>
        <p:spPr>
          <a:xfrm>
            <a:off x="4645152" y="1234440"/>
            <a:ext cx="1965960" cy="512064"/>
          </a:xfrm>
          <a:prstGeom prst="rect">
            <a:avLst/>
          </a:prstGeom>
          <a:noFill/>
          <a:ln/>
        </p:spPr>
        <p:txBody>
          <a:bodyPr wrap="square" lIns="0" tIns="0" rIns="0" bIns="0" rtlCol="0" anchor="ctr"/>
          <a:lstStyle/>
          <a:p>
            <a:pPr indent="0" marL="0">
              <a:buNone/>
            </a:pPr>
            <a:r>
              <a:rPr lang="en-US" sz="1300" dirty="0">
                <a:solidFill>
                  <a:schemeClr val="tx2"/>
                </a:solidFill>
              </a:rPr>
              <a:t>Critică constructivă</a:t>
            </a:r>
            <a:endParaRPr lang="en-US" sz="1300" dirty="0"/>
          </a:p>
        </p:txBody>
      </p:sp>
      <p:sp>
        <p:nvSpPr>
          <p:cNvPr id="15" name="text-390"/>
          <p:cNvSpPr txBox="1"/>
          <p:nvPr/>
        </p:nvSpPr>
        <p:spPr>
          <a:xfrm>
            <a:off x="6629400" y="1234440"/>
            <a:ext cx="1965960" cy="512064"/>
          </a:xfrm>
          <a:prstGeom prst="rect">
            <a:avLst/>
          </a:prstGeom>
          <a:noFill/>
          <a:ln/>
        </p:spPr>
        <p:txBody>
          <a:bodyPr wrap="square" lIns="0" tIns="0" rIns="0" bIns="0" rtlCol="0" anchor="ctr"/>
          <a:lstStyle/>
          <a:p>
            <a:pPr indent="0" marL="0">
              <a:buNone/>
            </a:pPr>
            <a:r>
              <a:rPr lang="en-US" sz="1300" b="1" dirty="0">
                <a:solidFill>
                  <a:schemeClr val="tx1"/>
                </a:solidFill>
              </a:rPr>
              <a:t>Răspunde calm și explică</a:t>
            </a:r>
            <a:endParaRPr lang="en-US" sz="1300" dirty="0"/>
          </a:p>
        </p:txBody>
      </p:sp>
      <p:sp>
        <p:nvSpPr>
          <p:cNvPr id="16" name="card-391"/>
          <p:cNvSpPr/>
          <p:nvPr/>
        </p:nvSpPr>
        <p:spPr>
          <a:xfrm>
            <a:off x="3977640" y="1892808"/>
            <a:ext cx="4709160" cy="603504"/>
          </a:xfrm>
          <a:prstGeom prst="roundRect">
            <a:avLst>
              <a:gd name="adj" fmla="val 18182"/>
            </a:avLst>
          </a:prstGeom>
          <a:solidFill>
            <a:schemeClr val="bg1"/>
          </a:solidFill>
          <a:ln w="12700">
            <a:solidFill>
              <a:schemeClr val="bg2"/>
            </a:solidFill>
            <a:prstDash val="solid"/>
          </a:ln>
        </p:spPr>
      </p:sp>
      <p:sp>
        <p:nvSpPr>
          <p:cNvPr id="17" name="badge-392"/>
          <p:cNvSpPr/>
          <p:nvPr/>
        </p:nvSpPr>
        <p:spPr>
          <a:xfrm>
            <a:off x="4087368" y="1984248"/>
            <a:ext cx="420624" cy="420624"/>
          </a:xfrm>
          <a:prstGeom prst="ellipse">
            <a:avLst/>
          </a:prstGeom>
          <a:solidFill>
            <a:schemeClr val="accent1"/>
          </a:solidFill>
          <a:ln w="12700">
            <a:solidFill>
              <a:schemeClr val="accent1"/>
            </a:solidFill>
            <a:prstDash val="solid"/>
          </a:ln>
        </p:spPr>
      </p:sp>
      <p:pic>
        <p:nvPicPr>
          <p:cNvPr id="18" name="icon-393" descr="preencoded.png">    </p:cNvPr>
          <p:cNvPicPr>
            <a:picLocks noChangeAspect="1"/>
          </p:cNvPicPr>
          <p:nvPr/>
        </p:nvPicPr>
        <p:blipFill>
          <a:blip r:embed="rId3"/>
          <a:stretch>
            <a:fillRect/>
          </a:stretch>
        </p:blipFill>
        <p:spPr>
          <a:xfrm>
            <a:off x="4192524" y="2089404"/>
            <a:ext cx="210312" cy="210312"/>
          </a:xfrm>
          <a:prstGeom prst="rect">
            <a:avLst/>
          </a:prstGeom>
        </p:spPr>
      </p:pic>
      <p:sp>
        <p:nvSpPr>
          <p:cNvPr id="19" name="text-394"/>
          <p:cNvSpPr txBox="1"/>
          <p:nvPr/>
        </p:nvSpPr>
        <p:spPr>
          <a:xfrm>
            <a:off x="4645152" y="1938528"/>
            <a:ext cx="1965960" cy="512064"/>
          </a:xfrm>
          <a:prstGeom prst="rect">
            <a:avLst/>
          </a:prstGeom>
          <a:noFill/>
          <a:ln/>
        </p:spPr>
        <p:txBody>
          <a:bodyPr wrap="square" lIns="0" tIns="0" rIns="0" bIns="0" rtlCol="0" anchor="ctr"/>
          <a:lstStyle/>
          <a:p>
            <a:pPr indent="0" marL="0">
              <a:buNone/>
            </a:pPr>
            <a:r>
              <a:rPr lang="en-US" sz="1300" dirty="0">
                <a:solidFill>
                  <a:schemeClr val="tx2"/>
                </a:solidFill>
              </a:rPr>
              <a:t>Răutate fără argument</a:t>
            </a:r>
            <a:endParaRPr lang="en-US" sz="1300" dirty="0"/>
          </a:p>
        </p:txBody>
      </p:sp>
      <p:sp>
        <p:nvSpPr>
          <p:cNvPr id="20" name="text-395"/>
          <p:cNvSpPr txBox="1"/>
          <p:nvPr/>
        </p:nvSpPr>
        <p:spPr>
          <a:xfrm>
            <a:off x="6629400" y="1938528"/>
            <a:ext cx="1965960" cy="512064"/>
          </a:xfrm>
          <a:prstGeom prst="rect">
            <a:avLst/>
          </a:prstGeom>
          <a:noFill/>
          <a:ln/>
        </p:spPr>
        <p:txBody>
          <a:bodyPr wrap="square" lIns="0" tIns="0" rIns="0" bIns="0" rtlCol="0" anchor="ctr"/>
          <a:lstStyle/>
          <a:p>
            <a:pPr indent="0" marL="0">
              <a:buNone/>
            </a:pPr>
            <a:r>
              <a:rPr lang="en-US" sz="1300" b="1" dirty="0">
                <a:solidFill>
                  <a:schemeClr val="tx1"/>
                </a:solidFill>
              </a:rPr>
              <a:t>Ignoră</a:t>
            </a:r>
            <a:endParaRPr lang="en-US" sz="1300" dirty="0"/>
          </a:p>
        </p:txBody>
      </p:sp>
      <p:sp>
        <p:nvSpPr>
          <p:cNvPr id="21" name="card-396"/>
          <p:cNvSpPr/>
          <p:nvPr/>
        </p:nvSpPr>
        <p:spPr>
          <a:xfrm>
            <a:off x="3977640" y="2596896"/>
            <a:ext cx="4709160" cy="603504"/>
          </a:xfrm>
          <a:prstGeom prst="roundRect">
            <a:avLst>
              <a:gd name="adj" fmla="val 18182"/>
            </a:avLst>
          </a:prstGeom>
          <a:solidFill>
            <a:schemeClr val="bg1"/>
          </a:solidFill>
          <a:ln w="12700">
            <a:solidFill>
              <a:schemeClr val="bg2"/>
            </a:solidFill>
            <a:prstDash val="solid"/>
          </a:ln>
        </p:spPr>
      </p:sp>
      <p:sp>
        <p:nvSpPr>
          <p:cNvPr id="22" name="badge-397"/>
          <p:cNvSpPr/>
          <p:nvPr/>
        </p:nvSpPr>
        <p:spPr>
          <a:xfrm>
            <a:off x="4087368" y="2688336"/>
            <a:ext cx="420624" cy="420624"/>
          </a:xfrm>
          <a:prstGeom prst="ellipse">
            <a:avLst/>
          </a:prstGeom>
          <a:solidFill>
            <a:schemeClr val="accent1"/>
          </a:solidFill>
          <a:ln w="12700">
            <a:solidFill>
              <a:schemeClr val="accent1"/>
            </a:solidFill>
            <a:prstDash val="solid"/>
          </a:ln>
        </p:spPr>
      </p:sp>
      <p:pic>
        <p:nvPicPr>
          <p:cNvPr id="23" name="icon-398" descr="preencoded.png">    </p:cNvPr>
          <p:cNvPicPr>
            <a:picLocks noChangeAspect="1"/>
          </p:cNvPicPr>
          <p:nvPr/>
        </p:nvPicPr>
        <p:blipFill>
          <a:blip r:embed="rId4"/>
          <a:stretch>
            <a:fillRect/>
          </a:stretch>
        </p:blipFill>
        <p:spPr>
          <a:xfrm>
            <a:off x="4192524" y="2793492"/>
            <a:ext cx="210312" cy="210312"/>
          </a:xfrm>
          <a:prstGeom prst="rect">
            <a:avLst/>
          </a:prstGeom>
        </p:spPr>
      </p:pic>
      <p:sp>
        <p:nvSpPr>
          <p:cNvPr id="24" name="text-399"/>
          <p:cNvSpPr txBox="1"/>
          <p:nvPr/>
        </p:nvSpPr>
        <p:spPr>
          <a:xfrm>
            <a:off x="4645152" y="2642616"/>
            <a:ext cx="1965960" cy="512064"/>
          </a:xfrm>
          <a:prstGeom prst="rect">
            <a:avLst/>
          </a:prstGeom>
          <a:noFill/>
          <a:ln/>
        </p:spPr>
        <p:txBody>
          <a:bodyPr wrap="square" lIns="0" tIns="0" rIns="0" bIns="0" rtlCol="0" anchor="ctr"/>
          <a:lstStyle/>
          <a:p>
            <a:pPr indent="0" marL="0">
              <a:buNone/>
            </a:pPr>
            <a:r>
              <a:rPr lang="en-US" sz="1300" dirty="0">
                <a:solidFill>
                  <a:schemeClr val="tx2"/>
                </a:solidFill>
              </a:rPr>
              <a:t>Repetat, spam, vulgar</a:t>
            </a:r>
            <a:endParaRPr lang="en-US" sz="1300" dirty="0"/>
          </a:p>
        </p:txBody>
      </p:sp>
      <p:sp>
        <p:nvSpPr>
          <p:cNvPr id="25" name="text-400"/>
          <p:cNvSpPr txBox="1"/>
          <p:nvPr/>
        </p:nvSpPr>
        <p:spPr>
          <a:xfrm>
            <a:off x="6629400" y="2642616"/>
            <a:ext cx="1965960" cy="512064"/>
          </a:xfrm>
          <a:prstGeom prst="rect">
            <a:avLst/>
          </a:prstGeom>
          <a:noFill/>
          <a:ln/>
        </p:spPr>
        <p:txBody>
          <a:bodyPr wrap="square" lIns="0" tIns="0" rIns="0" bIns="0" rtlCol="0" anchor="ctr"/>
          <a:lstStyle/>
          <a:p>
            <a:pPr indent="0" marL="0">
              <a:buNone/>
            </a:pPr>
            <a:r>
              <a:rPr lang="en-US" sz="1300" b="1" dirty="0">
                <a:solidFill>
                  <a:schemeClr val="tx1"/>
                </a:solidFill>
              </a:rPr>
              <a:t>Moderează: filtru de cuvinte, ascunde</a:t>
            </a:r>
            <a:endParaRPr lang="en-US" sz="1300" dirty="0"/>
          </a:p>
        </p:txBody>
      </p:sp>
      <p:sp>
        <p:nvSpPr>
          <p:cNvPr id="26" name="card-401"/>
          <p:cNvSpPr/>
          <p:nvPr/>
        </p:nvSpPr>
        <p:spPr>
          <a:xfrm>
            <a:off x="3977640" y="3300984"/>
            <a:ext cx="4709160" cy="603504"/>
          </a:xfrm>
          <a:prstGeom prst="roundRect">
            <a:avLst>
              <a:gd name="adj" fmla="val 18182"/>
            </a:avLst>
          </a:prstGeom>
          <a:solidFill>
            <a:schemeClr val="bg1"/>
          </a:solidFill>
          <a:ln w="12700">
            <a:solidFill>
              <a:schemeClr val="bg2"/>
            </a:solidFill>
            <a:prstDash val="solid"/>
          </a:ln>
        </p:spPr>
      </p:sp>
      <p:sp>
        <p:nvSpPr>
          <p:cNvPr id="27" name="badge-402"/>
          <p:cNvSpPr/>
          <p:nvPr/>
        </p:nvSpPr>
        <p:spPr>
          <a:xfrm>
            <a:off x="4087368" y="3392424"/>
            <a:ext cx="420624" cy="420624"/>
          </a:xfrm>
          <a:prstGeom prst="ellipse">
            <a:avLst/>
          </a:prstGeom>
          <a:solidFill>
            <a:schemeClr val="accent6"/>
          </a:solidFill>
          <a:ln w="12700">
            <a:solidFill>
              <a:schemeClr val="accent6"/>
            </a:solidFill>
            <a:prstDash val="solid"/>
          </a:ln>
        </p:spPr>
      </p:sp>
      <p:pic>
        <p:nvPicPr>
          <p:cNvPr id="28" name="icon-403" descr="preencoded.png">    </p:cNvPr>
          <p:cNvPicPr>
            <a:picLocks noChangeAspect="1"/>
          </p:cNvPicPr>
          <p:nvPr/>
        </p:nvPicPr>
        <p:blipFill>
          <a:blip r:embed="rId5"/>
          <a:stretch>
            <a:fillRect/>
          </a:stretch>
        </p:blipFill>
        <p:spPr>
          <a:xfrm>
            <a:off x="4192524" y="3497580"/>
            <a:ext cx="210312" cy="210312"/>
          </a:xfrm>
          <a:prstGeom prst="rect">
            <a:avLst/>
          </a:prstGeom>
        </p:spPr>
      </p:pic>
      <p:sp>
        <p:nvSpPr>
          <p:cNvPr id="29" name="text-404"/>
          <p:cNvSpPr txBox="1"/>
          <p:nvPr/>
        </p:nvSpPr>
        <p:spPr>
          <a:xfrm>
            <a:off x="4645152" y="3346704"/>
            <a:ext cx="1965960" cy="512064"/>
          </a:xfrm>
          <a:prstGeom prst="rect">
            <a:avLst/>
          </a:prstGeom>
          <a:noFill/>
          <a:ln/>
        </p:spPr>
        <p:txBody>
          <a:bodyPr wrap="square" lIns="0" tIns="0" rIns="0" bIns="0" rtlCol="0" anchor="ctr"/>
          <a:lstStyle/>
          <a:p>
            <a:pPr indent="0" marL="0">
              <a:buNone/>
            </a:pPr>
            <a:r>
              <a:rPr lang="en-US" sz="1300" dirty="0">
                <a:solidFill>
                  <a:schemeClr val="tx2"/>
                </a:solidFill>
              </a:rPr>
              <a:t>Atac personal, hărțuire</a:t>
            </a:r>
            <a:endParaRPr lang="en-US" sz="1300" dirty="0"/>
          </a:p>
        </p:txBody>
      </p:sp>
      <p:sp>
        <p:nvSpPr>
          <p:cNvPr id="30" name="text-405"/>
          <p:cNvSpPr txBox="1"/>
          <p:nvPr/>
        </p:nvSpPr>
        <p:spPr>
          <a:xfrm>
            <a:off x="6629400" y="3346704"/>
            <a:ext cx="1965960" cy="512064"/>
          </a:xfrm>
          <a:prstGeom prst="rect">
            <a:avLst/>
          </a:prstGeom>
          <a:noFill/>
          <a:ln/>
        </p:spPr>
        <p:txBody>
          <a:bodyPr wrap="square" lIns="0" tIns="0" rIns="0" bIns="0" rtlCol="0" anchor="ctr"/>
          <a:lstStyle/>
          <a:p>
            <a:pPr indent="0" marL="0">
              <a:buNone/>
            </a:pPr>
            <a:r>
              <a:rPr lang="en-US" sz="1300" b="1" dirty="0">
                <a:solidFill>
                  <a:schemeClr val="tx1"/>
                </a:solidFill>
              </a:rPr>
              <a:t>Blochează</a:t>
            </a:r>
            <a:endParaRPr lang="en-US" sz="1300" dirty="0"/>
          </a:p>
        </p:txBody>
      </p:sp>
      <p:sp>
        <p:nvSpPr>
          <p:cNvPr id="31" name="card-406"/>
          <p:cNvSpPr/>
          <p:nvPr/>
        </p:nvSpPr>
        <p:spPr>
          <a:xfrm>
            <a:off x="3977640" y="4005072"/>
            <a:ext cx="4709160" cy="603504"/>
          </a:xfrm>
          <a:prstGeom prst="roundRect">
            <a:avLst>
              <a:gd name="adj" fmla="val 18182"/>
            </a:avLst>
          </a:prstGeom>
          <a:solidFill>
            <a:schemeClr val="bg1"/>
          </a:solidFill>
          <a:ln w="12700">
            <a:solidFill>
              <a:schemeClr val="bg2"/>
            </a:solidFill>
            <a:prstDash val="solid"/>
          </a:ln>
        </p:spPr>
      </p:sp>
      <p:sp>
        <p:nvSpPr>
          <p:cNvPr id="32" name="badge-407"/>
          <p:cNvSpPr/>
          <p:nvPr/>
        </p:nvSpPr>
        <p:spPr>
          <a:xfrm>
            <a:off x="4087368" y="4096512"/>
            <a:ext cx="420624" cy="420624"/>
          </a:xfrm>
          <a:prstGeom prst="ellipse">
            <a:avLst/>
          </a:prstGeom>
          <a:solidFill>
            <a:schemeClr val="accent6"/>
          </a:solidFill>
          <a:ln w="12700">
            <a:solidFill>
              <a:schemeClr val="accent6"/>
            </a:solidFill>
            <a:prstDash val="solid"/>
          </a:ln>
        </p:spPr>
      </p:sp>
      <p:pic>
        <p:nvPicPr>
          <p:cNvPr id="33" name="icon-408" descr="preencoded.png">    </p:cNvPr>
          <p:cNvPicPr>
            <a:picLocks noChangeAspect="1"/>
          </p:cNvPicPr>
          <p:nvPr/>
        </p:nvPicPr>
        <p:blipFill>
          <a:blip r:embed="rId6"/>
          <a:stretch>
            <a:fillRect/>
          </a:stretch>
        </p:blipFill>
        <p:spPr>
          <a:xfrm>
            <a:off x="4192524" y="4201668"/>
            <a:ext cx="210312" cy="210312"/>
          </a:xfrm>
          <a:prstGeom prst="rect">
            <a:avLst/>
          </a:prstGeom>
        </p:spPr>
      </p:pic>
      <p:sp>
        <p:nvSpPr>
          <p:cNvPr id="34" name="text-409"/>
          <p:cNvSpPr txBox="1"/>
          <p:nvPr/>
        </p:nvSpPr>
        <p:spPr>
          <a:xfrm>
            <a:off x="4645152" y="4050792"/>
            <a:ext cx="1965960" cy="512064"/>
          </a:xfrm>
          <a:prstGeom prst="rect">
            <a:avLst/>
          </a:prstGeom>
          <a:noFill/>
          <a:ln/>
        </p:spPr>
        <p:txBody>
          <a:bodyPr wrap="square" lIns="0" tIns="0" rIns="0" bIns="0" rtlCol="0" anchor="ctr"/>
          <a:lstStyle/>
          <a:p>
            <a:pPr indent="0" marL="0">
              <a:buNone/>
            </a:pPr>
            <a:r>
              <a:rPr lang="en-US" sz="1300" dirty="0">
                <a:solidFill>
                  <a:schemeClr val="tx2"/>
                </a:solidFill>
              </a:rPr>
              <a:t>Amenințări, discriminare</a:t>
            </a:r>
            <a:endParaRPr lang="en-US" sz="1300" dirty="0"/>
          </a:p>
        </p:txBody>
      </p:sp>
      <p:sp>
        <p:nvSpPr>
          <p:cNvPr id="35" name="text-410"/>
          <p:cNvSpPr txBox="1"/>
          <p:nvPr/>
        </p:nvSpPr>
        <p:spPr>
          <a:xfrm>
            <a:off x="6629400" y="4050792"/>
            <a:ext cx="1965960" cy="512064"/>
          </a:xfrm>
          <a:prstGeom prst="rect">
            <a:avLst/>
          </a:prstGeom>
          <a:noFill/>
          <a:ln/>
        </p:spPr>
        <p:txBody>
          <a:bodyPr wrap="square" lIns="0" tIns="0" rIns="0" bIns="0" rtlCol="0" anchor="ctr"/>
          <a:lstStyle/>
          <a:p>
            <a:pPr indent="0" marL="0">
              <a:buNone/>
            </a:pPr>
            <a:r>
              <a:rPr lang="en-US" sz="1300" b="1" dirty="0">
                <a:solidFill>
                  <a:schemeClr val="tx1"/>
                </a:solidFill>
              </a:rPr>
              <a:t>Raportează</a:t>
            </a:r>
            <a:endParaRPr lang="en-US" sz="13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IV · TIKTOK</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Sfaturi și trucuri TikTok pentru beauty</a:t>
            </a:r>
            <a:endParaRPr lang="en-US" sz="2800" dirty="0"/>
          </a:p>
        </p:txBody>
      </p:sp>
      <p:pic>
        <p:nvPicPr>
          <p:cNvPr id="4" name="watermark-411" descr="preencoded.png">    </p:cNvPr>
          <p:cNvPicPr>
            <a:picLocks noChangeAspect="1"/>
          </p:cNvPicPr>
          <p:nvPr/>
        </p:nvPicPr>
        <p:blipFill>
          <a:blip r:embed="rId1">
            <a:alphaModFix amt="5000"/>
          </a:blip>
          <a:stretch>
            <a:fillRect/>
          </a:stretch>
        </p:blipFill>
        <p:spPr>
          <a:xfrm>
            <a:off x="7086600" y="3063240"/>
            <a:ext cx="1920240" cy="1920240"/>
          </a:xfrm>
          <a:prstGeom prst="rect">
            <a:avLst/>
          </a:prstGeom>
        </p:spPr>
      </p:pic>
      <p:sp>
        <p:nvSpPr>
          <p:cNvPr id="5" name="badge-412"/>
          <p:cNvSpPr/>
          <p:nvPr/>
        </p:nvSpPr>
        <p:spPr>
          <a:xfrm>
            <a:off x="457200" y="1188720"/>
            <a:ext cx="420624" cy="420624"/>
          </a:xfrm>
          <a:prstGeom prst="ellipse">
            <a:avLst/>
          </a:prstGeom>
          <a:solidFill>
            <a:schemeClr val="tx1"/>
          </a:solidFill>
          <a:ln w="12700">
            <a:solidFill>
              <a:schemeClr val="tx1"/>
            </a:solidFill>
            <a:prstDash val="solid"/>
          </a:ln>
        </p:spPr>
      </p:sp>
      <p:pic>
        <p:nvPicPr>
          <p:cNvPr id="6" name="icon-413" descr="preencoded.png">    </p:cNvPr>
          <p:cNvPicPr>
            <a:picLocks noChangeAspect="1"/>
          </p:cNvPicPr>
          <p:nvPr/>
        </p:nvPicPr>
        <p:blipFill>
          <a:blip r:embed="rId2"/>
          <a:stretch>
            <a:fillRect/>
          </a:stretch>
        </p:blipFill>
        <p:spPr>
          <a:xfrm>
            <a:off x="562356" y="1293876"/>
            <a:ext cx="210312" cy="210312"/>
          </a:xfrm>
          <a:prstGeom prst="rect">
            <a:avLst/>
          </a:prstGeom>
        </p:spPr>
      </p:pic>
      <p:sp>
        <p:nvSpPr>
          <p:cNvPr id="7" name="text-414"/>
          <p:cNvSpPr txBox="1"/>
          <p:nvPr/>
        </p:nvSpPr>
        <p:spPr>
          <a:xfrm>
            <a:off x="1024128" y="1152144"/>
            <a:ext cx="3566160" cy="512064"/>
          </a:xfrm>
          <a:prstGeom prst="rect">
            <a:avLst/>
          </a:prstGeom>
          <a:noFill/>
          <a:ln/>
        </p:spPr>
        <p:txBody>
          <a:bodyPr wrap="square" lIns="0" tIns="0" rIns="0" bIns="0" rtlCol="0" anchor="ctr"/>
          <a:lstStyle/>
          <a:p>
            <a:pPr indent="0" marL="0">
              <a:buNone/>
            </a:pPr>
            <a:r>
              <a:rPr lang="en-US" sz="1300" dirty="0">
                <a:solidFill>
                  <a:schemeClr val="tx1"/>
                </a:solidFill>
              </a:rPr>
              <a:t>Final spectaculos în prima secundă, apoi „cum am ajuns aici”</a:t>
            </a:r>
            <a:endParaRPr lang="en-US" sz="1300" dirty="0"/>
          </a:p>
        </p:txBody>
      </p:sp>
      <p:sp>
        <p:nvSpPr>
          <p:cNvPr id="8" name="badge-415"/>
          <p:cNvSpPr/>
          <p:nvPr/>
        </p:nvSpPr>
        <p:spPr>
          <a:xfrm>
            <a:off x="457200" y="1773936"/>
            <a:ext cx="420624" cy="420624"/>
          </a:xfrm>
          <a:prstGeom prst="ellipse">
            <a:avLst/>
          </a:prstGeom>
          <a:solidFill>
            <a:schemeClr val="tx1"/>
          </a:solidFill>
          <a:ln w="12700">
            <a:solidFill>
              <a:schemeClr val="tx1"/>
            </a:solidFill>
            <a:prstDash val="solid"/>
          </a:ln>
        </p:spPr>
      </p:sp>
      <p:pic>
        <p:nvPicPr>
          <p:cNvPr id="9" name="icon-416" descr="preencoded.png">    </p:cNvPr>
          <p:cNvPicPr>
            <a:picLocks noChangeAspect="1"/>
          </p:cNvPicPr>
          <p:nvPr/>
        </p:nvPicPr>
        <p:blipFill>
          <a:blip r:embed="rId3"/>
          <a:stretch>
            <a:fillRect/>
          </a:stretch>
        </p:blipFill>
        <p:spPr>
          <a:xfrm>
            <a:off x="562356" y="1879092"/>
            <a:ext cx="210312" cy="210312"/>
          </a:xfrm>
          <a:prstGeom prst="rect">
            <a:avLst/>
          </a:prstGeom>
        </p:spPr>
      </p:pic>
      <p:sp>
        <p:nvSpPr>
          <p:cNvPr id="10" name="text-417"/>
          <p:cNvSpPr txBox="1"/>
          <p:nvPr/>
        </p:nvSpPr>
        <p:spPr>
          <a:xfrm>
            <a:off x="1024128" y="1737360"/>
            <a:ext cx="3566160" cy="512064"/>
          </a:xfrm>
          <a:prstGeom prst="rect">
            <a:avLst/>
          </a:prstGeom>
          <a:noFill/>
          <a:ln/>
        </p:spPr>
        <p:txBody>
          <a:bodyPr wrap="square" lIns="0" tIns="0" rIns="0" bIns="0" rtlCol="0" anchor="ctr"/>
          <a:lstStyle/>
          <a:p>
            <a:pPr indent="0" marL="0">
              <a:buNone/>
            </a:pPr>
            <a:r>
              <a:rPr lang="en-US" sz="1300" dirty="0">
                <a:solidFill>
                  <a:schemeClr val="tx1"/>
                </a:solidFill>
              </a:rPr>
              <a:t>Vertical, la fereastră: blondul real se vede la lumina zilei</a:t>
            </a:r>
            <a:endParaRPr lang="en-US" sz="1300" dirty="0"/>
          </a:p>
        </p:txBody>
      </p:sp>
      <p:sp>
        <p:nvSpPr>
          <p:cNvPr id="11" name="badge-418"/>
          <p:cNvSpPr/>
          <p:nvPr/>
        </p:nvSpPr>
        <p:spPr>
          <a:xfrm>
            <a:off x="457200" y="2359152"/>
            <a:ext cx="420624" cy="420624"/>
          </a:xfrm>
          <a:prstGeom prst="ellipse">
            <a:avLst/>
          </a:prstGeom>
          <a:solidFill>
            <a:schemeClr val="tx1"/>
          </a:solidFill>
          <a:ln w="12700">
            <a:solidFill>
              <a:schemeClr val="tx1"/>
            </a:solidFill>
            <a:prstDash val="solid"/>
          </a:ln>
        </p:spPr>
      </p:sp>
      <p:pic>
        <p:nvPicPr>
          <p:cNvPr id="12" name="icon-419" descr="preencoded.png">    </p:cNvPr>
          <p:cNvPicPr>
            <a:picLocks noChangeAspect="1"/>
          </p:cNvPicPr>
          <p:nvPr/>
        </p:nvPicPr>
        <p:blipFill>
          <a:blip r:embed="rId4"/>
          <a:stretch>
            <a:fillRect/>
          </a:stretch>
        </p:blipFill>
        <p:spPr>
          <a:xfrm>
            <a:off x="562356" y="2464308"/>
            <a:ext cx="210312" cy="210312"/>
          </a:xfrm>
          <a:prstGeom prst="rect">
            <a:avLst/>
          </a:prstGeom>
        </p:spPr>
      </p:pic>
      <p:sp>
        <p:nvSpPr>
          <p:cNvPr id="13" name="text-420"/>
          <p:cNvSpPr txBox="1"/>
          <p:nvPr/>
        </p:nvSpPr>
        <p:spPr>
          <a:xfrm>
            <a:off x="1024128" y="2322576"/>
            <a:ext cx="3566160" cy="512064"/>
          </a:xfrm>
          <a:prstGeom prst="rect">
            <a:avLst/>
          </a:prstGeom>
          <a:noFill/>
          <a:ln/>
        </p:spPr>
        <p:txBody>
          <a:bodyPr wrap="square" lIns="0" tIns="0" rIns="0" bIns="0" rtlCol="0" anchor="ctr"/>
          <a:lstStyle/>
          <a:p>
            <a:pPr indent="0" marL="0">
              <a:buNone/>
            </a:pPr>
            <a:r>
              <a:rPr lang="en-US" sz="1300" dirty="0">
                <a:solidFill>
                  <a:schemeClr val="tx1"/>
                </a:solidFill>
              </a:rPr>
              <a:t>Text mare, sus sau la mijloc, nu peste butoane</a:t>
            </a:r>
            <a:endParaRPr lang="en-US" sz="1300" dirty="0"/>
          </a:p>
        </p:txBody>
      </p:sp>
      <p:sp>
        <p:nvSpPr>
          <p:cNvPr id="14" name="badge-421"/>
          <p:cNvSpPr/>
          <p:nvPr/>
        </p:nvSpPr>
        <p:spPr>
          <a:xfrm>
            <a:off x="457200" y="2944368"/>
            <a:ext cx="420624" cy="420624"/>
          </a:xfrm>
          <a:prstGeom prst="ellipse">
            <a:avLst/>
          </a:prstGeom>
          <a:solidFill>
            <a:schemeClr val="tx1"/>
          </a:solidFill>
          <a:ln w="12700">
            <a:solidFill>
              <a:schemeClr val="tx1"/>
            </a:solidFill>
            <a:prstDash val="solid"/>
          </a:ln>
        </p:spPr>
      </p:sp>
      <p:pic>
        <p:nvPicPr>
          <p:cNvPr id="15" name="icon-422" descr="preencoded.png">    </p:cNvPr>
          <p:cNvPicPr>
            <a:picLocks noChangeAspect="1"/>
          </p:cNvPicPr>
          <p:nvPr/>
        </p:nvPicPr>
        <p:blipFill>
          <a:blip r:embed="rId5"/>
          <a:stretch>
            <a:fillRect/>
          </a:stretch>
        </p:blipFill>
        <p:spPr>
          <a:xfrm>
            <a:off x="562356" y="3049524"/>
            <a:ext cx="210312" cy="210312"/>
          </a:xfrm>
          <a:prstGeom prst="rect">
            <a:avLst/>
          </a:prstGeom>
        </p:spPr>
      </p:pic>
      <p:sp>
        <p:nvSpPr>
          <p:cNvPr id="16" name="text-423"/>
          <p:cNvSpPr txBox="1"/>
          <p:nvPr/>
        </p:nvSpPr>
        <p:spPr>
          <a:xfrm>
            <a:off x="1024128" y="2907792"/>
            <a:ext cx="3566160" cy="512064"/>
          </a:xfrm>
          <a:prstGeom prst="rect">
            <a:avLst/>
          </a:prstGeom>
          <a:noFill/>
          <a:ln/>
        </p:spPr>
        <p:txBody>
          <a:bodyPr wrap="square" lIns="0" tIns="0" rIns="0" bIns="0" rtlCol="0" anchor="ctr"/>
          <a:lstStyle/>
          <a:p>
            <a:pPr indent="0" marL="0">
              <a:buNone/>
            </a:pPr>
            <a:r>
              <a:rPr lang="en-US" sz="1300" dirty="0">
                <a:solidFill>
                  <a:schemeClr val="tx1"/>
                </a:solidFill>
              </a:rPr>
              <a:t>Final care se leagă de început: oamenii îl revăd</a:t>
            </a:r>
            <a:endParaRPr lang="en-US" sz="1300" dirty="0"/>
          </a:p>
        </p:txBody>
      </p:sp>
      <p:sp>
        <p:nvSpPr>
          <p:cNvPr id="17" name="badge-424"/>
          <p:cNvSpPr/>
          <p:nvPr/>
        </p:nvSpPr>
        <p:spPr>
          <a:xfrm>
            <a:off x="457200" y="3529584"/>
            <a:ext cx="420624" cy="420624"/>
          </a:xfrm>
          <a:prstGeom prst="ellipse">
            <a:avLst/>
          </a:prstGeom>
          <a:solidFill>
            <a:schemeClr val="tx1"/>
          </a:solidFill>
          <a:ln w="12700">
            <a:solidFill>
              <a:schemeClr val="tx1"/>
            </a:solidFill>
            <a:prstDash val="solid"/>
          </a:ln>
        </p:spPr>
      </p:sp>
      <p:pic>
        <p:nvPicPr>
          <p:cNvPr id="18" name="icon-425" descr="preencoded.png">    </p:cNvPr>
          <p:cNvPicPr>
            <a:picLocks noChangeAspect="1"/>
          </p:cNvPicPr>
          <p:nvPr/>
        </p:nvPicPr>
        <p:blipFill>
          <a:blip r:embed="rId6"/>
          <a:stretch>
            <a:fillRect/>
          </a:stretch>
        </p:blipFill>
        <p:spPr>
          <a:xfrm>
            <a:off x="562356" y="3634740"/>
            <a:ext cx="210312" cy="210312"/>
          </a:xfrm>
          <a:prstGeom prst="rect">
            <a:avLst/>
          </a:prstGeom>
        </p:spPr>
      </p:pic>
      <p:sp>
        <p:nvSpPr>
          <p:cNvPr id="19" name="text-426"/>
          <p:cNvSpPr txBox="1"/>
          <p:nvPr/>
        </p:nvSpPr>
        <p:spPr>
          <a:xfrm>
            <a:off x="1024128" y="3493008"/>
            <a:ext cx="3566160" cy="512064"/>
          </a:xfrm>
          <a:prstGeom prst="rect">
            <a:avLst/>
          </a:prstGeom>
          <a:noFill/>
          <a:ln/>
        </p:spPr>
        <p:txBody>
          <a:bodyPr wrap="square" lIns="0" tIns="0" rIns="0" bIns="0" rtlCol="0" anchor="ctr"/>
          <a:lstStyle/>
          <a:p>
            <a:pPr indent="0" marL="0">
              <a:buNone/>
            </a:pPr>
            <a:r>
              <a:rPr lang="en-US" sz="1300" dirty="0">
                <a:solidFill>
                  <a:schemeClr val="tx1"/>
                </a:solidFill>
              </a:rPr>
              <a:t>Serii: „Blondul Mariei, ședința 1 din 3”</a:t>
            </a:r>
            <a:endParaRPr lang="en-US" sz="1300" dirty="0"/>
          </a:p>
        </p:txBody>
      </p:sp>
      <p:sp>
        <p:nvSpPr>
          <p:cNvPr id="20" name="badge-427"/>
          <p:cNvSpPr/>
          <p:nvPr/>
        </p:nvSpPr>
        <p:spPr>
          <a:xfrm>
            <a:off x="457200" y="4114800"/>
            <a:ext cx="420624" cy="420624"/>
          </a:xfrm>
          <a:prstGeom prst="ellipse">
            <a:avLst/>
          </a:prstGeom>
          <a:solidFill>
            <a:schemeClr val="tx1"/>
          </a:solidFill>
          <a:ln w="12700">
            <a:solidFill>
              <a:schemeClr val="tx1"/>
            </a:solidFill>
            <a:prstDash val="solid"/>
          </a:ln>
        </p:spPr>
      </p:sp>
      <p:pic>
        <p:nvPicPr>
          <p:cNvPr id="21" name="icon-428" descr="preencoded.png">    </p:cNvPr>
          <p:cNvPicPr>
            <a:picLocks noChangeAspect="1"/>
          </p:cNvPicPr>
          <p:nvPr/>
        </p:nvPicPr>
        <p:blipFill>
          <a:blip r:embed="rId7"/>
          <a:stretch>
            <a:fillRect/>
          </a:stretch>
        </p:blipFill>
        <p:spPr>
          <a:xfrm>
            <a:off x="562356" y="4219956"/>
            <a:ext cx="210312" cy="210312"/>
          </a:xfrm>
          <a:prstGeom prst="rect">
            <a:avLst/>
          </a:prstGeom>
        </p:spPr>
      </p:pic>
      <p:sp>
        <p:nvSpPr>
          <p:cNvPr id="22" name="text-429"/>
          <p:cNvSpPr txBox="1"/>
          <p:nvPr/>
        </p:nvSpPr>
        <p:spPr>
          <a:xfrm>
            <a:off x="1024128" y="4078224"/>
            <a:ext cx="3566160" cy="512064"/>
          </a:xfrm>
          <a:prstGeom prst="rect">
            <a:avLst/>
          </a:prstGeom>
          <a:noFill/>
          <a:ln/>
        </p:spPr>
        <p:txBody>
          <a:bodyPr wrap="square" lIns="0" tIns="0" rIns="0" bIns="0" rtlCol="0" anchor="ctr"/>
          <a:lstStyle/>
          <a:p>
            <a:pPr indent="0" marL="0">
              <a:buNone/>
            </a:pPr>
            <a:r>
              <a:rPr lang="en-US" sz="1300" dirty="0">
                <a:solidFill>
                  <a:schemeClr val="tx1"/>
                </a:solidFill>
              </a:rPr>
              <a:t>Răspunde la comentarii cu video</a:t>
            </a:r>
            <a:endParaRPr lang="en-US" sz="1300" dirty="0"/>
          </a:p>
        </p:txBody>
      </p:sp>
      <p:sp>
        <p:nvSpPr>
          <p:cNvPr id="23" name="card-430"/>
          <p:cNvSpPr/>
          <p:nvPr/>
        </p:nvSpPr>
        <p:spPr>
          <a:xfrm>
            <a:off x="4892040" y="1188720"/>
            <a:ext cx="3794760" cy="3474720"/>
          </a:xfrm>
          <a:prstGeom prst="roundRect">
            <a:avLst>
              <a:gd name="adj" fmla="val 3158"/>
            </a:avLst>
          </a:prstGeom>
          <a:solidFill>
            <a:schemeClr val="tx1"/>
          </a:solidFill>
          <a:ln w="12700">
            <a:solidFill>
              <a:schemeClr val="tx1"/>
            </a:solidFill>
            <a:prstDash val="solid"/>
          </a:ln>
        </p:spPr>
      </p:sp>
      <p:sp>
        <p:nvSpPr>
          <p:cNvPr id="24" name="text-431"/>
          <p:cNvSpPr txBox="1"/>
          <p:nvPr/>
        </p:nvSpPr>
        <p:spPr>
          <a:xfrm>
            <a:off x="5120640" y="1325880"/>
            <a:ext cx="3383280" cy="292608"/>
          </a:xfrm>
          <a:prstGeom prst="rect">
            <a:avLst/>
          </a:prstGeom>
          <a:noFill/>
          <a:ln/>
        </p:spPr>
        <p:txBody>
          <a:bodyPr wrap="square" lIns="0" tIns="0" rIns="0" bIns="0" rtlCol="0" anchor="t"/>
          <a:lstStyle/>
          <a:p>
            <a:pPr indent="0" marL="0">
              <a:buNone/>
            </a:pPr>
            <a:r>
              <a:rPr lang="en-US" sz="1500" b="1" dirty="0">
                <a:solidFill>
                  <a:schemeClr val="accent3"/>
                </a:solidFill>
                <a:latin typeface="Cambria" pitchFamily="34" charset="0"/>
                <a:ea typeface="Cambria" pitchFamily="34" charset="-122"/>
                <a:cs typeface="Cambria" pitchFamily="34" charset="-120"/>
              </a:rPr>
              <a:t>Începuturi care opresc derularea</a:t>
            </a:r>
            <a:endParaRPr lang="en-US" sz="1500" dirty="0"/>
          </a:p>
        </p:txBody>
      </p:sp>
      <p:sp>
        <p:nvSpPr>
          <p:cNvPr id="25" name="text-432"/>
          <p:cNvSpPr txBox="1"/>
          <p:nvPr/>
        </p:nvSpPr>
        <p:spPr>
          <a:xfrm>
            <a:off x="5120640" y="1737360"/>
            <a:ext cx="3429000" cy="2834640"/>
          </a:xfrm>
          <a:prstGeom prst="rect">
            <a:avLst/>
          </a:prstGeom>
          <a:noFill/>
          <a:ln/>
        </p:spPr>
        <p:txBody>
          <a:bodyPr wrap="square" lIns="0" tIns="0" rIns="0" bIns="0" rtlCol="0" anchor="t"/>
          <a:lstStyle/>
          <a:p>
            <a:pPr indent="0" marL="0">
              <a:spcAft>
                <a:spcPts val="900"/>
              </a:spcAft>
              <a:buNone/>
            </a:pPr>
            <a:r>
              <a:rPr lang="en-US" sz="1400" i="1" dirty="0">
                <a:solidFill>
                  <a:schemeClr val="bg1"/>
                </a:solidFill>
              </a:rPr>
              <a:t>„A venit cu negru vopsit acasă. A plecat blondă.”</a:t>
            </a:r>
            <a:endParaRPr lang="en-US" sz="1400" dirty="0"/>
          </a:p>
          <a:p>
            <a:pPr indent="0" marL="0">
              <a:spcAft>
                <a:spcPts val="900"/>
              </a:spcAft>
              <a:buNone/>
            </a:pPr>
            <a:r>
              <a:rPr lang="en-US" sz="1400" i="1" dirty="0">
                <a:solidFill>
                  <a:schemeClr val="bg1"/>
                </a:solidFill>
              </a:rPr>
              <a:t>„Nu face asta cu blondul tău acasă!”</a:t>
            </a:r>
            <a:endParaRPr lang="en-US" sz="1400" dirty="0"/>
          </a:p>
          <a:p>
            <a:pPr indent="0" marL="0">
              <a:spcAft>
                <a:spcPts val="900"/>
              </a:spcAft>
              <a:buNone/>
            </a:pPr>
            <a:r>
              <a:rPr lang="en-US" sz="1400" i="1" dirty="0">
                <a:solidFill>
                  <a:schemeClr val="bg1"/>
                </a:solidFill>
              </a:rPr>
              <a:t>„Ce înseamnă de fapt AirTouch?”</a:t>
            </a:r>
            <a:endParaRPr lang="en-US" sz="1400" dirty="0"/>
          </a:p>
          <a:p>
            <a:pPr indent="0" marL="0">
              <a:spcAft>
                <a:spcPts val="900"/>
              </a:spcAft>
              <a:buNone/>
            </a:pPr>
            <a:r>
              <a:rPr lang="en-US" sz="1400" i="1" dirty="0">
                <a:solidFill>
                  <a:schemeClr val="bg1"/>
                </a:solidFill>
              </a:rPr>
              <a:t>„3 ore, 2 decolorări, o clientă fericită.”</a:t>
            </a:r>
            <a:endParaRPr lang="en-US" sz="1400" dirty="0"/>
          </a:p>
          <a:p>
            <a:pPr indent="0" marL="0">
              <a:spcAft>
                <a:spcPts val="900"/>
              </a:spcAft>
              <a:buNone/>
            </a:pPr>
            <a:r>
              <a:rPr lang="en-US" sz="1400" i="1" dirty="0">
                <a:solidFill>
                  <a:schemeClr val="bg1"/>
                </a:solidFill>
              </a:rPr>
              <a:t>„Mi-a arătat poza asta. Am reușit?”</a:t>
            </a:r>
            <a:endParaRPr lang="en-US" sz="14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V · EDITARE VIDEO CU CAPCUT</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CapCut, pas cu pas: de la clipuri la poveste</a:t>
            </a:r>
            <a:endParaRPr lang="en-US" sz="2800" dirty="0"/>
          </a:p>
        </p:txBody>
      </p:sp>
      <p:pic>
        <p:nvPicPr>
          <p:cNvPr id="4" name="watermark-433" descr="preencoded.png">    </p:cNvPr>
          <p:cNvPicPr>
            <a:picLocks noChangeAspect="1"/>
          </p:cNvPicPr>
          <p:nvPr/>
        </p:nvPicPr>
        <p:blipFill>
          <a:blip r:embed="rId1">
            <a:alphaModFix amt="5000"/>
          </a:blip>
          <a:stretch>
            <a:fillRect/>
          </a:stretch>
        </p:blipFill>
        <p:spPr>
          <a:xfrm>
            <a:off x="7086600" y="3063240"/>
            <a:ext cx="1920240" cy="1920240"/>
          </a:xfrm>
          <a:prstGeom prst="rect">
            <a:avLst/>
          </a:prstGeom>
        </p:spPr>
      </p:pic>
      <p:sp>
        <p:nvSpPr>
          <p:cNvPr id="5" name="phone-434"/>
          <p:cNvSpPr/>
          <p:nvPr/>
        </p:nvSpPr>
        <p:spPr>
          <a:xfrm>
            <a:off x="548640" y="1097280"/>
            <a:ext cx="2148840" cy="3611880"/>
          </a:xfrm>
          <a:prstGeom prst="roundRect">
            <a:avLst>
              <a:gd name="adj" fmla="val 9362"/>
            </a:avLst>
          </a:prstGeom>
          <a:solidFill>
            <a:schemeClr val="tx1"/>
          </a:solidFill>
          <a:ln w="12700">
            <a:solidFill>
              <a:schemeClr val="tx1"/>
            </a:solidFill>
            <a:prstDash val="solid"/>
          </a:ln>
          <a:effectLst>
            <a:outerShdw sx="100000" sy="100000" kx="0" ky="0" algn="bl" rotWithShape="0" blurRad="101600" dist="25400" dir="5400000">
              <a:srgbClr val="5B4A42">
                <a:alpha val="14000"/>
              </a:srgbClr>
            </a:outerShdw>
          </a:effectLst>
        </p:spPr>
      </p:sp>
      <p:sp>
        <p:nvSpPr>
          <p:cNvPr id="6" name="screen-435"/>
          <p:cNvSpPr/>
          <p:nvPr/>
        </p:nvSpPr>
        <p:spPr>
          <a:xfrm>
            <a:off x="612648" y="1161288"/>
            <a:ext cx="2020824" cy="3483864"/>
          </a:xfrm>
          <a:prstGeom prst="roundRect">
            <a:avLst>
              <a:gd name="adj" fmla="val 7692"/>
            </a:avLst>
          </a:prstGeom>
          <a:solidFill>
            <a:srgbClr val="1A1A1A"/>
          </a:solidFill>
          <a:ln w="12700">
            <a:solidFill>
              <a:srgbClr val="1A1A1A"/>
            </a:solidFill>
            <a:prstDash val="solid"/>
          </a:ln>
        </p:spPr>
      </p:sp>
      <p:sp>
        <p:nvSpPr>
          <p:cNvPr id="7" name="notch-436"/>
          <p:cNvSpPr/>
          <p:nvPr/>
        </p:nvSpPr>
        <p:spPr>
          <a:xfrm>
            <a:off x="1394460" y="1197864"/>
            <a:ext cx="457200" cy="64008"/>
          </a:xfrm>
          <a:prstGeom prst="roundRect">
            <a:avLst>
              <a:gd name="adj" fmla="val 42857"/>
            </a:avLst>
          </a:prstGeom>
          <a:solidFill>
            <a:schemeClr val="tx1"/>
          </a:solidFill>
          <a:ln w="12700">
            <a:solidFill>
              <a:schemeClr val="tx1"/>
            </a:solidFill>
            <a:prstDash val="solid"/>
          </a:ln>
        </p:spPr>
      </p:sp>
      <p:pic>
        <p:nvPicPr>
          <p:cNvPr id="8" name="preview-437" descr="preencoded.png">    </p:cNvPr>
          <p:cNvPicPr>
            <a:picLocks noChangeAspect="1"/>
          </p:cNvPicPr>
          <p:nvPr/>
        </p:nvPicPr>
        <p:blipFill>
          <a:blip r:embed="rId2"/>
          <a:stretch>
            <a:fillRect/>
          </a:stretch>
        </p:blipFill>
        <p:spPr>
          <a:xfrm>
            <a:off x="1069848" y="1435608"/>
            <a:ext cx="1106424" cy="1844040"/>
          </a:xfrm>
          <a:prstGeom prst="rect">
            <a:avLst/>
          </a:prstGeom>
        </p:spPr>
      </p:pic>
      <p:sp>
        <p:nvSpPr>
          <p:cNvPr id="9" name="clip-438"/>
          <p:cNvSpPr/>
          <p:nvPr/>
        </p:nvSpPr>
        <p:spPr>
          <a:xfrm>
            <a:off x="722376" y="3310128"/>
            <a:ext cx="502920" cy="347472"/>
          </a:xfrm>
          <a:prstGeom prst="rect">
            <a:avLst/>
          </a:prstGeom>
          <a:solidFill>
            <a:srgbClr val="5A4433"/>
          </a:solidFill>
          <a:ln w="6350">
            <a:solidFill>
              <a:srgbClr val="FFFFFF"/>
            </a:solidFill>
            <a:prstDash val="solid"/>
          </a:ln>
        </p:spPr>
      </p:sp>
      <p:sp>
        <p:nvSpPr>
          <p:cNvPr id="10" name="trans-439"/>
          <p:cNvSpPr/>
          <p:nvPr/>
        </p:nvSpPr>
        <p:spPr>
          <a:xfrm>
            <a:off x="1170432" y="3429000"/>
            <a:ext cx="109728" cy="109728"/>
          </a:xfrm>
          <a:prstGeom prst="rect">
            <a:avLst/>
          </a:prstGeom>
          <a:solidFill>
            <a:srgbClr val="FFFFFF"/>
          </a:solidFill>
          <a:ln w="6350">
            <a:solidFill>
              <a:srgbClr val="1A1A1A"/>
            </a:solidFill>
            <a:prstDash val="solid"/>
          </a:ln>
        </p:spPr>
      </p:sp>
      <p:sp>
        <p:nvSpPr>
          <p:cNvPr id="11" name="clip-440"/>
          <p:cNvSpPr/>
          <p:nvPr/>
        </p:nvSpPr>
        <p:spPr>
          <a:xfrm>
            <a:off x="1225296" y="3310128"/>
            <a:ext cx="457200" cy="347472"/>
          </a:xfrm>
          <a:prstGeom prst="rect">
            <a:avLst/>
          </a:prstGeom>
          <a:solidFill>
            <a:srgbClr val="C9A26B"/>
          </a:solidFill>
          <a:ln w="6350">
            <a:solidFill>
              <a:srgbClr val="FFFFFF"/>
            </a:solidFill>
            <a:prstDash val="solid"/>
          </a:ln>
        </p:spPr>
      </p:sp>
      <p:sp>
        <p:nvSpPr>
          <p:cNvPr id="12" name="trans-441"/>
          <p:cNvSpPr/>
          <p:nvPr/>
        </p:nvSpPr>
        <p:spPr>
          <a:xfrm>
            <a:off x="1627632" y="3429000"/>
            <a:ext cx="109728" cy="109728"/>
          </a:xfrm>
          <a:prstGeom prst="rect">
            <a:avLst/>
          </a:prstGeom>
          <a:solidFill>
            <a:srgbClr val="FFFFFF"/>
          </a:solidFill>
          <a:ln w="6350">
            <a:solidFill>
              <a:srgbClr val="1A1A1A"/>
            </a:solidFill>
            <a:prstDash val="solid"/>
          </a:ln>
        </p:spPr>
      </p:sp>
      <p:sp>
        <p:nvSpPr>
          <p:cNvPr id="13" name="clip-442"/>
          <p:cNvSpPr/>
          <p:nvPr/>
        </p:nvSpPr>
        <p:spPr>
          <a:xfrm>
            <a:off x="1682496" y="3310128"/>
            <a:ext cx="502920" cy="347472"/>
          </a:xfrm>
          <a:prstGeom prst="rect">
            <a:avLst/>
          </a:prstGeom>
          <a:solidFill>
            <a:srgbClr val="E7CF9C"/>
          </a:solidFill>
          <a:ln w="6350">
            <a:solidFill>
              <a:srgbClr val="FFFFFF"/>
            </a:solidFill>
            <a:prstDash val="solid"/>
          </a:ln>
        </p:spPr>
      </p:sp>
      <p:sp>
        <p:nvSpPr>
          <p:cNvPr id="14" name="audio-443"/>
          <p:cNvSpPr/>
          <p:nvPr/>
        </p:nvSpPr>
        <p:spPr>
          <a:xfrm>
            <a:off x="722376" y="3721608"/>
            <a:ext cx="1463040" cy="128016"/>
          </a:xfrm>
          <a:prstGeom prst="rect">
            <a:avLst/>
          </a:prstGeom>
          <a:solidFill>
            <a:srgbClr val="3E7BFA"/>
          </a:solidFill>
          <a:ln w="12700">
            <a:solidFill>
              <a:srgbClr val="3E7BFA"/>
            </a:solidFill>
            <a:prstDash val="solid"/>
          </a:ln>
        </p:spPr>
      </p:sp>
      <p:sp>
        <p:nvSpPr>
          <p:cNvPr id="15" name="playhead-444"/>
          <p:cNvSpPr/>
          <p:nvPr/>
        </p:nvSpPr>
        <p:spPr>
          <a:xfrm>
            <a:off x="1481328" y="3218688"/>
            <a:ext cx="0" cy="685800"/>
          </a:xfrm>
          <a:prstGeom prst="line">
            <a:avLst/>
          </a:prstGeom>
          <a:noFill/>
          <a:ln w="19050">
            <a:solidFill>
              <a:srgbClr val="FFFFFF"/>
            </a:solidFill>
            <a:prstDash val="solid"/>
          </a:ln>
        </p:spPr>
      </p:sp>
      <p:sp>
        <p:nvSpPr>
          <p:cNvPr id="16" name="text-445"/>
          <p:cNvSpPr txBox="1"/>
          <p:nvPr/>
        </p:nvSpPr>
        <p:spPr>
          <a:xfrm>
            <a:off x="658368" y="4279392"/>
            <a:ext cx="493776" cy="228600"/>
          </a:xfrm>
          <a:prstGeom prst="rect">
            <a:avLst/>
          </a:prstGeom>
          <a:noFill/>
          <a:ln/>
        </p:spPr>
        <p:txBody>
          <a:bodyPr wrap="square" lIns="0" tIns="0" rIns="0" bIns="0" rtlCol="0" anchor="t"/>
          <a:lstStyle/>
          <a:p>
            <a:pPr algn="ctr" indent="0" marL="0">
              <a:buNone/>
            </a:pPr>
            <a:r>
              <a:rPr lang="en-US" sz="800" dirty="0">
                <a:solidFill>
                  <a:srgbClr val="FFFFFF"/>
                </a:solidFill>
              </a:rPr>
              <a:t>Edit</a:t>
            </a:r>
            <a:endParaRPr lang="en-US" sz="800" dirty="0"/>
          </a:p>
        </p:txBody>
      </p:sp>
      <p:sp>
        <p:nvSpPr>
          <p:cNvPr id="17" name="text-446"/>
          <p:cNvSpPr txBox="1"/>
          <p:nvPr/>
        </p:nvSpPr>
        <p:spPr>
          <a:xfrm>
            <a:off x="1152144" y="4279392"/>
            <a:ext cx="493776" cy="228600"/>
          </a:xfrm>
          <a:prstGeom prst="rect">
            <a:avLst/>
          </a:prstGeom>
          <a:noFill/>
          <a:ln/>
        </p:spPr>
        <p:txBody>
          <a:bodyPr wrap="square" lIns="0" tIns="0" rIns="0" bIns="0" rtlCol="0" anchor="t"/>
          <a:lstStyle/>
          <a:p>
            <a:pPr algn="ctr" indent="0" marL="0">
              <a:buNone/>
            </a:pPr>
            <a:r>
              <a:rPr lang="en-US" sz="800" dirty="0">
                <a:solidFill>
                  <a:srgbClr val="FFFFFF"/>
                </a:solidFill>
              </a:rPr>
              <a:t>Audio</a:t>
            </a:r>
            <a:endParaRPr lang="en-US" sz="800" dirty="0"/>
          </a:p>
        </p:txBody>
      </p:sp>
      <p:sp>
        <p:nvSpPr>
          <p:cNvPr id="18" name="text-447"/>
          <p:cNvSpPr txBox="1"/>
          <p:nvPr/>
        </p:nvSpPr>
        <p:spPr>
          <a:xfrm>
            <a:off x="1645920" y="4279392"/>
            <a:ext cx="493776" cy="228600"/>
          </a:xfrm>
          <a:prstGeom prst="rect">
            <a:avLst/>
          </a:prstGeom>
          <a:noFill/>
          <a:ln/>
        </p:spPr>
        <p:txBody>
          <a:bodyPr wrap="square" lIns="0" tIns="0" rIns="0" bIns="0" rtlCol="0" anchor="t"/>
          <a:lstStyle/>
          <a:p>
            <a:pPr algn="ctr" indent="0" marL="0">
              <a:buNone/>
            </a:pPr>
            <a:r>
              <a:rPr lang="en-US" sz="800" dirty="0">
                <a:solidFill>
                  <a:srgbClr val="FFFFFF"/>
                </a:solidFill>
              </a:rPr>
              <a:t>Text</a:t>
            </a:r>
            <a:endParaRPr lang="en-US" sz="800" dirty="0"/>
          </a:p>
        </p:txBody>
      </p:sp>
      <p:sp>
        <p:nvSpPr>
          <p:cNvPr id="19" name="text-448"/>
          <p:cNvSpPr txBox="1"/>
          <p:nvPr/>
        </p:nvSpPr>
        <p:spPr>
          <a:xfrm>
            <a:off x="2139696" y="4279392"/>
            <a:ext cx="493776" cy="228600"/>
          </a:xfrm>
          <a:prstGeom prst="rect">
            <a:avLst/>
          </a:prstGeom>
          <a:noFill/>
          <a:ln/>
        </p:spPr>
        <p:txBody>
          <a:bodyPr wrap="square" lIns="0" tIns="0" rIns="0" bIns="0" rtlCol="0" anchor="t"/>
          <a:lstStyle/>
          <a:p>
            <a:pPr algn="ctr" indent="0" marL="0">
              <a:buNone/>
            </a:pPr>
            <a:r>
              <a:rPr lang="en-US" sz="800" dirty="0">
                <a:solidFill>
                  <a:srgbClr val="FFFFFF"/>
                </a:solidFill>
              </a:rPr>
              <a:t>Effects</a:t>
            </a:r>
            <a:endParaRPr lang="en-US" sz="800" dirty="0"/>
          </a:p>
        </p:txBody>
      </p:sp>
      <p:sp>
        <p:nvSpPr>
          <p:cNvPr id="20" name="num-449"/>
          <p:cNvSpPr/>
          <p:nvPr/>
        </p:nvSpPr>
        <p:spPr>
          <a:xfrm>
            <a:off x="2880360" y="3236976"/>
            <a:ext cx="274320" cy="274320"/>
          </a:xfrm>
          <a:prstGeom prst="ellipse">
            <a:avLst/>
          </a:prstGeom>
          <a:solidFill>
            <a:schemeClr val="accent2"/>
          </a:solidFill>
          <a:ln w="12700">
            <a:solidFill>
              <a:schemeClr val="accent2"/>
            </a:solidFill>
            <a:prstDash val="solid"/>
          </a:ln>
        </p:spPr>
      </p:sp>
      <p:sp>
        <p:nvSpPr>
          <p:cNvPr id="21" name="text-450"/>
          <p:cNvSpPr txBox="1"/>
          <p:nvPr/>
        </p:nvSpPr>
        <p:spPr>
          <a:xfrm>
            <a:off x="2880360" y="323697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2" name="arrow-451"/>
          <p:cNvSpPr/>
          <p:nvPr/>
        </p:nvSpPr>
        <p:spPr>
          <a:xfrm flipH="1">
            <a:off x="2212848" y="3374136"/>
            <a:ext cx="649224" cy="73152"/>
          </a:xfrm>
          <a:prstGeom prst="line">
            <a:avLst/>
          </a:prstGeom>
          <a:noFill/>
          <a:ln w="22225">
            <a:solidFill>
              <a:schemeClr val="accent2"/>
            </a:solidFill>
            <a:prstDash val="solid"/>
            <a:tailEnd type="triangle"/>
          </a:ln>
        </p:spPr>
      </p:sp>
      <p:sp>
        <p:nvSpPr>
          <p:cNvPr id="23" name="num-452"/>
          <p:cNvSpPr/>
          <p:nvPr/>
        </p:nvSpPr>
        <p:spPr>
          <a:xfrm>
            <a:off x="2880360" y="3721608"/>
            <a:ext cx="274320" cy="274320"/>
          </a:xfrm>
          <a:prstGeom prst="ellipse">
            <a:avLst/>
          </a:prstGeom>
          <a:solidFill>
            <a:schemeClr val="accent2"/>
          </a:solidFill>
          <a:ln w="12700">
            <a:solidFill>
              <a:schemeClr val="accent2"/>
            </a:solidFill>
            <a:prstDash val="solid"/>
          </a:ln>
        </p:spPr>
      </p:sp>
      <p:sp>
        <p:nvSpPr>
          <p:cNvPr id="24" name="text-453"/>
          <p:cNvSpPr txBox="1"/>
          <p:nvPr/>
        </p:nvSpPr>
        <p:spPr>
          <a:xfrm>
            <a:off x="2880360" y="372160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5" name="arrow-454"/>
          <p:cNvSpPr/>
          <p:nvPr/>
        </p:nvSpPr>
        <p:spPr>
          <a:xfrm flipH="1" flipV="1">
            <a:off x="2185416" y="3785616"/>
            <a:ext cx="676656" cy="73152"/>
          </a:xfrm>
          <a:prstGeom prst="line">
            <a:avLst/>
          </a:prstGeom>
          <a:noFill/>
          <a:ln w="22225">
            <a:solidFill>
              <a:schemeClr val="accent2"/>
            </a:solidFill>
            <a:prstDash val="solid"/>
            <a:tailEnd type="triangle"/>
          </a:ln>
        </p:spPr>
      </p:sp>
      <p:sp>
        <p:nvSpPr>
          <p:cNvPr id="26" name="num-455"/>
          <p:cNvSpPr/>
          <p:nvPr/>
        </p:nvSpPr>
        <p:spPr>
          <a:xfrm>
            <a:off x="2880360" y="2761488"/>
            <a:ext cx="274320" cy="274320"/>
          </a:xfrm>
          <a:prstGeom prst="ellipse">
            <a:avLst/>
          </a:prstGeom>
          <a:solidFill>
            <a:schemeClr val="accent2"/>
          </a:solidFill>
          <a:ln w="12700">
            <a:solidFill>
              <a:schemeClr val="accent2"/>
            </a:solidFill>
            <a:prstDash val="solid"/>
          </a:ln>
        </p:spPr>
      </p:sp>
      <p:sp>
        <p:nvSpPr>
          <p:cNvPr id="27" name="text-456"/>
          <p:cNvSpPr txBox="1"/>
          <p:nvPr/>
        </p:nvSpPr>
        <p:spPr>
          <a:xfrm>
            <a:off x="2880360" y="276148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8" name="arrow-457"/>
          <p:cNvSpPr/>
          <p:nvPr/>
        </p:nvSpPr>
        <p:spPr>
          <a:xfrm flipH="1">
            <a:off x="1755648" y="2898648"/>
            <a:ext cx="1106424" cy="521208"/>
          </a:xfrm>
          <a:prstGeom prst="line">
            <a:avLst/>
          </a:prstGeom>
          <a:noFill/>
          <a:ln w="22225">
            <a:solidFill>
              <a:schemeClr val="accent2"/>
            </a:solidFill>
            <a:prstDash val="solid"/>
            <a:tailEnd type="triangle"/>
          </a:ln>
        </p:spPr>
      </p:sp>
      <p:sp>
        <p:nvSpPr>
          <p:cNvPr id="29" name="text-458"/>
          <p:cNvSpPr txBox="1"/>
          <p:nvPr/>
        </p:nvSpPr>
        <p:spPr>
          <a:xfrm>
            <a:off x="457200" y="4736592"/>
            <a:ext cx="3931920" cy="164592"/>
          </a:xfrm>
          <a:prstGeom prst="rect">
            <a:avLst/>
          </a:prstGeom>
          <a:noFill/>
          <a:ln/>
        </p:spPr>
        <p:txBody>
          <a:bodyPr wrap="square" lIns="0" tIns="0" rIns="0" bIns="0" rtlCol="0" anchor="t"/>
          <a:lstStyle/>
          <a:p>
            <a:pPr indent="0" marL="0">
              <a:buNone/>
            </a:pPr>
            <a:r>
              <a:rPr lang="en-US" sz="800" i="1" dirty="0">
                <a:solidFill>
                  <a:schemeClr val="tx2"/>
                </a:solidFill>
              </a:rPr>
              <a:t>Schemă simplificată, nu captură reală. Denumirile pot diferi în funcție de versiune și limbă.</a:t>
            </a:r>
            <a:endParaRPr lang="en-US" sz="800" dirty="0"/>
          </a:p>
        </p:txBody>
      </p:sp>
      <p:sp>
        <p:nvSpPr>
          <p:cNvPr id="30" name="num-459"/>
          <p:cNvSpPr/>
          <p:nvPr/>
        </p:nvSpPr>
        <p:spPr>
          <a:xfrm>
            <a:off x="3657600" y="1188720"/>
            <a:ext cx="384048" cy="384048"/>
          </a:xfrm>
          <a:prstGeom prst="ellipse">
            <a:avLst/>
          </a:prstGeom>
          <a:solidFill>
            <a:schemeClr val="tx1"/>
          </a:solidFill>
          <a:ln w="12700">
            <a:solidFill>
              <a:schemeClr val="tx1"/>
            </a:solidFill>
            <a:prstDash val="solid"/>
          </a:ln>
        </p:spPr>
      </p:sp>
      <p:sp>
        <p:nvSpPr>
          <p:cNvPr id="31" name="text-460"/>
          <p:cNvSpPr txBox="1"/>
          <p:nvPr/>
        </p:nvSpPr>
        <p:spPr>
          <a:xfrm>
            <a:off x="365760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2" name="text-461"/>
          <p:cNvSpPr txBox="1"/>
          <p:nvPr/>
        </p:nvSpPr>
        <p:spPr>
          <a:xfrm>
            <a:off x="4206240" y="1143000"/>
            <a:ext cx="4480560" cy="256032"/>
          </a:xfrm>
          <a:prstGeom prst="rect">
            <a:avLst/>
          </a:prstGeom>
          <a:noFill/>
          <a:ln/>
        </p:spPr>
        <p:txBody>
          <a:bodyPr wrap="square" lIns="0" tIns="0" rIns="0" bIns="0" rtlCol="0" anchor="t"/>
          <a:lstStyle/>
          <a:p>
            <a:pPr indent="0" marL="0">
              <a:buNone/>
            </a:pPr>
            <a:r>
              <a:rPr lang="en-US" sz="1400" b="1" dirty="0">
                <a:solidFill>
                  <a:schemeClr val="tx1"/>
                </a:solidFill>
              </a:rPr>
              <a:t>Importă</a:t>
            </a:r>
            <a:endParaRPr lang="en-US" sz="1400" dirty="0"/>
          </a:p>
        </p:txBody>
      </p:sp>
      <p:sp>
        <p:nvSpPr>
          <p:cNvPr id="33" name="text-462"/>
          <p:cNvSpPr txBox="1"/>
          <p:nvPr/>
        </p:nvSpPr>
        <p:spPr>
          <a:xfrm>
            <a:off x="4206240" y="1399032"/>
            <a:ext cx="4480560" cy="274320"/>
          </a:xfrm>
          <a:prstGeom prst="rect">
            <a:avLst/>
          </a:prstGeom>
          <a:noFill/>
          <a:ln/>
        </p:spPr>
        <p:txBody>
          <a:bodyPr wrap="square" lIns="0" tIns="0" rIns="0" bIns="0" rtlCol="0" anchor="t"/>
          <a:lstStyle/>
          <a:p>
            <a:pPr indent="0" marL="0">
              <a:buNone/>
            </a:pPr>
            <a:r>
              <a:rPr lang="en-US" sz="1300" dirty="0">
                <a:solidFill>
                  <a:schemeClr val="tx2"/>
                </a:solidFill>
              </a:rPr>
              <a:t>Proiect nou → alegi clipurile → Adaugă</a:t>
            </a:r>
            <a:endParaRPr lang="en-US" sz="1300" dirty="0"/>
          </a:p>
        </p:txBody>
      </p:sp>
      <p:sp>
        <p:nvSpPr>
          <p:cNvPr id="34" name="num-463"/>
          <p:cNvSpPr/>
          <p:nvPr/>
        </p:nvSpPr>
        <p:spPr>
          <a:xfrm>
            <a:off x="3657600" y="1792224"/>
            <a:ext cx="384048" cy="384048"/>
          </a:xfrm>
          <a:prstGeom prst="ellipse">
            <a:avLst/>
          </a:prstGeom>
          <a:solidFill>
            <a:schemeClr val="tx1"/>
          </a:solidFill>
          <a:ln w="12700">
            <a:solidFill>
              <a:schemeClr val="tx1"/>
            </a:solidFill>
            <a:prstDash val="solid"/>
          </a:ln>
        </p:spPr>
      </p:sp>
      <p:sp>
        <p:nvSpPr>
          <p:cNvPr id="35" name="text-464"/>
          <p:cNvSpPr txBox="1"/>
          <p:nvPr/>
        </p:nvSpPr>
        <p:spPr>
          <a:xfrm>
            <a:off x="3657600" y="179222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6" name="text-465"/>
          <p:cNvSpPr txBox="1"/>
          <p:nvPr/>
        </p:nvSpPr>
        <p:spPr>
          <a:xfrm>
            <a:off x="4206240" y="1746504"/>
            <a:ext cx="4480560" cy="256032"/>
          </a:xfrm>
          <a:prstGeom prst="rect">
            <a:avLst/>
          </a:prstGeom>
          <a:noFill/>
          <a:ln/>
        </p:spPr>
        <p:txBody>
          <a:bodyPr wrap="square" lIns="0" tIns="0" rIns="0" bIns="0" rtlCol="0" anchor="t"/>
          <a:lstStyle/>
          <a:p>
            <a:pPr indent="0" marL="0">
              <a:buNone/>
            </a:pPr>
            <a:r>
              <a:rPr lang="en-US" sz="1400" b="1" dirty="0">
                <a:solidFill>
                  <a:schemeClr val="tx1"/>
                </a:solidFill>
              </a:rPr>
              <a:t>Taie și scurtează</a:t>
            </a:r>
            <a:endParaRPr lang="en-US" sz="1400" dirty="0"/>
          </a:p>
        </p:txBody>
      </p:sp>
      <p:sp>
        <p:nvSpPr>
          <p:cNvPr id="37" name="text-466"/>
          <p:cNvSpPr txBox="1"/>
          <p:nvPr/>
        </p:nvSpPr>
        <p:spPr>
          <a:xfrm>
            <a:off x="4206240" y="2002536"/>
            <a:ext cx="4480560" cy="274320"/>
          </a:xfrm>
          <a:prstGeom prst="rect">
            <a:avLst/>
          </a:prstGeom>
          <a:noFill/>
          <a:ln/>
        </p:spPr>
        <p:txBody>
          <a:bodyPr wrap="square" lIns="0" tIns="0" rIns="0" bIns="0" rtlCol="0" anchor="t"/>
          <a:lstStyle/>
          <a:p>
            <a:pPr indent="0" marL="0">
              <a:buNone/>
            </a:pPr>
            <a:r>
              <a:rPr lang="en-US" sz="1300" dirty="0">
                <a:solidFill>
                  <a:schemeClr val="tx2"/>
                </a:solidFill>
              </a:rPr>
              <a:t>Atingi clipul → tragi marginile sau Split → Delete</a:t>
            </a:r>
            <a:endParaRPr lang="en-US" sz="1300" dirty="0"/>
          </a:p>
        </p:txBody>
      </p:sp>
      <p:sp>
        <p:nvSpPr>
          <p:cNvPr id="38" name="num-467"/>
          <p:cNvSpPr/>
          <p:nvPr/>
        </p:nvSpPr>
        <p:spPr>
          <a:xfrm>
            <a:off x="3657600" y="2395728"/>
            <a:ext cx="384048" cy="384048"/>
          </a:xfrm>
          <a:prstGeom prst="ellipse">
            <a:avLst/>
          </a:prstGeom>
          <a:solidFill>
            <a:schemeClr val="tx1"/>
          </a:solidFill>
          <a:ln w="12700">
            <a:solidFill>
              <a:schemeClr val="tx1"/>
            </a:solidFill>
            <a:prstDash val="solid"/>
          </a:ln>
        </p:spPr>
      </p:sp>
      <p:sp>
        <p:nvSpPr>
          <p:cNvPr id="39" name="text-468"/>
          <p:cNvSpPr txBox="1"/>
          <p:nvPr/>
        </p:nvSpPr>
        <p:spPr>
          <a:xfrm>
            <a:off x="3657600" y="23957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40" name="text-469"/>
          <p:cNvSpPr txBox="1"/>
          <p:nvPr/>
        </p:nvSpPr>
        <p:spPr>
          <a:xfrm>
            <a:off x="4206240" y="2350008"/>
            <a:ext cx="4480560" cy="256032"/>
          </a:xfrm>
          <a:prstGeom prst="rect">
            <a:avLst/>
          </a:prstGeom>
          <a:noFill/>
          <a:ln/>
        </p:spPr>
        <p:txBody>
          <a:bodyPr wrap="square" lIns="0" tIns="0" rIns="0" bIns="0" rtlCol="0" anchor="t"/>
          <a:lstStyle/>
          <a:p>
            <a:pPr indent="0" marL="0">
              <a:buNone/>
            </a:pPr>
            <a:r>
              <a:rPr lang="en-US" sz="1400" b="1" dirty="0">
                <a:solidFill>
                  <a:schemeClr val="tx1"/>
                </a:solidFill>
              </a:rPr>
              <a:t>Schimbă ordinea</a:t>
            </a:r>
            <a:endParaRPr lang="en-US" sz="1400" dirty="0"/>
          </a:p>
        </p:txBody>
      </p:sp>
      <p:sp>
        <p:nvSpPr>
          <p:cNvPr id="41" name="text-470"/>
          <p:cNvSpPr txBox="1"/>
          <p:nvPr/>
        </p:nvSpPr>
        <p:spPr>
          <a:xfrm>
            <a:off x="4206240" y="2606040"/>
            <a:ext cx="4480560" cy="274320"/>
          </a:xfrm>
          <a:prstGeom prst="rect">
            <a:avLst/>
          </a:prstGeom>
          <a:noFill/>
          <a:ln/>
        </p:spPr>
        <p:txBody>
          <a:bodyPr wrap="square" lIns="0" tIns="0" rIns="0" bIns="0" rtlCol="0" anchor="t"/>
          <a:lstStyle/>
          <a:p>
            <a:pPr indent="0" marL="0">
              <a:buNone/>
            </a:pPr>
            <a:r>
              <a:rPr lang="en-US" sz="1300" dirty="0">
                <a:solidFill>
                  <a:schemeClr val="tx2"/>
                </a:solidFill>
              </a:rPr>
              <a:t>Ții apăsat pe clip și îl tragi</a:t>
            </a:r>
            <a:endParaRPr lang="en-US" sz="1300" dirty="0"/>
          </a:p>
        </p:txBody>
      </p:sp>
      <p:sp>
        <p:nvSpPr>
          <p:cNvPr id="42" name="num-471"/>
          <p:cNvSpPr/>
          <p:nvPr/>
        </p:nvSpPr>
        <p:spPr>
          <a:xfrm>
            <a:off x="3657600" y="2999232"/>
            <a:ext cx="384048" cy="384048"/>
          </a:xfrm>
          <a:prstGeom prst="ellipse">
            <a:avLst/>
          </a:prstGeom>
          <a:solidFill>
            <a:schemeClr val="tx1"/>
          </a:solidFill>
          <a:ln w="12700">
            <a:solidFill>
              <a:schemeClr val="tx1"/>
            </a:solidFill>
            <a:prstDash val="solid"/>
          </a:ln>
        </p:spPr>
      </p:sp>
      <p:sp>
        <p:nvSpPr>
          <p:cNvPr id="43" name="text-472"/>
          <p:cNvSpPr txBox="1"/>
          <p:nvPr/>
        </p:nvSpPr>
        <p:spPr>
          <a:xfrm>
            <a:off x="3657600" y="29992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44" name="text-473"/>
          <p:cNvSpPr txBox="1"/>
          <p:nvPr/>
        </p:nvSpPr>
        <p:spPr>
          <a:xfrm>
            <a:off x="4206240" y="2953512"/>
            <a:ext cx="4480560" cy="256032"/>
          </a:xfrm>
          <a:prstGeom prst="rect">
            <a:avLst/>
          </a:prstGeom>
          <a:noFill/>
          <a:ln/>
        </p:spPr>
        <p:txBody>
          <a:bodyPr wrap="square" lIns="0" tIns="0" rIns="0" bIns="0" rtlCol="0" anchor="t"/>
          <a:lstStyle/>
          <a:p>
            <a:pPr indent="0" marL="0">
              <a:buNone/>
            </a:pPr>
            <a:r>
              <a:rPr lang="en-US" sz="1400" b="1" dirty="0">
                <a:solidFill>
                  <a:schemeClr val="tx1"/>
                </a:solidFill>
              </a:rPr>
              <a:t>Modifică viteza</a:t>
            </a:r>
            <a:endParaRPr lang="en-US" sz="1400" dirty="0"/>
          </a:p>
        </p:txBody>
      </p:sp>
      <p:sp>
        <p:nvSpPr>
          <p:cNvPr id="45" name="text-474"/>
          <p:cNvSpPr txBox="1"/>
          <p:nvPr/>
        </p:nvSpPr>
        <p:spPr>
          <a:xfrm>
            <a:off x="4206240" y="3209544"/>
            <a:ext cx="4480560" cy="274320"/>
          </a:xfrm>
          <a:prstGeom prst="rect">
            <a:avLst/>
          </a:prstGeom>
          <a:noFill/>
          <a:ln/>
        </p:spPr>
        <p:txBody>
          <a:bodyPr wrap="square" lIns="0" tIns="0" rIns="0" bIns="0" rtlCol="0" anchor="t"/>
          <a:lstStyle/>
          <a:p>
            <a:pPr indent="0" marL="0">
              <a:buNone/>
            </a:pPr>
            <a:r>
              <a:rPr lang="en-US" sz="1300" dirty="0">
                <a:solidFill>
                  <a:schemeClr val="tx2"/>
                </a:solidFill>
              </a:rPr>
              <a:t>Clip → Speed → Normal sau Curve</a:t>
            </a:r>
            <a:endParaRPr lang="en-US" sz="1300" dirty="0"/>
          </a:p>
        </p:txBody>
      </p:sp>
      <p:sp>
        <p:nvSpPr>
          <p:cNvPr id="46" name="num-475"/>
          <p:cNvSpPr/>
          <p:nvPr/>
        </p:nvSpPr>
        <p:spPr>
          <a:xfrm>
            <a:off x="3657600" y="3602736"/>
            <a:ext cx="384048" cy="384048"/>
          </a:xfrm>
          <a:prstGeom prst="ellipse">
            <a:avLst/>
          </a:prstGeom>
          <a:solidFill>
            <a:schemeClr val="tx1"/>
          </a:solidFill>
          <a:ln w="12700">
            <a:solidFill>
              <a:schemeClr val="tx1"/>
            </a:solidFill>
            <a:prstDash val="solid"/>
          </a:ln>
        </p:spPr>
      </p:sp>
      <p:sp>
        <p:nvSpPr>
          <p:cNvPr id="47" name="text-476"/>
          <p:cNvSpPr txBox="1"/>
          <p:nvPr/>
        </p:nvSpPr>
        <p:spPr>
          <a:xfrm>
            <a:off x="3657600" y="36027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48" name="text-477"/>
          <p:cNvSpPr txBox="1"/>
          <p:nvPr/>
        </p:nvSpPr>
        <p:spPr>
          <a:xfrm>
            <a:off x="4206240" y="3557016"/>
            <a:ext cx="4480560" cy="256032"/>
          </a:xfrm>
          <a:prstGeom prst="rect">
            <a:avLst/>
          </a:prstGeom>
          <a:noFill/>
          <a:ln/>
        </p:spPr>
        <p:txBody>
          <a:bodyPr wrap="square" lIns="0" tIns="0" rIns="0" bIns="0" rtlCol="0" anchor="t"/>
          <a:lstStyle/>
          <a:p>
            <a:pPr indent="0" marL="0">
              <a:buNone/>
            </a:pPr>
            <a:r>
              <a:rPr lang="en-US" sz="1400" b="1" dirty="0">
                <a:solidFill>
                  <a:schemeClr val="tx1"/>
                </a:solidFill>
              </a:rPr>
              <a:t>Muzică și sunete</a:t>
            </a:r>
            <a:endParaRPr lang="en-US" sz="1400" dirty="0"/>
          </a:p>
        </p:txBody>
      </p:sp>
      <p:sp>
        <p:nvSpPr>
          <p:cNvPr id="49" name="text-478"/>
          <p:cNvSpPr txBox="1"/>
          <p:nvPr/>
        </p:nvSpPr>
        <p:spPr>
          <a:xfrm>
            <a:off x="4206240" y="3813048"/>
            <a:ext cx="4480560" cy="274320"/>
          </a:xfrm>
          <a:prstGeom prst="rect">
            <a:avLst/>
          </a:prstGeom>
          <a:noFill/>
          <a:ln/>
        </p:spPr>
        <p:txBody>
          <a:bodyPr wrap="square" lIns="0" tIns="0" rIns="0" bIns="0" rtlCol="0" anchor="t"/>
          <a:lstStyle/>
          <a:p>
            <a:pPr indent="0" marL="0">
              <a:buNone/>
            </a:pPr>
            <a:r>
              <a:rPr lang="en-US" sz="1300" dirty="0">
                <a:solidFill>
                  <a:schemeClr val="tx2"/>
                </a:solidFill>
              </a:rPr>
              <a:t>Audio → Sounds sau Extracted</a:t>
            </a:r>
            <a:endParaRPr lang="en-US" sz="1300" dirty="0"/>
          </a:p>
        </p:txBody>
      </p:sp>
      <p:sp>
        <p:nvSpPr>
          <p:cNvPr id="50" name="num-479"/>
          <p:cNvSpPr/>
          <p:nvPr/>
        </p:nvSpPr>
        <p:spPr>
          <a:xfrm>
            <a:off x="3657600" y="4206240"/>
            <a:ext cx="384048" cy="384048"/>
          </a:xfrm>
          <a:prstGeom prst="ellipse">
            <a:avLst/>
          </a:prstGeom>
          <a:solidFill>
            <a:schemeClr val="tx1"/>
          </a:solidFill>
          <a:ln w="12700">
            <a:solidFill>
              <a:schemeClr val="tx1"/>
            </a:solidFill>
            <a:prstDash val="solid"/>
          </a:ln>
        </p:spPr>
      </p:sp>
      <p:sp>
        <p:nvSpPr>
          <p:cNvPr id="51" name="text-480"/>
          <p:cNvSpPr txBox="1"/>
          <p:nvPr/>
        </p:nvSpPr>
        <p:spPr>
          <a:xfrm>
            <a:off x="3657600" y="4206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52" name="text-481"/>
          <p:cNvSpPr txBox="1"/>
          <p:nvPr/>
        </p:nvSpPr>
        <p:spPr>
          <a:xfrm>
            <a:off x="4206240" y="4160520"/>
            <a:ext cx="4480560" cy="256032"/>
          </a:xfrm>
          <a:prstGeom prst="rect">
            <a:avLst/>
          </a:prstGeom>
          <a:noFill/>
          <a:ln/>
        </p:spPr>
        <p:txBody>
          <a:bodyPr wrap="square" lIns="0" tIns="0" rIns="0" bIns="0" rtlCol="0" anchor="t"/>
          <a:lstStyle/>
          <a:p>
            <a:pPr indent="0" marL="0">
              <a:buNone/>
            </a:pPr>
            <a:r>
              <a:rPr lang="en-US" sz="1400" b="1" dirty="0">
                <a:solidFill>
                  <a:schemeClr val="tx1"/>
                </a:solidFill>
              </a:rPr>
              <a:t>Tranziții</a:t>
            </a:r>
            <a:endParaRPr lang="en-US" sz="1400" dirty="0"/>
          </a:p>
        </p:txBody>
      </p:sp>
      <p:sp>
        <p:nvSpPr>
          <p:cNvPr id="53" name="text-482"/>
          <p:cNvSpPr txBox="1"/>
          <p:nvPr/>
        </p:nvSpPr>
        <p:spPr>
          <a:xfrm>
            <a:off x="4206240" y="4416552"/>
            <a:ext cx="4480560" cy="274320"/>
          </a:xfrm>
          <a:prstGeom prst="rect">
            <a:avLst/>
          </a:prstGeom>
          <a:noFill/>
          <a:ln/>
        </p:spPr>
        <p:txBody>
          <a:bodyPr wrap="square" lIns="0" tIns="0" rIns="0" bIns="0" rtlCol="0" anchor="t"/>
          <a:lstStyle/>
          <a:p>
            <a:pPr indent="0" marL="0">
              <a:buNone/>
            </a:pPr>
            <a:r>
              <a:rPr lang="en-US" sz="1300" dirty="0">
                <a:solidFill>
                  <a:schemeClr val="tx2"/>
                </a:solidFill>
              </a:rPr>
              <a:t>Pătrățelul alb dintre clipuri</a:t>
            </a:r>
            <a:endParaRPr lang="en-US" sz="13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V · EDITARE VIDEO CU CAPCUT</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CapCut, pas cu pas: text, voce, export</a:t>
            </a:r>
            <a:endParaRPr lang="en-US" sz="2800" dirty="0"/>
          </a:p>
        </p:txBody>
      </p:sp>
      <p:pic>
        <p:nvPicPr>
          <p:cNvPr id="4" name="watermark-483" descr="preencoded.png">    </p:cNvPr>
          <p:cNvPicPr>
            <a:picLocks noChangeAspect="1"/>
          </p:cNvPicPr>
          <p:nvPr/>
        </p:nvPicPr>
        <p:blipFill>
          <a:blip r:embed="rId1">
            <a:alphaModFix amt="5000"/>
          </a:blip>
          <a:stretch>
            <a:fillRect/>
          </a:stretch>
        </p:blipFill>
        <p:spPr>
          <a:xfrm>
            <a:off x="7086600" y="3063240"/>
            <a:ext cx="1920240" cy="1920240"/>
          </a:xfrm>
          <a:prstGeom prst="rect">
            <a:avLst/>
          </a:prstGeom>
        </p:spPr>
      </p:pic>
      <p:sp>
        <p:nvSpPr>
          <p:cNvPr id="5" name="card-484"/>
          <p:cNvSpPr/>
          <p:nvPr/>
        </p:nvSpPr>
        <p:spPr>
          <a:xfrm>
            <a:off x="457200" y="1188720"/>
            <a:ext cx="2606040" cy="1618488"/>
          </a:xfrm>
          <a:prstGeom prst="roundRect">
            <a:avLst>
              <a:gd name="adj" fmla="val 6780"/>
            </a:avLst>
          </a:prstGeom>
          <a:solidFill>
            <a:schemeClr val="bg2"/>
          </a:solidFill>
          <a:ln w="12700">
            <a:solidFill>
              <a:schemeClr val="bg2"/>
            </a:solidFill>
            <a:prstDash val="solid"/>
          </a:ln>
        </p:spPr>
      </p:sp>
      <p:sp>
        <p:nvSpPr>
          <p:cNvPr id="6" name="num-485"/>
          <p:cNvSpPr/>
          <p:nvPr/>
        </p:nvSpPr>
        <p:spPr>
          <a:xfrm>
            <a:off x="621792" y="1353312"/>
            <a:ext cx="384048" cy="384048"/>
          </a:xfrm>
          <a:prstGeom prst="ellipse">
            <a:avLst/>
          </a:prstGeom>
          <a:solidFill>
            <a:schemeClr val="accent2"/>
          </a:solidFill>
          <a:ln w="12700">
            <a:solidFill>
              <a:schemeClr val="accent2"/>
            </a:solidFill>
            <a:prstDash val="solid"/>
          </a:ln>
        </p:spPr>
      </p:sp>
      <p:sp>
        <p:nvSpPr>
          <p:cNvPr id="7" name="text-486"/>
          <p:cNvSpPr txBox="1"/>
          <p:nvPr/>
        </p:nvSpPr>
        <p:spPr>
          <a:xfrm>
            <a:off x="621792" y="13533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pic>
        <p:nvPicPr>
          <p:cNvPr id="8" name="ui-487" descr="preencoded.png">    </p:cNvPr>
          <p:cNvPicPr>
            <a:picLocks noChangeAspect="1"/>
          </p:cNvPicPr>
          <p:nvPr/>
        </p:nvPicPr>
        <p:blipFill>
          <a:blip r:embed="rId2"/>
          <a:stretch>
            <a:fillRect/>
          </a:stretch>
        </p:blipFill>
        <p:spPr>
          <a:xfrm>
            <a:off x="2633472" y="1371600"/>
            <a:ext cx="274320" cy="274320"/>
          </a:xfrm>
          <a:prstGeom prst="rect">
            <a:avLst/>
          </a:prstGeom>
        </p:spPr>
      </p:pic>
      <p:sp>
        <p:nvSpPr>
          <p:cNvPr id="9" name="text-488"/>
          <p:cNvSpPr txBox="1"/>
          <p:nvPr/>
        </p:nvSpPr>
        <p:spPr>
          <a:xfrm>
            <a:off x="1115568" y="1353312"/>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Text</a:t>
            </a:r>
            <a:endParaRPr lang="en-US" sz="1400" dirty="0"/>
          </a:p>
        </p:txBody>
      </p:sp>
      <p:sp>
        <p:nvSpPr>
          <p:cNvPr id="10" name="text-489"/>
          <p:cNvSpPr txBox="1"/>
          <p:nvPr/>
        </p:nvSpPr>
        <p:spPr>
          <a:xfrm>
            <a:off x="621792" y="1874520"/>
            <a:ext cx="2286000" cy="868680"/>
          </a:xfrm>
          <a:prstGeom prst="rect">
            <a:avLst/>
          </a:prstGeom>
          <a:noFill/>
          <a:ln/>
        </p:spPr>
        <p:txBody>
          <a:bodyPr wrap="square" lIns="0" tIns="0" rIns="0" bIns="0" rtlCol="0" anchor="t"/>
          <a:lstStyle/>
          <a:p>
            <a:pPr indent="0" marL="0">
              <a:buNone/>
            </a:pPr>
            <a:r>
              <a:rPr lang="en-US" sz="1200" dirty="0">
                <a:solidFill>
                  <a:schemeClr val="tx2"/>
                </a:solidFill>
              </a:rPr>
              <a:t>Text → Add text. Font mare, contrast bun, zona sigură.</a:t>
            </a:r>
            <a:endParaRPr lang="en-US" sz="1200" dirty="0"/>
          </a:p>
        </p:txBody>
      </p:sp>
      <p:sp>
        <p:nvSpPr>
          <p:cNvPr id="11" name="card-490"/>
          <p:cNvSpPr/>
          <p:nvPr/>
        </p:nvSpPr>
        <p:spPr>
          <a:xfrm>
            <a:off x="3246120" y="1188720"/>
            <a:ext cx="2606040" cy="1618488"/>
          </a:xfrm>
          <a:prstGeom prst="roundRect">
            <a:avLst>
              <a:gd name="adj" fmla="val 6780"/>
            </a:avLst>
          </a:prstGeom>
          <a:solidFill>
            <a:schemeClr val="bg2"/>
          </a:solidFill>
          <a:ln w="12700">
            <a:solidFill>
              <a:schemeClr val="bg2"/>
            </a:solidFill>
            <a:prstDash val="solid"/>
          </a:ln>
        </p:spPr>
      </p:sp>
      <p:sp>
        <p:nvSpPr>
          <p:cNvPr id="12" name="num-491"/>
          <p:cNvSpPr/>
          <p:nvPr/>
        </p:nvSpPr>
        <p:spPr>
          <a:xfrm>
            <a:off x="3410712" y="1353312"/>
            <a:ext cx="384048" cy="384048"/>
          </a:xfrm>
          <a:prstGeom prst="ellipse">
            <a:avLst/>
          </a:prstGeom>
          <a:solidFill>
            <a:schemeClr val="accent2"/>
          </a:solidFill>
          <a:ln w="12700">
            <a:solidFill>
              <a:schemeClr val="accent2"/>
            </a:solidFill>
            <a:prstDash val="solid"/>
          </a:ln>
        </p:spPr>
      </p:sp>
      <p:sp>
        <p:nvSpPr>
          <p:cNvPr id="13" name="text-492"/>
          <p:cNvSpPr txBox="1"/>
          <p:nvPr/>
        </p:nvSpPr>
        <p:spPr>
          <a:xfrm>
            <a:off x="3410712" y="13533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pic>
        <p:nvPicPr>
          <p:cNvPr id="14" name="ui-493" descr="preencoded.png">    </p:cNvPr>
          <p:cNvPicPr>
            <a:picLocks noChangeAspect="1"/>
          </p:cNvPicPr>
          <p:nvPr/>
        </p:nvPicPr>
        <p:blipFill>
          <a:blip r:embed="rId3"/>
          <a:stretch>
            <a:fillRect/>
          </a:stretch>
        </p:blipFill>
        <p:spPr>
          <a:xfrm>
            <a:off x="5422392" y="1371600"/>
            <a:ext cx="274320" cy="274320"/>
          </a:xfrm>
          <a:prstGeom prst="rect">
            <a:avLst/>
          </a:prstGeom>
        </p:spPr>
      </p:pic>
      <p:sp>
        <p:nvSpPr>
          <p:cNvPr id="15" name="text-494"/>
          <p:cNvSpPr txBox="1"/>
          <p:nvPr/>
        </p:nvSpPr>
        <p:spPr>
          <a:xfrm>
            <a:off x="3904488" y="1353312"/>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Subtitrări automate</a:t>
            </a:r>
            <a:endParaRPr lang="en-US" sz="1400" dirty="0"/>
          </a:p>
        </p:txBody>
      </p:sp>
      <p:sp>
        <p:nvSpPr>
          <p:cNvPr id="16" name="text-495"/>
          <p:cNvSpPr txBox="1"/>
          <p:nvPr/>
        </p:nvSpPr>
        <p:spPr>
          <a:xfrm>
            <a:off x="3410712" y="1874520"/>
            <a:ext cx="2286000" cy="868680"/>
          </a:xfrm>
          <a:prstGeom prst="rect">
            <a:avLst/>
          </a:prstGeom>
          <a:noFill/>
          <a:ln/>
        </p:spPr>
        <p:txBody>
          <a:bodyPr wrap="square" lIns="0" tIns="0" rIns="0" bIns="0" rtlCol="0" anchor="t"/>
          <a:lstStyle/>
          <a:p>
            <a:pPr indent="0" marL="0">
              <a:buNone/>
            </a:pPr>
            <a:r>
              <a:rPr lang="en-US" sz="1200" dirty="0">
                <a:solidFill>
                  <a:schemeClr val="tx2"/>
                </a:solidFill>
              </a:rPr>
              <a:t>Text → Auto captions → limba → generezi. Corectezi greșelile.</a:t>
            </a:r>
            <a:endParaRPr lang="en-US" sz="1200" dirty="0"/>
          </a:p>
        </p:txBody>
      </p:sp>
      <p:sp>
        <p:nvSpPr>
          <p:cNvPr id="17" name="card-496"/>
          <p:cNvSpPr/>
          <p:nvPr/>
        </p:nvSpPr>
        <p:spPr>
          <a:xfrm>
            <a:off x="6035040" y="1188720"/>
            <a:ext cx="2606040" cy="1618488"/>
          </a:xfrm>
          <a:prstGeom prst="roundRect">
            <a:avLst>
              <a:gd name="adj" fmla="val 6780"/>
            </a:avLst>
          </a:prstGeom>
          <a:solidFill>
            <a:schemeClr val="bg2"/>
          </a:solidFill>
          <a:ln w="12700">
            <a:solidFill>
              <a:schemeClr val="bg2"/>
            </a:solidFill>
            <a:prstDash val="solid"/>
          </a:ln>
        </p:spPr>
      </p:sp>
      <p:sp>
        <p:nvSpPr>
          <p:cNvPr id="18" name="num-497"/>
          <p:cNvSpPr/>
          <p:nvPr/>
        </p:nvSpPr>
        <p:spPr>
          <a:xfrm>
            <a:off x="6199632" y="1353312"/>
            <a:ext cx="384048" cy="384048"/>
          </a:xfrm>
          <a:prstGeom prst="ellipse">
            <a:avLst/>
          </a:prstGeom>
          <a:solidFill>
            <a:schemeClr val="accent2"/>
          </a:solidFill>
          <a:ln w="12700">
            <a:solidFill>
              <a:schemeClr val="accent2"/>
            </a:solidFill>
            <a:prstDash val="solid"/>
          </a:ln>
        </p:spPr>
      </p:sp>
      <p:sp>
        <p:nvSpPr>
          <p:cNvPr id="19" name="text-498"/>
          <p:cNvSpPr txBox="1"/>
          <p:nvPr/>
        </p:nvSpPr>
        <p:spPr>
          <a:xfrm>
            <a:off x="6199632" y="13533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pic>
        <p:nvPicPr>
          <p:cNvPr id="20" name="ui-499" descr="preencoded.png">    </p:cNvPr>
          <p:cNvPicPr>
            <a:picLocks noChangeAspect="1"/>
          </p:cNvPicPr>
          <p:nvPr/>
        </p:nvPicPr>
        <p:blipFill>
          <a:blip r:embed="rId4"/>
          <a:stretch>
            <a:fillRect/>
          </a:stretch>
        </p:blipFill>
        <p:spPr>
          <a:xfrm>
            <a:off x="8211312" y="1371600"/>
            <a:ext cx="274320" cy="274320"/>
          </a:xfrm>
          <a:prstGeom prst="rect">
            <a:avLst/>
          </a:prstGeom>
        </p:spPr>
      </p:pic>
      <p:sp>
        <p:nvSpPr>
          <p:cNvPr id="21" name="text-500"/>
          <p:cNvSpPr txBox="1"/>
          <p:nvPr/>
        </p:nvSpPr>
        <p:spPr>
          <a:xfrm>
            <a:off x="6693408" y="1353312"/>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Vocea ta</a:t>
            </a:r>
            <a:endParaRPr lang="en-US" sz="1400" dirty="0"/>
          </a:p>
        </p:txBody>
      </p:sp>
      <p:sp>
        <p:nvSpPr>
          <p:cNvPr id="22" name="text-501"/>
          <p:cNvSpPr txBox="1"/>
          <p:nvPr/>
        </p:nvSpPr>
        <p:spPr>
          <a:xfrm>
            <a:off x="6199632" y="1874520"/>
            <a:ext cx="2286000" cy="868680"/>
          </a:xfrm>
          <a:prstGeom prst="rect">
            <a:avLst/>
          </a:prstGeom>
          <a:noFill/>
          <a:ln/>
        </p:spPr>
        <p:txBody>
          <a:bodyPr wrap="square" lIns="0" tIns="0" rIns="0" bIns="0" rtlCol="0" anchor="t"/>
          <a:lstStyle/>
          <a:p>
            <a:pPr indent="0" marL="0">
              <a:buNone/>
            </a:pPr>
            <a:r>
              <a:rPr lang="en-US" sz="1200" dirty="0">
                <a:solidFill>
                  <a:schemeClr val="tx2"/>
                </a:solidFill>
              </a:rPr>
              <a:t>Audio → Record / Voiceover. Ține apăsat și vorbește.</a:t>
            </a:r>
            <a:endParaRPr lang="en-US" sz="1200" dirty="0"/>
          </a:p>
        </p:txBody>
      </p:sp>
      <p:sp>
        <p:nvSpPr>
          <p:cNvPr id="23" name="card-502"/>
          <p:cNvSpPr/>
          <p:nvPr/>
        </p:nvSpPr>
        <p:spPr>
          <a:xfrm>
            <a:off x="457200" y="2944368"/>
            <a:ext cx="2606040" cy="1618488"/>
          </a:xfrm>
          <a:prstGeom prst="roundRect">
            <a:avLst>
              <a:gd name="adj" fmla="val 6780"/>
            </a:avLst>
          </a:prstGeom>
          <a:solidFill>
            <a:schemeClr val="bg2"/>
          </a:solidFill>
          <a:ln w="12700">
            <a:solidFill>
              <a:schemeClr val="bg2"/>
            </a:solidFill>
            <a:prstDash val="solid"/>
          </a:ln>
        </p:spPr>
      </p:sp>
      <p:sp>
        <p:nvSpPr>
          <p:cNvPr id="24" name="num-503"/>
          <p:cNvSpPr/>
          <p:nvPr/>
        </p:nvSpPr>
        <p:spPr>
          <a:xfrm>
            <a:off x="621792" y="3108960"/>
            <a:ext cx="384048" cy="384048"/>
          </a:xfrm>
          <a:prstGeom prst="ellipse">
            <a:avLst/>
          </a:prstGeom>
          <a:solidFill>
            <a:schemeClr val="accent2"/>
          </a:solidFill>
          <a:ln w="12700">
            <a:solidFill>
              <a:schemeClr val="accent2"/>
            </a:solidFill>
            <a:prstDash val="solid"/>
          </a:ln>
        </p:spPr>
      </p:sp>
      <p:sp>
        <p:nvSpPr>
          <p:cNvPr id="25" name="text-504"/>
          <p:cNvSpPr txBox="1"/>
          <p:nvPr/>
        </p:nvSpPr>
        <p:spPr>
          <a:xfrm>
            <a:off x="621792" y="3108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10</a:t>
            </a:r>
            <a:endParaRPr lang="en-US" sz="1400" dirty="0"/>
          </a:p>
        </p:txBody>
      </p:sp>
      <p:pic>
        <p:nvPicPr>
          <p:cNvPr id="26" name="ui-505" descr="preencoded.png">    </p:cNvPr>
          <p:cNvPicPr>
            <a:picLocks noChangeAspect="1"/>
          </p:cNvPicPr>
          <p:nvPr/>
        </p:nvPicPr>
        <p:blipFill>
          <a:blip r:embed="rId5"/>
          <a:stretch>
            <a:fillRect/>
          </a:stretch>
        </p:blipFill>
        <p:spPr>
          <a:xfrm>
            <a:off x="2633472" y="3127248"/>
            <a:ext cx="274320" cy="274320"/>
          </a:xfrm>
          <a:prstGeom prst="rect">
            <a:avLst/>
          </a:prstGeom>
        </p:spPr>
      </p:pic>
      <p:sp>
        <p:nvSpPr>
          <p:cNvPr id="27" name="text-506"/>
          <p:cNvSpPr txBox="1"/>
          <p:nvPr/>
        </p:nvSpPr>
        <p:spPr>
          <a:xfrm>
            <a:off x="1115568" y="3108960"/>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Editare personalizată</a:t>
            </a:r>
            <a:endParaRPr lang="en-US" sz="1400" dirty="0"/>
          </a:p>
        </p:txBody>
      </p:sp>
      <p:sp>
        <p:nvSpPr>
          <p:cNvPr id="28" name="text-507"/>
          <p:cNvSpPr txBox="1"/>
          <p:nvPr/>
        </p:nvSpPr>
        <p:spPr>
          <a:xfrm>
            <a:off x="621792" y="3630168"/>
            <a:ext cx="2286000" cy="868680"/>
          </a:xfrm>
          <a:prstGeom prst="rect">
            <a:avLst/>
          </a:prstGeom>
          <a:noFill/>
          <a:ln/>
        </p:spPr>
        <p:txBody>
          <a:bodyPr wrap="square" lIns="0" tIns="0" rIns="0" bIns="0" rtlCol="0" anchor="t"/>
          <a:lstStyle/>
          <a:p>
            <a:pPr indent="0" marL="0">
              <a:buNone/>
            </a:pPr>
            <a:r>
              <a:rPr lang="en-US" sz="1200" dirty="0">
                <a:solidFill>
                  <a:schemeClr val="tx2"/>
                </a:solidFill>
              </a:rPr>
              <a:t>Fontul și culorile tale. Ajustezi lumina, nu nuanța părului.</a:t>
            </a:r>
            <a:endParaRPr lang="en-US" sz="1200" dirty="0"/>
          </a:p>
        </p:txBody>
      </p:sp>
      <p:sp>
        <p:nvSpPr>
          <p:cNvPr id="29" name="card-508"/>
          <p:cNvSpPr/>
          <p:nvPr/>
        </p:nvSpPr>
        <p:spPr>
          <a:xfrm>
            <a:off x="3246120" y="2944368"/>
            <a:ext cx="2606040" cy="1618488"/>
          </a:xfrm>
          <a:prstGeom prst="roundRect">
            <a:avLst>
              <a:gd name="adj" fmla="val 6780"/>
            </a:avLst>
          </a:prstGeom>
          <a:solidFill>
            <a:schemeClr val="bg2"/>
          </a:solidFill>
          <a:ln w="12700">
            <a:solidFill>
              <a:schemeClr val="bg2"/>
            </a:solidFill>
            <a:prstDash val="solid"/>
          </a:ln>
        </p:spPr>
      </p:sp>
      <p:sp>
        <p:nvSpPr>
          <p:cNvPr id="30" name="num-509"/>
          <p:cNvSpPr/>
          <p:nvPr/>
        </p:nvSpPr>
        <p:spPr>
          <a:xfrm>
            <a:off x="3410712" y="3108960"/>
            <a:ext cx="384048" cy="384048"/>
          </a:xfrm>
          <a:prstGeom prst="ellipse">
            <a:avLst/>
          </a:prstGeom>
          <a:solidFill>
            <a:schemeClr val="accent2"/>
          </a:solidFill>
          <a:ln w="12700">
            <a:solidFill>
              <a:schemeClr val="accent2"/>
            </a:solidFill>
            <a:prstDash val="solid"/>
          </a:ln>
        </p:spPr>
      </p:sp>
      <p:sp>
        <p:nvSpPr>
          <p:cNvPr id="31" name="text-510"/>
          <p:cNvSpPr txBox="1"/>
          <p:nvPr/>
        </p:nvSpPr>
        <p:spPr>
          <a:xfrm>
            <a:off x="3410712" y="3108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11</a:t>
            </a:r>
            <a:endParaRPr lang="en-US" sz="1400" dirty="0"/>
          </a:p>
        </p:txBody>
      </p:sp>
      <p:pic>
        <p:nvPicPr>
          <p:cNvPr id="32" name="ui-511" descr="preencoded.png">    </p:cNvPr>
          <p:cNvPicPr>
            <a:picLocks noChangeAspect="1"/>
          </p:cNvPicPr>
          <p:nvPr/>
        </p:nvPicPr>
        <p:blipFill>
          <a:blip r:embed="rId6"/>
          <a:stretch>
            <a:fillRect/>
          </a:stretch>
        </p:blipFill>
        <p:spPr>
          <a:xfrm>
            <a:off x="5422392" y="3127248"/>
            <a:ext cx="274320" cy="274320"/>
          </a:xfrm>
          <a:prstGeom prst="rect">
            <a:avLst/>
          </a:prstGeom>
        </p:spPr>
      </p:pic>
      <p:sp>
        <p:nvSpPr>
          <p:cNvPr id="33" name="text-512"/>
          <p:cNvSpPr txBox="1"/>
          <p:nvPr/>
        </p:nvSpPr>
        <p:spPr>
          <a:xfrm>
            <a:off x="3904488" y="3108960"/>
            <a:ext cx="1463040" cy="384048"/>
          </a:xfrm>
          <a:prstGeom prst="rect">
            <a:avLst/>
          </a:prstGeom>
          <a:noFill/>
          <a:ln/>
        </p:spPr>
        <p:txBody>
          <a:bodyPr wrap="square" lIns="0" tIns="0" rIns="0" bIns="0" rtlCol="0" anchor="ctr"/>
          <a:lstStyle/>
          <a:p>
            <a:pPr indent="0" marL="0">
              <a:buNone/>
            </a:pPr>
            <a:r>
              <a:rPr lang="en-US" sz="1400" b="1" dirty="0">
                <a:solidFill>
                  <a:schemeClr val="tx1"/>
                </a:solidFill>
              </a:rPr>
              <a:t>Șabloane</a:t>
            </a:r>
            <a:endParaRPr lang="en-US" sz="1400" dirty="0"/>
          </a:p>
        </p:txBody>
      </p:sp>
      <p:sp>
        <p:nvSpPr>
          <p:cNvPr id="34" name="text-513"/>
          <p:cNvSpPr txBox="1"/>
          <p:nvPr/>
        </p:nvSpPr>
        <p:spPr>
          <a:xfrm>
            <a:off x="3410712" y="3630168"/>
            <a:ext cx="2286000" cy="868680"/>
          </a:xfrm>
          <a:prstGeom prst="rect">
            <a:avLst/>
          </a:prstGeom>
          <a:noFill/>
          <a:ln/>
        </p:spPr>
        <p:txBody>
          <a:bodyPr wrap="square" lIns="0" tIns="0" rIns="0" bIns="0" rtlCol="0" anchor="t"/>
          <a:lstStyle/>
          <a:p>
            <a:pPr indent="0" marL="0">
              <a:buNone/>
            </a:pPr>
            <a:r>
              <a:rPr lang="en-US" sz="1200" dirty="0">
                <a:solidFill>
                  <a:schemeClr val="tx2"/>
                </a:solidFill>
              </a:rPr>
              <a:t>Fila Templates → alegi → Use template → pui clipurile tale.</a:t>
            </a:r>
            <a:endParaRPr lang="en-US" sz="1200" dirty="0"/>
          </a:p>
        </p:txBody>
      </p:sp>
      <p:sp>
        <p:nvSpPr>
          <p:cNvPr id="35" name="card-514"/>
          <p:cNvSpPr/>
          <p:nvPr/>
        </p:nvSpPr>
        <p:spPr>
          <a:xfrm>
            <a:off x="6035040" y="2944368"/>
            <a:ext cx="2606040" cy="1618488"/>
          </a:xfrm>
          <a:prstGeom prst="roundRect">
            <a:avLst>
              <a:gd name="adj" fmla="val 6780"/>
            </a:avLst>
          </a:prstGeom>
          <a:solidFill>
            <a:schemeClr val="tx1"/>
          </a:solidFill>
          <a:ln w="12700">
            <a:solidFill>
              <a:schemeClr val="tx1"/>
            </a:solidFill>
            <a:prstDash val="solid"/>
          </a:ln>
        </p:spPr>
      </p:sp>
      <p:sp>
        <p:nvSpPr>
          <p:cNvPr id="36" name="num-515"/>
          <p:cNvSpPr/>
          <p:nvPr/>
        </p:nvSpPr>
        <p:spPr>
          <a:xfrm>
            <a:off x="6199632" y="3108960"/>
            <a:ext cx="384048" cy="384048"/>
          </a:xfrm>
          <a:prstGeom prst="ellipse">
            <a:avLst/>
          </a:prstGeom>
          <a:solidFill>
            <a:schemeClr val="accent1"/>
          </a:solidFill>
          <a:ln w="12700">
            <a:solidFill>
              <a:schemeClr val="accent1"/>
            </a:solidFill>
            <a:prstDash val="solid"/>
          </a:ln>
        </p:spPr>
      </p:sp>
      <p:sp>
        <p:nvSpPr>
          <p:cNvPr id="37" name="text-516"/>
          <p:cNvSpPr txBox="1"/>
          <p:nvPr/>
        </p:nvSpPr>
        <p:spPr>
          <a:xfrm>
            <a:off x="6199632" y="3108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12</a:t>
            </a:r>
            <a:endParaRPr lang="en-US" sz="1400" dirty="0"/>
          </a:p>
        </p:txBody>
      </p:sp>
      <p:pic>
        <p:nvPicPr>
          <p:cNvPr id="38" name="ui-517" descr="preencoded.png">    </p:cNvPr>
          <p:cNvPicPr>
            <a:picLocks noChangeAspect="1"/>
          </p:cNvPicPr>
          <p:nvPr/>
        </p:nvPicPr>
        <p:blipFill>
          <a:blip r:embed="rId7"/>
          <a:stretch>
            <a:fillRect/>
          </a:stretch>
        </p:blipFill>
        <p:spPr>
          <a:xfrm>
            <a:off x="8211312" y="3127248"/>
            <a:ext cx="274320" cy="274320"/>
          </a:xfrm>
          <a:prstGeom prst="rect">
            <a:avLst/>
          </a:prstGeom>
        </p:spPr>
      </p:pic>
      <p:sp>
        <p:nvSpPr>
          <p:cNvPr id="39" name="text-518"/>
          <p:cNvSpPr txBox="1"/>
          <p:nvPr/>
        </p:nvSpPr>
        <p:spPr>
          <a:xfrm>
            <a:off x="6693408" y="3108960"/>
            <a:ext cx="1463040" cy="384048"/>
          </a:xfrm>
          <a:prstGeom prst="rect">
            <a:avLst/>
          </a:prstGeom>
          <a:noFill/>
          <a:ln/>
        </p:spPr>
        <p:txBody>
          <a:bodyPr wrap="square" lIns="0" tIns="0" rIns="0" bIns="0" rtlCol="0" anchor="ctr"/>
          <a:lstStyle/>
          <a:p>
            <a:pPr indent="0" marL="0">
              <a:buNone/>
            </a:pPr>
            <a:r>
              <a:rPr lang="en-US" sz="1400" b="1" dirty="0">
                <a:solidFill>
                  <a:schemeClr val="bg1"/>
                </a:solidFill>
              </a:rPr>
              <a:t>Export</a:t>
            </a:r>
            <a:endParaRPr lang="en-US" sz="1400" dirty="0"/>
          </a:p>
        </p:txBody>
      </p:sp>
      <p:sp>
        <p:nvSpPr>
          <p:cNvPr id="40" name="text-519"/>
          <p:cNvSpPr txBox="1"/>
          <p:nvPr/>
        </p:nvSpPr>
        <p:spPr>
          <a:xfrm>
            <a:off x="6199632" y="3630168"/>
            <a:ext cx="2286000" cy="868680"/>
          </a:xfrm>
          <a:prstGeom prst="rect">
            <a:avLst/>
          </a:prstGeom>
          <a:noFill/>
          <a:ln/>
        </p:spPr>
        <p:txBody>
          <a:bodyPr wrap="square" lIns="0" tIns="0" rIns="0" bIns="0" rtlCol="0" anchor="t"/>
          <a:lstStyle/>
          <a:p>
            <a:pPr indent="0" marL="0">
              <a:buNone/>
            </a:pPr>
            <a:r>
              <a:rPr lang="en-US" sz="1200" dirty="0">
                <a:solidFill>
                  <a:schemeClr val="accent3"/>
                </a:solidFill>
              </a:rPr>
              <a:t>9:16, 1080p, 30 fps → săgeata sus-dreapta. Același video pe toate.</a:t>
            </a:r>
            <a:endParaRPr lang="en-US" sz="12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V · EDITARE VIDEO CU CAPCUT</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CapCut gratuit sau CapCut Pro?</a:t>
            </a:r>
            <a:endParaRPr lang="en-US" sz="2800" dirty="0"/>
          </a:p>
        </p:txBody>
      </p:sp>
      <p:pic>
        <p:nvPicPr>
          <p:cNvPr id="4" name="watermark-520" descr="preencoded.png">    </p:cNvPr>
          <p:cNvPicPr>
            <a:picLocks noChangeAspect="1"/>
          </p:cNvPicPr>
          <p:nvPr/>
        </p:nvPicPr>
        <p:blipFill>
          <a:blip r:embed="rId1">
            <a:alphaModFix amt="5000"/>
          </a:blip>
          <a:stretch>
            <a:fillRect/>
          </a:stretch>
        </p:blipFill>
        <p:spPr>
          <a:xfrm>
            <a:off x="7086600" y="3063240"/>
            <a:ext cx="1920240" cy="1920240"/>
          </a:xfrm>
          <a:prstGeom prst="rect">
            <a:avLst/>
          </a:prstGeom>
        </p:spPr>
      </p:pic>
      <p:graphicFrame>
        <p:nvGraphicFramePr>
          <p:cNvPr id="19" name="table-521"/>
          <p:cNvGraphicFramePr>
            <a:graphicFrameLocks noGrp="1"/>
          </p:cNvGraphicFramePr>
          <p:nvPr>
            <p:extLst>
              <p:ext uri="{D42A27DB-BD31-4B8C-83A1-F6EECF244321}">
                <p14:modId xmlns:p14="http://schemas.microsoft.com/office/powerpoint/2010/main" val="1579011935"/>
              </p:ext>
            </p:extLst>
          </p:nvPr>
        </p:nvGraphicFramePr>
        <p:xfrm>
          <a:off x="457200" y="1188720"/>
          <a:ext cx="5394960" cy="914400"/>
        </p:xfrm>
        <a:graphic>
          <a:graphicData uri="http://schemas.openxmlformats.org/drawingml/2006/table">
            <a:tbl>
              <a:tblPr/>
              <a:tblGrid>
                <a:gridCol w="2103120"/>
                <a:gridCol w="1600200"/>
                <a:gridCol w="1691640"/>
              </a:tblGrid>
              <a:tr h="384048">
                <a:tc>
                  <a:txBody>
                    <a:bodyPr/>
                    <a:lstStyle/>
                    <a:p>
                      <a:pPr indent="0" marL="0">
                        <a:buNone/>
                      </a:pPr>
                      <a:r>
                        <a:rPr lang="en-US" sz="1300" b="1" dirty="0">
                          <a:solidFill>
                            <a:srgbClr val="FFFFFF"/>
                          </a:solidFill>
                        </a:rPr>
                        <a:t>Funcție</a:t>
                      </a:r>
                      <a:endParaRPr lang="en-US" sz="13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1E1A18"/>
                    </a:solidFill>
                  </a:tcPr>
                </a:tc>
                <a:tc>
                  <a:txBody>
                    <a:bodyPr/>
                    <a:lstStyle/>
                    <a:p>
                      <a:pPr indent="0" marL="0">
                        <a:buNone/>
                      </a:pPr>
                      <a:r>
                        <a:rPr lang="en-US" sz="1300" b="1" dirty="0">
                          <a:solidFill>
                            <a:srgbClr val="FFFFFF"/>
                          </a:solidFill>
                        </a:rPr>
                        <a:t>Gratuit</a:t>
                      </a:r>
                      <a:endParaRPr lang="en-US" sz="13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1E1A18"/>
                    </a:solidFill>
                  </a:tcPr>
                </a:tc>
                <a:tc>
                  <a:txBody>
                    <a:bodyPr/>
                    <a:lstStyle/>
                    <a:p>
                      <a:pPr indent="0" marL="0">
                        <a:buNone/>
                      </a:pPr>
                      <a:r>
                        <a:rPr lang="en-US" sz="1300" b="1" dirty="0">
                          <a:solidFill>
                            <a:srgbClr val="FFFFFF"/>
                          </a:solidFill>
                        </a:rPr>
                        <a:t>Pro (abonament)</a:t>
                      </a:r>
                      <a:endParaRPr lang="en-US" sz="13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1E1A18"/>
                    </a:solidFill>
                  </a:tcPr>
                </a:tc>
              </a:tr>
              <a:tr h="384048">
                <a:tc>
                  <a:txBody>
                    <a:bodyPr/>
                    <a:lstStyle/>
                    <a:p>
                      <a:pPr indent="0" marL="0">
                        <a:buNone/>
                      </a:pPr>
                      <a:r>
                        <a:rPr lang="en-US" sz="1200" b="1" dirty="0">
                          <a:solidFill>
                            <a:srgbClr val="1E1A18"/>
                          </a:solidFill>
                        </a:rPr>
                        <a:t>Tăiere, ordine, viteză, text</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FFFFF"/>
                    </a:solidFill>
                  </a:tcPr>
                </a:tc>
                <a:tc>
                  <a:txBody>
                    <a:bodyPr/>
                    <a:lstStyle/>
                    <a:p>
                      <a:pPr indent="0" marL="0">
                        <a:buNone/>
                      </a:pPr>
                      <a:r>
                        <a:rPr lang="en-US" sz="1200" dirty="0">
                          <a:solidFill>
                            <a:srgbClr val="1E1A18"/>
                          </a:solidFill>
                        </a:rPr>
                        <a:t>Da</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FFFFF"/>
                    </a:solidFill>
                  </a:tcPr>
                </a:tc>
                <a:tc>
                  <a:txBody>
                    <a:bodyPr/>
                    <a:lstStyle/>
                    <a:p>
                      <a:pPr indent="0" marL="0">
                        <a:buNone/>
                      </a:pPr>
                      <a:r>
                        <a:rPr lang="en-US" sz="1200" dirty="0">
                          <a:solidFill>
                            <a:srgbClr val="1E1A18"/>
                          </a:solidFill>
                        </a:rPr>
                        <a:t>Da</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E1A18"/>
                          </a:solidFill>
                        </a:rPr>
                        <a:t>Tranziții, efecte, șabloane</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6EEE9"/>
                    </a:solidFill>
                  </a:tcPr>
                </a:tc>
                <a:tc>
                  <a:txBody>
                    <a:bodyPr/>
                    <a:lstStyle/>
                    <a:p>
                      <a:pPr indent="0" marL="0">
                        <a:buNone/>
                      </a:pPr>
                      <a:r>
                        <a:rPr lang="en-US" sz="1200" dirty="0">
                          <a:solidFill>
                            <a:srgbClr val="1E1A18"/>
                          </a:solidFill>
                        </a:rPr>
                        <a:t>Multe gratuite</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6EEE9"/>
                    </a:solidFill>
                  </a:tcPr>
                </a:tc>
                <a:tc>
                  <a:txBody>
                    <a:bodyPr/>
                    <a:lstStyle/>
                    <a:p>
                      <a:pPr indent="0" marL="0">
                        <a:buNone/>
                      </a:pPr>
                      <a:r>
                        <a:rPr lang="en-US" sz="1200" dirty="0">
                          <a:solidFill>
                            <a:srgbClr val="1E1A18"/>
                          </a:solidFill>
                        </a:rPr>
                        <a:t>+ cele marcate Pro</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6EEE9"/>
                    </a:solidFill>
                  </a:tcPr>
                </a:tc>
              </a:tr>
              <a:tr h="384048">
                <a:tc>
                  <a:txBody>
                    <a:bodyPr/>
                    <a:lstStyle/>
                    <a:p>
                      <a:pPr indent="0" marL="0">
                        <a:buNone/>
                      </a:pPr>
                      <a:r>
                        <a:rPr lang="en-US" sz="1200" b="1" dirty="0">
                          <a:solidFill>
                            <a:srgbClr val="1E1A18"/>
                          </a:solidFill>
                        </a:rPr>
                        <a:t>Subtitrări automate și funcții AI</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FFFFF"/>
                    </a:solidFill>
                  </a:tcPr>
                </a:tc>
                <a:tc>
                  <a:txBody>
                    <a:bodyPr/>
                    <a:lstStyle/>
                    <a:p>
                      <a:pPr indent="0" marL="0">
                        <a:buNone/>
                      </a:pPr>
                      <a:r>
                        <a:rPr lang="en-US" sz="1200" dirty="0">
                          <a:solidFill>
                            <a:srgbClr val="1E1A18"/>
                          </a:solidFill>
                        </a:rPr>
                        <a:t>Cu limite de utilizare</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FFFFF"/>
                    </a:solidFill>
                  </a:tcPr>
                </a:tc>
                <a:tc>
                  <a:txBody>
                    <a:bodyPr/>
                    <a:lstStyle/>
                    <a:p>
                      <a:pPr indent="0" marL="0">
                        <a:buNone/>
                      </a:pPr>
                      <a:r>
                        <a:rPr lang="en-US" sz="1200" dirty="0">
                          <a:solidFill>
                            <a:srgbClr val="1E1A18"/>
                          </a:solidFill>
                        </a:rPr>
                        <a:t>Limite mai mari</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E1A18"/>
                          </a:solidFill>
                        </a:rPr>
                        <a:t>Export</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6EEE9"/>
                    </a:solidFill>
                  </a:tcPr>
                </a:tc>
                <a:tc>
                  <a:txBody>
                    <a:bodyPr/>
                    <a:lstStyle/>
                    <a:p>
                      <a:pPr indent="0" marL="0">
                        <a:buNone/>
                      </a:pPr>
                      <a:r>
                        <a:rPr lang="en-US" sz="1200" dirty="0">
                          <a:solidFill>
                            <a:srgbClr val="1E1A18"/>
                          </a:solidFill>
                        </a:rPr>
                        <a:t>Până la 1080p</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6EEE9"/>
                    </a:solidFill>
                  </a:tcPr>
                </a:tc>
                <a:tc>
                  <a:txBody>
                    <a:bodyPr/>
                    <a:lstStyle/>
                    <a:p>
                      <a:pPr indent="0" marL="0">
                        <a:buNone/>
                      </a:pPr>
                      <a:r>
                        <a:rPr lang="en-US" sz="1200" dirty="0">
                          <a:solidFill>
                            <a:srgbClr val="1E1A18"/>
                          </a:solidFill>
                        </a:rPr>
                        <a:t>Până la 4K / 60 fps</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6EEE9"/>
                    </a:solidFill>
                  </a:tcPr>
                </a:tc>
              </a:tr>
              <a:tr h="384048">
                <a:tc>
                  <a:txBody>
                    <a:bodyPr/>
                    <a:lstStyle/>
                    <a:p>
                      <a:pPr indent="0" marL="0">
                        <a:buNone/>
                      </a:pPr>
                      <a:r>
                        <a:rPr lang="en-US" sz="1200" b="1" dirty="0">
                          <a:solidFill>
                            <a:srgbClr val="1E1A18"/>
                          </a:solidFill>
                        </a:rPr>
                        <a:t>Filigran CapCut</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FFFFF"/>
                    </a:solidFill>
                  </a:tcPr>
                </a:tc>
                <a:tc>
                  <a:txBody>
                    <a:bodyPr/>
                    <a:lstStyle/>
                    <a:p>
                      <a:pPr indent="0" marL="0">
                        <a:buNone/>
                      </a:pPr>
                      <a:r>
                        <a:rPr lang="en-US" sz="1200" dirty="0">
                          <a:solidFill>
                            <a:srgbClr val="1E1A18"/>
                          </a:solidFill>
                        </a:rPr>
                        <a:t>Poate apărea, după caz</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FFFFF"/>
                    </a:solidFill>
                  </a:tcPr>
                </a:tc>
                <a:tc>
                  <a:txBody>
                    <a:bodyPr/>
                    <a:lstStyle/>
                    <a:p>
                      <a:pPr indent="0" marL="0">
                        <a:buNone/>
                      </a:pPr>
                      <a:r>
                        <a:rPr lang="en-US" sz="1200" dirty="0">
                          <a:solidFill>
                            <a:srgbClr val="1E1A18"/>
                          </a:solidFill>
                        </a:rPr>
                        <a:t>Fără filigran</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E1A18"/>
                          </a:solidFill>
                        </a:rPr>
                        <a:t>Spațiu cloud</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6EEE9"/>
                    </a:solidFill>
                  </a:tcPr>
                </a:tc>
                <a:tc>
                  <a:txBody>
                    <a:bodyPr/>
                    <a:lstStyle/>
                    <a:p>
                      <a:pPr indent="0" marL="0">
                        <a:buNone/>
                      </a:pPr>
                      <a:r>
                        <a:rPr lang="en-US" sz="1200" dirty="0">
                          <a:solidFill>
                            <a:srgbClr val="1E1A18"/>
                          </a:solidFill>
                        </a:rPr>
                        <a:t>Mai mic</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6EEE9"/>
                    </a:solidFill>
                  </a:tcPr>
                </a:tc>
                <a:tc>
                  <a:txBody>
                    <a:bodyPr/>
                    <a:lstStyle/>
                    <a:p>
                      <a:pPr indent="0" marL="0">
                        <a:buNone/>
                      </a:pPr>
                      <a:r>
                        <a:rPr lang="en-US" sz="1200" dirty="0">
                          <a:solidFill>
                            <a:srgbClr val="1E1A18"/>
                          </a:solidFill>
                        </a:rPr>
                        <a:t>Mai mare</a:t>
                      </a:r>
                      <a:endParaRPr lang="en-US" sz="1200" dirty="0"/>
                    </a:p>
                  </a:txBody>
                  <a:tcPr marL="73152" marR="73152" marT="36576" marB="36576" anchor="ctr">
                    <a:lnL w="6350" cap="flat" cmpd="sng" algn="ctr">
                      <a:solidFill>
                        <a:srgbClr val="E6D9D1"/>
                      </a:solidFill>
                      <a:prstDash val="solid"/>
                      <a:round/>
                      <a:headEnd type="none" w="med" len="med"/>
                      <a:tailEnd type="none" w="med" len="med"/>
                    </a:lnL>
                    <a:lnR w="6350" cap="flat" cmpd="sng" algn="ctr">
                      <a:solidFill>
                        <a:srgbClr val="E6D9D1"/>
                      </a:solidFill>
                      <a:prstDash val="solid"/>
                      <a:round/>
                      <a:headEnd type="none" w="med" len="med"/>
                      <a:tailEnd type="none" w="med" len="med"/>
                    </a:lnR>
                    <a:lnT w="6350" cap="flat" cmpd="sng" algn="ctr">
                      <a:solidFill>
                        <a:srgbClr val="E6D9D1"/>
                      </a:solidFill>
                      <a:prstDash val="solid"/>
                      <a:round/>
                      <a:headEnd type="none" w="med" len="med"/>
                      <a:tailEnd type="none" w="med" len="med"/>
                    </a:lnT>
                    <a:lnB w="6350" cap="flat" cmpd="sng" algn="ctr">
                      <a:solidFill>
                        <a:srgbClr val="E6D9D1"/>
                      </a:solidFill>
                      <a:prstDash val="solid"/>
                      <a:round/>
                      <a:headEnd type="none" w="med" len="med"/>
                      <a:tailEnd type="none" w="med" len="med"/>
                    </a:lnB>
                    <a:solidFill>
                      <a:srgbClr val="F6EEE9"/>
                    </a:solidFill>
                  </a:tcPr>
                </a:tc>
              </a:tr>
            </a:tbl>
          </a:graphicData>
        </a:graphic>
      </p:graphicFrame>
      <p:sp>
        <p:nvSpPr>
          <p:cNvPr id="6" name="card-522"/>
          <p:cNvSpPr/>
          <p:nvPr/>
        </p:nvSpPr>
        <p:spPr>
          <a:xfrm>
            <a:off x="6126480" y="1188720"/>
            <a:ext cx="2560320" cy="3474720"/>
          </a:xfrm>
          <a:prstGeom prst="roundRect">
            <a:avLst>
              <a:gd name="adj" fmla="val 4286"/>
            </a:avLst>
          </a:prstGeom>
          <a:solidFill>
            <a:schemeClr val="tx1"/>
          </a:solidFill>
          <a:ln w="12700">
            <a:solidFill>
              <a:schemeClr val="tx1"/>
            </a:solidFill>
            <a:prstDash val="solid"/>
          </a:ln>
        </p:spPr>
      </p:sp>
      <p:sp>
        <p:nvSpPr>
          <p:cNvPr id="7" name="badge-523"/>
          <p:cNvSpPr/>
          <p:nvPr/>
        </p:nvSpPr>
        <p:spPr>
          <a:xfrm>
            <a:off x="6309360" y="1371600"/>
            <a:ext cx="502920" cy="502920"/>
          </a:xfrm>
          <a:prstGeom prst="ellipse">
            <a:avLst/>
          </a:prstGeom>
          <a:solidFill>
            <a:schemeClr val="accent1"/>
          </a:solidFill>
          <a:ln w="12700">
            <a:solidFill>
              <a:schemeClr val="accent1"/>
            </a:solidFill>
            <a:prstDash val="solid"/>
          </a:ln>
        </p:spPr>
      </p:sp>
      <p:pic>
        <p:nvPicPr>
          <p:cNvPr id="8" name="icon-524" descr="preencoded.png">    </p:cNvPr>
          <p:cNvPicPr>
            <a:picLocks noChangeAspect="1"/>
          </p:cNvPicPr>
          <p:nvPr/>
        </p:nvPicPr>
        <p:blipFill>
          <a:blip r:embed="rId2"/>
          <a:stretch>
            <a:fillRect/>
          </a:stretch>
        </p:blipFill>
        <p:spPr>
          <a:xfrm>
            <a:off x="6435090" y="1497330"/>
            <a:ext cx="251460" cy="251460"/>
          </a:xfrm>
          <a:prstGeom prst="rect">
            <a:avLst/>
          </a:prstGeom>
        </p:spPr>
      </p:pic>
      <p:sp>
        <p:nvSpPr>
          <p:cNvPr id="9" name="text-525"/>
          <p:cNvSpPr txBox="1"/>
          <p:nvPr/>
        </p:nvSpPr>
        <p:spPr>
          <a:xfrm>
            <a:off x="6309360" y="2011680"/>
            <a:ext cx="2194560" cy="320040"/>
          </a:xfrm>
          <a:prstGeom prst="rect">
            <a:avLst/>
          </a:prstGeom>
          <a:noFill/>
          <a:ln/>
        </p:spPr>
        <p:txBody>
          <a:bodyPr wrap="square" lIns="0" tIns="0" rIns="0" bIns="0" rtlCol="0" anchor="t"/>
          <a:lstStyle/>
          <a:p>
            <a:pPr indent="0" marL="0">
              <a:buNone/>
            </a:pPr>
            <a:r>
              <a:rPr lang="en-US" sz="1600" b="1" dirty="0">
                <a:solidFill>
                  <a:schemeClr val="accent3"/>
                </a:solidFill>
                <a:latin typeface="Cambria" pitchFamily="34" charset="0"/>
                <a:ea typeface="Cambria" pitchFamily="34" charset="-122"/>
                <a:cs typeface="Cambria" pitchFamily="34" charset="-120"/>
              </a:rPr>
              <a:t>Ai nevoie de Pro?</a:t>
            </a:r>
            <a:endParaRPr lang="en-US" sz="1600" dirty="0"/>
          </a:p>
        </p:txBody>
      </p:sp>
      <p:sp>
        <p:nvSpPr>
          <p:cNvPr id="10" name="text-526"/>
          <p:cNvSpPr txBox="1"/>
          <p:nvPr/>
        </p:nvSpPr>
        <p:spPr>
          <a:xfrm>
            <a:off x="6309360" y="2395728"/>
            <a:ext cx="2240280" cy="960120"/>
          </a:xfrm>
          <a:prstGeom prst="rect">
            <a:avLst/>
          </a:prstGeom>
          <a:noFill/>
          <a:ln/>
        </p:spPr>
        <p:txBody>
          <a:bodyPr wrap="square" lIns="0" tIns="0" rIns="0" bIns="0" rtlCol="0" anchor="t"/>
          <a:lstStyle/>
          <a:p>
            <a:pPr indent="0" marL="0">
              <a:buNone/>
            </a:pPr>
            <a:r>
              <a:rPr lang="en-US" sz="1300" dirty="0">
                <a:solidFill>
                  <a:schemeClr val="bg1"/>
                </a:solidFill>
              </a:rPr>
              <a:t>La început, nu. Gratuitul acoperă tot ce ai nevoie pentru înainte și după.</a:t>
            </a:r>
            <a:endParaRPr lang="en-US" sz="1300" dirty="0"/>
          </a:p>
        </p:txBody>
      </p:sp>
      <p:sp>
        <p:nvSpPr>
          <p:cNvPr id="11" name="text-527"/>
          <p:cNvSpPr txBox="1"/>
          <p:nvPr/>
        </p:nvSpPr>
        <p:spPr>
          <a:xfrm>
            <a:off x="6309360" y="3429000"/>
            <a:ext cx="2240280" cy="822960"/>
          </a:xfrm>
          <a:prstGeom prst="rect">
            <a:avLst/>
          </a:prstGeom>
          <a:noFill/>
          <a:ln/>
        </p:spPr>
        <p:txBody>
          <a:bodyPr wrap="square" lIns="0" tIns="0" rIns="0" bIns="0" rtlCol="0" anchor="t"/>
          <a:lstStyle/>
          <a:p>
            <a:pPr indent="0" marL="0">
              <a:buNone/>
            </a:pPr>
            <a:r>
              <a:rPr lang="en-US" sz="1300" i="1" dirty="0">
                <a:solidFill>
                  <a:schemeClr val="accent3"/>
                </a:solidFill>
              </a:rPr>
              <a:t>Treci la Pro când editezi zilnic și te oprește o limită concretă.</a:t>
            </a:r>
            <a:endParaRPr lang="en-US" sz="1300" dirty="0"/>
          </a:p>
        </p:txBody>
      </p:sp>
      <p:sp>
        <p:nvSpPr>
          <p:cNvPr id="12" name="text-528"/>
          <p:cNvSpPr txBox="1"/>
          <p:nvPr/>
        </p:nvSpPr>
        <p:spPr>
          <a:xfrm>
            <a:off x="457200" y="4206240"/>
            <a:ext cx="5394960" cy="457200"/>
          </a:xfrm>
          <a:prstGeom prst="rect">
            <a:avLst/>
          </a:prstGeom>
          <a:noFill/>
          <a:ln/>
        </p:spPr>
        <p:txBody>
          <a:bodyPr wrap="square" lIns="0" tIns="0" rIns="0" bIns="0" rtlCol="0" anchor="t"/>
          <a:lstStyle/>
          <a:p>
            <a:pPr indent="0" marL="0">
              <a:buNone/>
            </a:pPr>
            <a:r>
              <a:rPr lang="en-US" sz="1100" i="1" dirty="0">
                <a:solidFill>
                  <a:schemeClr val="tx2"/>
                </a:solidFill>
              </a:rPr>
              <a:t>Funcțiile și prețurile variază după versiune, dispozitiv și țară. Verifică în aplicație (pictograma Pro/diamant).</a:t>
            </a:r>
            <a:endParaRPr lang="en-US" sz="11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6400800" cy="228600"/>
          </a:xfrm>
          <a:prstGeom prst="rect">
            <a:avLst/>
          </a:prstGeom>
          <a:noFill/>
          <a:ln/>
        </p:spPr>
        <p:txBody>
          <a:bodyPr wrap="square" lIns="0" tIns="0" rIns="0" bIns="0" rtlCol="0" anchor="ctr"/>
          <a:lstStyle/>
          <a:p>
            <a:pPr indent="0" marL="0">
              <a:buNone/>
            </a:pPr>
            <a:r>
              <a:rPr lang="en-US" sz="1000" b="1" spc="200" kern="0" dirty="0">
                <a:solidFill>
                  <a:schemeClr val="accent2"/>
                </a:solidFill>
                <a:latin typeface="Calibri" pitchFamily="34" charset="0"/>
                <a:ea typeface="Calibri" pitchFamily="34" charset="-122"/>
                <a:cs typeface="Calibri" pitchFamily="34" charset="-120"/>
              </a:rPr>
              <a:t>PARTEA V · EDITARE VIDEO CU CAPCUT</a:t>
            </a:r>
            <a:endParaRPr lang="en-US" sz="1000" dirty="0"/>
          </a:p>
        </p:txBody>
      </p:sp>
      <p:sp>
        <p:nvSpPr>
          <p:cNvPr id="3" name="Text 0"/>
          <p:cNvSpPr/>
          <p:nvPr>
            <p:ph idx="101" type="title" hasCustomPrompt="1"/>
          </p:nvPr>
        </p:nvSpPr>
        <p:spPr>
          <a:xfrm>
            <a:off x="457200" y="429768"/>
            <a:ext cx="8229600" cy="54864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Sfaturi CapCut și tutoriale video</a:t>
            </a:r>
            <a:endParaRPr lang="en-US" sz="2800" dirty="0"/>
          </a:p>
        </p:txBody>
      </p:sp>
      <p:pic>
        <p:nvPicPr>
          <p:cNvPr id="4" name="watermark-529" descr="preencoded.png">    </p:cNvPr>
          <p:cNvPicPr>
            <a:picLocks noChangeAspect="1"/>
          </p:cNvPicPr>
          <p:nvPr/>
        </p:nvPicPr>
        <p:blipFill>
          <a:blip r:embed="rId1">
            <a:alphaModFix amt="5000"/>
          </a:blip>
          <a:stretch>
            <a:fillRect/>
          </a:stretch>
        </p:blipFill>
        <p:spPr>
          <a:xfrm>
            <a:off x="7086600" y="3063240"/>
            <a:ext cx="1920240" cy="1920240"/>
          </a:xfrm>
          <a:prstGeom prst="rect">
            <a:avLst/>
          </a:prstGeom>
        </p:spPr>
      </p:pic>
      <p:sp>
        <p:nvSpPr>
          <p:cNvPr id="5" name="card-530"/>
          <p:cNvSpPr/>
          <p:nvPr/>
        </p:nvSpPr>
        <p:spPr>
          <a:xfrm>
            <a:off x="457200" y="1188720"/>
            <a:ext cx="2377440" cy="1024128"/>
          </a:xfrm>
          <a:prstGeom prst="roundRect">
            <a:avLst>
              <a:gd name="adj" fmla="val 10714"/>
            </a:avLst>
          </a:prstGeom>
          <a:solidFill>
            <a:schemeClr val="bg2"/>
          </a:solidFill>
          <a:ln w="12700">
            <a:solidFill>
              <a:schemeClr val="bg2"/>
            </a:solidFill>
            <a:prstDash val="solid"/>
          </a:ln>
        </p:spPr>
      </p:sp>
      <p:sp>
        <p:nvSpPr>
          <p:cNvPr id="6" name="num-531"/>
          <p:cNvSpPr/>
          <p:nvPr/>
        </p:nvSpPr>
        <p:spPr>
          <a:xfrm>
            <a:off x="594360" y="1325880"/>
            <a:ext cx="329184" cy="329184"/>
          </a:xfrm>
          <a:prstGeom prst="ellipse">
            <a:avLst/>
          </a:prstGeom>
          <a:solidFill>
            <a:schemeClr val="accent2"/>
          </a:solidFill>
          <a:ln w="12700">
            <a:solidFill>
              <a:schemeClr val="accent2"/>
            </a:solidFill>
            <a:prstDash val="solid"/>
          </a:ln>
        </p:spPr>
      </p:sp>
      <p:sp>
        <p:nvSpPr>
          <p:cNvPr id="7" name="text-532"/>
          <p:cNvSpPr txBox="1"/>
          <p:nvPr/>
        </p:nvSpPr>
        <p:spPr>
          <a:xfrm>
            <a:off x="594360" y="132588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533"/>
          <p:cNvSpPr txBox="1"/>
          <p:nvPr/>
        </p:nvSpPr>
        <p:spPr>
          <a:xfrm>
            <a:off x="1005840" y="1298448"/>
            <a:ext cx="1783080" cy="384048"/>
          </a:xfrm>
          <a:prstGeom prst="rect">
            <a:avLst/>
          </a:prstGeom>
          <a:noFill/>
          <a:ln/>
        </p:spPr>
        <p:txBody>
          <a:bodyPr wrap="square" lIns="0" tIns="0" rIns="0" bIns="0" rtlCol="0" anchor="ctr"/>
          <a:lstStyle/>
          <a:p>
            <a:pPr indent="0" marL="0">
              <a:buNone/>
            </a:pPr>
            <a:r>
              <a:rPr lang="en-US" sz="1300" b="1" dirty="0">
                <a:solidFill>
                  <a:schemeClr val="tx1"/>
                </a:solidFill>
              </a:rPr>
              <a:t>Filmează direct vertical</a:t>
            </a:r>
            <a:endParaRPr lang="en-US" sz="1300" dirty="0"/>
          </a:p>
        </p:txBody>
      </p:sp>
      <p:sp>
        <p:nvSpPr>
          <p:cNvPr id="9" name="text-534"/>
          <p:cNvSpPr txBox="1"/>
          <p:nvPr/>
        </p:nvSpPr>
        <p:spPr>
          <a:xfrm>
            <a:off x="594360" y="1719072"/>
            <a:ext cx="2148840" cy="457200"/>
          </a:xfrm>
          <a:prstGeom prst="rect">
            <a:avLst/>
          </a:prstGeom>
          <a:noFill/>
          <a:ln/>
        </p:spPr>
        <p:txBody>
          <a:bodyPr wrap="square" lIns="0" tIns="0" rIns="0" bIns="0" rtlCol="0" anchor="t"/>
          <a:lstStyle/>
          <a:p>
            <a:pPr indent="0" marL="0">
              <a:buNone/>
            </a:pPr>
            <a:r>
              <a:rPr lang="en-US" sz="1200" dirty="0">
                <a:solidFill>
                  <a:schemeClr val="tx2"/>
                </a:solidFill>
              </a:rPr>
              <a:t>9:16 de la început, ca să nu tai din blond.</a:t>
            </a:r>
            <a:endParaRPr lang="en-US" sz="1200" dirty="0"/>
          </a:p>
        </p:txBody>
      </p:sp>
      <p:sp>
        <p:nvSpPr>
          <p:cNvPr id="10" name="card-535"/>
          <p:cNvSpPr/>
          <p:nvPr/>
        </p:nvSpPr>
        <p:spPr>
          <a:xfrm>
            <a:off x="2971800" y="1188720"/>
            <a:ext cx="2377440" cy="1024128"/>
          </a:xfrm>
          <a:prstGeom prst="roundRect">
            <a:avLst>
              <a:gd name="adj" fmla="val 10714"/>
            </a:avLst>
          </a:prstGeom>
          <a:solidFill>
            <a:schemeClr val="bg2"/>
          </a:solidFill>
          <a:ln w="12700">
            <a:solidFill>
              <a:schemeClr val="bg2"/>
            </a:solidFill>
            <a:prstDash val="solid"/>
          </a:ln>
        </p:spPr>
      </p:sp>
      <p:sp>
        <p:nvSpPr>
          <p:cNvPr id="11" name="num-536"/>
          <p:cNvSpPr/>
          <p:nvPr/>
        </p:nvSpPr>
        <p:spPr>
          <a:xfrm>
            <a:off x="3108960" y="1325880"/>
            <a:ext cx="329184" cy="329184"/>
          </a:xfrm>
          <a:prstGeom prst="ellipse">
            <a:avLst/>
          </a:prstGeom>
          <a:solidFill>
            <a:schemeClr val="accent2"/>
          </a:solidFill>
          <a:ln w="12700">
            <a:solidFill>
              <a:schemeClr val="accent2"/>
            </a:solidFill>
            <a:prstDash val="solid"/>
          </a:ln>
        </p:spPr>
      </p:sp>
      <p:sp>
        <p:nvSpPr>
          <p:cNvPr id="12" name="text-537"/>
          <p:cNvSpPr txBox="1"/>
          <p:nvPr/>
        </p:nvSpPr>
        <p:spPr>
          <a:xfrm>
            <a:off x="3108960" y="1325880"/>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538"/>
          <p:cNvSpPr txBox="1"/>
          <p:nvPr/>
        </p:nvSpPr>
        <p:spPr>
          <a:xfrm>
            <a:off x="3520440" y="1298448"/>
            <a:ext cx="1783080" cy="384048"/>
          </a:xfrm>
          <a:prstGeom prst="rect">
            <a:avLst/>
          </a:prstGeom>
          <a:noFill/>
          <a:ln/>
        </p:spPr>
        <p:txBody>
          <a:bodyPr wrap="square" lIns="0" tIns="0" rIns="0" bIns="0" rtlCol="0" anchor="ctr"/>
          <a:lstStyle/>
          <a:p>
            <a:pPr indent="0" marL="0">
              <a:buNone/>
            </a:pPr>
            <a:r>
              <a:rPr lang="en-US" sz="1300" b="1" dirty="0">
                <a:solidFill>
                  <a:schemeClr val="tx1"/>
                </a:solidFill>
              </a:rPr>
              <a:t>Trepied fix</a:t>
            </a:r>
            <a:endParaRPr lang="en-US" sz="1300" dirty="0"/>
          </a:p>
        </p:txBody>
      </p:sp>
      <p:sp>
        <p:nvSpPr>
          <p:cNvPr id="14" name="text-539"/>
          <p:cNvSpPr txBox="1"/>
          <p:nvPr/>
        </p:nvSpPr>
        <p:spPr>
          <a:xfrm>
            <a:off x="3108960" y="1719072"/>
            <a:ext cx="2148840" cy="457200"/>
          </a:xfrm>
          <a:prstGeom prst="rect">
            <a:avLst/>
          </a:prstGeom>
          <a:noFill/>
          <a:ln/>
        </p:spPr>
        <p:txBody>
          <a:bodyPr wrap="square" lIns="0" tIns="0" rIns="0" bIns="0" rtlCol="0" anchor="t"/>
          <a:lstStyle/>
          <a:p>
            <a:pPr indent="0" marL="0">
              <a:buNone/>
            </a:pPr>
            <a:r>
              <a:rPr lang="en-US" sz="1200" dirty="0">
                <a:solidFill>
                  <a:schemeClr val="tx2"/>
                </a:solidFill>
              </a:rPr>
              <a:t>Înainte și după din același punct = tranziție perfectă.</a:t>
            </a:r>
            <a:endParaRPr lang="en-US" sz="1200" dirty="0"/>
          </a:p>
        </p:txBody>
      </p:sp>
      <p:sp>
        <p:nvSpPr>
          <p:cNvPr id="15" name="card-540"/>
          <p:cNvSpPr/>
          <p:nvPr/>
        </p:nvSpPr>
        <p:spPr>
          <a:xfrm>
            <a:off x="457200" y="2350008"/>
            <a:ext cx="2377440" cy="1024128"/>
          </a:xfrm>
          <a:prstGeom prst="roundRect">
            <a:avLst>
              <a:gd name="adj" fmla="val 10714"/>
            </a:avLst>
          </a:prstGeom>
          <a:solidFill>
            <a:schemeClr val="bg2"/>
          </a:solidFill>
          <a:ln w="12700">
            <a:solidFill>
              <a:schemeClr val="bg2"/>
            </a:solidFill>
            <a:prstDash val="solid"/>
          </a:ln>
        </p:spPr>
      </p:sp>
      <p:sp>
        <p:nvSpPr>
          <p:cNvPr id="16" name="num-541"/>
          <p:cNvSpPr/>
          <p:nvPr/>
        </p:nvSpPr>
        <p:spPr>
          <a:xfrm>
            <a:off x="594360" y="2487168"/>
            <a:ext cx="329184" cy="329184"/>
          </a:xfrm>
          <a:prstGeom prst="ellipse">
            <a:avLst/>
          </a:prstGeom>
          <a:solidFill>
            <a:schemeClr val="accent2"/>
          </a:solidFill>
          <a:ln w="12700">
            <a:solidFill>
              <a:schemeClr val="accent2"/>
            </a:solidFill>
            <a:prstDash val="solid"/>
          </a:ln>
        </p:spPr>
      </p:sp>
      <p:sp>
        <p:nvSpPr>
          <p:cNvPr id="17" name="text-542"/>
          <p:cNvSpPr txBox="1"/>
          <p:nvPr/>
        </p:nvSpPr>
        <p:spPr>
          <a:xfrm>
            <a:off x="594360" y="248716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543"/>
          <p:cNvSpPr txBox="1"/>
          <p:nvPr/>
        </p:nvSpPr>
        <p:spPr>
          <a:xfrm>
            <a:off x="1005840" y="2459736"/>
            <a:ext cx="1783080" cy="384048"/>
          </a:xfrm>
          <a:prstGeom prst="rect">
            <a:avLst/>
          </a:prstGeom>
          <a:noFill/>
          <a:ln/>
        </p:spPr>
        <p:txBody>
          <a:bodyPr wrap="square" lIns="0" tIns="0" rIns="0" bIns="0" rtlCol="0" anchor="ctr"/>
          <a:lstStyle/>
          <a:p>
            <a:pPr indent="0" marL="0">
              <a:buNone/>
            </a:pPr>
            <a:r>
              <a:rPr lang="en-US" sz="1300" b="1" dirty="0">
                <a:solidFill>
                  <a:schemeClr val="tx1"/>
                </a:solidFill>
              </a:rPr>
              <a:t>Viteză inteligentă</a:t>
            </a:r>
            <a:endParaRPr lang="en-US" sz="1300" dirty="0"/>
          </a:p>
        </p:txBody>
      </p:sp>
      <p:sp>
        <p:nvSpPr>
          <p:cNvPr id="19" name="text-544"/>
          <p:cNvSpPr txBox="1"/>
          <p:nvPr/>
        </p:nvSpPr>
        <p:spPr>
          <a:xfrm>
            <a:off x="594360" y="2880360"/>
            <a:ext cx="2148840" cy="457200"/>
          </a:xfrm>
          <a:prstGeom prst="rect">
            <a:avLst/>
          </a:prstGeom>
          <a:noFill/>
          <a:ln/>
        </p:spPr>
        <p:txBody>
          <a:bodyPr wrap="square" lIns="0" tIns="0" rIns="0" bIns="0" rtlCol="0" anchor="t"/>
          <a:lstStyle/>
          <a:p>
            <a:pPr indent="0" marL="0">
              <a:buNone/>
            </a:pPr>
            <a:r>
              <a:rPr lang="en-US" sz="1200" dirty="0">
                <a:solidFill>
                  <a:schemeClr val="tx2"/>
                </a:solidFill>
              </a:rPr>
              <a:t>Aplicarea pe 4x, rezultatul final pe 1x sau 0,5x.</a:t>
            </a:r>
            <a:endParaRPr lang="en-US" sz="1200" dirty="0"/>
          </a:p>
        </p:txBody>
      </p:sp>
      <p:sp>
        <p:nvSpPr>
          <p:cNvPr id="20" name="card-545"/>
          <p:cNvSpPr/>
          <p:nvPr/>
        </p:nvSpPr>
        <p:spPr>
          <a:xfrm>
            <a:off x="2971800" y="2350008"/>
            <a:ext cx="2377440" cy="1024128"/>
          </a:xfrm>
          <a:prstGeom prst="roundRect">
            <a:avLst>
              <a:gd name="adj" fmla="val 10714"/>
            </a:avLst>
          </a:prstGeom>
          <a:solidFill>
            <a:schemeClr val="bg2"/>
          </a:solidFill>
          <a:ln w="12700">
            <a:solidFill>
              <a:schemeClr val="bg2"/>
            </a:solidFill>
            <a:prstDash val="solid"/>
          </a:ln>
        </p:spPr>
      </p:sp>
      <p:sp>
        <p:nvSpPr>
          <p:cNvPr id="21" name="num-546"/>
          <p:cNvSpPr/>
          <p:nvPr/>
        </p:nvSpPr>
        <p:spPr>
          <a:xfrm>
            <a:off x="3108960" y="2487168"/>
            <a:ext cx="329184" cy="329184"/>
          </a:xfrm>
          <a:prstGeom prst="ellipse">
            <a:avLst/>
          </a:prstGeom>
          <a:solidFill>
            <a:schemeClr val="accent2"/>
          </a:solidFill>
          <a:ln w="12700">
            <a:solidFill>
              <a:schemeClr val="accent2"/>
            </a:solidFill>
            <a:prstDash val="solid"/>
          </a:ln>
        </p:spPr>
      </p:sp>
      <p:sp>
        <p:nvSpPr>
          <p:cNvPr id="22" name="text-547"/>
          <p:cNvSpPr txBox="1"/>
          <p:nvPr/>
        </p:nvSpPr>
        <p:spPr>
          <a:xfrm>
            <a:off x="3108960" y="2487168"/>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548"/>
          <p:cNvSpPr txBox="1"/>
          <p:nvPr/>
        </p:nvSpPr>
        <p:spPr>
          <a:xfrm>
            <a:off x="3520440" y="2459736"/>
            <a:ext cx="1783080" cy="384048"/>
          </a:xfrm>
          <a:prstGeom prst="rect">
            <a:avLst/>
          </a:prstGeom>
          <a:noFill/>
          <a:ln/>
        </p:spPr>
        <p:txBody>
          <a:bodyPr wrap="square" lIns="0" tIns="0" rIns="0" bIns="0" rtlCol="0" anchor="ctr"/>
          <a:lstStyle/>
          <a:p>
            <a:pPr indent="0" marL="0">
              <a:buNone/>
            </a:pPr>
            <a:r>
              <a:rPr lang="en-US" sz="1300" b="1" dirty="0">
                <a:solidFill>
                  <a:schemeClr val="tx1"/>
                </a:solidFill>
              </a:rPr>
              <a:t>Taie așteptarea</a:t>
            </a:r>
            <a:endParaRPr lang="en-US" sz="1300" dirty="0"/>
          </a:p>
        </p:txBody>
      </p:sp>
      <p:sp>
        <p:nvSpPr>
          <p:cNvPr id="24" name="text-549"/>
          <p:cNvSpPr txBox="1"/>
          <p:nvPr/>
        </p:nvSpPr>
        <p:spPr>
          <a:xfrm>
            <a:off x="3108960" y="2880360"/>
            <a:ext cx="2148840" cy="457200"/>
          </a:xfrm>
          <a:prstGeom prst="rect">
            <a:avLst/>
          </a:prstGeom>
          <a:noFill/>
          <a:ln/>
        </p:spPr>
        <p:txBody>
          <a:bodyPr wrap="square" lIns="0" tIns="0" rIns="0" bIns="0" rtlCol="0" anchor="t"/>
          <a:lstStyle/>
          <a:p>
            <a:pPr indent="0" marL="0">
              <a:buNone/>
            </a:pPr>
            <a:r>
              <a:rPr lang="en-US" sz="1200" dirty="0">
                <a:solidFill>
                  <a:schemeClr val="tx2"/>
                </a:solidFill>
              </a:rPr>
              <a:t>Procesarea de 40 de minute nu e conținut.</a:t>
            </a:r>
            <a:endParaRPr lang="en-US" sz="1200" dirty="0"/>
          </a:p>
        </p:txBody>
      </p:sp>
      <p:sp>
        <p:nvSpPr>
          <p:cNvPr id="25" name="card-550"/>
          <p:cNvSpPr/>
          <p:nvPr/>
        </p:nvSpPr>
        <p:spPr>
          <a:xfrm>
            <a:off x="457200" y="3511296"/>
            <a:ext cx="2377440" cy="1024128"/>
          </a:xfrm>
          <a:prstGeom prst="roundRect">
            <a:avLst>
              <a:gd name="adj" fmla="val 10714"/>
            </a:avLst>
          </a:prstGeom>
          <a:solidFill>
            <a:schemeClr val="bg2"/>
          </a:solidFill>
          <a:ln w="12700">
            <a:solidFill>
              <a:schemeClr val="bg2"/>
            </a:solidFill>
            <a:prstDash val="solid"/>
          </a:ln>
        </p:spPr>
      </p:sp>
      <p:sp>
        <p:nvSpPr>
          <p:cNvPr id="26" name="num-551"/>
          <p:cNvSpPr/>
          <p:nvPr/>
        </p:nvSpPr>
        <p:spPr>
          <a:xfrm>
            <a:off x="594360" y="3648456"/>
            <a:ext cx="329184" cy="329184"/>
          </a:xfrm>
          <a:prstGeom prst="ellipse">
            <a:avLst/>
          </a:prstGeom>
          <a:solidFill>
            <a:schemeClr val="accent2"/>
          </a:solidFill>
          <a:ln w="12700">
            <a:solidFill>
              <a:schemeClr val="accent2"/>
            </a:solidFill>
            <a:prstDash val="solid"/>
          </a:ln>
        </p:spPr>
      </p:sp>
      <p:sp>
        <p:nvSpPr>
          <p:cNvPr id="27" name="text-552"/>
          <p:cNvSpPr txBox="1"/>
          <p:nvPr/>
        </p:nvSpPr>
        <p:spPr>
          <a:xfrm>
            <a:off x="594360" y="3648456"/>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ext-553"/>
          <p:cNvSpPr txBox="1"/>
          <p:nvPr/>
        </p:nvSpPr>
        <p:spPr>
          <a:xfrm>
            <a:off x="1005840" y="3621024"/>
            <a:ext cx="1783080" cy="384048"/>
          </a:xfrm>
          <a:prstGeom prst="rect">
            <a:avLst/>
          </a:prstGeom>
          <a:noFill/>
          <a:ln/>
        </p:spPr>
        <p:txBody>
          <a:bodyPr wrap="square" lIns="0" tIns="0" rIns="0" bIns="0" rtlCol="0" anchor="ctr"/>
          <a:lstStyle/>
          <a:p>
            <a:pPr indent="0" marL="0">
              <a:buNone/>
            </a:pPr>
            <a:r>
              <a:rPr lang="en-US" sz="1300" b="1" dirty="0">
                <a:solidFill>
                  <a:schemeClr val="tx1"/>
                </a:solidFill>
              </a:rPr>
              <a:t>Fără filtre pe păr</a:t>
            </a:r>
            <a:endParaRPr lang="en-US" sz="1300" dirty="0"/>
          </a:p>
        </p:txBody>
      </p:sp>
      <p:sp>
        <p:nvSpPr>
          <p:cNvPr id="29" name="text-554"/>
          <p:cNvSpPr txBox="1"/>
          <p:nvPr/>
        </p:nvSpPr>
        <p:spPr>
          <a:xfrm>
            <a:off x="594360" y="4041648"/>
            <a:ext cx="2148840" cy="457200"/>
          </a:xfrm>
          <a:prstGeom prst="rect">
            <a:avLst/>
          </a:prstGeom>
          <a:noFill/>
          <a:ln/>
        </p:spPr>
        <p:txBody>
          <a:bodyPr wrap="square" lIns="0" tIns="0" rIns="0" bIns="0" rtlCol="0" anchor="t"/>
          <a:lstStyle/>
          <a:p>
            <a:pPr indent="0" marL="0">
              <a:buNone/>
            </a:pPr>
            <a:r>
              <a:rPr lang="en-US" sz="1200" dirty="0">
                <a:solidFill>
                  <a:schemeClr val="tx2"/>
                </a:solidFill>
              </a:rPr>
              <a:t>AirTouch-ul bej trebuie să rămână bej.</a:t>
            </a:r>
            <a:endParaRPr lang="en-US" sz="1200" dirty="0"/>
          </a:p>
        </p:txBody>
      </p:sp>
      <p:sp>
        <p:nvSpPr>
          <p:cNvPr id="30" name="card-555"/>
          <p:cNvSpPr/>
          <p:nvPr/>
        </p:nvSpPr>
        <p:spPr>
          <a:xfrm>
            <a:off x="2971800" y="3511296"/>
            <a:ext cx="2377440" cy="1024128"/>
          </a:xfrm>
          <a:prstGeom prst="roundRect">
            <a:avLst>
              <a:gd name="adj" fmla="val 10714"/>
            </a:avLst>
          </a:prstGeom>
          <a:solidFill>
            <a:schemeClr val="bg2"/>
          </a:solidFill>
          <a:ln w="12700">
            <a:solidFill>
              <a:schemeClr val="bg2"/>
            </a:solidFill>
            <a:prstDash val="solid"/>
          </a:ln>
        </p:spPr>
      </p:sp>
      <p:sp>
        <p:nvSpPr>
          <p:cNvPr id="31" name="num-556"/>
          <p:cNvSpPr/>
          <p:nvPr/>
        </p:nvSpPr>
        <p:spPr>
          <a:xfrm>
            <a:off x="3108960" y="3648456"/>
            <a:ext cx="329184" cy="329184"/>
          </a:xfrm>
          <a:prstGeom prst="ellipse">
            <a:avLst/>
          </a:prstGeom>
          <a:solidFill>
            <a:schemeClr val="accent2"/>
          </a:solidFill>
          <a:ln w="12700">
            <a:solidFill>
              <a:schemeClr val="accent2"/>
            </a:solidFill>
            <a:prstDash val="solid"/>
          </a:ln>
        </p:spPr>
      </p:sp>
      <p:sp>
        <p:nvSpPr>
          <p:cNvPr id="32" name="text-557"/>
          <p:cNvSpPr txBox="1"/>
          <p:nvPr/>
        </p:nvSpPr>
        <p:spPr>
          <a:xfrm>
            <a:off x="3108960" y="3648456"/>
            <a:ext cx="329184" cy="329184"/>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ext-558"/>
          <p:cNvSpPr txBox="1"/>
          <p:nvPr/>
        </p:nvSpPr>
        <p:spPr>
          <a:xfrm>
            <a:off x="3520440" y="3621024"/>
            <a:ext cx="1783080" cy="384048"/>
          </a:xfrm>
          <a:prstGeom prst="rect">
            <a:avLst/>
          </a:prstGeom>
          <a:noFill/>
          <a:ln/>
        </p:spPr>
        <p:txBody>
          <a:bodyPr wrap="square" lIns="0" tIns="0" rIns="0" bIns="0" rtlCol="0" anchor="ctr"/>
          <a:lstStyle/>
          <a:p>
            <a:pPr indent="0" marL="0">
              <a:buNone/>
            </a:pPr>
            <a:r>
              <a:rPr lang="en-US" sz="1300" b="1" dirty="0">
                <a:solidFill>
                  <a:schemeClr val="tx1"/>
                </a:solidFill>
              </a:rPr>
              <a:t>Proiect model</a:t>
            </a:r>
            <a:endParaRPr lang="en-US" sz="1300" dirty="0"/>
          </a:p>
        </p:txBody>
      </p:sp>
      <p:sp>
        <p:nvSpPr>
          <p:cNvPr id="34" name="text-559"/>
          <p:cNvSpPr txBox="1"/>
          <p:nvPr/>
        </p:nvSpPr>
        <p:spPr>
          <a:xfrm>
            <a:off x="3108960" y="4041648"/>
            <a:ext cx="2148840" cy="457200"/>
          </a:xfrm>
          <a:prstGeom prst="rect">
            <a:avLst/>
          </a:prstGeom>
          <a:noFill/>
          <a:ln/>
        </p:spPr>
        <p:txBody>
          <a:bodyPr wrap="square" lIns="0" tIns="0" rIns="0" bIns="0" rtlCol="0" anchor="t"/>
          <a:lstStyle/>
          <a:p>
            <a:pPr indent="0" marL="0">
              <a:buNone/>
            </a:pPr>
            <a:r>
              <a:rPr lang="en-US" sz="1200" dirty="0">
                <a:solidFill>
                  <a:schemeClr val="tx2"/>
                </a:solidFill>
              </a:rPr>
              <a:t>Fontul și culorile tale, duplicate la fiecare video.</a:t>
            </a:r>
            <a:endParaRPr lang="en-US" sz="1200" dirty="0"/>
          </a:p>
        </p:txBody>
      </p:sp>
      <p:sp>
        <p:nvSpPr>
          <p:cNvPr id="35" name="card-560"/>
          <p:cNvSpPr/>
          <p:nvPr/>
        </p:nvSpPr>
        <p:spPr>
          <a:xfrm>
            <a:off x="5623560" y="1188720"/>
            <a:ext cx="3063240" cy="3474720"/>
          </a:xfrm>
          <a:prstGeom prst="roundRect">
            <a:avLst>
              <a:gd name="adj" fmla="val 3582"/>
            </a:avLst>
          </a:prstGeom>
          <a:solidFill>
            <a:schemeClr val="tx1"/>
          </a:solidFill>
          <a:ln w="12700">
            <a:solidFill>
              <a:schemeClr val="tx1"/>
            </a:solidFill>
            <a:prstDash val="solid"/>
          </a:ln>
        </p:spPr>
      </p:sp>
      <p:sp>
        <p:nvSpPr>
          <p:cNvPr id="36" name="badge-561"/>
          <p:cNvSpPr/>
          <p:nvPr/>
        </p:nvSpPr>
        <p:spPr>
          <a:xfrm>
            <a:off x="5806440" y="1325880"/>
            <a:ext cx="411480" cy="411480"/>
          </a:xfrm>
          <a:prstGeom prst="ellipse">
            <a:avLst/>
          </a:prstGeom>
          <a:solidFill>
            <a:schemeClr val="accent1"/>
          </a:solidFill>
          <a:ln w="12700">
            <a:solidFill>
              <a:schemeClr val="accent1"/>
            </a:solidFill>
            <a:prstDash val="solid"/>
          </a:ln>
        </p:spPr>
      </p:sp>
      <p:pic>
        <p:nvPicPr>
          <p:cNvPr id="37" name="icon-562" descr="preencoded.png">    </p:cNvPr>
          <p:cNvPicPr>
            <a:picLocks noChangeAspect="1"/>
          </p:cNvPicPr>
          <p:nvPr/>
        </p:nvPicPr>
        <p:blipFill>
          <a:blip r:embed="rId2"/>
          <a:stretch>
            <a:fillRect/>
          </a:stretch>
        </p:blipFill>
        <p:spPr>
          <a:xfrm>
            <a:off x="5909310" y="1428750"/>
            <a:ext cx="205740" cy="205740"/>
          </a:xfrm>
          <a:prstGeom prst="rect">
            <a:avLst/>
          </a:prstGeom>
        </p:spPr>
      </p:pic>
      <p:sp>
        <p:nvSpPr>
          <p:cNvPr id="38" name="text-563"/>
          <p:cNvSpPr txBox="1"/>
          <p:nvPr/>
        </p:nvSpPr>
        <p:spPr>
          <a:xfrm>
            <a:off x="6309360" y="1325880"/>
            <a:ext cx="2286000" cy="411480"/>
          </a:xfrm>
          <a:prstGeom prst="rect">
            <a:avLst/>
          </a:prstGeom>
          <a:noFill/>
          <a:ln/>
        </p:spPr>
        <p:txBody>
          <a:bodyPr wrap="square" lIns="0" tIns="0" rIns="0" bIns="0" rtlCol="0" anchor="ctr"/>
          <a:lstStyle/>
          <a:p>
            <a:pPr indent="0" marL="0">
              <a:buNone/>
            </a:pPr>
            <a:r>
              <a:rPr lang="en-US" sz="1400" b="1" dirty="0">
                <a:solidFill>
                  <a:schemeClr val="accent3"/>
                </a:solidFill>
              </a:rPr>
              <a:t>Tutoriale oficiale CapCut</a:t>
            </a:r>
            <a:endParaRPr lang="en-US" sz="1400" dirty="0"/>
          </a:p>
        </p:txBody>
      </p:sp>
      <p:sp>
        <p:nvSpPr>
          <p:cNvPr id="39" name="text-564"/>
          <p:cNvSpPr txBox="1"/>
          <p:nvPr/>
        </p:nvSpPr>
        <p:spPr>
          <a:xfrm>
            <a:off x="5806440" y="1874520"/>
            <a:ext cx="2743200" cy="2194560"/>
          </a:xfrm>
          <a:prstGeom prst="rect">
            <a:avLst/>
          </a:prstGeom>
          <a:noFill/>
          <a:ln/>
        </p:spPr>
        <p:txBody>
          <a:bodyPr wrap="square" lIns="0" tIns="0" rIns="0" bIns="0" rtlCol="0" anchor="t"/>
          <a:lstStyle/>
          <a:p>
            <a:pPr marL="342900" indent="-342900">
              <a:spcAft>
                <a:spcPts val="600"/>
              </a:spcAft>
              <a:buSzPct val="100000"/>
              <a:buChar char="•"/>
            </a:pPr>
            <a:r>
              <a:rPr lang="en-US" sz="1300" u="sng" dirty="0">
                <a:solidFill>
                  <a:schemeClr val="bg1"/>
                </a:solidFill>
                <a:hlinkClick r:id="rId3" invalidUrl="" action="" tgtFrame="" tooltip="" history="1" highlightClick="0" endSnd="0">
                  <a:extLst>
                    <a:ext uri="{A12FA001-AC4F-418D-AE19-62706E023703}">
                      <ahyp:hlinkClr xmlns:ahyp="http://schemas.microsoft.com/office/drawing/2018/hyperlinkcolor" val="tx"/>
                    </a:ext>
                  </a:extLst>
                </a:hlinkClick>
              </a:rPr>
              <a:t>Subtitrări automate</a:t>
            </a:r>
            <a:endParaRPr lang="en-US" sz="1300" dirty="0"/>
          </a:p>
          <a:p>
            <a:pPr marL="342900" indent="-342900">
              <a:spcAft>
                <a:spcPts val="600"/>
              </a:spcAft>
              <a:buSzPct val="100000"/>
              <a:buChar char="•"/>
            </a:pPr>
            <a:r>
              <a:rPr lang="en-US" sz="1300" u="sng" dirty="0">
                <a:solidFill>
                  <a:schemeClr val="bg1"/>
                </a:solidFill>
                <a:hlinkClick r:id="rId4" invalidUrl="" action="" tgtFrame="" tooltip="" history="1" highlightClick="0" endSnd="0">
                  <a:extLst>
                    <a:ext uri="{A12FA001-AC4F-418D-AE19-62706E023703}">
                      <ahyp:hlinkClr xmlns:ahyp="http://schemas.microsoft.com/office/drawing/2018/hyperlinkcolor" val="tx"/>
                    </a:ext>
                  </a:extLst>
                </a:hlinkClick>
              </a:rPr>
              <a:t>Viteză video</a:t>
            </a:r>
            <a:endParaRPr lang="en-US" sz="1300" dirty="0"/>
          </a:p>
          <a:p>
            <a:pPr marL="342900" indent="-342900">
              <a:spcAft>
                <a:spcPts val="600"/>
              </a:spcAft>
              <a:buSzPct val="100000"/>
              <a:buChar char="•"/>
            </a:pPr>
            <a:r>
              <a:rPr lang="en-US" sz="1300" u="sng" dirty="0">
                <a:solidFill>
                  <a:schemeClr val="bg1"/>
                </a:solidFill>
                <a:hlinkClick r:id="rId5" invalidUrl="" action="" tgtFrame="" tooltip="" history="1" highlightClick="0" endSnd="0">
                  <a:extLst>
                    <a:ext uri="{A12FA001-AC4F-418D-AE19-62706E023703}">
                      <ahyp:hlinkClr xmlns:ahyp="http://schemas.microsoft.com/office/drawing/2018/hyperlinkcolor" val="tx"/>
                    </a:ext>
                  </a:extLst>
                </a:hlinkClick>
              </a:rPr>
              <a:t>Voce peste video</a:t>
            </a:r>
            <a:endParaRPr lang="en-US" sz="1300" dirty="0"/>
          </a:p>
          <a:p>
            <a:pPr marL="342900" indent="-342900">
              <a:spcAft>
                <a:spcPts val="600"/>
              </a:spcAft>
              <a:buSzPct val="100000"/>
              <a:buChar char="•"/>
            </a:pPr>
            <a:r>
              <a:rPr lang="en-US" sz="1300" u="sng" dirty="0">
                <a:solidFill>
                  <a:schemeClr val="bg1"/>
                </a:solidFill>
                <a:hlinkClick r:id="rId6" invalidUrl="" action="" tgtFrame="" tooltip="" history="1" highlightClick="0" endSnd="0">
                  <a:extLst>
                    <a:ext uri="{A12FA001-AC4F-418D-AE19-62706E023703}">
                      <ahyp:hlinkClr xmlns:ahyp="http://schemas.microsoft.com/office/drawing/2018/hyperlinkcolor" val="tx"/>
                    </a:ext>
                  </a:extLst>
                </a:hlinkClick>
              </a:rPr>
              <a:t>Cum folosești șabloane</a:t>
            </a:r>
            <a:endParaRPr lang="en-US" sz="1300" dirty="0"/>
          </a:p>
          <a:p>
            <a:pPr marL="342900" indent="-342900">
              <a:spcAft>
                <a:spcPts val="600"/>
              </a:spcAft>
              <a:buSzPct val="100000"/>
              <a:buChar char="•"/>
            </a:pPr>
            <a:r>
              <a:rPr lang="en-US" sz="1300" u="sng" dirty="0">
                <a:solidFill>
                  <a:schemeClr val="bg1"/>
                </a:solidFill>
                <a:hlinkClick r:id="rId7" invalidUrl="" action="" tgtFrame="" tooltip="" history="1" highlightClick="0" endSnd="0">
                  <a:extLst>
                    <a:ext uri="{A12FA001-AC4F-418D-AE19-62706E023703}">
                      <ahyp:hlinkClr xmlns:ahyp="http://schemas.microsoft.com/office/drawing/2018/hyperlinkcolor" val="tx"/>
                    </a:ext>
                  </a:extLst>
                </a:hlinkClick>
              </a:rPr>
              <a:t>Tranziții cu șablon</a:t>
            </a:r>
            <a:endParaRPr lang="en-US" sz="1300" dirty="0"/>
          </a:p>
          <a:p>
            <a:pPr marL="342900" indent="-342900">
              <a:spcAft>
                <a:spcPts val="600"/>
              </a:spcAft>
              <a:buSzPct val="100000"/>
              <a:buChar char="•"/>
            </a:pPr>
            <a:r>
              <a:rPr lang="en-US" sz="1300" u="sng" dirty="0">
                <a:solidFill>
                  <a:schemeClr val="bg1"/>
                </a:solidFill>
                <a:hlinkClick r:id="rId8" invalidUrl="" action="" tgtFrame="" tooltip="" history="1" highlightClick="0" endSnd="0">
                  <a:extLst>
                    <a:ext uri="{A12FA001-AC4F-418D-AE19-62706E023703}">
                      <ahyp:hlinkClr xmlns:ahyp="http://schemas.microsoft.com/office/drawing/2018/hyperlinkcolor" val="tx"/>
                    </a:ext>
                  </a:extLst>
                </a:hlinkClick>
              </a:rPr>
              <a:t>Gratuit vs Pro</a:t>
            </a:r>
            <a:endParaRPr lang="en-US" sz="1300" dirty="0"/>
          </a:p>
        </p:txBody>
      </p:sp>
      <p:sp>
        <p:nvSpPr>
          <p:cNvPr id="40" name="text-565"/>
          <p:cNvSpPr txBox="1"/>
          <p:nvPr/>
        </p:nvSpPr>
        <p:spPr>
          <a:xfrm>
            <a:off x="5806440" y="4206240"/>
            <a:ext cx="2743200" cy="320040"/>
          </a:xfrm>
          <a:prstGeom prst="rect">
            <a:avLst/>
          </a:prstGeom>
          <a:noFill/>
          <a:ln/>
        </p:spPr>
        <p:txBody>
          <a:bodyPr wrap="square" lIns="0" tIns="0" rIns="0" bIns="0" rtlCol="0" anchor="t"/>
          <a:lstStyle/>
          <a:p>
            <a:pPr indent="0" marL="0">
              <a:buNone/>
            </a:pPr>
            <a:r>
              <a:rPr lang="en-US" sz="1100" i="1" dirty="0">
                <a:solidFill>
                  <a:schemeClr val="accent3"/>
                </a:solidFill>
              </a:rPr>
              <a:t>Linkuri în notele prezentatorului.</a:t>
            </a:r>
            <a:endParaRPr lang="en-US" sz="1100" dirty="0"/>
          </a:p>
        </p:txBody>
      </p:sp>
      <p:sp>
        <p:nvSpPr>
          <p:cNvPr id="25" name="Slide Number Placeholder 0"/>
          <p:cNvSpPr>
            <a:spLocks noGrp="1"/>
          </p:cNvSpPr>
          <p:nvPr>
            <p:ph type="sldNum" sz="quarter" idx="4294967295"/>
          </p:nvPr>
        </p:nvSpPr>
        <p:spPr>
          <a:xfrm>
            <a:off x="8321040" y="4846320"/>
            <a:ext cx="36576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566"/>
          <p:cNvSpPr txBox="1"/>
          <p:nvPr/>
        </p:nvSpPr>
        <p:spPr>
          <a:xfrm>
            <a:off x="548640" y="411480"/>
            <a:ext cx="45720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PARTEA VI · CONCLUZIE</a:t>
            </a:r>
            <a:endParaRPr lang="en-US" sz="1000" dirty="0"/>
          </a:p>
        </p:txBody>
      </p:sp>
      <p:sp>
        <p:nvSpPr>
          <p:cNvPr id="3" name="text-567"/>
          <p:cNvSpPr txBox="1"/>
          <p:nvPr/>
        </p:nvSpPr>
        <p:spPr>
          <a:xfrm>
            <a:off x="548640" y="777240"/>
            <a:ext cx="8046720" cy="137160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„Nu trebuie să fii influencer ca să îți promovezi munca. Trebuie doar să începi să o arăți.”</a:t>
            </a:r>
            <a:endParaRPr lang="en-US" sz="3000" dirty="0"/>
          </a:p>
        </p:txBody>
      </p:sp>
      <p:sp>
        <p:nvSpPr>
          <p:cNvPr id="4" name="badge-568"/>
          <p:cNvSpPr/>
          <p:nvPr/>
        </p:nvSpPr>
        <p:spPr>
          <a:xfrm>
            <a:off x="914400" y="2697480"/>
            <a:ext cx="685800" cy="685800"/>
          </a:xfrm>
          <a:prstGeom prst="ellipse">
            <a:avLst/>
          </a:prstGeom>
          <a:solidFill>
            <a:schemeClr val="accent1"/>
          </a:solidFill>
          <a:ln w="12700">
            <a:solidFill>
              <a:schemeClr val="accent1"/>
            </a:solidFill>
            <a:prstDash val="solid"/>
          </a:ln>
        </p:spPr>
      </p:sp>
      <p:pic>
        <p:nvPicPr>
          <p:cNvPr id="5" name="icon-569" descr="preencoded.png">    </p:cNvPr>
          <p:cNvPicPr>
            <a:picLocks noChangeAspect="1"/>
          </p:cNvPicPr>
          <p:nvPr/>
        </p:nvPicPr>
        <p:blipFill>
          <a:blip r:embed="rId1"/>
          <a:stretch>
            <a:fillRect/>
          </a:stretch>
        </p:blipFill>
        <p:spPr>
          <a:xfrm>
            <a:off x="1085850" y="2868930"/>
            <a:ext cx="342900" cy="342900"/>
          </a:xfrm>
          <a:prstGeom prst="rect">
            <a:avLst/>
          </a:prstGeom>
        </p:spPr>
      </p:pic>
      <p:sp>
        <p:nvSpPr>
          <p:cNvPr id="6" name="text-570"/>
          <p:cNvSpPr txBox="1"/>
          <p:nvPr/>
        </p:nvSpPr>
        <p:spPr>
          <a:xfrm>
            <a:off x="548640" y="3520440"/>
            <a:ext cx="1417320" cy="292608"/>
          </a:xfrm>
          <a:prstGeom prst="rect">
            <a:avLst/>
          </a:prstGeom>
          <a:noFill/>
          <a:ln/>
        </p:spPr>
        <p:txBody>
          <a:bodyPr wrap="square" lIns="0" tIns="0" rIns="0" bIns="0" rtlCol="0" anchor="t"/>
          <a:lstStyle/>
          <a:p>
            <a:pPr algn="ctr" indent="0" marL="0">
              <a:buNone/>
            </a:pPr>
            <a:r>
              <a:rPr lang="en-US" sz="1500" b="1" dirty="0">
                <a:solidFill>
                  <a:schemeClr val="bg1"/>
                </a:solidFill>
              </a:rPr>
              <a:t>1. Filmează</a:t>
            </a:r>
            <a:endParaRPr lang="en-US" sz="1500" dirty="0"/>
          </a:p>
        </p:txBody>
      </p:sp>
      <p:sp>
        <p:nvSpPr>
          <p:cNvPr id="7" name="text-571"/>
          <p:cNvSpPr txBox="1"/>
          <p:nvPr/>
        </p:nvSpPr>
        <p:spPr>
          <a:xfrm>
            <a:off x="548640" y="3813048"/>
            <a:ext cx="1417320" cy="457200"/>
          </a:xfrm>
          <a:prstGeom prst="rect">
            <a:avLst/>
          </a:prstGeom>
          <a:noFill/>
          <a:ln/>
        </p:spPr>
        <p:txBody>
          <a:bodyPr wrap="square" lIns="0" tIns="0" rIns="0" bIns="0" rtlCol="0" anchor="t"/>
          <a:lstStyle/>
          <a:p>
            <a:pPr algn="ctr" indent="0" marL="0">
              <a:buNone/>
            </a:pPr>
            <a:r>
              <a:rPr lang="en-US" sz="1200" dirty="0">
                <a:solidFill>
                  <a:schemeClr val="accent3"/>
                </a:solidFill>
              </a:rPr>
              <a:t>o transformare</a:t>
            </a:r>
            <a:endParaRPr lang="en-US" sz="1200" dirty="0"/>
          </a:p>
        </p:txBody>
      </p:sp>
      <p:sp>
        <p:nvSpPr>
          <p:cNvPr id="8" name="arrow-572"/>
          <p:cNvSpPr/>
          <p:nvPr/>
        </p:nvSpPr>
        <p:spPr>
          <a:xfrm>
            <a:off x="1691640" y="3035808"/>
            <a:ext cx="777240" cy="914"/>
          </a:xfrm>
          <a:prstGeom prst="line">
            <a:avLst/>
          </a:prstGeom>
          <a:noFill/>
          <a:ln w="22225">
            <a:solidFill>
              <a:schemeClr val="accent1"/>
            </a:solidFill>
            <a:prstDash val="solid"/>
            <a:tailEnd type="triangle"/>
          </a:ln>
        </p:spPr>
      </p:sp>
      <p:sp>
        <p:nvSpPr>
          <p:cNvPr id="9" name="badge-573"/>
          <p:cNvSpPr/>
          <p:nvPr/>
        </p:nvSpPr>
        <p:spPr>
          <a:xfrm>
            <a:off x="2560320" y="2697480"/>
            <a:ext cx="685800" cy="685800"/>
          </a:xfrm>
          <a:prstGeom prst="ellipse">
            <a:avLst/>
          </a:prstGeom>
          <a:solidFill>
            <a:schemeClr val="accent1"/>
          </a:solidFill>
          <a:ln w="12700">
            <a:solidFill>
              <a:schemeClr val="accent1"/>
            </a:solidFill>
            <a:prstDash val="solid"/>
          </a:ln>
        </p:spPr>
      </p:sp>
      <p:pic>
        <p:nvPicPr>
          <p:cNvPr id="10" name="icon-574" descr="preencoded.png">    </p:cNvPr>
          <p:cNvPicPr>
            <a:picLocks noChangeAspect="1"/>
          </p:cNvPicPr>
          <p:nvPr/>
        </p:nvPicPr>
        <p:blipFill>
          <a:blip r:embed="rId2"/>
          <a:stretch>
            <a:fillRect/>
          </a:stretch>
        </p:blipFill>
        <p:spPr>
          <a:xfrm>
            <a:off x="2731770" y="2868930"/>
            <a:ext cx="342900" cy="342900"/>
          </a:xfrm>
          <a:prstGeom prst="rect">
            <a:avLst/>
          </a:prstGeom>
        </p:spPr>
      </p:pic>
      <p:sp>
        <p:nvSpPr>
          <p:cNvPr id="11" name="text-575"/>
          <p:cNvSpPr txBox="1"/>
          <p:nvPr/>
        </p:nvSpPr>
        <p:spPr>
          <a:xfrm>
            <a:off x="2194560" y="3520440"/>
            <a:ext cx="1417320" cy="292608"/>
          </a:xfrm>
          <a:prstGeom prst="rect">
            <a:avLst/>
          </a:prstGeom>
          <a:noFill/>
          <a:ln/>
        </p:spPr>
        <p:txBody>
          <a:bodyPr wrap="square" lIns="0" tIns="0" rIns="0" bIns="0" rtlCol="0" anchor="t"/>
          <a:lstStyle/>
          <a:p>
            <a:pPr algn="ctr" indent="0" marL="0">
              <a:buNone/>
            </a:pPr>
            <a:r>
              <a:rPr lang="en-US" sz="1500" b="1" dirty="0">
                <a:solidFill>
                  <a:schemeClr val="bg1"/>
                </a:solidFill>
              </a:rPr>
              <a:t>2. Editează</a:t>
            </a:r>
            <a:endParaRPr lang="en-US" sz="1500" dirty="0"/>
          </a:p>
        </p:txBody>
      </p:sp>
      <p:sp>
        <p:nvSpPr>
          <p:cNvPr id="12" name="text-576"/>
          <p:cNvSpPr txBox="1"/>
          <p:nvPr/>
        </p:nvSpPr>
        <p:spPr>
          <a:xfrm>
            <a:off x="2194560" y="3813048"/>
            <a:ext cx="1417320" cy="457200"/>
          </a:xfrm>
          <a:prstGeom prst="rect">
            <a:avLst/>
          </a:prstGeom>
          <a:noFill/>
          <a:ln/>
        </p:spPr>
        <p:txBody>
          <a:bodyPr wrap="square" lIns="0" tIns="0" rIns="0" bIns="0" rtlCol="0" anchor="t"/>
          <a:lstStyle/>
          <a:p>
            <a:pPr algn="ctr" indent="0" marL="0">
              <a:buNone/>
            </a:pPr>
            <a:r>
              <a:rPr lang="en-US" sz="1200" dirty="0">
                <a:solidFill>
                  <a:schemeClr val="accent3"/>
                </a:solidFill>
              </a:rPr>
              <a:t>un video scurt</a:t>
            </a:r>
            <a:endParaRPr lang="en-US" sz="1200" dirty="0"/>
          </a:p>
        </p:txBody>
      </p:sp>
      <p:sp>
        <p:nvSpPr>
          <p:cNvPr id="13" name="arrow-577"/>
          <p:cNvSpPr/>
          <p:nvPr/>
        </p:nvSpPr>
        <p:spPr>
          <a:xfrm>
            <a:off x="3337560" y="3035808"/>
            <a:ext cx="777240" cy="914"/>
          </a:xfrm>
          <a:prstGeom prst="line">
            <a:avLst/>
          </a:prstGeom>
          <a:noFill/>
          <a:ln w="22225">
            <a:solidFill>
              <a:schemeClr val="accent1"/>
            </a:solidFill>
            <a:prstDash val="solid"/>
            <a:tailEnd type="triangle"/>
          </a:ln>
        </p:spPr>
      </p:sp>
      <p:sp>
        <p:nvSpPr>
          <p:cNvPr id="14" name="badge-578"/>
          <p:cNvSpPr/>
          <p:nvPr/>
        </p:nvSpPr>
        <p:spPr>
          <a:xfrm>
            <a:off x="4206240" y="2697480"/>
            <a:ext cx="685800" cy="685800"/>
          </a:xfrm>
          <a:prstGeom prst="ellipse">
            <a:avLst/>
          </a:prstGeom>
          <a:solidFill>
            <a:schemeClr val="accent1"/>
          </a:solidFill>
          <a:ln w="12700">
            <a:solidFill>
              <a:schemeClr val="accent1"/>
            </a:solidFill>
            <a:prstDash val="solid"/>
          </a:ln>
        </p:spPr>
      </p:sp>
      <p:pic>
        <p:nvPicPr>
          <p:cNvPr id="15" name="icon-579" descr="preencoded.png">    </p:cNvPr>
          <p:cNvPicPr>
            <a:picLocks noChangeAspect="1"/>
          </p:cNvPicPr>
          <p:nvPr/>
        </p:nvPicPr>
        <p:blipFill>
          <a:blip r:embed="rId3"/>
          <a:stretch>
            <a:fillRect/>
          </a:stretch>
        </p:blipFill>
        <p:spPr>
          <a:xfrm>
            <a:off x="4377690" y="2868930"/>
            <a:ext cx="342900" cy="342900"/>
          </a:xfrm>
          <a:prstGeom prst="rect">
            <a:avLst/>
          </a:prstGeom>
        </p:spPr>
      </p:pic>
      <p:sp>
        <p:nvSpPr>
          <p:cNvPr id="16" name="text-580"/>
          <p:cNvSpPr txBox="1"/>
          <p:nvPr/>
        </p:nvSpPr>
        <p:spPr>
          <a:xfrm>
            <a:off x="3840480" y="3520440"/>
            <a:ext cx="1417320" cy="292608"/>
          </a:xfrm>
          <a:prstGeom prst="rect">
            <a:avLst/>
          </a:prstGeom>
          <a:noFill/>
          <a:ln/>
        </p:spPr>
        <p:txBody>
          <a:bodyPr wrap="square" lIns="0" tIns="0" rIns="0" bIns="0" rtlCol="0" anchor="t"/>
          <a:lstStyle/>
          <a:p>
            <a:pPr algn="ctr" indent="0" marL="0">
              <a:buNone/>
            </a:pPr>
            <a:r>
              <a:rPr lang="en-US" sz="1500" b="1" dirty="0">
                <a:solidFill>
                  <a:schemeClr val="bg1"/>
                </a:solidFill>
              </a:rPr>
              <a:t>3. Publică</a:t>
            </a:r>
            <a:endParaRPr lang="en-US" sz="1500" dirty="0"/>
          </a:p>
        </p:txBody>
      </p:sp>
      <p:sp>
        <p:nvSpPr>
          <p:cNvPr id="17" name="text-581"/>
          <p:cNvSpPr txBox="1"/>
          <p:nvPr/>
        </p:nvSpPr>
        <p:spPr>
          <a:xfrm>
            <a:off x="3840480" y="3813048"/>
            <a:ext cx="1417320" cy="457200"/>
          </a:xfrm>
          <a:prstGeom prst="rect">
            <a:avLst/>
          </a:prstGeom>
          <a:noFill/>
          <a:ln/>
        </p:spPr>
        <p:txBody>
          <a:bodyPr wrap="square" lIns="0" tIns="0" rIns="0" bIns="0" rtlCol="0" anchor="t"/>
          <a:lstStyle/>
          <a:p>
            <a:pPr algn="ctr" indent="0" marL="0">
              <a:buNone/>
            </a:pPr>
            <a:r>
              <a:rPr lang="en-US" sz="1200" dirty="0">
                <a:solidFill>
                  <a:schemeClr val="accent3"/>
                </a:solidFill>
              </a:rPr>
              <a:t>pe platforma potrivită</a:t>
            </a:r>
            <a:endParaRPr lang="en-US" sz="1200" dirty="0"/>
          </a:p>
        </p:txBody>
      </p:sp>
      <p:sp>
        <p:nvSpPr>
          <p:cNvPr id="18" name="arrow-582"/>
          <p:cNvSpPr/>
          <p:nvPr/>
        </p:nvSpPr>
        <p:spPr>
          <a:xfrm>
            <a:off x="4983480" y="3035808"/>
            <a:ext cx="777240" cy="914"/>
          </a:xfrm>
          <a:prstGeom prst="line">
            <a:avLst/>
          </a:prstGeom>
          <a:noFill/>
          <a:ln w="22225">
            <a:solidFill>
              <a:schemeClr val="accent1"/>
            </a:solidFill>
            <a:prstDash val="solid"/>
            <a:tailEnd type="triangle"/>
          </a:ln>
        </p:spPr>
      </p:sp>
      <p:sp>
        <p:nvSpPr>
          <p:cNvPr id="19" name="badge-583"/>
          <p:cNvSpPr/>
          <p:nvPr/>
        </p:nvSpPr>
        <p:spPr>
          <a:xfrm>
            <a:off x="5852160" y="2697480"/>
            <a:ext cx="685800" cy="685800"/>
          </a:xfrm>
          <a:prstGeom prst="ellipse">
            <a:avLst/>
          </a:prstGeom>
          <a:solidFill>
            <a:schemeClr val="accent1"/>
          </a:solidFill>
          <a:ln w="12700">
            <a:solidFill>
              <a:schemeClr val="accent1"/>
            </a:solidFill>
            <a:prstDash val="solid"/>
          </a:ln>
        </p:spPr>
      </p:sp>
      <p:pic>
        <p:nvPicPr>
          <p:cNvPr id="20" name="icon-584" descr="preencoded.png">    </p:cNvPr>
          <p:cNvPicPr>
            <a:picLocks noChangeAspect="1"/>
          </p:cNvPicPr>
          <p:nvPr/>
        </p:nvPicPr>
        <p:blipFill>
          <a:blip r:embed="rId4"/>
          <a:stretch>
            <a:fillRect/>
          </a:stretch>
        </p:blipFill>
        <p:spPr>
          <a:xfrm>
            <a:off x="6023610" y="2868930"/>
            <a:ext cx="342900" cy="342900"/>
          </a:xfrm>
          <a:prstGeom prst="rect">
            <a:avLst/>
          </a:prstGeom>
        </p:spPr>
      </p:pic>
      <p:sp>
        <p:nvSpPr>
          <p:cNvPr id="21" name="text-585"/>
          <p:cNvSpPr txBox="1"/>
          <p:nvPr/>
        </p:nvSpPr>
        <p:spPr>
          <a:xfrm>
            <a:off x="5486400" y="3520440"/>
            <a:ext cx="1417320" cy="292608"/>
          </a:xfrm>
          <a:prstGeom prst="rect">
            <a:avLst/>
          </a:prstGeom>
          <a:noFill/>
          <a:ln/>
        </p:spPr>
        <p:txBody>
          <a:bodyPr wrap="square" lIns="0" tIns="0" rIns="0" bIns="0" rtlCol="0" anchor="t"/>
          <a:lstStyle/>
          <a:p>
            <a:pPr algn="ctr" indent="0" marL="0">
              <a:buNone/>
            </a:pPr>
            <a:r>
              <a:rPr lang="en-US" sz="1500" b="1" dirty="0">
                <a:solidFill>
                  <a:schemeClr val="bg1"/>
                </a:solidFill>
              </a:rPr>
              <a:t>4. Analizează</a:t>
            </a:r>
            <a:endParaRPr lang="en-US" sz="1500" dirty="0"/>
          </a:p>
        </p:txBody>
      </p:sp>
      <p:sp>
        <p:nvSpPr>
          <p:cNvPr id="22" name="text-586"/>
          <p:cNvSpPr txBox="1"/>
          <p:nvPr/>
        </p:nvSpPr>
        <p:spPr>
          <a:xfrm>
            <a:off x="5486400" y="3813048"/>
            <a:ext cx="1417320" cy="457200"/>
          </a:xfrm>
          <a:prstGeom prst="rect">
            <a:avLst/>
          </a:prstGeom>
          <a:noFill/>
          <a:ln/>
        </p:spPr>
        <p:txBody>
          <a:bodyPr wrap="square" lIns="0" tIns="0" rIns="0" bIns="0" rtlCol="0" anchor="t"/>
          <a:lstStyle/>
          <a:p>
            <a:pPr algn="ctr" indent="0" marL="0">
              <a:buNone/>
            </a:pPr>
            <a:r>
              <a:rPr lang="en-US" sz="1200" dirty="0">
                <a:solidFill>
                  <a:schemeClr val="accent3"/>
                </a:solidFill>
              </a:rPr>
              <a:t>reacțiile</a:t>
            </a:r>
            <a:endParaRPr lang="en-US" sz="1200" dirty="0"/>
          </a:p>
        </p:txBody>
      </p:sp>
      <p:sp>
        <p:nvSpPr>
          <p:cNvPr id="23" name="arrow-587"/>
          <p:cNvSpPr/>
          <p:nvPr/>
        </p:nvSpPr>
        <p:spPr>
          <a:xfrm>
            <a:off x="6629400" y="3035808"/>
            <a:ext cx="777240" cy="914"/>
          </a:xfrm>
          <a:prstGeom prst="line">
            <a:avLst/>
          </a:prstGeom>
          <a:noFill/>
          <a:ln w="22225">
            <a:solidFill>
              <a:schemeClr val="accent1"/>
            </a:solidFill>
            <a:prstDash val="solid"/>
            <a:tailEnd type="triangle"/>
          </a:ln>
        </p:spPr>
      </p:sp>
      <p:sp>
        <p:nvSpPr>
          <p:cNvPr id="24" name="badge-588"/>
          <p:cNvSpPr/>
          <p:nvPr/>
        </p:nvSpPr>
        <p:spPr>
          <a:xfrm>
            <a:off x="7498080" y="2697480"/>
            <a:ext cx="685800" cy="685800"/>
          </a:xfrm>
          <a:prstGeom prst="ellipse">
            <a:avLst/>
          </a:prstGeom>
          <a:solidFill>
            <a:schemeClr val="accent1"/>
          </a:solidFill>
          <a:ln w="12700">
            <a:solidFill>
              <a:schemeClr val="accent1"/>
            </a:solidFill>
            <a:prstDash val="solid"/>
          </a:ln>
        </p:spPr>
      </p:sp>
      <p:pic>
        <p:nvPicPr>
          <p:cNvPr id="25" name="icon-589" descr="preencoded.png">    </p:cNvPr>
          <p:cNvPicPr>
            <a:picLocks noChangeAspect="1"/>
          </p:cNvPicPr>
          <p:nvPr/>
        </p:nvPicPr>
        <p:blipFill>
          <a:blip r:embed="rId5"/>
          <a:stretch>
            <a:fillRect/>
          </a:stretch>
        </p:blipFill>
        <p:spPr>
          <a:xfrm>
            <a:off x="7669530" y="2868930"/>
            <a:ext cx="342900" cy="342900"/>
          </a:xfrm>
          <a:prstGeom prst="rect">
            <a:avLst/>
          </a:prstGeom>
        </p:spPr>
      </p:pic>
      <p:sp>
        <p:nvSpPr>
          <p:cNvPr id="26" name="text-590"/>
          <p:cNvSpPr txBox="1"/>
          <p:nvPr/>
        </p:nvSpPr>
        <p:spPr>
          <a:xfrm>
            <a:off x="7132320" y="3520440"/>
            <a:ext cx="1417320" cy="292608"/>
          </a:xfrm>
          <a:prstGeom prst="rect">
            <a:avLst/>
          </a:prstGeom>
          <a:noFill/>
          <a:ln/>
        </p:spPr>
        <p:txBody>
          <a:bodyPr wrap="square" lIns="0" tIns="0" rIns="0" bIns="0" rtlCol="0" anchor="t"/>
          <a:lstStyle/>
          <a:p>
            <a:pPr algn="ctr" indent="0" marL="0">
              <a:buNone/>
            </a:pPr>
            <a:r>
              <a:rPr lang="en-US" sz="1500" b="1" dirty="0">
                <a:solidFill>
                  <a:schemeClr val="bg1"/>
                </a:solidFill>
              </a:rPr>
              <a:t>5. Repetă</a:t>
            </a:r>
            <a:endParaRPr lang="en-US" sz="1500" dirty="0"/>
          </a:p>
        </p:txBody>
      </p:sp>
      <p:sp>
        <p:nvSpPr>
          <p:cNvPr id="27" name="text-591"/>
          <p:cNvSpPr txBox="1"/>
          <p:nvPr/>
        </p:nvSpPr>
        <p:spPr>
          <a:xfrm>
            <a:off x="7132320" y="3813048"/>
            <a:ext cx="1417320" cy="457200"/>
          </a:xfrm>
          <a:prstGeom prst="rect">
            <a:avLst/>
          </a:prstGeom>
          <a:noFill/>
          <a:ln/>
        </p:spPr>
        <p:txBody>
          <a:bodyPr wrap="square" lIns="0" tIns="0" rIns="0" bIns="0" rtlCol="0" anchor="t"/>
          <a:lstStyle/>
          <a:p>
            <a:pPr algn="ctr" indent="0" marL="0">
              <a:buNone/>
            </a:pPr>
            <a:r>
              <a:rPr lang="en-US" sz="1200" dirty="0">
                <a:solidFill>
                  <a:schemeClr val="accent3"/>
                </a:solidFill>
              </a:rPr>
              <a:t>și îmbunătățește</a:t>
            </a:r>
            <a:endParaRPr lang="en-US" sz="1200" dirty="0"/>
          </a:p>
        </p:txBody>
      </p:sp>
    </p:spTree>
  </p:cSld>
  <p:clrMapOvr>
    <a:masterClrMapping/>
  </p:clrMapOvr>
</p:sld>
</file>

<file path=ppt/theme/theme1.xml><?xml version="1.0" encoding="utf-8"?>
<a:theme xmlns:a="http://schemas.openxmlformats.org/drawingml/2006/main" name="Blonde Ambition">
  <a:themeElements>
    <a:clrScheme name="Blonde Ambition">
      <a:dk1>
        <a:srgbClr val="1E1A18"/>
      </a:dk1>
      <a:lt1>
        <a:srgbClr val="FFFFFF"/>
      </a:lt1>
      <a:dk2>
        <a:srgbClr val="5B4A42"/>
      </a:dk2>
      <a:lt2>
        <a:srgbClr val="F6EEE9"/>
      </a:lt2>
      <a:accent1>
        <a:srgbClr val="C9A26B"/>
      </a:accent1>
      <a:accent2>
        <a:srgbClr val="A65E6A"/>
      </a:accent2>
      <a:accent3>
        <a:srgbClr val="E7CF9C"/>
      </a:accent3>
      <a:accent4>
        <a:srgbClr val="2E2724"/>
      </a:accent4>
      <a:accent5>
        <a:srgbClr val="5E7A66"/>
      </a:accent5>
      <a:accent6>
        <a:srgbClr val="A8443F"/>
      </a:accent6>
      <a:hlink>
        <a:srgbClr val="A65E6A"/>
      </a:hlink>
      <a:folHlink>
        <a:srgbClr val="7E4A53"/>
      </a:folHlink>
    </a:clrScheme>
    <a:fontScheme name="Blonde Ambi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PREZENTARE</dc:title>
  <dc:subject>PptxGenJS Presentation</dc:subject>
  <dc:creator>Blonde Ambition</dc:creator>
  <cp:lastModifiedBy>Blonde Ambition</cp:lastModifiedBy>
  <cp:revision>1</cp:revision>
  <dcterms:created xsi:type="dcterms:W3CDTF">2026-10-28T06:36:24Z</dcterms:created>
  <dcterms:modified xsi:type="dcterms:W3CDTF">2026-10-28T06:36:24Z</dcterms:modified>
</cp:coreProperties>
</file>