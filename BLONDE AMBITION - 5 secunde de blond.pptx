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5 secunde de blond" id="{568194ea-66c5-95aa-1716-3288d10f6b95}">
          <p14:sldIdLst/>
        </p14:section>
        <p14:section name="Default-1" id="{6f08713c-c267-be22-34ab-bb3289c8435e}">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DURATĂ TOTALĂ: 12–15 minute. Fiecare filmare: maximum 5 secunde.
Variante de nume, dacă vrei să schimbi: „Primul Take" sau „Toner pentru curaj".
PE CE SE BAZEAZĂ EXERCIȚIUL (pentru tine, nu pentru cursanți):
• Expunere graduală – trei niveluri; fiecare alege singur de unde începe.
• Autoeficacitate (Bandura) – o reușită mică și sigură (5 secunde) contează mai mult decât un discurs motivațional. Tu filmezi prima (model), feedback-ul e doar pozitiv.
• Normalizarea emoțiilor – spui deschis că emoțiile sunt normale și că le ai și tu.
• Efectul reflectorului (Gilovich) – oamenii supraestimează cât de mult îi observă ceilalți.
• Autonomie – nimic nu e obligatoriu: nici nivelul, nici arătatul clipului, nici postarea.
• Intenție de implementare (Gollwitzer) – pentru postare: un plan „dacă… atunci…".
Ce NU promitem: că timiditatea dispare. Promisiunea realistă: „azi faci primul pas; al doilea va fi puțin mai ușor."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TEXTUL DE INTRODUCERE (≈ 60 de secunde, de spus cu voce tare):
„Ok, recunoașteți: câte dintre voi ați decolorat fără emoții un păr vopsit negru de 5 ori acasă… dar vă tremură vocea când trebuie să spuneți «bună» în fața telefonului?
Perfect normal. Și mie mi se întâmplă. Creierul nostru tratează camera ca pe un leu. Doar că leul ăsta are 5 cm, stă în husă roz și nu mușcă.
Vestea bună: nu trebuie să deveniți influenceri azi. Azi facem doar 5 secunde. Cinci. Cât stă tonerul pe… ah, nu, ăla stă mai mult.
Nimeni nu se uită la clipul vostru dacă nu vreți. Nimeni nu dă note. Îl puteți șterge imediat. Singurul lucru pe care îl facem azi e să-i arătăm creierului că am vorbit cu camera și am supraviețuit.
Primul video nu trebuie să fie bun. Trebuie doar să existe."
IMEDIAT DUPĂ: filmează-te tu prima, live, cu o replică funny. Ideal arată și un „blooper" al tău – le arăți că greșeala e normală, nu periculoasă.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CITEȘTE REGULILE CLAR, CU VOCE TARE (min. 3–4):
1. „Filmați doar pe telefonul vostru."
2. „Nimeni nu e obligat să arate clipul cuiva. Nici mie."
3. „Îl puteți șterge oricând. Sau îl păstrați pentru voi."
4. „Puteți doar observa azi și filma acasă. E o variantă la fel de validă."
CE EVIȚI CA TRAINER:
• Nu chemi pe nimeni pe nume în fața sălii.
• Nu spui „hai, nu fi timidă".
• Nu comentezi aspectul fizic, vocea sau accentul.
• Nu proiectezi clipuri, nici măcar pe cele „reușite".
• Nu faci top, nu dai note, nu compari cursanții.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TREI NIVELURI (expunere graduală):
🟢 NIVEL 1 – „Doar mâinile" (foarte timid)
• Nu ți se vede fața: filmezi mâinile cu pensula, părul unei colege sau castronul cu decolorant.
• Spui replica din spatele camerei, chiar și în șoaptă. Sau nu spui nimic și scrii replica pe ecran.
🟡 NIVEL 2 – „Fața, o frază" (începător curajos)
• Selfie, față în cadru, o replică simplă, spusă natural.
• Te poți uita în cameră sau ușor în lateral, ca și cum ai vorbi cu o clientă.
🔴 NIVEL 3 – „Provocarea" (acceptă o provocare amuzantă)
• O replică funny plus un element: o folie ca ochelari, peria pe post de microfon, un „mic dans" de 1 secundă.
• Sau filmezi împreună cu o colegă – râsul împreună scade tracul.
Spune explicit: „Puteți urca un nivel dacă vreți. Nu trebuie să urcați."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REPLICILE (cursanții pot alege oricare, o pot adapta sau pot spune una a lor, dacă încape în 5 secunde).
Pentru Nivelul 3 recomandă replicile funny; pentru Nivelul 2, cele simple; pentru Nivelul 1, oricare, spusă din spatele camerei sau scrisă pe ecran.
Sfat: lasă slide-ul pe ecran în timpul filmării, ca să nu trebuiască să-și amintească textul.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TRUCUL PSIHOLOGIC (min. 4–6):
A. RESPIRAȚIA „DUBLU INSPIR + EXPIR LUNG"
• Două inspirații scurte pe nas, apoi o expirație lungă pe gură. Repetă de 2–3 ori.
• Studiile arată că expirația prelungită poate ajuta la calmare. Nu e magie, dar e o pauză utilă.
B. REFORMULAREA: „SUNT ENTUZIASMATĂ"
• Cere-le să spună încet „Sunt entuziasmată.", nu „Trebuie să mă calmez."
• Cercetările (Alison Wood Brooks) arată că reinterpretarea emoțiilor ca entuziasm poate îmbunătăți performanța: corpul rămâne activat, dar sensul se schimbă.
• Glumă: „Inima bate tare? Super. Și la primul balayage reușit bătea la fel."
C. „TAKE ZERO"
• Prima dublă se filmează cu intenția de a fi ștearsă. Nu contează.
• Abia a doua dublă e „oficială", iar presiunea scade mult.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DESFĂȘURAREA (min. 6–11):
• Cursanții se împart liber: singuri, în perechi sau în grupuri de trei, oriunde în sală (colț, lângă fereastră, pe hol).
• Nimeni nu filmează în fața întregii săli.
• Fiecare poate face câte dubluri vrea; păstrează doar ce îi place.
• Pune muzică de fundal: maschează vocile și reduce senzația de „mă aude toată lumea".
DEBRIEFING FĂRĂ CLIPURI (min. 11–13):
• Nu ceri nimănui să-și arate clipul.
• Întrebi: „Cum a fost, pe o scală de la «leu» la «pisică»?" sau „Ce a fost mai ușor decât vă așteptați?"
• Răspunsurile sunt opționale. Lauzi EFORTUL, nu rezultatul: „Ai filmat. Asta era tot exercițiul."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POSTAREA, FĂRĂ OBLIGAȚIE (min. 13–15).
Le arăți cele patru trepte; fiecare e o reușită în sine.
PLANUL „DACĂ… ATUNCI…" (opțional, scris pe o foaie sau în notițele din telefon):
„Dacă diseară deschid Instagramul, atunci urc o treaptă pe scară."
PROMISIUNEA TA: „Cine mă etichetează primește de la mine un comentariu de susținere. Fără critici, doar aplauze." Asta creează un loc sigur pentru prima postare.
Încheie cu: „Orice treaptă alegeți e corectă. Și treapta 1 e un pas în plus față de ieri."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ÎNCHEIEREA (de spus cu voce tare):
„Azi n-ați devenit influenceri. Ați făcut ceva mai important: ați dovedit că puteți vorbi 5 secunde cu camera și ați supraviețuit.
Prezența pe cameră se construiește ca un blond frumos: în straturi, cu răbdare, nu dintr-o singură decolorare.
Săptămâna asta: încă un clip de 5 secunde. Săptămâna viitoare: 10 secunde. Peste o lună o să vă surprindă cât de normal o să vi se pară.
Și țineți minte: clientele nu vă urmăresc pentru că sunteți perfecte în fața camerei. Vă urmăresc pentru că sunteți voi."
Replica de final (funny): „Camera e ca o clientă nouă: la început vă e frică de ea, după a treia programare vă spune deja cu ce se ocupă soacra."
BONUS, fără obligație: „7 zile, 7 clipuri de 5 secunde." Câte o replică pe zi, din lista de pe slide-ul 5. Le poți da lista printată pe un cartonaș, ca suvenir de la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EEE9"/>
        </a:solidFill>
      </p:bgPr>
    </p:bg>
    <p:spTree>
      <p:nvGrpSpPr>
        <p:cNvPr id="1" name=""/>
        <p:cNvGrpSpPr/>
        <p:nvPr/>
      </p:nvGrpSpPr>
      <p:grpSpPr>
        <a:xfrm>
          <a:off x="0" y="0"/>
          <a:ext cx="0" cy="0"/>
          <a:chOff x="0" y="0"/>
          <a:chExt cx="0" cy="0"/>
        </a:xfrm>
      </p:grpSpPr>
      <p:sp>
        <p:nvSpPr>
          <p:cNvPr id="2" name="text-1"/>
          <p:cNvSpPr txBox="1"/>
          <p:nvPr/>
        </p:nvSpPr>
        <p:spPr>
          <a:xfrm>
            <a:off x="640080" y="822960"/>
            <a:ext cx="7863840" cy="320040"/>
          </a:xfrm>
          <a:prstGeom prst="rect">
            <a:avLst/>
          </a:prstGeom>
          <a:noFill/>
          <a:ln/>
        </p:spPr>
        <p:txBody>
          <a:bodyPr wrap="square" lIns="0" tIns="0" rIns="0" bIns="0" rtlCol="0" anchor="t"/>
          <a:lstStyle/>
          <a:p>
            <a:pPr indent="0" marL="0">
              <a:buNone/>
            </a:pPr>
            <a:r>
              <a:rPr lang="en-US" sz="1400" b="1" spc="200" kern="0" dirty="0">
                <a:solidFill>
                  <a:srgbClr val="9A4F5C"/>
                </a:solidFill>
                <a:latin typeface="Arial" pitchFamily="34" charset="0"/>
                <a:ea typeface="Arial" pitchFamily="34" charset="-122"/>
                <a:cs typeface="Arial" pitchFamily="34" charset="-120"/>
              </a:rPr>
              <a:t>EXERCIȚIU PRACTIC · CAMERA ȘI TU</a:t>
            </a:r>
            <a:endParaRPr lang="en-US" sz="1400" dirty="0"/>
          </a:p>
        </p:txBody>
      </p:sp>
      <p:sp>
        <p:nvSpPr>
          <p:cNvPr id="3" name="text-2"/>
          <p:cNvSpPr txBox="1"/>
          <p:nvPr/>
        </p:nvSpPr>
        <p:spPr>
          <a:xfrm>
            <a:off x="640080" y="1234440"/>
            <a:ext cx="7863840" cy="914400"/>
          </a:xfrm>
          <a:prstGeom prst="rect">
            <a:avLst/>
          </a:prstGeom>
          <a:noFill/>
          <a:ln/>
        </p:spPr>
        <p:txBody>
          <a:bodyPr wrap="square" lIns="0" tIns="0" rIns="0" bIns="0" rtlCol="0" anchor="ctr"/>
          <a:lstStyle/>
          <a:p>
            <a:pPr indent="0" marL="0">
              <a:buNone/>
            </a:pPr>
            <a:r>
              <a:rPr lang="en-US" sz="4800" b="1" dirty="0">
                <a:solidFill>
                  <a:srgbClr val="1E1A18"/>
                </a:solidFill>
                <a:latin typeface="Arial" pitchFamily="34" charset="0"/>
                <a:ea typeface="Arial" pitchFamily="34" charset="-122"/>
                <a:cs typeface="Arial" pitchFamily="34" charset="-120"/>
              </a:rPr>
              <a:t>5 SECUNDE DE BLOND</a:t>
            </a:r>
            <a:endParaRPr lang="en-US" sz="4800" dirty="0"/>
          </a:p>
        </p:txBody>
      </p:sp>
      <p:sp>
        <p:nvSpPr>
          <p:cNvPr id="4" name="text-3"/>
          <p:cNvSpPr txBox="1"/>
          <p:nvPr/>
        </p:nvSpPr>
        <p:spPr>
          <a:xfrm>
            <a:off x="640080" y="2194560"/>
            <a:ext cx="7863840" cy="457200"/>
          </a:xfrm>
          <a:prstGeom prst="rect">
            <a:avLst/>
          </a:prstGeom>
          <a:noFill/>
          <a:ln/>
        </p:spPr>
        <p:txBody>
          <a:bodyPr wrap="square" lIns="0" tIns="0" rIns="0" bIns="0" rtlCol="0" anchor="t"/>
          <a:lstStyle/>
          <a:p>
            <a:pPr indent="0" marL="0">
              <a:buNone/>
            </a:pPr>
            <a:r>
              <a:rPr lang="en-US" sz="2400" dirty="0">
                <a:solidFill>
                  <a:srgbClr val="4A3F3A"/>
                </a:solidFill>
                <a:latin typeface="Arial" pitchFamily="34" charset="0"/>
                <a:ea typeface="Arial" pitchFamily="34" charset="-122"/>
                <a:cs typeface="Arial" pitchFamily="34" charset="-120"/>
              </a:rPr>
              <a:t>Primul tău video. O singură frază.</a:t>
            </a:r>
            <a:endParaRPr lang="en-US" sz="2400" dirty="0"/>
          </a:p>
        </p:txBody>
      </p:sp>
      <p:sp>
        <p:nvSpPr>
          <p:cNvPr id="5" name="card-4"/>
          <p:cNvSpPr/>
          <p:nvPr/>
        </p:nvSpPr>
        <p:spPr>
          <a:xfrm>
            <a:off x="640080" y="3154680"/>
            <a:ext cx="7863840" cy="914400"/>
          </a:xfrm>
          <a:prstGeom prst="roundRect">
            <a:avLst>
              <a:gd name="adj" fmla="val 10000"/>
            </a:avLst>
          </a:prstGeom>
          <a:solidFill>
            <a:srgbClr val="FFFFFF"/>
          </a:solidFill>
          <a:ln w="19050">
            <a:solidFill>
              <a:srgbClr val="9A4F5C"/>
            </a:solidFill>
            <a:prstDash val="solid"/>
          </a:ln>
        </p:spPr>
      </p:sp>
      <p:sp>
        <p:nvSpPr>
          <p:cNvPr id="6" name="text-5"/>
          <p:cNvSpPr txBox="1"/>
          <p:nvPr/>
        </p:nvSpPr>
        <p:spPr>
          <a:xfrm>
            <a:off x="868680" y="3200400"/>
            <a:ext cx="7406640" cy="822960"/>
          </a:xfrm>
          <a:prstGeom prst="rect">
            <a:avLst/>
          </a:prstGeom>
          <a:noFill/>
          <a:ln/>
        </p:spPr>
        <p:txBody>
          <a:bodyPr wrap="square" lIns="0" tIns="0" rIns="0" bIns="0" rtlCol="0" anchor="ctr"/>
          <a:lstStyle/>
          <a:p>
            <a:pPr indent="0" marL="0">
              <a:buNone/>
            </a:pPr>
            <a:r>
              <a:rPr lang="en-US" sz="2000" b="1" i="1" dirty="0">
                <a:solidFill>
                  <a:srgbClr val="9A4F5C"/>
                </a:solidFill>
                <a:latin typeface="Arial" pitchFamily="34" charset="0"/>
                <a:ea typeface="Arial" pitchFamily="34" charset="-122"/>
                <a:cs typeface="Arial" pitchFamily="34" charset="-120"/>
              </a:rPr>
              <a:t>„Primul video nu trebuie să fie bun. Trebuie doar să existe.”</a:t>
            </a:r>
            <a:endParaRPr lang="en-US" sz="2000" dirty="0"/>
          </a:p>
        </p:txBody>
      </p:sp>
      <p:sp>
        <p:nvSpPr>
          <p:cNvPr id="7" name="text-6"/>
          <p:cNvSpPr txBox="1"/>
          <p:nvPr/>
        </p:nvSpPr>
        <p:spPr>
          <a:xfrm>
            <a:off x="640080" y="4709160"/>
            <a:ext cx="5486400" cy="228600"/>
          </a:xfrm>
          <a:prstGeom prst="rect">
            <a:avLst/>
          </a:prstGeom>
          <a:noFill/>
          <a:ln/>
        </p:spPr>
        <p:txBody>
          <a:bodyPr wrap="square" lIns="0" tIns="0" rIns="0" bIns="0" rtlCol="0" anchor="t"/>
          <a:lstStyle/>
          <a:p>
            <a:pPr indent="0" marL="0">
              <a:buNone/>
            </a:pPr>
            <a:r>
              <a:rPr lang="en-US" sz="1100" dirty="0">
                <a:solidFill>
                  <a:srgbClr val="4A3F3A"/>
                </a:solidFill>
                <a:latin typeface="Arial" pitchFamily="34" charset="0"/>
                <a:ea typeface="Arial" pitchFamily="34" charset="-122"/>
                <a:cs typeface="Arial" pitchFamily="34" charset="-120"/>
              </a:rPr>
              <a:t>BLONDE AMBITION by Diana Avram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7"/>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DE CE FACEM ASTA</a:t>
            </a:r>
            <a:endParaRPr lang="en-US" sz="1200" dirty="0"/>
          </a:p>
        </p:txBody>
      </p:sp>
      <p:sp>
        <p:nvSpPr>
          <p:cNvPr id="3" name="text-8"/>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Emoțiile sunt normale. Și la mine.</a:t>
            </a:r>
            <a:endParaRPr lang="en-US" sz="2600" dirty="0"/>
          </a:p>
        </p:txBody>
      </p:sp>
      <p:sp>
        <p:nvSpPr>
          <p:cNvPr id="4" name="text-9"/>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10"/>
          <p:cNvSpPr/>
          <p:nvPr/>
        </p:nvSpPr>
        <p:spPr>
          <a:xfrm>
            <a:off x="457200" y="1325880"/>
            <a:ext cx="2606040" cy="2148840"/>
          </a:xfrm>
          <a:prstGeom prst="roundRect">
            <a:avLst>
              <a:gd name="adj" fmla="val 4255"/>
            </a:avLst>
          </a:prstGeom>
          <a:solidFill>
            <a:srgbClr val="F6EEE9"/>
          </a:solidFill>
          <a:ln w="12700">
            <a:solidFill>
              <a:srgbClr val="F6EEE9"/>
            </a:solidFill>
            <a:prstDash val="solid"/>
          </a:ln>
        </p:spPr>
      </p:sp>
      <p:sp>
        <p:nvSpPr>
          <p:cNvPr id="7" name="num-11"/>
          <p:cNvSpPr/>
          <p:nvPr/>
        </p:nvSpPr>
        <p:spPr>
          <a:xfrm>
            <a:off x="685800" y="1508760"/>
            <a:ext cx="502920" cy="502920"/>
          </a:xfrm>
          <a:prstGeom prst="ellipse">
            <a:avLst/>
          </a:prstGeom>
          <a:solidFill>
            <a:srgbClr val="9A4F5C"/>
          </a:solidFill>
          <a:ln w="19050">
            <a:solidFill>
              <a:srgbClr val="FFFFFF"/>
            </a:solidFill>
            <a:prstDash val="solid"/>
          </a:ln>
        </p:spPr>
      </p:sp>
      <p:sp>
        <p:nvSpPr>
          <p:cNvPr id="8" name="text-12"/>
          <p:cNvSpPr txBox="1"/>
          <p:nvPr/>
        </p:nvSpPr>
        <p:spPr>
          <a:xfrm>
            <a:off x="68580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13"/>
          <p:cNvSpPr txBox="1"/>
          <p:nvPr/>
        </p:nvSpPr>
        <p:spPr>
          <a:xfrm>
            <a:off x="685800" y="2148840"/>
            <a:ext cx="2194560" cy="685800"/>
          </a:xfrm>
          <a:prstGeom prst="rect">
            <a:avLst/>
          </a:prstGeom>
          <a:noFill/>
          <a:ln/>
        </p:spPr>
        <p:txBody>
          <a:bodyPr wrap="square" lIns="0" tIns="0" rIns="0" bIns="0" rtlCol="0" anchor="t"/>
          <a:lstStyle/>
          <a:p>
            <a:pPr indent="0" marL="0">
              <a:buNone/>
            </a:pPr>
            <a:r>
              <a:rPr lang="en-US" sz="1800" dirty="0">
                <a:solidFill>
                  <a:srgbClr val="1E1A18"/>
                </a:solidFill>
                <a:latin typeface="Arial" pitchFamily="34" charset="0"/>
                <a:ea typeface="Arial" pitchFamily="34" charset="-122"/>
                <a:cs typeface="Arial" pitchFamily="34" charset="-120"/>
              </a:rPr>
              <a:t>Camera e un leu de </a:t>
            </a:r>
            <a:r>
              <a:rPr lang="en-US" sz="1800" b="1" dirty="0">
                <a:solidFill>
                  <a:srgbClr val="1E1A18"/>
                </a:solidFill>
                <a:latin typeface="Arial" pitchFamily="34" charset="0"/>
                <a:ea typeface="Arial" pitchFamily="34" charset="-122"/>
                <a:cs typeface="Arial" pitchFamily="34" charset="-120"/>
              </a:rPr>
              <a:t>5 cm</a:t>
            </a:r>
            <a:endParaRPr lang="en-US" sz="1800" dirty="0"/>
          </a:p>
        </p:txBody>
      </p:sp>
      <p:sp>
        <p:nvSpPr>
          <p:cNvPr id="10" name="text-14"/>
          <p:cNvSpPr txBox="1"/>
          <p:nvPr/>
        </p:nvSpPr>
        <p:spPr>
          <a:xfrm>
            <a:off x="685800" y="2834640"/>
            <a:ext cx="2194560" cy="548640"/>
          </a:xfrm>
          <a:prstGeom prst="rect">
            <a:avLst/>
          </a:prstGeom>
          <a:noFill/>
          <a:ln/>
        </p:spPr>
        <p:txBody>
          <a:bodyPr wrap="square" lIns="0" tIns="0" rIns="0" bIns="0" rtlCol="0" anchor="t"/>
          <a:lstStyle/>
          <a:p>
            <a:pPr indent="0" marL="0">
              <a:buNone/>
            </a:pPr>
            <a:r>
              <a:rPr lang="en-US" sz="1500" dirty="0">
                <a:solidFill>
                  <a:srgbClr val="4A3F3A"/>
                </a:solidFill>
                <a:latin typeface="Arial" pitchFamily="34" charset="0"/>
                <a:ea typeface="Arial" pitchFamily="34" charset="-122"/>
                <a:cs typeface="Arial" pitchFamily="34" charset="-120"/>
              </a:rPr>
              <a:t>în husă roz. Nu mușcă.</a:t>
            </a:r>
            <a:endParaRPr lang="en-US" sz="1500" dirty="0"/>
          </a:p>
        </p:txBody>
      </p:sp>
      <p:sp>
        <p:nvSpPr>
          <p:cNvPr id="11" name="card-15"/>
          <p:cNvSpPr/>
          <p:nvPr/>
        </p:nvSpPr>
        <p:spPr>
          <a:xfrm>
            <a:off x="3246120" y="1325880"/>
            <a:ext cx="2606040" cy="2148840"/>
          </a:xfrm>
          <a:prstGeom prst="roundRect">
            <a:avLst>
              <a:gd name="adj" fmla="val 4255"/>
            </a:avLst>
          </a:prstGeom>
          <a:solidFill>
            <a:srgbClr val="F6EEE9"/>
          </a:solidFill>
          <a:ln w="12700">
            <a:solidFill>
              <a:srgbClr val="F6EEE9"/>
            </a:solidFill>
            <a:prstDash val="solid"/>
          </a:ln>
        </p:spPr>
      </p:sp>
      <p:sp>
        <p:nvSpPr>
          <p:cNvPr id="12" name="num-16"/>
          <p:cNvSpPr/>
          <p:nvPr/>
        </p:nvSpPr>
        <p:spPr>
          <a:xfrm>
            <a:off x="3474720" y="1508760"/>
            <a:ext cx="502920" cy="502920"/>
          </a:xfrm>
          <a:prstGeom prst="ellipse">
            <a:avLst/>
          </a:prstGeom>
          <a:solidFill>
            <a:srgbClr val="9A4F5C"/>
          </a:solidFill>
          <a:ln w="19050">
            <a:solidFill>
              <a:srgbClr val="FFFFFF"/>
            </a:solidFill>
            <a:prstDash val="solid"/>
          </a:ln>
        </p:spPr>
      </p:sp>
      <p:sp>
        <p:nvSpPr>
          <p:cNvPr id="13" name="text-17"/>
          <p:cNvSpPr txBox="1"/>
          <p:nvPr/>
        </p:nvSpPr>
        <p:spPr>
          <a:xfrm>
            <a:off x="347472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18"/>
          <p:cNvSpPr txBox="1"/>
          <p:nvPr/>
        </p:nvSpPr>
        <p:spPr>
          <a:xfrm>
            <a:off x="3474720" y="2148840"/>
            <a:ext cx="2194560" cy="685800"/>
          </a:xfrm>
          <a:prstGeom prst="rect">
            <a:avLst/>
          </a:prstGeom>
          <a:noFill/>
          <a:ln/>
        </p:spPr>
        <p:txBody>
          <a:bodyPr wrap="square" lIns="0" tIns="0" rIns="0" bIns="0" rtlCol="0" anchor="t"/>
          <a:lstStyle/>
          <a:p>
            <a:pPr indent="0" marL="0">
              <a:buNone/>
            </a:pPr>
            <a:r>
              <a:rPr lang="en-US" sz="1800" dirty="0">
                <a:solidFill>
                  <a:srgbClr val="1E1A18"/>
                </a:solidFill>
                <a:latin typeface="Arial" pitchFamily="34" charset="0"/>
                <a:ea typeface="Arial" pitchFamily="34" charset="-122"/>
                <a:cs typeface="Arial" pitchFamily="34" charset="-120"/>
              </a:rPr>
              <a:t>Azi facem doar </a:t>
            </a:r>
            <a:r>
              <a:rPr lang="en-US" sz="1800" b="1" dirty="0">
                <a:solidFill>
                  <a:srgbClr val="1E1A18"/>
                </a:solidFill>
                <a:latin typeface="Arial" pitchFamily="34" charset="0"/>
                <a:ea typeface="Arial" pitchFamily="34" charset="-122"/>
                <a:cs typeface="Arial" pitchFamily="34" charset="-120"/>
              </a:rPr>
              <a:t>5 secunde</a:t>
            </a:r>
            <a:endParaRPr lang="en-US" sz="1800" dirty="0"/>
          </a:p>
        </p:txBody>
      </p:sp>
      <p:sp>
        <p:nvSpPr>
          <p:cNvPr id="15" name="text-19"/>
          <p:cNvSpPr txBox="1"/>
          <p:nvPr/>
        </p:nvSpPr>
        <p:spPr>
          <a:xfrm>
            <a:off x="3474720" y="2834640"/>
            <a:ext cx="2194560" cy="548640"/>
          </a:xfrm>
          <a:prstGeom prst="rect">
            <a:avLst/>
          </a:prstGeom>
          <a:noFill/>
          <a:ln/>
        </p:spPr>
        <p:txBody>
          <a:bodyPr wrap="square" lIns="0" tIns="0" rIns="0" bIns="0" rtlCol="0" anchor="t"/>
          <a:lstStyle/>
          <a:p>
            <a:pPr indent="0" marL="0">
              <a:buNone/>
            </a:pPr>
            <a:r>
              <a:rPr lang="en-US" sz="1500" dirty="0">
                <a:solidFill>
                  <a:srgbClr val="4A3F3A"/>
                </a:solidFill>
                <a:latin typeface="Arial" pitchFamily="34" charset="0"/>
                <a:ea typeface="Arial" pitchFamily="34" charset="-122"/>
                <a:cs typeface="Arial" pitchFamily="34" charset="-120"/>
              </a:rPr>
              <a:t>nu devii influencer azi.</a:t>
            </a:r>
            <a:endParaRPr lang="en-US" sz="1500" dirty="0"/>
          </a:p>
        </p:txBody>
      </p:sp>
      <p:sp>
        <p:nvSpPr>
          <p:cNvPr id="16" name="card-20"/>
          <p:cNvSpPr/>
          <p:nvPr/>
        </p:nvSpPr>
        <p:spPr>
          <a:xfrm>
            <a:off x="6035040" y="1325880"/>
            <a:ext cx="2606040" cy="2148840"/>
          </a:xfrm>
          <a:prstGeom prst="roundRect">
            <a:avLst>
              <a:gd name="adj" fmla="val 4255"/>
            </a:avLst>
          </a:prstGeom>
          <a:solidFill>
            <a:srgbClr val="F6EEE9"/>
          </a:solidFill>
          <a:ln w="12700">
            <a:solidFill>
              <a:srgbClr val="F6EEE9"/>
            </a:solidFill>
            <a:prstDash val="solid"/>
          </a:ln>
        </p:spPr>
      </p:sp>
      <p:sp>
        <p:nvSpPr>
          <p:cNvPr id="17" name="num-21"/>
          <p:cNvSpPr/>
          <p:nvPr/>
        </p:nvSpPr>
        <p:spPr>
          <a:xfrm>
            <a:off x="6263640" y="1508760"/>
            <a:ext cx="502920" cy="502920"/>
          </a:xfrm>
          <a:prstGeom prst="ellipse">
            <a:avLst/>
          </a:prstGeom>
          <a:solidFill>
            <a:srgbClr val="9A4F5C"/>
          </a:solidFill>
          <a:ln w="19050">
            <a:solidFill>
              <a:srgbClr val="FFFFFF"/>
            </a:solidFill>
            <a:prstDash val="solid"/>
          </a:ln>
        </p:spPr>
      </p:sp>
      <p:sp>
        <p:nvSpPr>
          <p:cNvPr id="18" name="text-22"/>
          <p:cNvSpPr txBox="1"/>
          <p:nvPr/>
        </p:nvSpPr>
        <p:spPr>
          <a:xfrm>
            <a:off x="626364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23"/>
          <p:cNvSpPr txBox="1"/>
          <p:nvPr/>
        </p:nvSpPr>
        <p:spPr>
          <a:xfrm>
            <a:off x="6263640" y="2148840"/>
            <a:ext cx="2194560" cy="685800"/>
          </a:xfrm>
          <a:prstGeom prst="rect">
            <a:avLst/>
          </a:prstGeom>
          <a:noFill/>
          <a:ln/>
        </p:spPr>
        <p:txBody>
          <a:bodyPr wrap="square" lIns="0" tIns="0" rIns="0" bIns="0" rtlCol="0" anchor="t"/>
          <a:lstStyle/>
          <a:p>
            <a:pPr indent="0" marL="0">
              <a:buNone/>
            </a:pPr>
            <a:r>
              <a:rPr lang="en-US" sz="1800" b="1" dirty="0">
                <a:solidFill>
                  <a:srgbClr val="1E1A18"/>
                </a:solidFill>
                <a:latin typeface="Arial" pitchFamily="34" charset="0"/>
                <a:ea typeface="Arial" pitchFamily="34" charset="-122"/>
                <a:cs typeface="Arial" pitchFamily="34" charset="-120"/>
              </a:rPr>
              <a:t>Nimeni nu vede</a:t>
            </a:r>
            <a:r>
              <a:rPr lang="en-US" sz="1800" dirty="0">
                <a:solidFill>
                  <a:srgbClr val="1E1A18"/>
                </a:solidFill>
                <a:latin typeface="Arial" pitchFamily="34" charset="0"/>
                <a:ea typeface="Arial" pitchFamily="34" charset="-122"/>
                <a:cs typeface="Arial" pitchFamily="34" charset="-120"/>
              </a:rPr>
              <a:t> clipul</a:t>
            </a:r>
            <a:endParaRPr lang="en-US" sz="1800" dirty="0"/>
          </a:p>
        </p:txBody>
      </p:sp>
      <p:sp>
        <p:nvSpPr>
          <p:cNvPr id="20" name="text-24"/>
          <p:cNvSpPr txBox="1"/>
          <p:nvPr/>
        </p:nvSpPr>
        <p:spPr>
          <a:xfrm>
            <a:off x="6263640" y="2834640"/>
            <a:ext cx="2194560" cy="548640"/>
          </a:xfrm>
          <a:prstGeom prst="rect">
            <a:avLst/>
          </a:prstGeom>
          <a:noFill/>
          <a:ln/>
        </p:spPr>
        <p:txBody>
          <a:bodyPr wrap="square" lIns="0" tIns="0" rIns="0" bIns="0" rtlCol="0" anchor="t"/>
          <a:lstStyle/>
          <a:p>
            <a:pPr indent="0" marL="0">
              <a:buNone/>
            </a:pPr>
            <a:r>
              <a:rPr lang="en-US" sz="1500" dirty="0">
                <a:solidFill>
                  <a:srgbClr val="4A3F3A"/>
                </a:solidFill>
                <a:latin typeface="Arial" pitchFamily="34" charset="0"/>
                <a:ea typeface="Arial" pitchFamily="34" charset="-122"/>
                <a:cs typeface="Arial" pitchFamily="34" charset="-120"/>
              </a:rPr>
              <a:t>dacă tu nu vrei.</a:t>
            </a:r>
            <a:endParaRPr lang="en-US" sz="1500" dirty="0"/>
          </a:p>
        </p:txBody>
      </p:sp>
      <p:sp>
        <p:nvSpPr>
          <p:cNvPr id="21" name="text-25"/>
          <p:cNvSpPr txBox="1"/>
          <p:nvPr/>
        </p:nvSpPr>
        <p:spPr>
          <a:xfrm>
            <a:off x="457200" y="3749040"/>
            <a:ext cx="8229600" cy="731520"/>
          </a:xfrm>
          <a:prstGeom prst="rect">
            <a:avLst/>
          </a:prstGeom>
          <a:noFill/>
          <a:ln/>
        </p:spPr>
        <p:txBody>
          <a:bodyPr wrap="square" lIns="0" tIns="0" rIns="0" bIns="0" rtlCol="0" anchor="ctr"/>
          <a:lstStyle/>
          <a:p>
            <a:pPr indent="0" marL="0">
              <a:buNone/>
            </a:pPr>
            <a:r>
              <a:rPr lang="en-US" sz="1800" dirty="0">
                <a:solidFill>
                  <a:srgbClr val="1E1A18"/>
                </a:solidFill>
                <a:latin typeface="Arial" pitchFamily="34" charset="0"/>
                <a:ea typeface="Arial" pitchFamily="34" charset="-122"/>
                <a:cs typeface="Arial" pitchFamily="34" charset="-120"/>
              </a:rPr>
              <a:t>Scopul: să-i arătăm creierului că </a:t>
            </a:r>
            <a:r>
              <a:rPr lang="en-US" sz="1800" b="1" dirty="0">
                <a:solidFill>
                  <a:srgbClr val="1E1A18"/>
                </a:solidFill>
                <a:latin typeface="Arial" pitchFamily="34" charset="0"/>
                <a:ea typeface="Arial" pitchFamily="34" charset="-122"/>
                <a:cs typeface="Arial" pitchFamily="34" charset="-120"/>
              </a:rPr>
              <a:t>am vorbit cu camera și am supraviețuit</a:t>
            </a:r>
            <a:r>
              <a:rPr lang="en-US" sz="1800" dirty="0">
                <a:solidFill>
                  <a:srgbClr val="1E1A18"/>
                </a:solidFill>
                <a:latin typeface="Arial" pitchFamily="34" charset="0"/>
                <a:ea typeface="Arial" pitchFamily="34" charset="-122"/>
                <a:cs typeface="Arial" pitchFamily="34" charset="-120"/>
              </a:rPr>
              <a: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26"/>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REGULILE</a:t>
            </a:r>
            <a:endParaRPr lang="en-US" sz="1200" dirty="0"/>
          </a:p>
        </p:txBody>
      </p:sp>
      <p:sp>
        <p:nvSpPr>
          <p:cNvPr id="3" name="text-27"/>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Aici nimeni nu e judecat</a:t>
            </a:r>
            <a:endParaRPr lang="en-US" sz="2600" dirty="0"/>
          </a:p>
        </p:txBody>
      </p:sp>
      <p:sp>
        <p:nvSpPr>
          <p:cNvPr id="4" name="text-28"/>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num-29"/>
          <p:cNvSpPr/>
          <p:nvPr/>
        </p:nvSpPr>
        <p:spPr>
          <a:xfrm>
            <a:off x="457200" y="1307592"/>
            <a:ext cx="502920" cy="502920"/>
          </a:xfrm>
          <a:prstGeom prst="ellipse">
            <a:avLst/>
          </a:prstGeom>
          <a:solidFill>
            <a:srgbClr val="3F6B4C"/>
          </a:solidFill>
          <a:ln w="19050">
            <a:solidFill>
              <a:srgbClr val="FFFFFF"/>
            </a:solidFill>
            <a:prstDash val="solid"/>
          </a:ln>
        </p:spPr>
      </p:sp>
      <p:sp>
        <p:nvSpPr>
          <p:cNvPr id="7" name="text-30"/>
          <p:cNvSpPr txBox="1"/>
          <p:nvPr/>
        </p:nvSpPr>
        <p:spPr>
          <a:xfrm>
            <a:off x="457200" y="13075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31"/>
          <p:cNvSpPr txBox="1"/>
          <p:nvPr/>
        </p:nvSpPr>
        <p:spPr>
          <a:xfrm>
            <a:off x="1143000" y="1280160"/>
            <a:ext cx="4572000" cy="548640"/>
          </a:xfrm>
          <a:prstGeom prst="rect">
            <a:avLst/>
          </a:prstGeom>
          <a:noFill/>
          <a:ln/>
        </p:spPr>
        <p:txBody>
          <a:bodyPr wrap="square" lIns="0" tIns="0" rIns="0" bIns="0" rtlCol="0" anchor="ctr"/>
          <a:lstStyle/>
          <a:p>
            <a:pPr indent="0" marL="0">
              <a:buNone/>
            </a:pPr>
            <a:r>
              <a:rPr lang="en-US" sz="1900" dirty="0">
                <a:solidFill>
                  <a:srgbClr val="1E1A18"/>
                </a:solidFill>
                <a:latin typeface="Arial" pitchFamily="34" charset="0"/>
                <a:ea typeface="Arial" pitchFamily="34" charset="-122"/>
                <a:cs typeface="Arial" pitchFamily="34" charset="-120"/>
              </a:rPr>
              <a:t>Filmezi pe </a:t>
            </a:r>
            <a:r>
              <a:rPr lang="en-US" sz="1900" b="1" dirty="0">
                <a:solidFill>
                  <a:srgbClr val="1E1A18"/>
                </a:solidFill>
                <a:latin typeface="Arial" pitchFamily="34" charset="0"/>
                <a:ea typeface="Arial" pitchFamily="34" charset="-122"/>
                <a:cs typeface="Arial" pitchFamily="34" charset="-120"/>
              </a:rPr>
              <a:t>telefonul tău</a:t>
            </a:r>
            <a:endParaRPr lang="en-US" sz="1900" dirty="0"/>
          </a:p>
        </p:txBody>
      </p:sp>
      <p:sp>
        <p:nvSpPr>
          <p:cNvPr id="9" name="num-32"/>
          <p:cNvSpPr/>
          <p:nvPr/>
        </p:nvSpPr>
        <p:spPr>
          <a:xfrm>
            <a:off x="457200" y="1993392"/>
            <a:ext cx="502920" cy="502920"/>
          </a:xfrm>
          <a:prstGeom prst="ellipse">
            <a:avLst/>
          </a:prstGeom>
          <a:solidFill>
            <a:srgbClr val="3F6B4C"/>
          </a:solidFill>
          <a:ln w="19050">
            <a:solidFill>
              <a:srgbClr val="FFFFFF"/>
            </a:solidFill>
            <a:prstDash val="solid"/>
          </a:ln>
        </p:spPr>
      </p:sp>
      <p:sp>
        <p:nvSpPr>
          <p:cNvPr id="10" name="text-33"/>
          <p:cNvSpPr txBox="1"/>
          <p:nvPr/>
        </p:nvSpPr>
        <p:spPr>
          <a:xfrm>
            <a:off x="457200" y="1993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34"/>
          <p:cNvSpPr txBox="1"/>
          <p:nvPr/>
        </p:nvSpPr>
        <p:spPr>
          <a:xfrm>
            <a:off x="1143000" y="1965960"/>
            <a:ext cx="4572000" cy="548640"/>
          </a:xfrm>
          <a:prstGeom prst="rect">
            <a:avLst/>
          </a:prstGeom>
          <a:noFill/>
          <a:ln/>
        </p:spPr>
        <p:txBody>
          <a:bodyPr wrap="square" lIns="0" tIns="0" rIns="0" bIns="0" rtlCol="0" anchor="ctr"/>
          <a:lstStyle/>
          <a:p>
            <a:pPr indent="0" marL="0">
              <a:buNone/>
            </a:pPr>
            <a:r>
              <a:rPr lang="en-US" sz="1900" b="1" dirty="0">
                <a:solidFill>
                  <a:srgbClr val="1E1A18"/>
                </a:solidFill>
                <a:latin typeface="Arial" pitchFamily="34" charset="0"/>
                <a:ea typeface="Arial" pitchFamily="34" charset="-122"/>
                <a:cs typeface="Arial" pitchFamily="34" charset="-120"/>
              </a:rPr>
              <a:t>Nu arăți</a:t>
            </a:r>
            <a:r>
              <a:rPr lang="en-US" sz="1900" dirty="0">
                <a:solidFill>
                  <a:srgbClr val="1E1A18"/>
                </a:solidFill>
                <a:latin typeface="Arial" pitchFamily="34" charset="0"/>
                <a:ea typeface="Arial" pitchFamily="34" charset="-122"/>
                <a:cs typeface="Arial" pitchFamily="34" charset="-120"/>
              </a:rPr>
              <a:t> clipul nimănui (nici mie)</a:t>
            </a:r>
            <a:endParaRPr lang="en-US" sz="1900" dirty="0"/>
          </a:p>
        </p:txBody>
      </p:sp>
      <p:sp>
        <p:nvSpPr>
          <p:cNvPr id="12" name="num-35"/>
          <p:cNvSpPr/>
          <p:nvPr/>
        </p:nvSpPr>
        <p:spPr>
          <a:xfrm>
            <a:off x="457200" y="2679192"/>
            <a:ext cx="502920" cy="502920"/>
          </a:xfrm>
          <a:prstGeom prst="ellipse">
            <a:avLst/>
          </a:prstGeom>
          <a:solidFill>
            <a:srgbClr val="3F6B4C"/>
          </a:solidFill>
          <a:ln w="19050">
            <a:solidFill>
              <a:srgbClr val="FFFFFF"/>
            </a:solidFill>
            <a:prstDash val="solid"/>
          </a:ln>
        </p:spPr>
      </p:sp>
      <p:sp>
        <p:nvSpPr>
          <p:cNvPr id="13" name="text-36"/>
          <p:cNvSpPr txBox="1"/>
          <p:nvPr/>
        </p:nvSpPr>
        <p:spPr>
          <a:xfrm>
            <a:off x="457200" y="26791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37"/>
          <p:cNvSpPr txBox="1"/>
          <p:nvPr/>
        </p:nvSpPr>
        <p:spPr>
          <a:xfrm>
            <a:off x="1143000" y="2651760"/>
            <a:ext cx="4572000" cy="548640"/>
          </a:xfrm>
          <a:prstGeom prst="rect">
            <a:avLst/>
          </a:prstGeom>
          <a:noFill/>
          <a:ln/>
        </p:spPr>
        <p:txBody>
          <a:bodyPr wrap="square" lIns="0" tIns="0" rIns="0" bIns="0" rtlCol="0" anchor="ctr"/>
          <a:lstStyle/>
          <a:p>
            <a:pPr indent="0" marL="0">
              <a:buNone/>
            </a:pPr>
            <a:r>
              <a:rPr lang="en-US" sz="1900" dirty="0">
                <a:solidFill>
                  <a:srgbClr val="1E1A18"/>
                </a:solidFill>
                <a:latin typeface="Arial" pitchFamily="34" charset="0"/>
                <a:ea typeface="Arial" pitchFamily="34" charset="-122"/>
                <a:cs typeface="Arial" pitchFamily="34" charset="-120"/>
              </a:rPr>
              <a:t>Îl </a:t>
            </a:r>
            <a:r>
              <a:rPr lang="en-US" sz="1900" b="1" dirty="0">
                <a:solidFill>
                  <a:srgbClr val="1E1A18"/>
                </a:solidFill>
                <a:latin typeface="Arial" pitchFamily="34" charset="0"/>
                <a:ea typeface="Arial" pitchFamily="34" charset="-122"/>
                <a:cs typeface="Arial" pitchFamily="34" charset="-120"/>
              </a:rPr>
              <a:t>ștergi oricând</a:t>
            </a:r>
            <a:r>
              <a:rPr lang="en-US" sz="1900" dirty="0">
                <a:solidFill>
                  <a:srgbClr val="1E1A18"/>
                </a:solidFill>
                <a:latin typeface="Arial" pitchFamily="34" charset="0"/>
                <a:ea typeface="Arial" pitchFamily="34" charset="-122"/>
                <a:cs typeface="Arial" pitchFamily="34" charset="-120"/>
              </a:rPr>
              <a:t> vrei</a:t>
            </a:r>
            <a:endParaRPr lang="en-US" sz="1900" dirty="0"/>
          </a:p>
        </p:txBody>
      </p:sp>
      <p:sp>
        <p:nvSpPr>
          <p:cNvPr id="15" name="num-38"/>
          <p:cNvSpPr/>
          <p:nvPr/>
        </p:nvSpPr>
        <p:spPr>
          <a:xfrm>
            <a:off x="457200" y="3364992"/>
            <a:ext cx="502920" cy="502920"/>
          </a:xfrm>
          <a:prstGeom prst="ellipse">
            <a:avLst/>
          </a:prstGeom>
          <a:solidFill>
            <a:srgbClr val="3F6B4C"/>
          </a:solidFill>
          <a:ln w="19050">
            <a:solidFill>
              <a:srgbClr val="FFFFFF"/>
            </a:solidFill>
            <a:prstDash val="solid"/>
          </a:ln>
        </p:spPr>
      </p:sp>
      <p:sp>
        <p:nvSpPr>
          <p:cNvPr id="16" name="text-39"/>
          <p:cNvSpPr txBox="1"/>
          <p:nvPr/>
        </p:nvSpPr>
        <p:spPr>
          <a:xfrm>
            <a:off x="457200" y="33649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7" name="text-40"/>
          <p:cNvSpPr txBox="1"/>
          <p:nvPr/>
        </p:nvSpPr>
        <p:spPr>
          <a:xfrm>
            <a:off x="1143000" y="3337560"/>
            <a:ext cx="4572000" cy="548640"/>
          </a:xfrm>
          <a:prstGeom prst="rect">
            <a:avLst/>
          </a:prstGeom>
          <a:noFill/>
          <a:ln/>
        </p:spPr>
        <p:txBody>
          <a:bodyPr wrap="square" lIns="0" tIns="0" rIns="0" bIns="0" rtlCol="0" anchor="ctr"/>
          <a:lstStyle/>
          <a:p>
            <a:pPr indent="0" marL="0">
              <a:buNone/>
            </a:pPr>
            <a:r>
              <a:rPr lang="en-US" sz="1900" dirty="0">
                <a:solidFill>
                  <a:srgbClr val="1E1A18"/>
                </a:solidFill>
                <a:latin typeface="Arial" pitchFamily="34" charset="0"/>
                <a:ea typeface="Arial" pitchFamily="34" charset="-122"/>
                <a:cs typeface="Arial" pitchFamily="34" charset="-120"/>
              </a:rPr>
              <a:t>Poți </a:t>
            </a:r>
            <a:r>
              <a:rPr lang="en-US" sz="1900" b="1" dirty="0">
                <a:solidFill>
                  <a:srgbClr val="1E1A18"/>
                </a:solidFill>
                <a:latin typeface="Arial" pitchFamily="34" charset="0"/>
                <a:ea typeface="Arial" pitchFamily="34" charset="-122"/>
                <a:cs typeface="Arial" pitchFamily="34" charset="-120"/>
              </a:rPr>
              <a:t>doar observa</a:t>
            </a:r>
            <a:r>
              <a:rPr lang="en-US" sz="1900" dirty="0">
                <a:solidFill>
                  <a:srgbClr val="1E1A18"/>
                </a:solidFill>
                <a:latin typeface="Arial" pitchFamily="34" charset="0"/>
                <a:ea typeface="Arial" pitchFamily="34" charset="-122"/>
                <a:cs typeface="Arial" pitchFamily="34" charset="-120"/>
              </a:rPr>
              <a:t> azi și filma acasă</a:t>
            </a:r>
            <a:endParaRPr lang="en-US" sz="1900" dirty="0"/>
          </a:p>
        </p:txBody>
      </p:sp>
      <p:sp>
        <p:nvSpPr>
          <p:cNvPr id="18" name="card-41"/>
          <p:cNvSpPr/>
          <p:nvPr/>
        </p:nvSpPr>
        <p:spPr>
          <a:xfrm>
            <a:off x="6035040" y="1280160"/>
            <a:ext cx="2651760" cy="2606040"/>
          </a:xfrm>
          <a:prstGeom prst="roundRect">
            <a:avLst>
              <a:gd name="adj" fmla="val 3509"/>
            </a:avLst>
          </a:prstGeom>
          <a:solidFill>
            <a:srgbClr val="FFFFFF"/>
          </a:solidFill>
          <a:ln w="19050">
            <a:solidFill>
              <a:srgbClr val="9A3A34"/>
            </a:solidFill>
            <a:prstDash val="solid"/>
          </a:ln>
        </p:spPr>
      </p:sp>
      <p:sp>
        <p:nvSpPr>
          <p:cNvPr id="19" name="text-42"/>
          <p:cNvSpPr txBox="1"/>
          <p:nvPr/>
        </p:nvSpPr>
        <p:spPr>
          <a:xfrm>
            <a:off x="6263640" y="1417320"/>
            <a:ext cx="2286000" cy="365760"/>
          </a:xfrm>
          <a:prstGeom prst="rect">
            <a:avLst/>
          </a:prstGeom>
          <a:noFill/>
          <a:ln/>
        </p:spPr>
        <p:txBody>
          <a:bodyPr wrap="square" lIns="0" tIns="0" rIns="0" bIns="0" rtlCol="0" anchor="t"/>
          <a:lstStyle/>
          <a:p>
            <a:pPr indent="0" marL="0">
              <a:buNone/>
            </a:pPr>
            <a:r>
              <a:rPr lang="en-US" sz="1600" b="1" dirty="0">
                <a:solidFill>
                  <a:srgbClr val="9A3A34"/>
                </a:solidFill>
                <a:latin typeface="Arial" pitchFamily="34" charset="0"/>
                <a:ea typeface="Arial" pitchFamily="34" charset="-122"/>
                <a:cs typeface="Arial" pitchFamily="34" charset="-120"/>
              </a:rPr>
              <a:t>NU AVEM:</a:t>
            </a:r>
            <a:endParaRPr lang="en-US" sz="1600" dirty="0"/>
          </a:p>
        </p:txBody>
      </p:sp>
      <p:sp>
        <p:nvSpPr>
          <p:cNvPr id="20" name="text-43"/>
          <p:cNvSpPr txBox="1"/>
          <p:nvPr/>
        </p:nvSpPr>
        <p:spPr>
          <a:xfrm>
            <a:off x="6263640" y="1828800"/>
            <a:ext cx="2286000" cy="1920240"/>
          </a:xfrm>
          <a:prstGeom prst="rect">
            <a:avLst/>
          </a:prstGeom>
          <a:noFill/>
          <a:ln/>
        </p:spPr>
        <p:txBody>
          <a:bodyPr wrap="square" lIns="0" tIns="0" rIns="0" bIns="0" rtlCol="0" anchor="t"/>
          <a:lstStyle/>
          <a:p>
            <a:pPr indent="0" marL="0">
              <a:spcAft>
                <a:spcPts val="800"/>
              </a:spcAft>
              <a:buNone/>
            </a:pPr>
            <a:r>
              <a:rPr lang="en-US" sz="1700" dirty="0">
                <a:solidFill>
                  <a:srgbClr val="1E1A18"/>
                </a:solidFill>
                <a:latin typeface="Arial" pitchFamily="34" charset="0"/>
                <a:ea typeface="Arial" pitchFamily="34" charset="-122"/>
                <a:cs typeface="Arial" pitchFamily="34" charset="-120"/>
              </a:rPr>
              <a:t>✕  note</a:t>
            </a:r>
            <a:endParaRPr lang="en-US" sz="1600" dirty="0"/>
          </a:p>
          <a:p>
            <a:pPr indent="0" marL="0">
              <a:spcAft>
                <a:spcPts val="800"/>
              </a:spcAft>
              <a:buNone/>
            </a:pPr>
            <a:r>
              <a:rPr lang="en-US" sz="1700" dirty="0">
                <a:solidFill>
                  <a:srgbClr val="1E1A18"/>
                </a:solidFill>
                <a:latin typeface="Arial" pitchFamily="34" charset="0"/>
                <a:ea typeface="Arial" pitchFamily="34" charset="-122"/>
                <a:cs typeface="Arial" pitchFamily="34" charset="-120"/>
              </a:rPr>
              <a:t>✕  comparații</a:t>
            </a:r>
            <a:endParaRPr lang="en-US" sz="1600" dirty="0"/>
          </a:p>
          <a:p>
            <a:pPr indent="0" marL="0">
              <a:spcAft>
                <a:spcPts val="800"/>
              </a:spcAft>
              <a:buNone/>
            </a:pPr>
            <a:r>
              <a:rPr lang="en-US" sz="1700" dirty="0">
                <a:solidFill>
                  <a:srgbClr val="1E1A18"/>
                </a:solidFill>
                <a:latin typeface="Arial" pitchFamily="34" charset="0"/>
                <a:ea typeface="Arial" pitchFamily="34" charset="-122"/>
                <a:cs typeface="Arial" pitchFamily="34" charset="-120"/>
              </a:rPr>
              <a:t>✕  competiții</a:t>
            </a:r>
            <a:endParaRPr lang="en-US" sz="1600" dirty="0"/>
          </a:p>
          <a:p>
            <a:pPr indent="0" marL="0">
              <a:spcAft>
                <a:spcPts val="800"/>
              </a:spcAft>
              <a:buNone/>
            </a:pPr>
            <a:r>
              <a:rPr lang="en-US" sz="1700" dirty="0">
                <a:solidFill>
                  <a:srgbClr val="1E1A18"/>
                </a:solidFill>
                <a:latin typeface="Arial" pitchFamily="34" charset="0"/>
                <a:ea typeface="Arial" pitchFamily="34" charset="-122"/>
                <a:cs typeface="Arial" pitchFamily="34" charset="-120"/>
              </a:rPr>
              <a:t>✕  vorbit în fața sălii</a:t>
            </a:r>
            <a:endParaRPr lang="en-US" sz="1600" dirty="0"/>
          </a:p>
        </p:txBody>
      </p:sp>
      <p:sp>
        <p:nvSpPr>
          <p:cNvPr id="21" name="text-44"/>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800" b="1" i="1" dirty="0">
                <a:solidFill>
                  <a:srgbClr val="9A4F5C"/>
                </a:solidFill>
                <a:latin typeface="Arial" pitchFamily="34" charset="0"/>
                <a:ea typeface="Arial" pitchFamily="34" charset="-122"/>
                <a:cs typeface="Arial" pitchFamily="34" charset="-120"/>
              </a:rPr>
              <a:t>Orice alegere e corectă.</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45"/>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ALEGE-ȚI NIVELUL</a:t>
            </a:r>
            <a:endParaRPr lang="en-US" sz="1200" dirty="0"/>
          </a:p>
        </p:txBody>
      </p:sp>
      <p:sp>
        <p:nvSpPr>
          <p:cNvPr id="3" name="text-46"/>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Alegi ce ți se potrivește, nu ce pare impresionant</a:t>
            </a:r>
            <a:endParaRPr lang="en-US" sz="2600" dirty="0"/>
          </a:p>
        </p:txBody>
      </p:sp>
      <p:sp>
        <p:nvSpPr>
          <p:cNvPr id="4" name="text-47"/>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48"/>
          <p:cNvSpPr/>
          <p:nvPr/>
        </p:nvSpPr>
        <p:spPr>
          <a:xfrm>
            <a:off x="457200" y="1280160"/>
            <a:ext cx="2606040" cy="2834640"/>
          </a:xfrm>
          <a:prstGeom prst="roundRect">
            <a:avLst>
              <a:gd name="adj" fmla="val 3509"/>
            </a:avLst>
          </a:prstGeom>
          <a:solidFill>
            <a:srgbClr val="FFFFFF"/>
          </a:solidFill>
          <a:ln w="25400">
            <a:solidFill>
              <a:srgbClr val="3F6B4C"/>
            </a:solidFill>
            <a:prstDash val="solid"/>
          </a:ln>
        </p:spPr>
      </p:sp>
      <p:sp>
        <p:nvSpPr>
          <p:cNvPr id="7" name="tag-49"/>
          <p:cNvSpPr/>
          <p:nvPr/>
        </p:nvSpPr>
        <p:spPr>
          <a:xfrm>
            <a:off x="685800" y="1481328"/>
            <a:ext cx="822960" cy="292608"/>
          </a:xfrm>
          <a:prstGeom prst="rect">
            <a:avLst/>
          </a:prstGeom>
          <a:solidFill>
            <a:srgbClr val="3F6B4C"/>
          </a:solidFill>
          <a:ln w="12700">
            <a:solidFill>
              <a:srgbClr val="3F6B4C"/>
            </a:solidFill>
            <a:prstDash val="solid"/>
          </a:ln>
        </p:spPr>
      </p:sp>
      <p:sp>
        <p:nvSpPr>
          <p:cNvPr id="8" name="text-50"/>
          <p:cNvSpPr txBox="1"/>
          <p:nvPr/>
        </p:nvSpPr>
        <p:spPr>
          <a:xfrm>
            <a:off x="685800" y="1481328"/>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NIVEL 1</a:t>
            </a:r>
            <a:endParaRPr lang="en-US" sz="1200" dirty="0"/>
          </a:p>
        </p:txBody>
      </p:sp>
      <p:sp>
        <p:nvSpPr>
          <p:cNvPr id="9" name="text-51"/>
          <p:cNvSpPr txBox="1"/>
          <p:nvPr/>
        </p:nvSpPr>
        <p:spPr>
          <a:xfrm>
            <a:off x="685800" y="1874520"/>
            <a:ext cx="2194560" cy="411480"/>
          </a:xfrm>
          <a:prstGeom prst="rect">
            <a:avLst/>
          </a:prstGeom>
          <a:noFill/>
          <a:ln/>
        </p:spPr>
        <p:txBody>
          <a:bodyPr wrap="square" lIns="0" tIns="0" rIns="0" bIns="0" rtlCol="0" anchor="t"/>
          <a:lstStyle/>
          <a:p>
            <a:pPr indent="0" marL="0">
              <a:buNone/>
            </a:pPr>
            <a:r>
              <a:rPr lang="en-US" sz="2000" b="1" dirty="0">
                <a:solidFill>
                  <a:srgbClr val="3F6B4C"/>
                </a:solidFill>
                <a:latin typeface="Arial" pitchFamily="34" charset="0"/>
                <a:ea typeface="Arial" pitchFamily="34" charset="-122"/>
                <a:cs typeface="Arial" pitchFamily="34" charset="-120"/>
              </a:rPr>
              <a:t>Doar mâinile</a:t>
            </a:r>
            <a:endParaRPr lang="en-US" sz="2000" dirty="0"/>
          </a:p>
        </p:txBody>
      </p:sp>
      <p:sp>
        <p:nvSpPr>
          <p:cNvPr id="10" name="text-52"/>
          <p:cNvSpPr txBox="1"/>
          <p:nvPr/>
        </p:nvSpPr>
        <p:spPr>
          <a:xfrm>
            <a:off x="685800" y="2377440"/>
            <a:ext cx="2240280" cy="16459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Fața nu se vede</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Filmezi mâinile sau părul</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Vocea din spate, sau doar text pe ecran</a:t>
            </a:r>
            <a:endParaRPr lang="en-US" sz="1500" dirty="0"/>
          </a:p>
        </p:txBody>
      </p:sp>
      <p:sp>
        <p:nvSpPr>
          <p:cNvPr id="11" name="card-53"/>
          <p:cNvSpPr/>
          <p:nvPr/>
        </p:nvSpPr>
        <p:spPr>
          <a:xfrm>
            <a:off x="3246120" y="1280160"/>
            <a:ext cx="2606040" cy="2834640"/>
          </a:xfrm>
          <a:prstGeom prst="roundRect">
            <a:avLst>
              <a:gd name="adj" fmla="val 3509"/>
            </a:avLst>
          </a:prstGeom>
          <a:solidFill>
            <a:srgbClr val="FFFFFF"/>
          </a:solidFill>
          <a:ln w="25400">
            <a:solidFill>
              <a:srgbClr val="A87420"/>
            </a:solidFill>
            <a:prstDash val="solid"/>
          </a:ln>
        </p:spPr>
      </p:sp>
      <p:sp>
        <p:nvSpPr>
          <p:cNvPr id="12" name="tag-54"/>
          <p:cNvSpPr/>
          <p:nvPr/>
        </p:nvSpPr>
        <p:spPr>
          <a:xfrm>
            <a:off x="3474720" y="1481328"/>
            <a:ext cx="822960" cy="292608"/>
          </a:xfrm>
          <a:prstGeom prst="rect">
            <a:avLst/>
          </a:prstGeom>
          <a:solidFill>
            <a:srgbClr val="A87420"/>
          </a:solidFill>
          <a:ln w="12700">
            <a:solidFill>
              <a:srgbClr val="A87420"/>
            </a:solidFill>
            <a:prstDash val="solid"/>
          </a:ln>
        </p:spPr>
      </p:sp>
      <p:sp>
        <p:nvSpPr>
          <p:cNvPr id="13" name="text-55"/>
          <p:cNvSpPr txBox="1"/>
          <p:nvPr/>
        </p:nvSpPr>
        <p:spPr>
          <a:xfrm>
            <a:off x="3474720" y="1481328"/>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NIVEL 2</a:t>
            </a:r>
            <a:endParaRPr lang="en-US" sz="1200" dirty="0"/>
          </a:p>
        </p:txBody>
      </p:sp>
      <p:sp>
        <p:nvSpPr>
          <p:cNvPr id="14" name="text-56"/>
          <p:cNvSpPr txBox="1"/>
          <p:nvPr/>
        </p:nvSpPr>
        <p:spPr>
          <a:xfrm>
            <a:off x="3474720" y="1874520"/>
            <a:ext cx="2194560" cy="411480"/>
          </a:xfrm>
          <a:prstGeom prst="rect">
            <a:avLst/>
          </a:prstGeom>
          <a:noFill/>
          <a:ln/>
        </p:spPr>
        <p:txBody>
          <a:bodyPr wrap="square" lIns="0" tIns="0" rIns="0" bIns="0" rtlCol="0" anchor="t"/>
          <a:lstStyle/>
          <a:p>
            <a:pPr indent="0" marL="0">
              <a:buNone/>
            </a:pPr>
            <a:r>
              <a:rPr lang="en-US" sz="2000" b="1" dirty="0">
                <a:solidFill>
                  <a:srgbClr val="A87420"/>
                </a:solidFill>
                <a:latin typeface="Arial" pitchFamily="34" charset="0"/>
                <a:ea typeface="Arial" pitchFamily="34" charset="-122"/>
                <a:cs typeface="Arial" pitchFamily="34" charset="-120"/>
              </a:rPr>
              <a:t>Fața, o frază</a:t>
            </a:r>
            <a:endParaRPr lang="en-US" sz="2000" dirty="0"/>
          </a:p>
        </p:txBody>
      </p:sp>
      <p:sp>
        <p:nvSpPr>
          <p:cNvPr id="15" name="text-57"/>
          <p:cNvSpPr txBox="1"/>
          <p:nvPr/>
        </p:nvSpPr>
        <p:spPr>
          <a:xfrm>
            <a:off x="3474720" y="2377440"/>
            <a:ext cx="2240280" cy="16459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Selfie, fața în cadru</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O replică simplă</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Privești camera sau ușor în lateral</a:t>
            </a:r>
            <a:endParaRPr lang="en-US" sz="1500" dirty="0"/>
          </a:p>
        </p:txBody>
      </p:sp>
      <p:sp>
        <p:nvSpPr>
          <p:cNvPr id="16" name="card-58"/>
          <p:cNvSpPr/>
          <p:nvPr/>
        </p:nvSpPr>
        <p:spPr>
          <a:xfrm>
            <a:off x="6035040" y="1280160"/>
            <a:ext cx="2606040" cy="2834640"/>
          </a:xfrm>
          <a:prstGeom prst="roundRect">
            <a:avLst>
              <a:gd name="adj" fmla="val 3509"/>
            </a:avLst>
          </a:prstGeom>
          <a:solidFill>
            <a:srgbClr val="FFFFFF"/>
          </a:solidFill>
          <a:ln w="25400">
            <a:solidFill>
              <a:srgbClr val="9A3A34"/>
            </a:solidFill>
            <a:prstDash val="solid"/>
          </a:ln>
        </p:spPr>
      </p:sp>
      <p:sp>
        <p:nvSpPr>
          <p:cNvPr id="17" name="tag-59"/>
          <p:cNvSpPr/>
          <p:nvPr/>
        </p:nvSpPr>
        <p:spPr>
          <a:xfrm>
            <a:off x="6263640" y="1481328"/>
            <a:ext cx="822960" cy="292608"/>
          </a:xfrm>
          <a:prstGeom prst="rect">
            <a:avLst/>
          </a:prstGeom>
          <a:solidFill>
            <a:srgbClr val="9A3A34"/>
          </a:solidFill>
          <a:ln w="12700">
            <a:solidFill>
              <a:srgbClr val="9A3A34"/>
            </a:solidFill>
            <a:prstDash val="solid"/>
          </a:ln>
        </p:spPr>
      </p:sp>
      <p:sp>
        <p:nvSpPr>
          <p:cNvPr id="18" name="text-60"/>
          <p:cNvSpPr txBox="1"/>
          <p:nvPr/>
        </p:nvSpPr>
        <p:spPr>
          <a:xfrm>
            <a:off x="6263640" y="1481328"/>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NIVEL 3</a:t>
            </a:r>
            <a:endParaRPr lang="en-US" sz="1200" dirty="0"/>
          </a:p>
        </p:txBody>
      </p:sp>
      <p:sp>
        <p:nvSpPr>
          <p:cNvPr id="19" name="text-61"/>
          <p:cNvSpPr txBox="1"/>
          <p:nvPr/>
        </p:nvSpPr>
        <p:spPr>
          <a:xfrm>
            <a:off x="6263640" y="1874520"/>
            <a:ext cx="2194560" cy="411480"/>
          </a:xfrm>
          <a:prstGeom prst="rect">
            <a:avLst/>
          </a:prstGeom>
          <a:noFill/>
          <a:ln/>
        </p:spPr>
        <p:txBody>
          <a:bodyPr wrap="square" lIns="0" tIns="0" rIns="0" bIns="0" rtlCol="0" anchor="t"/>
          <a:lstStyle/>
          <a:p>
            <a:pPr indent="0" marL="0">
              <a:buNone/>
            </a:pPr>
            <a:r>
              <a:rPr lang="en-US" sz="2000" b="1" dirty="0">
                <a:solidFill>
                  <a:srgbClr val="9A3A34"/>
                </a:solidFill>
                <a:latin typeface="Arial" pitchFamily="34" charset="0"/>
                <a:ea typeface="Arial" pitchFamily="34" charset="-122"/>
                <a:cs typeface="Arial" pitchFamily="34" charset="-120"/>
              </a:rPr>
              <a:t>Provocarea</a:t>
            </a:r>
            <a:endParaRPr lang="en-US" sz="2000" dirty="0"/>
          </a:p>
        </p:txBody>
      </p:sp>
      <p:sp>
        <p:nvSpPr>
          <p:cNvPr id="20" name="text-62"/>
          <p:cNvSpPr txBox="1"/>
          <p:nvPr/>
        </p:nvSpPr>
        <p:spPr>
          <a:xfrm>
            <a:off x="6263640" y="2377440"/>
            <a:ext cx="2240280" cy="16459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O replică funny</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Folie ca ochelari, peria-microfon</a:t>
            </a:r>
            <a:endParaRPr lang="en-US" sz="1500" dirty="0"/>
          </a:p>
          <a:p>
            <a:pPr marL="177800" indent="-177800">
              <a:spcAft>
                <a:spcPts val="600"/>
              </a:spcAft>
              <a:buSzPct val="100000"/>
              <a:buChar char="•"/>
            </a:pPr>
            <a:r>
              <a:rPr lang="en-US" sz="1500" dirty="0">
                <a:solidFill>
                  <a:srgbClr val="1E1A18"/>
                </a:solidFill>
                <a:latin typeface="Arial" pitchFamily="34" charset="0"/>
                <a:ea typeface="Arial" pitchFamily="34" charset="-122"/>
                <a:cs typeface="Arial" pitchFamily="34" charset="-120"/>
              </a:rPr>
              <a:t>Sau filmezi cu o colegă</a:t>
            </a:r>
            <a:endParaRPr lang="en-US" sz="1500" dirty="0"/>
          </a:p>
        </p:txBody>
      </p:sp>
      <p:sp>
        <p:nvSpPr>
          <p:cNvPr id="21" name="text-63"/>
          <p:cNvSpPr txBox="1"/>
          <p:nvPr/>
        </p:nvSpPr>
        <p:spPr>
          <a:xfrm>
            <a:off x="457200" y="4251960"/>
            <a:ext cx="8229600" cy="411480"/>
          </a:xfrm>
          <a:prstGeom prst="rect">
            <a:avLst/>
          </a:prstGeom>
          <a:noFill/>
          <a:ln/>
        </p:spPr>
        <p:txBody>
          <a:bodyPr wrap="square" lIns="0" tIns="0" rIns="0" bIns="0" rtlCol="0" anchor="ctr"/>
          <a:lstStyle/>
          <a:p>
            <a:pPr indent="0" marL="0">
              <a:buNone/>
            </a:pPr>
            <a:r>
              <a:rPr lang="en-US" sz="1800" b="1" i="1" dirty="0">
                <a:solidFill>
                  <a:srgbClr val="9A4F5C"/>
                </a:solidFill>
                <a:latin typeface="Arial" pitchFamily="34" charset="0"/>
                <a:ea typeface="Arial" pitchFamily="34" charset="-122"/>
                <a:cs typeface="Arial" pitchFamily="34" charset="-120"/>
              </a:rPr>
              <a:t>Poți urca un nivel. Nu trebuie să urci.</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64"/>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ALEGE O REPLICĂ</a:t>
            </a:r>
            <a:endParaRPr lang="en-US" sz="1200" dirty="0"/>
          </a:p>
        </p:txBody>
      </p:sp>
      <p:sp>
        <p:nvSpPr>
          <p:cNvPr id="3" name="text-6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O singură frază, maximum 5 secunde</a:t>
            </a:r>
            <a:endParaRPr lang="en-US" sz="2600" dirty="0"/>
          </a:p>
        </p:txBody>
      </p:sp>
      <p:sp>
        <p:nvSpPr>
          <p:cNvPr id="4" name="text-66"/>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67"/>
          <p:cNvSpPr/>
          <p:nvPr/>
        </p:nvSpPr>
        <p:spPr>
          <a:xfrm>
            <a:off x="457200" y="1234440"/>
            <a:ext cx="4023360" cy="3429000"/>
          </a:xfrm>
          <a:prstGeom prst="roundRect">
            <a:avLst>
              <a:gd name="adj" fmla="val 2667"/>
            </a:avLst>
          </a:prstGeom>
          <a:solidFill>
            <a:srgbClr val="F6EEE9"/>
          </a:solidFill>
          <a:ln w="12700">
            <a:solidFill>
              <a:srgbClr val="F6EEE9"/>
            </a:solidFill>
            <a:prstDash val="solid"/>
          </a:ln>
        </p:spPr>
      </p:sp>
      <p:sp>
        <p:nvSpPr>
          <p:cNvPr id="7" name="text-68"/>
          <p:cNvSpPr txBox="1"/>
          <p:nvPr/>
        </p:nvSpPr>
        <p:spPr>
          <a:xfrm>
            <a:off x="685800" y="1353312"/>
            <a:ext cx="3657600" cy="320040"/>
          </a:xfrm>
          <a:prstGeom prst="rect">
            <a:avLst/>
          </a:prstGeom>
          <a:noFill/>
          <a:ln/>
        </p:spPr>
        <p:txBody>
          <a:bodyPr wrap="square" lIns="0" tIns="0" rIns="0" bIns="0" rtlCol="0" anchor="t"/>
          <a:lstStyle/>
          <a:p>
            <a:pPr indent="0" marL="0">
              <a:buNone/>
            </a:pPr>
            <a:r>
              <a:rPr lang="en-US" sz="1500" b="1" dirty="0">
                <a:solidFill>
                  <a:srgbClr val="8A6A2F"/>
                </a:solidFill>
                <a:latin typeface="Arial" pitchFamily="34" charset="0"/>
                <a:ea typeface="Arial" pitchFamily="34" charset="-122"/>
                <a:cs typeface="Arial" pitchFamily="34" charset="-120"/>
              </a:rPr>
              <a:t>FUNNY</a:t>
            </a:r>
            <a:endParaRPr lang="en-US" sz="1500" dirty="0"/>
          </a:p>
        </p:txBody>
      </p:sp>
      <p:sp>
        <p:nvSpPr>
          <p:cNvPr id="8" name="text-69"/>
          <p:cNvSpPr txBox="1"/>
          <p:nvPr/>
        </p:nvSpPr>
        <p:spPr>
          <a:xfrm>
            <a:off x="685800" y="1737360"/>
            <a:ext cx="3657600" cy="2834640"/>
          </a:xfrm>
          <a:prstGeom prst="rect">
            <a:avLst/>
          </a:prstGeom>
          <a:noFill/>
          <a:ln/>
        </p:spPr>
        <p:txBody>
          <a:bodyPr wrap="square" lIns="0" tIns="0" rIns="0" bIns="0" rtlCol="0" anchor="t"/>
          <a:lstStyle/>
          <a:p>
            <a:pPr indent="0" marL="0">
              <a:spcAft>
                <a:spcPts val="700"/>
              </a:spcAft>
              <a:buNone/>
            </a:pPr>
            <a:r>
              <a:rPr lang="en-US" sz="1350" dirty="0">
                <a:solidFill>
                  <a:srgbClr val="1E1A18"/>
                </a:solidFill>
                <a:latin typeface="Arial" pitchFamily="34" charset="0"/>
                <a:ea typeface="Arial" pitchFamily="34" charset="-122"/>
                <a:cs typeface="Arial" pitchFamily="34" charset="-120"/>
              </a:rPr>
              <a:t>„Nu sunt timidă. Doar procesez… ca decolorantul.”</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„Blondul meu e mai curajos decât mine.”</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„Am folii, am pensulă, am cafea. Pot orice.”</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„Ai zis «doar vârfurile»? Te-am auzit.”</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„Eu și camera? O relație în tonifiere.”</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„Zi de blond. Fără reclamații galbene.”</a:t>
            </a:r>
            <a:endParaRPr lang="en-US" sz="1600" dirty="0"/>
          </a:p>
        </p:txBody>
      </p:sp>
      <p:sp>
        <p:nvSpPr>
          <p:cNvPr id="9" name="card-70"/>
          <p:cNvSpPr/>
          <p:nvPr/>
        </p:nvSpPr>
        <p:spPr>
          <a:xfrm>
            <a:off x="4663440" y="1234440"/>
            <a:ext cx="4023360" cy="3429000"/>
          </a:xfrm>
          <a:prstGeom prst="roundRect">
            <a:avLst>
              <a:gd name="adj" fmla="val 2667"/>
            </a:avLst>
          </a:prstGeom>
          <a:solidFill>
            <a:srgbClr val="FFFFFF"/>
          </a:solidFill>
          <a:ln w="12700">
            <a:solidFill>
              <a:srgbClr val="E2D3CA"/>
            </a:solidFill>
            <a:prstDash val="solid"/>
          </a:ln>
        </p:spPr>
      </p:sp>
      <p:sp>
        <p:nvSpPr>
          <p:cNvPr id="10" name="text-71"/>
          <p:cNvSpPr txBox="1"/>
          <p:nvPr/>
        </p:nvSpPr>
        <p:spPr>
          <a:xfrm>
            <a:off x="4892040" y="1353312"/>
            <a:ext cx="3657600" cy="320040"/>
          </a:xfrm>
          <a:prstGeom prst="rect">
            <a:avLst/>
          </a:prstGeom>
          <a:noFill/>
          <a:ln/>
        </p:spPr>
        <p:txBody>
          <a:bodyPr wrap="square" lIns="0" tIns="0" rIns="0" bIns="0" rtlCol="0" anchor="t"/>
          <a:lstStyle/>
          <a:p>
            <a:pPr indent="0" marL="0">
              <a:buNone/>
            </a:pPr>
            <a:r>
              <a:rPr lang="en-US" sz="1500" b="1" dirty="0">
                <a:solidFill>
                  <a:srgbClr val="9A4F5C"/>
                </a:solidFill>
                <a:latin typeface="Arial" pitchFamily="34" charset="0"/>
                <a:ea typeface="Arial" pitchFamily="34" charset="-122"/>
                <a:cs typeface="Arial" pitchFamily="34" charset="-120"/>
              </a:rPr>
              <a:t>SIMPLE</a:t>
            </a:r>
            <a:endParaRPr lang="en-US" sz="1500" dirty="0"/>
          </a:p>
        </p:txBody>
      </p:sp>
      <p:sp>
        <p:nvSpPr>
          <p:cNvPr id="11" name="text-72"/>
          <p:cNvSpPr txBox="1"/>
          <p:nvPr/>
        </p:nvSpPr>
        <p:spPr>
          <a:xfrm>
            <a:off x="4892040" y="1737360"/>
            <a:ext cx="3657600" cy="2834640"/>
          </a:xfrm>
          <a:prstGeom prst="rect">
            <a:avLst/>
          </a:prstGeom>
          <a:noFill/>
          <a:ln/>
        </p:spPr>
        <p:txBody>
          <a:bodyPr wrap="square" lIns="0" tIns="0" rIns="0" bIns="0" rtlCol="0" anchor="t"/>
          <a:lstStyle/>
          <a:p>
            <a:pPr indent="0" marL="0">
              <a:spcAft>
                <a:spcPts val="700"/>
              </a:spcAft>
              <a:buNone/>
            </a:pPr>
            <a:r>
              <a:rPr lang="en-US" sz="1350" dirty="0">
                <a:solidFill>
                  <a:srgbClr val="1E1A18"/>
                </a:solidFill>
                <a:latin typeface="Arial" pitchFamily="34" charset="0"/>
                <a:ea typeface="Arial" pitchFamily="34" charset="-122"/>
                <a:cs typeface="Arial" pitchFamily="34" charset="-120"/>
              </a:rPr>
              <a:t>„Bună! Sunt [nume] și fac blonduri care se poartă frumos.”</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„Partea mea preferată? Momentul «wow» al clientei.”</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„Astăzi învăț lucruri noi pentru clientele mele.”</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„Culoarea potrivită schimbă felul în care te privești.”</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„Programările pentru blond sunt deschise!”</a:t>
            </a:r>
            <a:endParaRPr lang="en-US" sz="1600" dirty="0"/>
          </a:p>
          <a:p>
            <a:pPr indent="0" marL="0">
              <a:spcAft>
                <a:spcPts val="700"/>
              </a:spcAft>
              <a:buNone/>
            </a:pPr>
            <a:r>
              <a:rPr lang="en-US" sz="1350" dirty="0">
                <a:solidFill>
                  <a:srgbClr val="1E1A18"/>
                </a:solidFill>
                <a:latin typeface="Arial" pitchFamily="34" charset="0"/>
                <a:ea typeface="Arial" pitchFamily="34" charset="-122"/>
                <a:cs typeface="Arial" pitchFamily="34" charset="-120"/>
              </a:rPr>
              <a:t>„Pasul unu: mă filmez. Pasul doi: arăt ce știu.”</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73"/>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ANTI-TRAC ÎN 90 DE SECUNDE</a:t>
            </a:r>
            <a:endParaRPr lang="en-US" sz="1200" dirty="0"/>
          </a:p>
        </p:txBody>
      </p:sp>
      <p:sp>
        <p:nvSpPr>
          <p:cNvPr id="3" name="text-74"/>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Trei trucuri înainte de filmare</a:t>
            </a:r>
            <a:endParaRPr lang="en-US" sz="2600" dirty="0"/>
          </a:p>
        </p:txBody>
      </p:sp>
      <p:sp>
        <p:nvSpPr>
          <p:cNvPr id="4" name="text-75"/>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76"/>
          <p:cNvSpPr/>
          <p:nvPr/>
        </p:nvSpPr>
        <p:spPr>
          <a:xfrm>
            <a:off x="457200" y="1280160"/>
            <a:ext cx="8229600" cy="822960"/>
          </a:xfrm>
          <a:prstGeom prst="roundRect">
            <a:avLst>
              <a:gd name="adj" fmla="val 11111"/>
            </a:avLst>
          </a:prstGeom>
          <a:solidFill>
            <a:srgbClr val="F6EEE9"/>
          </a:solidFill>
          <a:ln w="12700">
            <a:solidFill>
              <a:srgbClr val="F6EEE9"/>
            </a:solidFill>
            <a:prstDash val="solid"/>
          </a:ln>
        </p:spPr>
      </p:sp>
      <p:sp>
        <p:nvSpPr>
          <p:cNvPr id="7" name="num-77"/>
          <p:cNvSpPr/>
          <p:nvPr/>
        </p:nvSpPr>
        <p:spPr>
          <a:xfrm>
            <a:off x="640080" y="1435608"/>
            <a:ext cx="512064" cy="512064"/>
          </a:xfrm>
          <a:prstGeom prst="ellipse">
            <a:avLst/>
          </a:prstGeom>
          <a:solidFill>
            <a:srgbClr val="9A4F5C"/>
          </a:solidFill>
          <a:ln w="19050">
            <a:solidFill>
              <a:srgbClr val="FFFFFF"/>
            </a:solidFill>
            <a:prstDash val="solid"/>
          </a:ln>
        </p:spPr>
      </p:sp>
      <p:sp>
        <p:nvSpPr>
          <p:cNvPr id="8" name="text-78"/>
          <p:cNvSpPr txBox="1"/>
          <p:nvPr/>
        </p:nvSpPr>
        <p:spPr>
          <a:xfrm>
            <a:off x="640080" y="143560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79"/>
          <p:cNvSpPr txBox="1"/>
          <p:nvPr/>
        </p:nvSpPr>
        <p:spPr>
          <a:xfrm>
            <a:off x="1371600" y="1280160"/>
            <a:ext cx="1554480" cy="822960"/>
          </a:xfrm>
          <a:prstGeom prst="rect">
            <a:avLst/>
          </a:prstGeom>
          <a:noFill/>
          <a:ln/>
        </p:spPr>
        <p:txBody>
          <a:bodyPr wrap="square" lIns="0" tIns="0" rIns="0" bIns="0" rtlCol="0" anchor="ctr"/>
          <a:lstStyle/>
          <a:p>
            <a:pPr indent="0" marL="0">
              <a:buNone/>
            </a:pPr>
            <a:r>
              <a:rPr lang="en-US" sz="2000" b="1" dirty="0">
                <a:solidFill>
                  <a:srgbClr val="9A4F5C"/>
                </a:solidFill>
                <a:latin typeface="Arial" pitchFamily="34" charset="0"/>
                <a:ea typeface="Arial" pitchFamily="34" charset="-122"/>
                <a:cs typeface="Arial" pitchFamily="34" charset="-120"/>
              </a:rPr>
              <a:t>Respiră</a:t>
            </a:r>
            <a:endParaRPr lang="en-US" sz="2000" dirty="0"/>
          </a:p>
        </p:txBody>
      </p:sp>
      <p:sp>
        <p:nvSpPr>
          <p:cNvPr id="10" name="text-80"/>
          <p:cNvSpPr txBox="1"/>
          <p:nvPr/>
        </p:nvSpPr>
        <p:spPr>
          <a:xfrm>
            <a:off x="2926080" y="1280160"/>
            <a:ext cx="5577840" cy="822960"/>
          </a:xfrm>
          <a:prstGeom prst="rect">
            <a:avLst/>
          </a:prstGeom>
          <a:noFill/>
          <a:ln/>
        </p:spPr>
        <p:txBody>
          <a:bodyPr wrap="square" lIns="0" tIns="0" rIns="0" bIns="0" rtlCol="0" anchor="ctr"/>
          <a:lstStyle/>
          <a:p>
            <a:pPr indent="0" marL="0">
              <a:buNone/>
            </a:pPr>
            <a:r>
              <a:rPr lang="en-US" sz="1700" b="1" dirty="0">
                <a:solidFill>
                  <a:srgbClr val="1E1A18"/>
                </a:solidFill>
                <a:latin typeface="Arial" pitchFamily="34" charset="0"/>
                <a:ea typeface="Arial" pitchFamily="34" charset="-122"/>
                <a:cs typeface="Arial" pitchFamily="34" charset="-120"/>
              </a:rPr>
              <a:t>2 inspirații</a:t>
            </a:r>
            <a:r>
              <a:rPr lang="en-US" sz="1700" dirty="0">
                <a:solidFill>
                  <a:srgbClr val="1E1A18"/>
                </a:solidFill>
                <a:latin typeface="Arial" pitchFamily="34" charset="0"/>
                <a:ea typeface="Arial" pitchFamily="34" charset="-122"/>
                <a:cs typeface="Arial" pitchFamily="34" charset="-120"/>
              </a:rPr>
              <a:t> scurte pe nas + </a:t>
            </a:r>
            <a:r>
              <a:rPr lang="en-US" sz="1700" b="1" dirty="0">
                <a:solidFill>
                  <a:srgbClr val="1E1A18"/>
                </a:solidFill>
                <a:latin typeface="Arial" pitchFamily="34" charset="0"/>
                <a:ea typeface="Arial" pitchFamily="34" charset="-122"/>
                <a:cs typeface="Arial" pitchFamily="34" charset="-120"/>
              </a:rPr>
              <a:t>1 expirație lungă</a:t>
            </a:r>
            <a:r>
              <a:rPr lang="en-US" sz="1700" dirty="0">
                <a:solidFill>
                  <a:srgbClr val="1E1A18"/>
                </a:solidFill>
                <a:latin typeface="Arial" pitchFamily="34" charset="0"/>
                <a:ea typeface="Arial" pitchFamily="34" charset="-122"/>
                <a:cs typeface="Arial" pitchFamily="34" charset="-120"/>
              </a:rPr>
              <a:t>. De 2–3 ori.</a:t>
            </a:r>
            <a:endParaRPr lang="en-US" sz="1700" dirty="0"/>
          </a:p>
        </p:txBody>
      </p:sp>
      <p:sp>
        <p:nvSpPr>
          <p:cNvPr id="11" name="card-81"/>
          <p:cNvSpPr/>
          <p:nvPr/>
        </p:nvSpPr>
        <p:spPr>
          <a:xfrm>
            <a:off x="457200" y="2240280"/>
            <a:ext cx="8229600" cy="822960"/>
          </a:xfrm>
          <a:prstGeom prst="roundRect">
            <a:avLst>
              <a:gd name="adj" fmla="val 11111"/>
            </a:avLst>
          </a:prstGeom>
          <a:solidFill>
            <a:srgbClr val="F6EEE9"/>
          </a:solidFill>
          <a:ln w="12700">
            <a:solidFill>
              <a:srgbClr val="F6EEE9"/>
            </a:solidFill>
            <a:prstDash val="solid"/>
          </a:ln>
        </p:spPr>
      </p:sp>
      <p:sp>
        <p:nvSpPr>
          <p:cNvPr id="12" name="num-82"/>
          <p:cNvSpPr/>
          <p:nvPr/>
        </p:nvSpPr>
        <p:spPr>
          <a:xfrm>
            <a:off x="640080" y="2395728"/>
            <a:ext cx="512064" cy="512064"/>
          </a:xfrm>
          <a:prstGeom prst="ellipse">
            <a:avLst/>
          </a:prstGeom>
          <a:solidFill>
            <a:srgbClr val="9A4F5C"/>
          </a:solidFill>
          <a:ln w="19050">
            <a:solidFill>
              <a:srgbClr val="FFFFFF"/>
            </a:solidFill>
            <a:prstDash val="solid"/>
          </a:ln>
        </p:spPr>
      </p:sp>
      <p:sp>
        <p:nvSpPr>
          <p:cNvPr id="13" name="text-83"/>
          <p:cNvSpPr txBox="1"/>
          <p:nvPr/>
        </p:nvSpPr>
        <p:spPr>
          <a:xfrm>
            <a:off x="640080" y="239572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84"/>
          <p:cNvSpPr txBox="1"/>
          <p:nvPr/>
        </p:nvSpPr>
        <p:spPr>
          <a:xfrm>
            <a:off x="1371600" y="2240280"/>
            <a:ext cx="1554480" cy="822960"/>
          </a:xfrm>
          <a:prstGeom prst="rect">
            <a:avLst/>
          </a:prstGeom>
          <a:noFill/>
          <a:ln/>
        </p:spPr>
        <p:txBody>
          <a:bodyPr wrap="square" lIns="0" tIns="0" rIns="0" bIns="0" rtlCol="0" anchor="ctr"/>
          <a:lstStyle/>
          <a:p>
            <a:pPr indent="0" marL="0">
              <a:buNone/>
            </a:pPr>
            <a:r>
              <a:rPr lang="en-US" sz="2000" b="1" dirty="0">
                <a:solidFill>
                  <a:srgbClr val="9A4F5C"/>
                </a:solidFill>
                <a:latin typeface="Arial" pitchFamily="34" charset="0"/>
                <a:ea typeface="Arial" pitchFamily="34" charset="-122"/>
                <a:cs typeface="Arial" pitchFamily="34" charset="-120"/>
              </a:rPr>
              <a:t>Spune-ți</a:t>
            </a:r>
            <a:endParaRPr lang="en-US" sz="2000" dirty="0"/>
          </a:p>
        </p:txBody>
      </p:sp>
      <p:sp>
        <p:nvSpPr>
          <p:cNvPr id="15" name="text-85"/>
          <p:cNvSpPr txBox="1"/>
          <p:nvPr/>
        </p:nvSpPr>
        <p:spPr>
          <a:xfrm>
            <a:off x="2926080" y="2240280"/>
            <a:ext cx="5577840" cy="822960"/>
          </a:xfrm>
          <a:prstGeom prst="rect">
            <a:avLst/>
          </a:prstGeom>
          <a:noFill/>
          <a:ln/>
        </p:spPr>
        <p:txBody>
          <a:bodyPr wrap="square" lIns="0" tIns="0" rIns="0" bIns="0" rtlCol="0" anchor="ctr"/>
          <a:lstStyle/>
          <a:p>
            <a:pPr indent="0" marL="0">
              <a:buNone/>
            </a:pPr>
            <a:r>
              <a:rPr lang="en-US" sz="1700" b="1" dirty="0">
                <a:solidFill>
                  <a:srgbClr val="1E1A18"/>
                </a:solidFill>
                <a:latin typeface="Arial" pitchFamily="34" charset="0"/>
                <a:ea typeface="Arial" pitchFamily="34" charset="-122"/>
                <a:cs typeface="Arial" pitchFamily="34" charset="-120"/>
              </a:rPr>
              <a:t>„Sunt entuziasmată.”</a:t>
            </a:r>
            <a:r>
              <a:rPr lang="en-US" sz="1700" dirty="0">
                <a:solidFill>
                  <a:srgbClr val="1E1A18"/>
                </a:solidFill>
                <a:latin typeface="Arial" pitchFamily="34" charset="0"/>
                <a:ea typeface="Arial" pitchFamily="34" charset="-122"/>
                <a:cs typeface="Arial" pitchFamily="34" charset="-120"/>
              </a:rPr>
              <a:t> Nu „trebuie să mă calmez”.</a:t>
            </a:r>
            <a:endParaRPr lang="en-US" sz="1700" dirty="0"/>
          </a:p>
        </p:txBody>
      </p:sp>
      <p:sp>
        <p:nvSpPr>
          <p:cNvPr id="16" name="card-86"/>
          <p:cNvSpPr/>
          <p:nvPr/>
        </p:nvSpPr>
        <p:spPr>
          <a:xfrm>
            <a:off x="457200" y="3200400"/>
            <a:ext cx="8229600" cy="822960"/>
          </a:xfrm>
          <a:prstGeom prst="roundRect">
            <a:avLst>
              <a:gd name="adj" fmla="val 11111"/>
            </a:avLst>
          </a:prstGeom>
          <a:solidFill>
            <a:srgbClr val="F6EEE9"/>
          </a:solidFill>
          <a:ln w="12700">
            <a:solidFill>
              <a:srgbClr val="F6EEE9"/>
            </a:solidFill>
            <a:prstDash val="solid"/>
          </a:ln>
        </p:spPr>
      </p:sp>
      <p:sp>
        <p:nvSpPr>
          <p:cNvPr id="17" name="num-87"/>
          <p:cNvSpPr/>
          <p:nvPr/>
        </p:nvSpPr>
        <p:spPr>
          <a:xfrm>
            <a:off x="640080" y="3355848"/>
            <a:ext cx="512064" cy="512064"/>
          </a:xfrm>
          <a:prstGeom prst="ellipse">
            <a:avLst/>
          </a:prstGeom>
          <a:solidFill>
            <a:srgbClr val="9A4F5C"/>
          </a:solidFill>
          <a:ln w="19050">
            <a:solidFill>
              <a:srgbClr val="FFFFFF"/>
            </a:solidFill>
            <a:prstDash val="solid"/>
          </a:ln>
        </p:spPr>
      </p:sp>
      <p:sp>
        <p:nvSpPr>
          <p:cNvPr id="18" name="text-88"/>
          <p:cNvSpPr txBox="1"/>
          <p:nvPr/>
        </p:nvSpPr>
        <p:spPr>
          <a:xfrm>
            <a:off x="640080" y="335584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89"/>
          <p:cNvSpPr txBox="1"/>
          <p:nvPr/>
        </p:nvSpPr>
        <p:spPr>
          <a:xfrm>
            <a:off x="1371600" y="3200400"/>
            <a:ext cx="1554480" cy="822960"/>
          </a:xfrm>
          <a:prstGeom prst="rect">
            <a:avLst/>
          </a:prstGeom>
          <a:noFill/>
          <a:ln/>
        </p:spPr>
        <p:txBody>
          <a:bodyPr wrap="square" lIns="0" tIns="0" rIns="0" bIns="0" rtlCol="0" anchor="ctr"/>
          <a:lstStyle/>
          <a:p>
            <a:pPr indent="0" marL="0">
              <a:buNone/>
            </a:pPr>
            <a:r>
              <a:rPr lang="en-US" sz="2000" b="1" dirty="0">
                <a:solidFill>
                  <a:srgbClr val="9A4F5C"/>
                </a:solidFill>
                <a:latin typeface="Arial" pitchFamily="34" charset="0"/>
                <a:ea typeface="Arial" pitchFamily="34" charset="-122"/>
                <a:cs typeface="Arial" pitchFamily="34" charset="-120"/>
              </a:rPr>
              <a:t>Take zero</a:t>
            </a:r>
            <a:endParaRPr lang="en-US" sz="2000" dirty="0"/>
          </a:p>
        </p:txBody>
      </p:sp>
      <p:sp>
        <p:nvSpPr>
          <p:cNvPr id="20" name="text-90"/>
          <p:cNvSpPr txBox="1"/>
          <p:nvPr/>
        </p:nvSpPr>
        <p:spPr>
          <a:xfrm>
            <a:off x="2926080" y="3200400"/>
            <a:ext cx="5577840" cy="822960"/>
          </a:xfrm>
          <a:prstGeom prst="rect">
            <a:avLst/>
          </a:prstGeom>
          <a:noFill/>
          <a:ln/>
        </p:spPr>
        <p:txBody>
          <a:bodyPr wrap="square" lIns="0" tIns="0" rIns="0" bIns="0" rtlCol="0" anchor="ctr"/>
          <a:lstStyle/>
          <a:p>
            <a:pPr indent="0" marL="0">
              <a:buNone/>
            </a:pPr>
            <a:r>
              <a:rPr lang="en-US" sz="1700" dirty="0">
                <a:solidFill>
                  <a:srgbClr val="1E1A18"/>
                </a:solidFill>
                <a:latin typeface="Arial" pitchFamily="34" charset="0"/>
                <a:ea typeface="Arial" pitchFamily="34" charset="-122"/>
                <a:cs typeface="Arial" pitchFamily="34" charset="-120"/>
              </a:rPr>
              <a:t>Prima dublă </a:t>
            </a:r>
            <a:r>
              <a:rPr lang="en-US" sz="1700" b="1" dirty="0">
                <a:solidFill>
                  <a:srgbClr val="1E1A18"/>
                </a:solidFill>
                <a:latin typeface="Arial" pitchFamily="34" charset="0"/>
                <a:ea typeface="Arial" pitchFamily="34" charset="-122"/>
                <a:cs typeface="Arial" pitchFamily="34" charset="-120"/>
              </a:rPr>
              <a:t>se șterge oricum</a:t>
            </a:r>
            <a:r>
              <a:rPr lang="en-US" sz="1700" dirty="0">
                <a:solidFill>
                  <a:srgbClr val="1E1A18"/>
                </a:solidFill>
                <a:latin typeface="Arial" pitchFamily="34" charset="0"/>
                <a:ea typeface="Arial" pitchFamily="34" charset="-122"/>
                <a:cs typeface="Arial" pitchFamily="34" charset="-120"/>
              </a:rPr>
              <a:t>. Nu contează.</a:t>
            </a:r>
            <a:endParaRPr lang="en-US" sz="1700" dirty="0"/>
          </a:p>
        </p:txBody>
      </p:sp>
      <p:sp>
        <p:nvSpPr>
          <p:cNvPr id="21" name="text-91"/>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700" i="1" dirty="0">
                <a:solidFill>
                  <a:srgbClr val="4A3F3A"/>
                </a:solidFill>
                <a:latin typeface="Arial" pitchFamily="34" charset="0"/>
                <a:ea typeface="Arial" pitchFamily="34" charset="-122"/>
                <a:cs typeface="Arial" pitchFamily="34" charset="-120"/>
              </a:rPr>
              <a:t>Inima bate tare? Super. Și la primul balayage reușit bătea la fel.</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92"/>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ACȚIUNE!</a:t>
            </a:r>
            <a:endParaRPr lang="en-US" sz="1200" dirty="0"/>
          </a:p>
        </p:txBody>
      </p:sp>
      <p:sp>
        <p:nvSpPr>
          <p:cNvPr id="3" name="text-93"/>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Cum filmăm</a:t>
            </a:r>
            <a:endParaRPr lang="en-US" sz="2600" dirty="0"/>
          </a:p>
        </p:txBody>
      </p:sp>
      <p:sp>
        <p:nvSpPr>
          <p:cNvPr id="4" name="text-94"/>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95"/>
          <p:cNvSpPr/>
          <p:nvPr/>
        </p:nvSpPr>
        <p:spPr>
          <a:xfrm>
            <a:off x="457200" y="1325880"/>
            <a:ext cx="1920240" cy="2194560"/>
          </a:xfrm>
          <a:prstGeom prst="roundRect">
            <a:avLst>
              <a:gd name="adj" fmla="val 4762"/>
            </a:avLst>
          </a:prstGeom>
          <a:solidFill>
            <a:srgbClr val="F6EEE9"/>
          </a:solidFill>
          <a:ln w="12700">
            <a:solidFill>
              <a:srgbClr val="F6EEE9"/>
            </a:solidFill>
            <a:prstDash val="solid"/>
          </a:ln>
        </p:spPr>
      </p:sp>
      <p:sp>
        <p:nvSpPr>
          <p:cNvPr id="7" name="num-96"/>
          <p:cNvSpPr/>
          <p:nvPr/>
        </p:nvSpPr>
        <p:spPr>
          <a:xfrm>
            <a:off x="1143000" y="1508760"/>
            <a:ext cx="548640" cy="548640"/>
          </a:xfrm>
          <a:prstGeom prst="ellipse">
            <a:avLst/>
          </a:prstGeom>
          <a:solidFill>
            <a:srgbClr val="9A4F5C"/>
          </a:solidFill>
          <a:ln w="19050">
            <a:solidFill>
              <a:srgbClr val="FFFFFF"/>
            </a:solidFill>
            <a:prstDash val="solid"/>
          </a:ln>
        </p:spPr>
      </p:sp>
      <p:sp>
        <p:nvSpPr>
          <p:cNvPr id="8" name="text-97"/>
          <p:cNvSpPr txBox="1"/>
          <p:nvPr/>
        </p:nvSpPr>
        <p:spPr>
          <a:xfrm>
            <a:off x="114300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98"/>
          <p:cNvSpPr txBox="1"/>
          <p:nvPr/>
        </p:nvSpPr>
        <p:spPr>
          <a:xfrm>
            <a:off x="594360" y="2194560"/>
            <a:ext cx="1645920" cy="457200"/>
          </a:xfrm>
          <a:prstGeom prst="rect">
            <a:avLst/>
          </a:prstGeom>
          <a:noFill/>
          <a:ln/>
        </p:spPr>
        <p:txBody>
          <a:bodyPr wrap="square" lIns="0" tIns="0" rIns="0" bIns="0" rtlCol="0" anchor="t"/>
          <a:lstStyle/>
          <a:p>
            <a:pPr algn="ctr" indent="0" marL="0">
              <a:buNone/>
            </a:pPr>
            <a:r>
              <a:rPr lang="en-US" sz="1800" b="1" dirty="0">
                <a:solidFill>
                  <a:srgbClr val="1E1A18"/>
                </a:solidFill>
                <a:latin typeface="Arial" pitchFamily="34" charset="0"/>
                <a:ea typeface="Arial" pitchFamily="34" charset="-122"/>
                <a:cs typeface="Arial" pitchFamily="34" charset="-120"/>
              </a:rPr>
              <a:t>Locul</a:t>
            </a:r>
            <a:endParaRPr lang="en-US" sz="1800" dirty="0"/>
          </a:p>
        </p:txBody>
      </p:sp>
      <p:sp>
        <p:nvSpPr>
          <p:cNvPr id="10" name="text-99"/>
          <p:cNvSpPr txBox="1"/>
          <p:nvPr/>
        </p:nvSpPr>
        <p:spPr>
          <a:xfrm>
            <a:off x="594360" y="2697480"/>
            <a:ext cx="1645920" cy="731520"/>
          </a:xfrm>
          <a:prstGeom prst="rect">
            <a:avLst/>
          </a:prstGeom>
          <a:noFill/>
          <a:ln/>
        </p:spPr>
        <p:txBody>
          <a:bodyPr wrap="square" lIns="0" tIns="0" rIns="0" bIns="0" rtlCol="0" anchor="t"/>
          <a:lstStyle/>
          <a:p>
            <a:pPr algn="ctr" indent="0" marL="0">
              <a:buNone/>
            </a:pPr>
            <a:r>
              <a:rPr lang="en-US" sz="1400" dirty="0">
                <a:solidFill>
                  <a:srgbClr val="4A3F3A"/>
                </a:solidFill>
                <a:latin typeface="Arial" pitchFamily="34" charset="0"/>
                <a:ea typeface="Arial" pitchFamily="34" charset="-122"/>
                <a:cs typeface="Arial" pitchFamily="34" charset="-120"/>
              </a:rPr>
              <a:t>colț liniștit, lângă fereastră</a:t>
            </a:r>
            <a:endParaRPr lang="en-US" sz="1400" dirty="0"/>
          </a:p>
        </p:txBody>
      </p:sp>
      <p:sp>
        <p:nvSpPr>
          <p:cNvPr id="11" name="card-100"/>
          <p:cNvSpPr/>
          <p:nvPr/>
        </p:nvSpPr>
        <p:spPr>
          <a:xfrm>
            <a:off x="2560320" y="1325880"/>
            <a:ext cx="1920240" cy="2194560"/>
          </a:xfrm>
          <a:prstGeom prst="roundRect">
            <a:avLst>
              <a:gd name="adj" fmla="val 4762"/>
            </a:avLst>
          </a:prstGeom>
          <a:solidFill>
            <a:srgbClr val="F6EEE9"/>
          </a:solidFill>
          <a:ln w="12700">
            <a:solidFill>
              <a:srgbClr val="F6EEE9"/>
            </a:solidFill>
            <a:prstDash val="solid"/>
          </a:ln>
        </p:spPr>
      </p:sp>
      <p:sp>
        <p:nvSpPr>
          <p:cNvPr id="12" name="num-101"/>
          <p:cNvSpPr/>
          <p:nvPr/>
        </p:nvSpPr>
        <p:spPr>
          <a:xfrm>
            <a:off x="3246120" y="1508760"/>
            <a:ext cx="548640" cy="548640"/>
          </a:xfrm>
          <a:prstGeom prst="ellipse">
            <a:avLst/>
          </a:prstGeom>
          <a:solidFill>
            <a:srgbClr val="9A4F5C"/>
          </a:solidFill>
          <a:ln w="19050">
            <a:solidFill>
              <a:srgbClr val="FFFFFF"/>
            </a:solidFill>
            <a:prstDash val="solid"/>
          </a:ln>
        </p:spPr>
      </p:sp>
      <p:sp>
        <p:nvSpPr>
          <p:cNvPr id="13" name="text-102"/>
          <p:cNvSpPr txBox="1"/>
          <p:nvPr/>
        </p:nvSpPr>
        <p:spPr>
          <a:xfrm>
            <a:off x="324612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103"/>
          <p:cNvSpPr txBox="1"/>
          <p:nvPr/>
        </p:nvSpPr>
        <p:spPr>
          <a:xfrm>
            <a:off x="2697480" y="2194560"/>
            <a:ext cx="1645920" cy="457200"/>
          </a:xfrm>
          <a:prstGeom prst="rect">
            <a:avLst/>
          </a:prstGeom>
          <a:noFill/>
          <a:ln/>
        </p:spPr>
        <p:txBody>
          <a:bodyPr wrap="square" lIns="0" tIns="0" rIns="0" bIns="0" rtlCol="0" anchor="t"/>
          <a:lstStyle/>
          <a:p>
            <a:pPr algn="ctr" indent="0" marL="0">
              <a:buNone/>
            </a:pPr>
            <a:r>
              <a:rPr lang="en-US" sz="1800" b="1" dirty="0">
                <a:solidFill>
                  <a:srgbClr val="1E1A18"/>
                </a:solidFill>
                <a:latin typeface="Arial" pitchFamily="34" charset="0"/>
                <a:ea typeface="Arial" pitchFamily="34" charset="-122"/>
                <a:cs typeface="Arial" pitchFamily="34" charset="-120"/>
              </a:rPr>
              <a:t>Vertical</a:t>
            </a:r>
            <a:endParaRPr lang="en-US" sz="1800" dirty="0"/>
          </a:p>
        </p:txBody>
      </p:sp>
      <p:sp>
        <p:nvSpPr>
          <p:cNvPr id="15" name="text-104"/>
          <p:cNvSpPr txBox="1"/>
          <p:nvPr/>
        </p:nvSpPr>
        <p:spPr>
          <a:xfrm>
            <a:off x="2697480" y="2697480"/>
            <a:ext cx="1645920" cy="731520"/>
          </a:xfrm>
          <a:prstGeom prst="rect">
            <a:avLst/>
          </a:prstGeom>
          <a:noFill/>
          <a:ln/>
        </p:spPr>
        <p:txBody>
          <a:bodyPr wrap="square" lIns="0" tIns="0" rIns="0" bIns="0" rtlCol="0" anchor="t"/>
          <a:lstStyle/>
          <a:p>
            <a:pPr algn="ctr" indent="0" marL="0">
              <a:buNone/>
            </a:pPr>
            <a:r>
              <a:rPr lang="en-US" sz="1400" dirty="0">
                <a:solidFill>
                  <a:srgbClr val="4A3F3A"/>
                </a:solidFill>
                <a:latin typeface="Arial" pitchFamily="34" charset="0"/>
                <a:ea typeface="Arial" pitchFamily="34" charset="-122"/>
                <a:cs typeface="Arial" pitchFamily="34" charset="-120"/>
              </a:rPr>
              <a:t>telefonul vertical, lumina din față</a:t>
            </a:r>
            <a:endParaRPr lang="en-US" sz="1400" dirty="0"/>
          </a:p>
        </p:txBody>
      </p:sp>
      <p:sp>
        <p:nvSpPr>
          <p:cNvPr id="16" name="card-105"/>
          <p:cNvSpPr/>
          <p:nvPr/>
        </p:nvSpPr>
        <p:spPr>
          <a:xfrm>
            <a:off x="4663440" y="1325880"/>
            <a:ext cx="1920240" cy="2194560"/>
          </a:xfrm>
          <a:prstGeom prst="roundRect">
            <a:avLst>
              <a:gd name="adj" fmla="val 4762"/>
            </a:avLst>
          </a:prstGeom>
          <a:solidFill>
            <a:srgbClr val="F6EEE9"/>
          </a:solidFill>
          <a:ln w="12700">
            <a:solidFill>
              <a:srgbClr val="F6EEE9"/>
            </a:solidFill>
            <a:prstDash val="solid"/>
          </a:ln>
        </p:spPr>
      </p:sp>
      <p:sp>
        <p:nvSpPr>
          <p:cNvPr id="17" name="num-106"/>
          <p:cNvSpPr/>
          <p:nvPr/>
        </p:nvSpPr>
        <p:spPr>
          <a:xfrm>
            <a:off x="5349240" y="1508760"/>
            <a:ext cx="548640" cy="548640"/>
          </a:xfrm>
          <a:prstGeom prst="ellipse">
            <a:avLst/>
          </a:prstGeom>
          <a:solidFill>
            <a:srgbClr val="9A4F5C"/>
          </a:solidFill>
          <a:ln w="19050">
            <a:solidFill>
              <a:srgbClr val="FFFFFF"/>
            </a:solidFill>
            <a:prstDash val="solid"/>
          </a:ln>
        </p:spPr>
      </p:sp>
      <p:sp>
        <p:nvSpPr>
          <p:cNvPr id="18" name="text-107"/>
          <p:cNvSpPr txBox="1"/>
          <p:nvPr/>
        </p:nvSpPr>
        <p:spPr>
          <a:xfrm>
            <a:off x="534924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108"/>
          <p:cNvSpPr txBox="1"/>
          <p:nvPr/>
        </p:nvSpPr>
        <p:spPr>
          <a:xfrm>
            <a:off x="4800600" y="2194560"/>
            <a:ext cx="1645920" cy="457200"/>
          </a:xfrm>
          <a:prstGeom prst="rect">
            <a:avLst/>
          </a:prstGeom>
          <a:noFill/>
          <a:ln/>
        </p:spPr>
        <p:txBody>
          <a:bodyPr wrap="square" lIns="0" tIns="0" rIns="0" bIns="0" rtlCol="0" anchor="t"/>
          <a:lstStyle/>
          <a:p>
            <a:pPr algn="ctr" indent="0" marL="0">
              <a:buNone/>
            </a:pPr>
            <a:r>
              <a:rPr lang="en-US" sz="1800" b="1" dirty="0">
                <a:solidFill>
                  <a:srgbClr val="1E1A18"/>
                </a:solidFill>
                <a:latin typeface="Arial" pitchFamily="34" charset="0"/>
                <a:ea typeface="Arial" pitchFamily="34" charset="-122"/>
                <a:cs typeface="Arial" pitchFamily="34" charset="-120"/>
              </a:rPr>
              <a:t>5 secunde</a:t>
            </a:r>
            <a:endParaRPr lang="en-US" sz="1800" dirty="0"/>
          </a:p>
        </p:txBody>
      </p:sp>
      <p:sp>
        <p:nvSpPr>
          <p:cNvPr id="20" name="text-109"/>
          <p:cNvSpPr txBox="1"/>
          <p:nvPr/>
        </p:nvSpPr>
        <p:spPr>
          <a:xfrm>
            <a:off x="4800600" y="2697480"/>
            <a:ext cx="1645920" cy="731520"/>
          </a:xfrm>
          <a:prstGeom prst="rect">
            <a:avLst/>
          </a:prstGeom>
          <a:noFill/>
          <a:ln/>
        </p:spPr>
        <p:txBody>
          <a:bodyPr wrap="square" lIns="0" tIns="0" rIns="0" bIns="0" rtlCol="0" anchor="t"/>
          <a:lstStyle/>
          <a:p>
            <a:pPr algn="ctr" indent="0" marL="0">
              <a:buNone/>
            </a:pPr>
            <a:r>
              <a:rPr lang="en-US" sz="1400" dirty="0">
                <a:solidFill>
                  <a:srgbClr val="4A3F3A"/>
                </a:solidFill>
                <a:latin typeface="Arial" pitchFamily="34" charset="0"/>
                <a:ea typeface="Arial" pitchFamily="34" charset="-122"/>
                <a:cs typeface="Arial" pitchFamily="34" charset="-120"/>
              </a:rPr>
              <a:t>câte dubluri vrei</a:t>
            </a:r>
            <a:endParaRPr lang="en-US" sz="1400" dirty="0"/>
          </a:p>
        </p:txBody>
      </p:sp>
      <p:sp>
        <p:nvSpPr>
          <p:cNvPr id="21" name="card-110"/>
          <p:cNvSpPr/>
          <p:nvPr/>
        </p:nvSpPr>
        <p:spPr>
          <a:xfrm>
            <a:off x="6766560" y="1325880"/>
            <a:ext cx="1920240" cy="2194560"/>
          </a:xfrm>
          <a:prstGeom prst="roundRect">
            <a:avLst>
              <a:gd name="adj" fmla="val 4762"/>
            </a:avLst>
          </a:prstGeom>
          <a:solidFill>
            <a:srgbClr val="F6EEE9"/>
          </a:solidFill>
          <a:ln w="12700">
            <a:solidFill>
              <a:srgbClr val="F6EEE9"/>
            </a:solidFill>
            <a:prstDash val="solid"/>
          </a:ln>
        </p:spPr>
      </p:sp>
      <p:sp>
        <p:nvSpPr>
          <p:cNvPr id="22" name="num-111"/>
          <p:cNvSpPr/>
          <p:nvPr/>
        </p:nvSpPr>
        <p:spPr>
          <a:xfrm>
            <a:off x="7452360" y="1508760"/>
            <a:ext cx="548640" cy="548640"/>
          </a:xfrm>
          <a:prstGeom prst="ellipse">
            <a:avLst/>
          </a:prstGeom>
          <a:solidFill>
            <a:srgbClr val="9A4F5C"/>
          </a:solidFill>
          <a:ln w="19050">
            <a:solidFill>
              <a:srgbClr val="FFFFFF"/>
            </a:solidFill>
            <a:prstDash val="solid"/>
          </a:ln>
        </p:spPr>
      </p:sp>
      <p:sp>
        <p:nvSpPr>
          <p:cNvPr id="23" name="text-112"/>
          <p:cNvSpPr txBox="1"/>
          <p:nvPr/>
        </p:nvSpPr>
        <p:spPr>
          <a:xfrm>
            <a:off x="745236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113"/>
          <p:cNvSpPr txBox="1"/>
          <p:nvPr/>
        </p:nvSpPr>
        <p:spPr>
          <a:xfrm>
            <a:off x="6903720" y="2194560"/>
            <a:ext cx="1645920" cy="457200"/>
          </a:xfrm>
          <a:prstGeom prst="rect">
            <a:avLst/>
          </a:prstGeom>
          <a:noFill/>
          <a:ln/>
        </p:spPr>
        <p:txBody>
          <a:bodyPr wrap="square" lIns="0" tIns="0" rIns="0" bIns="0" rtlCol="0" anchor="t"/>
          <a:lstStyle/>
          <a:p>
            <a:pPr algn="ctr" indent="0" marL="0">
              <a:buNone/>
            </a:pPr>
            <a:r>
              <a:rPr lang="en-US" sz="1800" b="1" dirty="0">
                <a:solidFill>
                  <a:srgbClr val="1E1A18"/>
                </a:solidFill>
                <a:latin typeface="Arial" pitchFamily="34" charset="0"/>
                <a:ea typeface="Arial" pitchFamily="34" charset="-122"/>
                <a:cs typeface="Arial" pitchFamily="34" charset="-120"/>
              </a:rPr>
              <a:t>Păstrează</a:t>
            </a:r>
            <a:endParaRPr lang="en-US" sz="1800" dirty="0"/>
          </a:p>
        </p:txBody>
      </p:sp>
      <p:sp>
        <p:nvSpPr>
          <p:cNvPr id="25" name="text-114"/>
          <p:cNvSpPr txBox="1"/>
          <p:nvPr/>
        </p:nvSpPr>
        <p:spPr>
          <a:xfrm>
            <a:off x="6903720" y="2697480"/>
            <a:ext cx="1645920" cy="731520"/>
          </a:xfrm>
          <a:prstGeom prst="rect">
            <a:avLst/>
          </a:prstGeom>
          <a:noFill/>
          <a:ln/>
        </p:spPr>
        <p:txBody>
          <a:bodyPr wrap="square" lIns="0" tIns="0" rIns="0" bIns="0" rtlCol="0" anchor="t"/>
          <a:lstStyle/>
          <a:p>
            <a:pPr algn="ctr" indent="0" marL="0">
              <a:buNone/>
            </a:pPr>
            <a:r>
              <a:rPr lang="en-US" sz="1400" dirty="0">
                <a:solidFill>
                  <a:srgbClr val="4A3F3A"/>
                </a:solidFill>
                <a:latin typeface="Arial" pitchFamily="34" charset="0"/>
                <a:ea typeface="Arial" pitchFamily="34" charset="-122"/>
                <a:cs typeface="Arial" pitchFamily="34" charset="-120"/>
              </a:rPr>
              <a:t>doar ce îți place</a:t>
            </a:r>
            <a:endParaRPr lang="en-US" sz="1400" dirty="0"/>
          </a:p>
        </p:txBody>
      </p:sp>
      <p:sp>
        <p:nvSpPr>
          <p:cNvPr id="26" name="card-115"/>
          <p:cNvSpPr/>
          <p:nvPr/>
        </p:nvSpPr>
        <p:spPr>
          <a:xfrm>
            <a:off x="457200" y="3749040"/>
            <a:ext cx="8229600" cy="868680"/>
          </a:xfrm>
          <a:prstGeom prst="roundRect">
            <a:avLst>
              <a:gd name="adj" fmla="val 10526"/>
            </a:avLst>
          </a:prstGeom>
          <a:solidFill>
            <a:srgbClr val="FFFFFF"/>
          </a:solidFill>
          <a:ln w="19050">
            <a:solidFill>
              <a:srgbClr val="9A4F5C"/>
            </a:solidFill>
            <a:prstDash val="solid"/>
          </a:ln>
        </p:spPr>
      </p:sp>
      <p:sp>
        <p:nvSpPr>
          <p:cNvPr id="27" name="text-116"/>
          <p:cNvSpPr txBox="1"/>
          <p:nvPr/>
        </p:nvSpPr>
        <p:spPr>
          <a:xfrm>
            <a:off x="685800" y="3767328"/>
            <a:ext cx="7772400" cy="822960"/>
          </a:xfrm>
          <a:prstGeom prst="rect">
            <a:avLst/>
          </a:prstGeom>
          <a:noFill/>
          <a:ln/>
        </p:spPr>
        <p:txBody>
          <a:bodyPr wrap="square" lIns="0" tIns="0" rIns="0" bIns="0" rtlCol="0" anchor="ctr"/>
          <a:lstStyle/>
          <a:p>
            <a:pPr indent="0" marL="0">
              <a:buNone/>
            </a:pPr>
            <a:r>
              <a:rPr lang="en-US" sz="1700" dirty="0">
                <a:solidFill>
                  <a:srgbClr val="1E1A18"/>
                </a:solidFill>
                <a:latin typeface="Arial" pitchFamily="34" charset="0"/>
                <a:ea typeface="Arial" pitchFamily="34" charset="-122"/>
                <a:cs typeface="Arial" pitchFamily="34" charset="-120"/>
              </a:rPr>
              <a:t>La final: </a:t>
            </a:r>
            <a:r>
              <a:rPr lang="en-US" sz="1700" b="1" dirty="0">
                <a:solidFill>
                  <a:srgbClr val="1E1A18"/>
                </a:solidFill>
                <a:latin typeface="Arial" pitchFamily="34" charset="0"/>
                <a:ea typeface="Arial" pitchFamily="34" charset="-122"/>
                <a:cs typeface="Arial" pitchFamily="34" charset="-120"/>
              </a:rPr>
              <a:t>cum a fost, pe o scală de la „leu” la „pisică”?</a:t>
            </a:r>
            <a:r>
              <a:rPr lang="en-US" sz="1700" dirty="0">
                <a:solidFill>
                  <a:srgbClr val="1E1A18"/>
                </a:solidFill>
                <a:latin typeface="Arial" pitchFamily="34" charset="0"/>
                <a:ea typeface="Arial" pitchFamily="34" charset="-122"/>
                <a:cs typeface="Arial" pitchFamily="34" charset="-120"/>
              </a:rPr>
              <a:t> Răspunzi doar dacă vrei.</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117"/>
          <p:cNvSpPr txBox="1"/>
          <p:nvPr/>
        </p:nvSpPr>
        <p:spPr>
          <a:xfrm>
            <a:off x="457200" y="228600"/>
            <a:ext cx="8229600" cy="274320"/>
          </a:xfrm>
          <a:prstGeom prst="rect">
            <a:avLst/>
          </a:prstGeom>
          <a:noFill/>
          <a:ln/>
        </p:spPr>
        <p:txBody>
          <a:bodyPr wrap="square" lIns="0" tIns="0" rIns="0" bIns="0" rtlCol="0" anchor="t"/>
          <a:lstStyle/>
          <a:p>
            <a:pPr indent="0" marL="0">
              <a:buNone/>
            </a:pPr>
            <a:r>
              <a:rPr lang="en-US" sz="1200" b="1" spc="100" kern="0" dirty="0">
                <a:solidFill>
                  <a:srgbClr val="9A4F5C"/>
                </a:solidFill>
                <a:latin typeface="Arial" pitchFamily="34" charset="0"/>
                <a:ea typeface="Arial" pitchFamily="34" charset="-122"/>
                <a:cs typeface="Arial" pitchFamily="34" charset="-120"/>
              </a:rPr>
              <a:t>DUPĂ CURS · OPȚIONAL</a:t>
            </a:r>
            <a:endParaRPr lang="en-US" sz="1200" dirty="0"/>
          </a:p>
        </p:txBody>
      </p:sp>
      <p:sp>
        <p:nvSpPr>
          <p:cNvPr id="3" name="text-118"/>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1E1A18"/>
                </a:solidFill>
                <a:latin typeface="Arial" pitchFamily="34" charset="0"/>
                <a:ea typeface="Arial" pitchFamily="34" charset="-122"/>
                <a:cs typeface="Arial" pitchFamily="34" charset="-120"/>
              </a:rPr>
              <a:t>Scara postării: orice treaptă e o reușită</a:t>
            </a:r>
            <a:endParaRPr lang="en-US" sz="2600" dirty="0"/>
          </a:p>
        </p:txBody>
      </p:sp>
      <p:sp>
        <p:nvSpPr>
          <p:cNvPr id="4" name="text-119"/>
          <p:cNvSpPr txBox="1"/>
          <p:nvPr/>
        </p:nvSpPr>
        <p:spPr>
          <a:xfrm>
            <a:off x="457200" y="4846320"/>
            <a:ext cx="5486400" cy="201168"/>
          </a:xfrm>
          <a:prstGeom prst="rect">
            <a:avLst/>
          </a:prstGeom>
          <a:noFill/>
          <a:ln/>
        </p:spPr>
        <p:txBody>
          <a:bodyPr wrap="square" lIns="0" tIns="0" rIns="0" bIns="0" rtlCol="0" anchor="t"/>
          <a:lstStyle/>
          <a:p>
            <a:pPr indent="0" marL="0">
              <a:buNone/>
            </a:pPr>
            <a:r>
              <a:rPr lang="en-US" sz="1000" dirty="0">
                <a:solidFill>
                  <a:srgbClr val="4A3F3A"/>
                </a:solidFill>
                <a:latin typeface="Arial" pitchFamily="34" charset="0"/>
                <a:ea typeface="Arial" pitchFamily="34" charset="-122"/>
                <a:cs typeface="Arial" pitchFamily="34" charset="-120"/>
              </a:rPr>
              <a:t>BLONDE AMBITION by Diana Avram</a:t>
            </a:r>
            <a:endParaRPr lang="en-US" sz="1000" dirty="0"/>
          </a:p>
        </p:txBody>
      </p:sp>
      <p:sp>
        <p:nvSpPr>
          <p:cNvPr id="6" name="card-120"/>
          <p:cNvSpPr/>
          <p:nvPr/>
        </p:nvSpPr>
        <p:spPr>
          <a:xfrm>
            <a:off x="457200" y="2606040"/>
            <a:ext cx="1965960" cy="1371600"/>
          </a:xfrm>
          <a:prstGeom prst="roundRect">
            <a:avLst>
              <a:gd name="adj" fmla="val 6667"/>
            </a:avLst>
          </a:prstGeom>
          <a:solidFill>
            <a:srgbClr val="F6EEE9"/>
          </a:solidFill>
          <a:ln w="12700">
            <a:solidFill>
              <a:srgbClr val="E2D3CA"/>
            </a:solidFill>
            <a:prstDash val="solid"/>
          </a:ln>
        </p:spPr>
      </p:sp>
      <p:sp>
        <p:nvSpPr>
          <p:cNvPr id="7" name="text-121"/>
          <p:cNvSpPr txBox="1"/>
          <p:nvPr/>
        </p:nvSpPr>
        <p:spPr>
          <a:xfrm>
            <a:off x="594360" y="2697480"/>
            <a:ext cx="457200" cy="411480"/>
          </a:xfrm>
          <a:prstGeom prst="rect">
            <a:avLst/>
          </a:prstGeom>
          <a:noFill/>
          <a:ln/>
        </p:spPr>
        <p:txBody>
          <a:bodyPr wrap="square" lIns="0" tIns="0" rIns="0" bIns="0" rtlCol="0" anchor="t"/>
          <a:lstStyle/>
          <a:p>
            <a:pPr indent="0" marL="0">
              <a:buNone/>
            </a:pPr>
            <a:r>
              <a:rPr lang="en-US" sz="2200" b="1" dirty="0">
                <a:solidFill>
                  <a:srgbClr val="9A4F5C"/>
                </a:solidFill>
                <a:latin typeface="Arial" pitchFamily="34" charset="0"/>
                <a:ea typeface="Arial" pitchFamily="34" charset="-122"/>
                <a:cs typeface="Arial" pitchFamily="34" charset="-120"/>
              </a:rPr>
              <a:t>1</a:t>
            </a:r>
            <a:endParaRPr lang="en-US" sz="2200" dirty="0"/>
          </a:p>
        </p:txBody>
      </p:sp>
      <p:sp>
        <p:nvSpPr>
          <p:cNvPr id="8" name="text-122"/>
          <p:cNvSpPr txBox="1"/>
          <p:nvPr/>
        </p:nvSpPr>
        <p:spPr>
          <a:xfrm>
            <a:off x="594360" y="3108960"/>
            <a:ext cx="1737360" cy="365760"/>
          </a:xfrm>
          <a:prstGeom prst="rect">
            <a:avLst/>
          </a:prstGeom>
          <a:noFill/>
          <a:ln/>
        </p:spPr>
        <p:txBody>
          <a:bodyPr wrap="square" lIns="0" tIns="0" rIns="0" bIns="0" rtlCol="0" anchor="t"/>
          <a:lstStyle/>
          <a:p>
            <a:pPr indent="0" marL="0">
              <a:buNone/>
            </a:pPr>
            <a:r>
              <a:rPr lang="en-US" sz="1700" b="1" dirty="0">
                <a:solidFill>
                  <a:srgbClr val="1E1A18"/>
                </a:solidFill>
                <a:latin typeface="Arial" pitchFamily="34" charset="0"/>
                <a:ea typeface="Arial" pitchFamily="34" charset="-122"/>
                <a:cs typeface="Arial" pitchFamily="34" charset="-120"/>
              </a:rPr>
              <a:t>Salvez clipul</a:t>
            </a:r>
            <a:endParaRPr lang="en-US" sz="1700" dirty="0"/>
          </a:p>
        </p:txBody>
      </p:sp>
      <p:sp>
        <p:nvSpPr>
          <p:cNvPr id="9" name="text-123"/>
          <p:cNvSpPr txBox="1"/>
          <p:nvPr/>
        </p:nvSpPr>
        <p:spPr>
          <a:xfrm>
            <a:off x="594360" y="3474720"/>
            <a:ext cx="1737360" cy="457200"/>
          </a:xfrm>
          <a:prstGeom prst="rect">
            <a:avLst/>
          </a:prstGeom>
          <a:noFill/>
          <a:ln/>
        </p:spPr>
        <p:txBody>
          <a:bodyPr wrap="square" lIns="0" tIns="0" rIns="0" bIns="0" rtlCol="0" anchor="t"/>
          <a:lstStyle/>
          <a:p>
            <a:pPr indent="0" marL="0">
              <a:buNone/>
            </a:pPr>
            <a:r>
              <a:rPr lang="en-US" sz="1250" dirty="0">
                <a:solidFill>
                  <a:srgbClr val="4A3F3A"/>
                </a:solidFill>
                <a:latin typeface="Arial" pitchFamily="34" charset="0"/>
                <a:ea typeface="Arial" pitchFamily="34" charset="-122"/>
                <a:cs typeface="Arial" pitchFamily="34" charset="-120"/>
              </a:rPr>
              <a:t>pentru mai târziu</a:t>
            </a:r>
            <a:endParaRPr lang="en-US" sz="1250" dirty="0"/>
          </a:p>
        </p:txBody>
      </p:sp>
      <p:sp>
        <p:nvSpPr>
          <p:cNvPr id="10" name="card-124"/>
          <p:cNvSpPr/>
          <p:nvPr/>
        </p:nvSpPr>
        <p:spPr>
          <a:xfrm>
            <a:off x="2560320" y="2194560"/>
            <a:ext cx="1965960" cy="1783080"/>
          </a:xfrm>
          <a:prstGeom prst="roundRect">
            <a:avLst>
              <a:gd name="adj" fmla="val 5128"/>
            </a:avLst>
          </a:prstGeom>
          <a:solidFill>
            <a:srgbClr val="F6EEE9"/>
          </a:solidFill>
          <a:ln w="12700">
            <a:solidFill>
              <a:srgbClr val="E2D3CA"/>
            </a:solidFill>
            <a:prstDash val="solid"/>
          </a:ln>
        </p:spPr>
      </p:sp>
      <p:sp>
        <p:nvSpPr>
          <p:cNvPr id="11" name="text-125"/>
          <p:cNvSpPr txBox="1"/>
          <p:nvPr/>
        </p:nvSpPr>
        <p:spPr>
          <a:xfrm>
            <a:off x="2697480" y="2286000"/>
            <a:ext cx="457200" cy="411480"/>
          </a:xfrm>
          <a:prstGeom prst="rect">
            <a:avLst/>
          </a:prstGeom>
          <a:noFill/>
          <a:ln/>
        </p:spPr>
        <p:txBody>
          <a:bodyPr wrap="square" lIns="0" tIns="0" rIns="0" bIns="0" rtlCol="0" anchor="t"/>
          <a:lstStyle/>
          <a:p>
            <a:pPr indent="0" marL="0">
              <a:buNone/>
            </a:pPr>
            <a:r>
              <a:rPr lang="en-US" sz="2200" b="1" dirty="0">
                <a:solidFill>
                  <a:srgbClr val="9A4F5C"/>
                </a:solidFill>
                <a:latin typeface="Arial" pitchFamily="34" charset="0"/>
                <a:ea typeface="Arial" pitchFamily="34" charset="-122"/>
                <a:cs typeface="Arial" pitchFamily="34" charset="-120"/>
              </a:rPr>
              <a:t>2</a:t>
            </a:r>
            <a:endParaRPr lang="en-US" sz="2200" dirty="0"/>
          </a:p>
        </p:txBody>
      </p:sp>
      <p:sp>
        <p:nvSpPr>
          <p:cNvPr id="12" name="text-126"/>
          <p:cNvSpPr txBox="1"/>
          <p:nvPr/>
        </p:nvSpPr>
        <p:spPr>
          <a:xfrm>
            <a:off x="2697480" y="2697480"/>
            <a:ext cx="1737360" cy="365760"/>
          </a:xfrm>
          <a:prstGeom prst="rect">
            <a:avLst/>
          </a:prstGeom>
          <a:noFill/>
          <a:ln/>
        </p:spPr>
        <p:txBody>
          <a:bodyPr wrap="square" lIns="0" tIns="0" rIns="0" bIns="0" rtlCol="0" anchor="t"/>
          <a:lstStyle/>
          <a:p>
            <a:pPr indent="0" marL="0">
              <a:buNone/>
            </a:pPr>
            <a:r>
              <a:rPr lang="en-US" sz="1700" b="1" dirty="0">
                <a:solidFill>
                  <a:srgbClr val="1E1A18"/>
                </a:solidFill>
                <a:latin typeface="Arial" pitchFamily="34" charset="0"/>
                <a:ea typeface="Arial" pitchFamily="34" charset="-122"/>
                <a:cs typeface="Arial" pitchFamily="34" charset="-120"/>
              </a:rPr>
              <a:t>Îl trimit</a:t>
            </a:r>
            <a:endParaRPr lang="en-US" sz="1700" dirty="0"/>
          </a:p>
        </p:txBody>
      </p:sp>
      <p:sp>
        <p:nvSpPr>
          <p:cNvPr id="13" name="text-127"/>
          <p:cNvSpPr txBox="1"/>
          <p:nvPr/>
        </p:nvSpPr>
        <p:spPr>
          <a:xfrm>
            <a:off x="2697480" y="3063240"/>
            <a:ext cx="1737360" cy="457200"/>
          </a:xfrm>
          <a:prstGeom prst="rect">
            <a:avLst/>
          </a:prstGeom>
          <a:noFill/>
          <a:ln/>
        </p:spPr>
        <p:txBody>
          <a:bodyPr wrap="square" lIns="0" tIns="0" rIns="0" bIns="0" rtlCol="0" anchor="t"/>
          <a:lstStyle/>
          <a:p>
            <a:pPr indent="0" marL="0">
              <a:buNone/>
            </a:pPr>
            <a:r>
              <a:rPr lang="en-US" sz="1250" dirty="0">
                <a:solidFill>
                  <a:srgbClr val="4A3F3A"/>
                </a:solidFill>
                <a:latin typeface="Arial" pitchFamily="34" charset="0"/>
                <a:ea typeface="Arial" pitchFamily="34" charset="-122"/>
                <a:cs typeface="Arial" pitchFamily="34" charset="-120"/>
              </a:rPr>
              <a:t>unei persoane de încredere</a:t>
            </a:r>
            <a:endParaRPr lang="en-US" sz="1250" dirty="0"/>
          </a:p>
        </p:txBody>
      </p:sp>
      <p:sp>
        <p:nvSpPr>
          <p:cNvPr id="14" name="card-128"/>
          <p:cNvSpPr/>
          <p:nvPr/>
        </p:nvSpPr>
        <p:spPr>
          <a:xfrm>
            <a:off x="4663440" y="1783080"/>
            <a:ext cx="1965960" cy="2194560"/>
          </a:xfrm>
          <a:prstGeom prst="roundRect">
            <a:avLst>
              <a:gd name="adj" fmla="val 4651"/>
            </a:avLst>
          </a:prstGeom>
          <a:solidFill>
            <a:srgbClr val="F6EEE9"/>
          </a:solidFill>
          <a:ln w="12700">
            <a:solidFill>
              <a:srgbClr val="E2D3CA"/>
            </a:solidFill>
            <a:prstDash val="solid"/>
          </a:ln>
        </p:spPr>
      </p:sp>
      <p:sp>
        <p:nvSpPr>
          <p:cNvPr id="15" name="text-129"/>
          <p:cNvSpPr txBox="1"/>
          <p:nvPr/>
        </p:nvSpPr>
        <p:spPr>
          <a:xfrm>
            <a:off x="4800600" y="1874520"/>
            <a:ext cx="457200" cy="411480"/>
          </a:xfrm>
          <a:prstGeom prst="rect">
            <a:avLst/>
          </a:prstGeom>
          <a:noFill/>
          <a:ln/>
        </p:spPr>
        <p:txBody>
          <a:bodyPr wrap="square" lIns="0" tIns="0" rIns="0" bIns="0" rtlCol="0" anchor="t"/>
          <a:lstStyle/>
          <a:p>
            <a:pPr indent="0" marL="0">
              <a:buNone/>
            </a:pPr>
            <a:r>
              <a:rPr lang="en-US" sz="2200" b="1" dirty="0">
                <a:solidFill>
                  <a:srgbClr val="9A4F5C"/>
                </a:solidFill>
                <a:latin typeface="Arial" pitchFamily="34" charset="0"/>
                <a:ea typeface="Arial" pitchFamily="34" charset="-122"/>
                <a:cs typeface="Arial" pitchFamily="34" charset="-120"/>
              </a:rPr>
              <a:t>3</a:t>
            </a:r>
            <a:endParaRPr lang="en-US" sz="2200" dirty="0"/>
          </a:p>
        </p:txBody>
      </p:sp>
      <p:sp>
        <p:nvSpPr>
          <p:cNvPr id="16" name="text-130"/>
          <p:cNvSpPr txBox="1"/>
          <p:nvPr/>
        </p:nvSpPr>
        <p:spPr>
          <a:xfrm>
            <a:off x="4800600" y="2286000"/>
            <a:ext cx="1737360" cy="365760"/>
          </a:xfrm>
          <a:prstGeom prst="rect">
            <a:avLst/>
          </a:prstGeom>
          <a:noFill/>
          <a:ln/>
        </p:spPr>
        <p:txBody>
          <a:bodyPr wrap="square" lIns="0" tIns="0" rIns="0" bIns="0" rtlCol="0" anchor="t"/>
          <a:lstStyle/>
          <a:p>
            <a:pPr indent="0" marL="0">
              <a:buNone/>
            </a:pPr>
            <a:r>
              <a:rPr lang="en-US" sz="1700" b="1" dirty="0">
                <a:solidFill>
                  <a:srgbClr val="1E1A18"/>
                </a:solidFill>
                <a:latin typeface="Arial" pitchFamily="34" charset="0"/>
                <a:ea typeface="Arial" pitchFamily="34" charset="-122"/>
                <a:cs typeface="Arial" pitchFamily="34" charset="-120"/>
              </a:rPr>
              <a:t>Story</a:t>
            </a:r>
            <a:endParaRPr lang="en-US" sz="1700" dirty="0"/>
          </a:p>
        </p:txBody>
      </p:sp>
      <p:sp>
        <p:nvSpPr>
          <p:cNvPr id="17" name="text-131"/>
          <p:cNvSpPr txBox="1"/>
          <p:nvPr/>
        </p:nvSpPr>
        <p:spPr>
          <a:xfrm>
            <a:off x="4800600" y="2651760"/>
            <a:ext cx="1737360" cy="457200"/>
          </a:xfrm>
          <a:prstGeom prst="rect">
            <a:avLst/>
          </a:prstGeom>
          <a:noFill/>
          <a:ln/>
        </p:spPr>
        <p:txBody>
          <a:bodyPr wrap="square" lIns="0" tIns="0" rIns="0" bIns="0" rtlCol="0" anchor="t"/>
          <a:lstStyle/>
          <a:p>
            <a:pPr indent="0" marL="0">
              <a:buNone/>
            </a:pPr>
            <a:r>
              <a:rPr lang="en-US" sz="1250" dirty="0">
                <a:solidFill>
                  <a:srgbClr val="4A3F3A"/>
                </a:solidFill>
                <a:latin typeface="Arial" pitchFamily="34" charset="0"/>
                <a:ea typeface="Arial" pitchFamily="34" charset="-122"/>
                <a:cs typeface="Arial" pitchFamily="34" charset="-120"/>
              </a:rPr>
              <a:t>doar „Prieteni apropiați”</a:t>
            </a:r>
            <a:endParaRPr lang="en-US" sz="1250" dirty="0"/>
          </a:p>
        </p:txBody>
      </p:sp>
      <p:sp>
        <p:nvSpPr>
          <p:cNvPr id="18" name="card-132"/>
          <p:cNvSpPr/>
          <p:nvPr/>
        </p:nvSpPr>
        <p:spPr>
          <a:xfrm>
            <a:off x="6766560" y="1371600"/>
            <a:ext cx="1965960" cy="2606040"/>
          </a:xfrm>
          <a:prstGeom prst="roundRect">
            <a:avLst>
              <a:gd name="adj" fmla="val 4651"/>
            </a:avLst>
          </a:prstGeom>
          <a:solidFill>
            <a:srgbClr val="9A4F5C"/>
          </a:solidFill>
          <a:ln w="12700">
            <a:solidFill>
              <a:srgbClr val="9A4F5C"/>
            </a:solidFill>
            <a:prstDash val="solid"/>
          </a:ln>
        </p:spPr>
      </p:sp>
      <p:sp>
        <p:nvSpPr>
          <p:cNvPr id="19" name="text-133"/>
          <p:cNvSpPr txBox="1"/>
          <p:nvPr/>
        </p:nvSpPr>
        <p:spPr>
          <a:xfrm>
            <a:off x="6903720" y="1463040"/>
            <a:ext cx="457200" cy="41148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0" name="text-134"/>
          <p:cNvSpPr txBox="1"/>
          <p:nvPr/>
        </p:nvSpPr>
        <p:spPr>
          <a:xfrm>
            <a:off x="6903720" y="1874520"/>
            <a:ext cx="17373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Îl postez</a:t>
            </a:r>
            <a:endParaRPr lang="en-US" sz="1700" dirty="0"/>
          </a:p>
        </p:txBody>
      </p:sp>
      <p:sp>
        <p:nvSpPr>
          <p:cNvPr id="21" name="text-135"/>
          <p:cNvSpPr txBox="1"/>
          <p:nvPr/>
        </p:nvSpPr>
        <p:spPr>
          <a:xfrm>
            <a:off x="6903720" y="2240280"/>
            <a:ext cx="1737360" cy="45720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#BlondeAmbitionFirstTake</a:t>
            </a:r>
            <a:endParaRPr lang="en-US" sz="1050" dirty="0"/>
          </a:p>
        </p:txBody>
      </p:sp>
      <p:sp>
        <p:nvSpPr>
          <p:cNvPr id="22" name="text-136"/>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700" dirty="0">
                <a:solidFill>
                  <a:srgbClr val="1E1A18"/>
                </a:solidFill>
                <a:latin typeface="Arial" pitchFamily="34" charset="0"/>
                <a:ea typeface="Arial" pitchFamily="34" charset="-122"/>
                <a:cs typeface="Arial" pitchFamily="34" charset="-120"/>
              </a:rPr>
              <a:t>Plan: </a:t>
            </a:r>
            <a:r>
              <a:rPr lang="en-US" sz="1700" b="1" dirty="0">
                <a:solidFill>
                  <a:srgbClr val="1E1A18"/>
                </a:solidFill>
                <a:latin typeface="Arial" pitchFamily="34" charset="0"/>
                <a:ea typeface="Arial" pitchFamily="34" charset="-122"/>
                <a:cs typeface="Arial" pitchFamily="34" charset="-120"/>
              </a:rPr>
              <a:t>„Dacă diseară deschid Instagramul, atunci urc o treaptă.”</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EE9"/>
        </a:solidFill>
      </p:bgPr>
    </p:bg>
    <p:spTree>
      <p:nvGrpSpPr>
        <p:cNvPr id="1" name=""/>
        <p:cNvGrpSpPr/>
        <p:nvPr/>
      </p:nvGrpSpPr>
      <p:grpSpPr>
        <a:xfrm>
          <a:off x="0" y="0"/>
          <a:ext cx="0" cy="0"/>
          <a:chOff x="0" y="0"/>
          <a:chExt cx="0" cy="0"/>
        </a:xfrm>
      </p:grpSpPr>
      <p:sp>
        <p:nvSpPr>
          <p:cNvPr id="2" name="text-137"/>
          <p:cNvSpPr txBox="1"/>
          <p:nvPr/>
        </p:nvSpPr>
        <p:spPr>
          <a:xfrm>
            <a:off x="640080" y="411480"/>
            <a:ext cx="7863840" cy="274320"/>
          </a:xfrm>
          <a:prstGeom prst="rect">
            <a:avLst/>
          </a:prstGeom>
          <a:noFill/>
          <a:ln/>
        </p:spPr>
        <p:txBody>
          <a:bodyPr wrap="square" lIns="0" tIns="0" rIns="0" bIns="0" rtlCol="0" anchor="t"/>
          <a:lstStyle/>
          <a:p>
            <a:pPr indent="0" marL="0">
              <a:buNone/>
            </a:pPr>
            <a:r>
              <a:rPr lang="en-US" sz="1300" b="1" spc="200" kern="0" dirty="0">
                <a:solidFill>
                  <a:srgbClr val="9A4F5C"/>
                </a:solidFill>
                <a:latin typeface="Arial" pitchFamily="34" charset="0"/>
                <a:ea typeface="Arial" pitchFamily="34" charset="-122"/>
                <a:cs typeface="Arial" pitchFamily="34" charset="-120"/>
              </a:rPr>
              <a:t>ÎNCHEIERE</a:t>
            </a:r>
            <a:endParaRPr lang="en-US" sz="1300" dirty="0"/>
          </a:p>
        </p:txBody>
      </p:sp>
      <p:sp>
        <p:nvSpPr>
          <p:cNvPr id="3" name="text-138"/>
          <p:cNvSpPr txBox="1"/>
          <p:nvPr/>
        </p:nvSpPr>
        <p:spPr>
          <a:xfrm>
            <a:off x="640080" y="777240"/>
            <a:ext cx="7863840" cy="1051560"/>
          </a:xfrm>
          <a:prstGeom prst="rect">
            <a:avLst/>
          </a:prstGeom>
          <a:noFill/>
          <a:ln/>
        </p:spPr>
        <p:txBody>
          <a:bodyPr wrap="square" lIns="0" tIns="0" rIns="0" bIns="0" rtlCol="0" anchor="ctr"/>
          <a:lstStyle/>
          <a:p>
            <a:pPr indent="0" marL="0">
              <a:buNone/>
            </a:pPr>
            <a:r>
              <a:rPr lang="en-US" sz="2800" b="1" dirty="0">
                <a:solidFill>
                  <a:srgbClr val="1E1A18"/>
                </a:solidFill>
                <a:latin typeface="Arial" pitchFamily="34" charset="0"/>
                <a:ea typeface="Arial" pitchFamily="34" charset="-122"/>
                <a:cs typeface="Arial" pitchFamily="34" charset="-120"/>
              </a:rPr>
              <a:t>Prezența pe cameră se construiește ca un blond frumos: în straturi, cu răbdare.</a:t>
            </a:r>
            <a:endParaRPr lang="en-US" sz="2800" dirty="0"/>
          </a:p>
        </p:txBody>
      </p:sp>
      <p:sp>
        <p:nvSpPr>
          <p:cNvPr id="4" name="card-139"/>
          <p:cNvSpPr/>
          <p:nvPr/>
        </p:nvSpPr>
        <p:spPr>
          <a:xfrm>
            <a:off x="640080" y="2057400"/>
            <a:ext cx="2514600" cy="1005840"/>
          </a:xfrm>
          <a:prstGeom prst="roundRect">
            <a:avLst>
              <a:gd name="adj" fmla="val 9091"/>
            </a:avLst>
          </a:prstGeom>
          <a:solidFill>
            <a:srgbClr val="FFFFFF"/>
          </a:solidFill>
          <a:ln w="12700">
            <a:solidFill>
              <a:srgbClr val="E2D3CA"/>
            </a:solidFill>
            <a:prstDash val="solid"/>
          </a:ln>
        </p:spPr>
      </p:sp>
      <p:sp>
        <p:nvSpPr>
          <p:cNvPr id="5" name="text-140"/>
          <p:cNvSpPr txBox="1"/>
          <p:nvPr/>
        </p:nvSpPr>
        <p:spPr>
          <a:xfrm>
            <a:off x="822960" y="2130552"/>
            <a:ext cx="2194560" cy="365760"/>
          </a:xfrm>
          <a:prstGeom prst="rect">
            <a:avLst/>
          </a:prstGeom>
          <a:noFill/>
          <a:ln/>
        </p:spPr>
        <p:txBody>
          <a:bodyPr wrap="square" lIns="0" tIns="0" rIns="0" bIns="0" rtlCol="0" anchor="t"/>
          <a:lstStyle/>
          <a:p>
            <a:pPr indent="0" marL="0">
              <a:buNone/>
            </a:pPr>
            <a:r>
              <a:rPr lang="en-US" sz="1500" b="1" dirty="0">
                <a:solidFill>
                  <a:srgbClr val="9A4F5C"/>
                </a:solidFill>
                <a:latin typeface="Arial" pitchFamily="34" charset="0"/>
                <a:ea typeface="Arial" pitchFamily="34" charset="-122"/>
                <a:cs typeface="Arial" pitchFamily="34" charset="-120"/>
              </a:rPr>
              <a:t>Săptămâna asta</a:t>
            </a:r>
            <a:endParaRPr lang="en-US" sz="1500" dirty="0"/>
          </a:p>
        </p:txBody>
      </p:sp>
      <p:sp>
        <p:nvSpPr>
          <p:cNvPr id="6" name="text-141"/>
          <p:cNvSpPr txBox="1"/>
          <p:nvPr/>
        </p:nvSpPr>
        <p:spPr>
          <a:xfrm>
            <a:off x="822960" y="2514600"/>
            <a:ext cx="2194560" cy="457200"/>
          </a:xfrm>
          <a:prstGeom prst="rect">
            <a:avLst/>
          </a:prstGeom>
          <a:noFill/>
          <a:ln/>
        </p:spPr>
        <p:txBody>
          <a:bodyPr wrap="square" lIns="0" tIns="0" rIns="0" bIns="0" rtlCol="0" anchor="t"/>
          <a:lstStyle/>
          <a:p>
            <a:pPr indent="0" marL="0">
              <a:buNone/>
            </a:pPr>
            <a:r>
              <a:rPr lang="en-US" sz="1700" dirty="0">
                <a:solidFill>
                  <a:srgbClr val="1E1A18"/>
                </a:solidFill>
                <a:latin typeface="Arial" pitchFamily="34" charset="0"/>
                <a:ea typeface="Arial" pitchFamily="34" charset="-122"/>
                <a:cs typeface="Arial" pitchFamily="34" charset="-120"/>
              </a:rPr>
              <a:t>încă un clip de 5 sec.</a:t>
            </a:r>
            <a:endParaRPr lang="en-US" sz="1700" dirty="0"/>
          </a:p>
        </p:txBody>
      </p:sp>
      <p:sp>
        <p:nvSpPr>
          <p:cNvPr id="7" name="card-142"/>
          <p:cNvSpPr/>
          <p:nvPr/>
        </p:nvSpPr>
        <p:spPr>
          <a:xfrm>
            <a:off x="3337560" y="2057400"/>
            <a:ext cx="2514600" cy="1005840"/>
          </a:xfrm>
          <a:prstGeom prst="roundRect">
            <a:avLst>
              <a:gd name="adj" fmla="val 9091"/>
            </a:avLst>
          </a:prstGeom>
          <a:solidFill>
            <a:srgbClr val="FFFFFF"/>
          </a:solidFill>
          <a:ln w="12700">
            <a:solidFill>
              <a:srgbClr val="E2D3CA"/>
            </a:solidFill>
            <a:prstDash val="solid"/>
          </a:ln>
        </p:spPr>
      </p:sp>
      <p:sp>
        <p:nvSpPr>
          <p:cNvPr id="8" name="text-143"/>
          <p:cNvSpPr txBox="1"/>
          <p:nvPr/>
        </p:nvSpPr>
        <p:spPr>
          <a:xfrm>
            <a:off x="3520440" y="2130552"/>
            <a:ext cx="2194560" cy="365760"/>
          </a:xfrm>
          <a:prstGeom prst="rect">
            <a:avLst/>
          </a:prstGeom>
          <a:noFill/>
          <a:ln/>
        </p:spPr>
        <p:txBody>
          <a:bodyPr wrap="square" lIns="0" tIns="0" rIns="0" bIns="0" rtlCol="0" anchor="t"/>
          <a:lstStyle/>
          <a:p>
            <a:pPr indent="0" marL="0">
              <a:buNone/>
            </a:pPr>
            <a:r>
              <a:rPr lang="en-US" sz="1500" b="1" dirty="0">
                <a:solidFill>
                  <a:srgbClr val="9A4F5C"/>
                </a:solidFill>
                <a:latin typeface="Arial" pitchFamily="34" charset="0"/>
                <a:ea typeface="Arial" pitchFamily="34" charset="-122"/>
                <a:cs typeface="Arial" pitchFamily="34" charset="-120"/>
              </a:rPr>
              <a:t>Săptămâna viitoare</a:t>
            </a:r>
            <a:endParaRPr lang="en-US" sz="1500" dirty="0"/>
          </a:p>
        </p:txBody>
      </p:sp>
      <p:sp>
        <p:nvSpPr>
          <p:cNvPr id="9" name="text-144"/>
          <p:cNvSpPr txBox="1"/>
          <p:nvPr/>
        </p:nvSpPr>
        <p:spPr>
          <a:xfrm>
            <a:off x="3520440" y="2514600"/>
            <a:ext cx="2194560" cy="457200"/>
          </a:xfrm>
          <a:prstGeom prst="rect">
            <a:avLst/>
          </a:prstGeom>
          <a:noFill/>
          <a:ln/>
        </p:spPr>
        <p:txBody>
          <a:bodyPr wrap="square" lIns="0" tIns="0" rIns="0" bIns="0" rtlCol="0" anchor="t"/>
          <a:lstStyle/>
          <a:p>
            <a:pPr indent="0" marL="0">
              <a:buNone/>
            </a:pPr>
            <a:r>
              <a:rPr lang="en-US" sz="1700" dirty="0">
                <a:solidFill>
                  <a:srgbClr val="1E1A18"/>
                </a:solidFill>
                <a:latin typeface="Arial" pitchFamily="34" charset="0"/>
                <a:ea typeface="Arial" pitchFamily="34" charset="-122"/>
                <a:cs typeface="Arial" pitchFamily="34" charset="-120"/>
              </a:rPr>
              <a:t>10 secunde</a:t>
            </a:r>
            <a:endParaRPr lang="en-US" sz="1700" dirty="0"/>
          </a:p>
        </p:txBody>
      </p:sp>
      <p:sp>
        <p:nvSpPr>
          <p:cNvPr id="10" name="card-145"/>
          <p:cNvSpPr/>
          <p:nvPr/>
        </p:nvSpPr>
        <p:spPr>
          <a:xfrm>
            <a:off x="6035040" y="2057400"/>
            <a:ext cx="2514600" cy="1005840"/>
          </a:xfrm>
          <a:prstGeom prst="roundRect">
            <a:avLst>
              <a:gd name="adj" fmla="val 9091"/>
            </a:avLst>
          </a:prstGeom>
          <a:solidFill>
            <a:srgbClr val="FFFFFF"/>
          </a:solidFill>
          <a:ln w="12700">
            <a:solidFill>
              <a:srgbClr val="E2D3CA"/>
            </a:solidFill>
            <a:prstDash val="solid"/>
          </a:ln>
        </p:spPr>
      </p:sp>
      <p:sp>
        <p:nvSpPr>
          <p:cNvPr id="11" name="text-146"/>
          <p:cNvSpPr txBox="1"/>
          <p:nvPr/>
        </p:nvSpPr>
        <p:spPr>
          <a:xfrm>
            <a:off x="6217920" y="2130552"/>
            <a:ext cx="2194560" cy="365760"/>
          </a:xfrm>
          <a:prstGeom prst="rect">
            <a:avLst/>
          </a:prstGeom>
          <a:noFill/>
          <a:ln/>
        </p:spPr>
        <p:txBody>
          <a:bodyPr wrap="square" lIns="0" tIns="0" rIns="0" bIns="0" rtlCol="0" anchor="t"/>
          <a:lstStyle/>
          <a:p>
            <a:pPr indent="0" marL="0">
              <a:buNone/>
            </a:pPr>
            <a:r>
              <a:rPr lang="en-US" sz="1500" b="1" dirty="0">
                <a:solidFill>
                  <a:srgbClr val="9A4F5C"/>
                </a:solidFill>
                <a:latin typeface="Arial" pitchFamily="34" charset="0"/>
                <a:ea typeface="Arial" pitchFamily="34" charset="-122"/>
                <a:cs typeface="Arial" pitchFamily="34" charset="-120"/>
              </a:rPr>
              <a:t>Bonus</a:t>
            </a:r>
            <a:endParaRPr lang="en-US" sz="1500" dirty="0"/>
          </a:p>
        </p:txBody>
      </p:sp>
      <p:sp>
        <p:nvSpPr>
          <p:cNvPr id="12" name="text-147"/>
          <p:cNvSpPr txBox="1"/>
          <p:nvPr/>
        </p:nvSpPr>
        <p:spPr>
          <a:xfrm>
            <a:off x="6217920" y="2514600"/>
            <a:ext cx="2194560" cy="457200"/>
          </a:xfrm>
          <a:prstGeom prst="rect">
            <a:avLst/>
          </a:prstGeom>
          <a:noFill/>
          <a:ln/>
        </p:spPr>
        <p:txBody>
          <a:bodyPr wrap="square" lIns="0" tIns="0" rIns="0" bIns="0" rtlCol="0" anchor="t"/>
          <a:lstStyle/>
          <a:p>
            <a:pPr indent="0" marL="0">
              <a:buNone/>
            </a:pPr>
            <a:r>
              <a:rPr lang="en-US" sz="1700" dirty="0">
                <a:solidFill>
                  <a:srgbClr val="1E1A18"/>
                </a:solidFill>
                <a:latin typeface="Arial" pitchFamily="34" charset="0"/>
                <a:ea typeface="Arial" pitchFamily="34" charset="-122"/>
                <a:cs typeface="Arial" pitchFamily="34" charset="-120"/>
              </a:rPr>
              <a:t>7 zile · 7 clipuri</a:t>
            </a:r>
            <a:endParaRPr lang="en-US" sz="1700" dirty="0"/>
          </a:p>
        </p:txBody>
      </p:sp>
      <p:sp>
        <p:nvSpPr>
          <p:cNvPr id="13" name="text-148"/>
          <p:cNvSpPr txBox="1"/>
          <p:nvPr/>
        </p:nvSpPr>
        <p:spPr>
          <a:xfrm>
            <a:off x="640080" y="3246120"/>
            <a:ext cx="7863840" cy="685800"/>
          </a:xfrm>
          <a:prstGeom prst="rect">
            <a:avLst/>
          </a:prstGeom>
          <a:noFill/>
          <a:ln/>
        </p:spPr>
        <p:txBody>
          <a:bodyPr wrap="square" lIns="0" tIns="0" rIns="0" bIns="0" rtlCol="0" anchor="ctr"/>
          <a:lstStyle/>
          <a:p>
            <a:pPr indent="0" marL="0">
              <a:buNone/>
            </a:pPr>
            <a:r>
              <a:rPr lang="en-US" sz="1800" b="1" dirty="0">
                <a:solidFill>
                  <a:srgbClr val="1E1A18"/>
                </a:solidFill>
                <a:latin typeface="Arial" pitchFamily="34" charset="0"/>
                <a:ea typeface="Arial" pitchFamily="34" charset="-122"/>
                <a:cs typeface="Arial" pitchFamily="34" charset="-120"/>
              </a:rPr>
              <a:t>Clientele nu te urmăresc pentru că ești perfectă în fața camerei. Te urmăresc pentru că ești tu.</a:t>
            </a:r>
            <a:endParaRPr lang="en-US" sz="1800" dirty="0"/>
          </a:p>
        </p:txBody>
      </p:sp>
      <p:sp>
        <p:nvSpPr>
          <p:cNvPr id="14" name="text-149"/>
          <p:cNvSpPr txBox="1"/>
          <p:nvPr/>
        </p:nvSpPr>
        <p:spPr>
          <a:xfrm>
            <a:off x="640080" y="3977640"/>
            <a:ext cx="7863840" cy="685800"/>
          </a:xfrm>
          <a:prstGeom prst="rect">
            <a:avLst/>
          </a:prstGeom>
          <a:noFill/>
          <a:ln/>
        </p:spPr>
        <p:txBody>
          <a:bodyPr wrap="square" lIns="0" tIns="0" rIns="0" bIns="0" rtlCol="0" anchor="ctr"/>
          <a:lstStyle/>
          <a:p>
            <a:pPr indent="0" marL="0">
              <a:buNone/>
            </a:pPr>
            <a:r>
              <a:rPr lang="en-US" sz="1500" i="1" dirty="0">
                <a:solidFill>
                  <a:srgbClr val="4A3F3A"/>
                </a:solidFill>
                <a:latin typeface="Arial" pitchFamily="34" charset="0"/>
                <a:ea typeface="Arial" pitchFamily="34" charset="-122"/>
                <a:cs typeface="Arial" pitchFamily="34" charset="-120"/>
              </a:rPr>
              <a:t>„Camera e ca o clientă nouă: la început îți e frică de ea, după a treia programare îți spune cu ce se ocupă soacra.”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 secunde de blond – BLONDE AMBITION</dc:title>
  <dc:subject>PptxGenJS Presentation</dc:subject>
  <dc:creator>Diana Avram</dc:creator>
  <cp:lastModifiedBy>Diana Avram</cp:lastModifiedBy>
  <cp:revision>1</cp:revision>
  <dcterms:created xsi:type="dcterms:W3CDTF">2026-11-01T10:21:08Z</dcterms:created>
  <dcterms:modified xsi:type="dcterms:W3CDTF">2026-11-01T10:21:08Z</dcterms:modified>
</cp:coreProperties>
</file>