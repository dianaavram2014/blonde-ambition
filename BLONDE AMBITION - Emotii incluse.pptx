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moții incluse" id="{33f184e0-3462-35d7-96ff-27fb49c6f8e0}">
          <p14:sldIdLst/>
        </p14:section>
        <p14:section name="Default-1" id="{4511e9e9-96d0-b2ed-5c0b-6b52b0f38447}">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DURATĂ TOTALĂ: maximum 10 minute.
CONCEPTUL: în salon, prețul spune ce primește clienta. Aici, „lista de prețuri a curajului": Serviciu: 1 video · Durată: 5 secunde · Emoții: incluse în preț.
Nu încercăm să scăpăm de emoții înainte de filmare. Le lăsăm să vină cu noi, cum vine clienta cu poza de pe Pinterest: le recunoaștem și lucrăm cu ele.
MINUTAJ
0:00–0:45 speech de introducere (slide 2)
0:45–2:00 „Cel mai prost video al zilei" (slide 3)
2:00–2:45 aleg fraza și nivelul (slide-urile 4–5)
2:45–3:00 trucul de 10 secunde (slide 6)
3:00–6:30 filmarea – nivelurile 1 și 2 simultan, pe muzică de fundal
6:30–8:00 nivelul 3, doar voluntar
8:00–9:30 postarea opțională (slide 7)
9:30–10:00 încheierea (slide 8)
CE NU PROMITEM: că timiditatea dispare. Promitem doar că primul pas e mai mic decât pare, iar al doilea va fi puțin mai ușor.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SPEECH-UL DE INTRODUCERE (≈ 40 de secunde):
„Am o întrebare serioasă: cine a aplicat vreodată decolorant pe un păr care fusese vopsit negru acasă, de trei ori, «cu ceva natural»? (pauză, râsete)
Exact. Ați făcut lucruri mult mai curajoase decât un video de 5 secunde.
Vreau să vă spun ceva care contează: emoțiile din fața camerei nu sunt un semn că nu sunteți făcute pentru asta. Sunt semnul că vă pasă de ce spuneți.
Azi nu așteptăm să plece emoțiile. Nu pleacă la comandă. Azi le luăm cu noi.
Preț final: un video, cinci secunde. Emoții incluse. Nu trebuie să fie perfect. Trebuie doar să fie al vostru."
PSIHOLOGIA DIN SPATE: acceptare în loc de control (Acceptance and Commitment Therapy, Hayes) – nu așteptăm să dispară emoția, acționăm alături de ea. Normalizarea emoțiilor: le spui deschis că sunt normale.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MOMENTUL DE UMOR COLECTIV (min. 0:45–2:00)
1. Spui: „Înainte de video-ul adevărat, facem împreună cel mai prost video al zilei. Toată lumea, în același timp. Scopul e să fie groaznic."
2. La semnalul tău, toată sala filmează simultan 3 secunde de „eșec intenționat". De exemplu: „Bună… ăăă… unde se apasă?", o privire panicată în cameră sau o frază începută și abandonată.
3. Apoi: „Și acum, ceremonia oficială: la 3, ștergem toți odată. Unu, doi, trei… adio!"
DE CE FUNCȚIONEAZĂ
• Toată lumea face aceeași greșeală, în același timp – nimeni nu e ținta glumei. Se râde împreună, nu de cineva.
• Ai dat voie sălii să fie imperfectă. Pentru perfecționiști, presiunea scade: cel mai prost video posibil s-a filmat deja.
• Toată lumea a filmat deja o dată. Bariera primei apăsări pe buton a căzut.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NIVELURI DE CONFORT – le spui: „Alegeți nivelul care vă provoacă puțin, dar nu vă blochează. Toate trei sunt reușite."
🟢 NIVELUL 1 – Doar eu și camera: te filmezi singur, fără public (colț, hol, cu spatele la sală).
🟡 NIVELUL 2 – Un martor de încredere: te filmezi în fața unei colege alese de tine. Colega are o singură regulă: zâmbește și tace. Fără sfaturi, fără „mai fă o dată".
🔴 NIVELUL 3 – Scena: cine dorește se filmează în fața grupului. „Dacă vrea cineva, scena e a voastră. Dacă nu vrea nimeni, e la fel de bine." După fiecare voluntar: aplauze pentru curaj, nu pentru „performanță".
REGULI PENTRU TOATĂ LUMEA
• Nimeni nu e obligat să participe. Poți și doar să observi azi și să filmezi acasă.
• Nimeni nu arată filmarea dacă nu vrea. Se poate șterge oricând.
• Nimeni nu e obligat să posteze.
• Ca trainer: nu chemi pe nimeni pe nume, nu comentezi vocea, aspectul sau accentul și nu faci clasamente.
PSIHOLOGIE: expunere graduală + autonomie (teoria autodeterminării, Deci &amp; Ryan). Filmarea simultană, pe muzică, reduce efectul reflectorului (Gilovich): impresia că toată lumea se uită la 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FRAZELE (fiecare sub 5 secunde). Lasă slide-ul pe ecran în timpul filmării.
BONUS, dacă le vrei:
• „Am emoții. Și filmez oricum."
• „Programările pentru blond sunt deschise. Curajul l-am adus de acasă."
Cursanții pot alege oricare frază, o pot adapta sau pot spune una a lor, dacă încape în 5 secunde.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TRUCUL DE 10 SECUNDE – cu toată sala odată, înainte de filmare:
1. NUMEȘTE EMOȚIA (3 secunde), în gând sau în șoaptă: „Am emoții. Și filmez oricum."
2. RESPIRĂ (7 secunde): o inspirație pe nas, apoi o expirație lentă, mai lungă decât inspirația, pe gură.
CE LE SPUI: „Nu e un buton care oprește emoțiile. E o pauză scurtă, care vă ajută să le țineți pe scaunul din spate în timp ce voi conduceți."
DE CE ARE SENS
• Numirea emoției: studiile despre etichetarea afectelor (Lieberman) arată că a pune emoția în cuvinte poate reduce intensitatea reacției.
• Expirația lungă poate ajuta corpul să se liniștească puțin.
Nicio promisiune că tracul dispare – doar că devine mai ușor de gestionat.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POSTAREA (min. 8:00–9:30). Ideea: primul video nu trebuie să pară profesionist, trebuie să pară adevărat – iar ce e adevărat se poate scrie direct în descriere.
DE CE FUNCȚIONEAZĂ
• Efectul „pratfall" (Aronson): o persoană competentă care își arată o mică vulnerabilitate tinde să devină mai simpatică, nu mai puțin credibilă. Clientele nu caută perfecțiune, caută un om de încredere.
• Captionul spune deja ce ar fi putut gândi cineva („se vede că are emoții"), așa că teama de judecată scade.
PROMISIUNEA TA: „Cine mă etichetează primește de la mine un comentariu de susținere. Fără critici, doar aplauze."
FRAZA DE FINAL PENTRU PARTEA ASTA: „Nu postezi pentru algoritm. Postezi pentru tine, cea de peste un an, care o să-ți mulțumească că ai început azi."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SPEECH-UL DE ÎNCHEIERE (≈ 20 de secunde):
„Azi ați făcut ceva ce evitați de mult: ați apăsat «record» cu emoții cu tot.
Emoțiile n-au plecat. Și totuși, video-ul există.
Asta e toată lecția: nu trebuie să scapi de emoții ca să începi. Trebuie să începi ca să înveți să lucrezi cu ele.
Și dacă vreodată vă e frică de cameră, amintiți-vă: ați supraviețuit clientelor care spun «vreau doar puțin mai deschis». Camera e floare la ureche."
PRINCIPIILE FOLOSITE ÎN EXERCIȚIU (rezumat):
• Acceptare în loc de control (ACT, Hayes) – „Emoții incluse".
• Expunere graduală – cele trei niveluri.
• Autoeficacitate (Bandura) – reușita mică și sigură, exemplul voluntarilor, încurajarea ta.
• Reducerea perfecționismului – „Cel mai prost video al zilei".
• Etichetarea afectelor (Lieberman) – „Numește și respiră".
• Efectul reflectorului (Gilovich) – filmare simultană, pe muzică.
• Autonomie (Deci &amp; Ryan) – alegerea frazei, a nivelului și a postării.
• Efectul „pratfall" (Aronson) – captionul 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EE9"/>
        </a:solidFill>
      </p:bgPr>
    </p:bg>
    <p:spTree>
      <p:nvGrpSpPr>
        <p:cNvPr id="1" name=""/>
        <p:cNvGrpSpPr/>
        <p:nvPr/>
      </p:nvGrpSpPr>
      <p:grpSpPr>
        <a:xfrm>
          <a:off x="0" y="0"/>
          <a:ext cx="0" cy="0"/>
          <a:chOff x="0" y="0"/>
          <a:chExt cx="0" cy="0"/>
        </a:xfrm>
      </p:grpSpPr>
      <p:sp>
        <p:nvSpPr>
          <p:cNvPr id="2" name="text-1"/>
          <p:cNvSpPr txBox="1"/>
          <p:nvPr/>
        </p:nvSpPr>
        <p:spPr>
          <a:xfrm>
            <a:off x="640080" y="685800"/>
            <a:ext cx="7863840" cy="320040"/>
          </a:xfrm>
          <a:prstGeom prst="rect">
            <a:avLst/>
          </a:prstGeom>
          <a:noFill/>
          <a:ln/>
        </p:spPr>
        <p:txBody>
          <a:bodyPr wrap="square" lIns="0" tIns="0" rIns="0" bIns="0" rtlCol="0" anchor="t"/>
          <a:lstStyle/>
          <a:p>
            <a:pPr indent="0" marL="0">
              <a:buNone/>
            </a:pPr>
            <a:r>
              <a:rPr lang="en-US" sz="1400" b="1" spc="200" kern="0" dirty="0">
                <a:solidFill>
                  <a:srgbClr val="9A4F5C"/>
                </a:solidFill>
                <a:latin typeface="Arial" pitchFamily="34" charset="0"/>
                <a:ea typeface="Arial" pitchFamily="34" charset="-122"/>
                <a:cs typeface="Arial" pitchFamily="34" charset="-120"/>
              </a:rPr>
              <a:t>THE 5-SECOND COURAGE CHALLENGE</a:t>
            </a:r>
            <a:endParaRPr lang="en-US" sz="1400" dirty="0"/>
          </a:p>
        </p:txBody>
      </p:sp>
      <p:sp>
        <p:nvSpPr>
          <p:cNvPr id="3" name="text-2"/>
          <p:cNvSpPr txBox="1"/>
          <p:nvPr/>
        </p:nvSpPr>
        <p:spPr>
          <a:xfrm>
            <a:off x="640080" y="1051560"/>
            <a:ext cx="4663440" cy="868680"/>
          </a:xfrm>
          <a:prstGeom prst="rect">
            <a:avLst/>
          </a:prstGeom>
          <a:noFill/>
          <a:ln/>
        </p:spPr>
        <p:txBody>
          <a:bodyPr wrap="square" lIns="0" tIns="0" rIns="0" bIns="0" rtlCol="0" anchor="ctr"/>
          <a:lstStyle/>
          <a:p>
            <a:pPr indent="0" marL="0">
              <a:buNone/>
            </a:pPr>
            <a:r>
              <a:rPr lang="en-US" sz="4200" b="1" dirty="0">
                <a:solidFill>
                  <a:srgbClr val="1E1A18"/>
                </a:solidFill>
                <a:latin typeface="Arial" pitchFamily="34" charset="0"/>
                <a:ea typeface="Arial" pitchFamily="34" charset="-122"/>
                <a:cs typeface="Arial" pitchFamily="34" charset="-120"/>
              </a:rPr>
              <a:t>EMOȚII INCLUSE</a:t>
            </a:r>
            <a:endParaRPr lang="en-US" sz="4200" dirty="0"/>
          </a:p>
        </p:txBody>
      </p:sp>
      <p:sp>
        <p:nvSpPr>
          <p:cNvPr id="4" name="text-3"/>
          <p:cNvSpPr txBox="1"/>
          <p:nvPr/>
        </p:nvSpPr>
        <p:spPr>
          <a:xfrm>
            <a:off x="640080" y="1965960"/>
            <a:ext cx="4754880" cy="457200"/>
          </a:xfrm>
          <a:prstGeom prst="rect">
            <a:avLst/>
          </a:prstGeom>
          <a:noFill/>
          <a:ln/>
        </p:spPr>
        <p:txBody>
          <a:bodyPr wrap="square" lIns="0" tIns="0" rIns="0" bIns="0" rtlCol="0" anchor="t"/>
          <a:lstStyle/>
          <a:p>
            <a:pPr indent="0" marL="0">
              <a:buNone/>
            </a:pPr>
            <a:r>
              <a:rPr lang="en-US" sz="2200" dirty="0">
                <a:solidFill>
                  <a:srgbClr val="4A3F3A"/>
                </a:solidFill>
                <a:latin typeface="Arial" pitchFamily="34" charset="0"/>
                <a:ea typeface="Arial" pitchFamily="34" charset="-122"/>
                <a:cs typeface="Arial" pitchFamily="34" charset="-120"/>
              </a:rPr>
              <a:t>Un video. O frază. Cinci secunde.</a:t>
            </a:r>
            <a:endParaRPr lang="en-US" sz="2200" dirty="0"/>
          </a:p>
        </p:txBody>
      </p:sp>
      <p:sp>
        <p:nvSpPr>
          <p:cNvPr id="5" name="card-4"/>
          <p:cNvSpPr/>
          <p:nvPr/>
        </p:nvSpPr>
        <p:spPr>
          <a:xfrm>
            <a:off x="5577840" y="914400"/>
            <a:ext cx="2926080" cy="2377440"/>
          </a:xfrm>
          <a:prstGeom prst="roundRect">
            <a:avLst>
              <a:gd name="adj" fmla="val 3846"/>
            </a:avLst>
          </a:prstGeom>
          <a:solidFill>
            <a:srgbClr val="FFFFFF"/>
          </a:solidFill>
          <a:ln w="19050">
            <a:solidFill>
              <a:srgbClr val="9A4F5C"/>
            </a:solidFill>
            <a:prstDash val="solid"/>
          </a:ln>
        </p:spPr>
      </p:sp>
      <p:sp>
        <p:nvSpPr>
          <p:cNvPr id="6" name="text-5"/>
          <p:cNvSpPr txBox="1"/>
          <p:nvPr/>
        </p:nvSpPr>
        <p:spPr>
          <a:xfrm>
            <a:off x="5760720" y="1024128"/>
            <a:ext cx="2560320" cy="457200"/>
          </a:xfrm>
          <a:prstGeom prst="rect">
            <a:avLst/>
          </a:prstGeom>
          <a:noFill/>
          <a:ln/>
        </p:spPr>
        <p:txBody>
          <a:bodyPr wrap="square" lIns="0" tIns="0" rIns="0" bIns="0" rtlCol="0" anchor="t"/>
          <a:lstStyle/>
          <a:p>
            <a:pPr indent="0" marL="0">
              <a:buNone/>
            </a:pPr>
            <a:r>
              <a:rPr lang="en-US" sz="1100" b="1" spc="100" kern="0" dirty="0">
                <a:solidFill>
                  <a:srgbClr val="9A4F5C"/>
                </a:solidFill>
                <a:latin typeface="Arial" pitchFamily="34" charset="0"/>
                <a:ea typeface="Arial" pitchFamily="34" charset="-122"/>
                <a:cs typeface="Arial" pitchFamily="34" charset="-120"/>
              </a:rPr>
              <a:t>LISTA DE PREȚURI A CURAJULUI</a:t>
            </a:r>
            <a:endParaRPr lang="en-US" sz="1100" dirty="0"/>
          </a:p>
        </p:txBody>
      </p:sp>
      <p:sp>
        <p:nvSpPr>
          <p:cNvPr id="7" name="text-6"/>
          <p:cNvSpPr txBox="1"/>
          <p:nvPr/>
        </p:nvSpPr>
        <p:spPr>
          <a:xfrm>
            <a:off x="5760720" y="1554480"/>
            <a:ext cx="1097280" cy="411480"/>
          </a:xfrm>
          <a:prstGeom prst="rect">
            <a:avLst/>
          </a:prstGeom>
          <a:noFill/>
          <a:ln/>
        </p:spPr>
        <p:txBody>
          <a:bodyPr wrap="square" lIns="0" tIns="0" rIns="0" bIns="0" rtlCol="0" anchor="ctr"/>
          <a:lstStyle/>
          <a:p>
            <a:pPr indent="0" marL="0">
              <a:buNone/>
            </a:pPr>
            <a:r>
              <a:rPr lang="en-US" sz="1500" dirty="0">
                <a:solidFill>
                  <a:srgbClr val="4A3F3A"/>
                </a:solidFill>
                <a:latin typeface="Arial" pitchFamily="34" charset="0"/>
                <a:ea typeface="Arial" pitchFamily="34" charset="-122"/>
                <a:cs typeface="Arial" pitchFamily="34" charset="-120"/>
              </a:rPr>
              <a:t>Serviciu</a:t>
            </a:r>
            <a:endParaRPr lang="en-US" sz="1500" dirty="0"/>
          </a:p>
        </p:txBody>
      </p:sp>
      <p:sp>
        <p:nvSpPr>
          <p:cNvPr id="8" name="text-7"/>
          <p:cNvSpPr txBox="1"/>
          <p:nvPr/>
        </p:nvSpPr>
        <p:spPr>
          <a:xfrm>
            <a:off x="6812280" y="1554480"/>
            <a:ext cx="1600200" cy="411480"/>
          </a:xfrm>
          <a:prstGeom prst="rect">
            <a:avLst/>
          </a:prstGeom>
          <a:noFill/>
          <a:ln/>
        </p:spPr>
        <p:txBody>
          <a:bodyPr wrap="square" lIns="0" tIns="0" rIns="0" bIns="0" rtlCol="0" anchor="ctr"/>
          <a:lstStyle/>
          <a:p>
            <a:pPr algn="r" indent="0" marL="0">
              <a:buNone/>
            </a:pPr>
            <a:r>
              <a:rPr lang="en-US" sz="1500" b="1" dirty="0">
                <a:solidFill>
                  <a:srgbClr val="1E1A18"/>
                </a:solidFill>
                <a:latin typeface="Arial" pitchFamily="34" charset="0"/>
                <a:ea typeface="Arial" pitchFamily="34" charset="-122"/>
                <a:cs typeface="Arial" pitchFamily="34" charset="-120"/>
              </a:rPr>
              <a:t>1 video</a:t>
            </a:r>
            <a:endParaRPr lang="en-US" sz="1500" dirty="0"/>
          </a:p>
        </p:txBody>
      </p:sp>
      <p:sp>
        <p:nvSpPr>
          <p:cNvPr id="9" name="dots-8"/>
          <p:cNvSpPr/>
          <p:nvPr/>
        </p:nvSpPr>
        <p:spPr>
          <a:xfrm>
            <a:off x="5760720" y="2029968"/>
            <a:ext cx="2651760" cy="0"/>
          </a:xfrm>
          <a:prstGeom prst="line">
            <a:avLst/>
          </a:prstGeom>
          <a:noFill/>
          <a:ln w="12700">
            <a:solidFill>
              <a:srgbClr val="E2D3CA"/>
            </a:solidFill>
            <a:prstDash val="dash"/>
          </a:ln>
        </p:spPr>
      </p:sp>
      <p:sp>
        <p:nvSpPr>
          <p:cNvPr id="10" name="text-9"/>
          <p:cNvSpPr txBox="1"/>
          <p:nvPr/>
        </p:nvSpPr>
        <p:spPr>
          <a:xfrm>
            <a:off x="5760720" y="2103120"/>
            <a:ext cx="1097280" cy="411480"/>
          </a:xfrm>
          <a:prstGeom prst="rect">
            <a:avLst/>
          </a:prstGeom>
          <a:noFill/>
          <a:ln/>
        </p:spPr>
        <p:txBody>
          <a:bodyPr wrap="square" lIns="0" tIns="0" rIns="0" bIns="0" rtlCol="0" anchor="ctr"/>
          <a:lstStyle/>
          <a:p>
            <a:pPr indent="0" marL="0">
              <a:buNone/>
            </a:pPr>
            <a:r>
              <a:rPr lang="en-US" sz="1500" dirty="0">
                <a:solidFill>
                  <a:srgbClr val="4A3F3A"/>
                </a:solidFill>
                <a:latin typeface="Arial" pitchFamily="34" charset="0"/>
                <a:ea typeface="Arial" pitchFamily="34" charset="-122"/>
                <a:cs typeface="Arial" pitchFamily="34" charset="-120"/>
              </a:rPr>
              <a:t>Durată</a:t>
            </a:r>
            <a:endParaRPr lang="en-US" sz="1500" dirty="0"/>
          </a:p>
        </p:txBody>
      </p:sp>
      <p:sp>
        <p:nvSpPr>
          <p:cNvPr id="11" name="text-10"/>
          <p:cNvSpPr txBox="1"/>
          <p:nvPr/>
        </p:nvSpPr>
        <p:spPr>
          <a:xfrm>
            <a:off x="6812280" y="2103120"/>
            <a:ext cx="1600200" cy="411480"/>
          </a:xfrm>
          <a:prstGeom prst="rect">
            <a:avLst/>
          </a:prstGeom>
          <a:noFill/>
          <a:ln/>
        </p:spPr>
        <p:txBody>
          <a:bodyPr wrap="square" lIns="0" tIns="0" rIns="0" bIns="0" rtlCol="0" anchor="ctr"/>
          <a:lstStyle/>
          <a:p>
            <a:pPr algn="r" indent="0" marL="0">
              <a:buNone/>
            </a:pPr>
            <a:r>
              <a:rPr lang="en-US" sz="1500" b="1" dirty="0">
                <a:solidFill>
                  <a:srgbClr val="1E1A18"/>
                </a:solidFill>
                <a:latin typeface="Arial" pitchFamily="34" charset="0"/>
                <a:ea typeface="Arial" pitchFamily="34" charset="-122"/>
                <a:cs typeface="Arial" pitchFamily="34" charset="-120"/>
              </a:rPr>
              <a:t>5 secunde</a:t>
            </a:r>
            <a:endParaRPr lang="en-US" sz="1500" dirty="0"/>
          </a:p>
        </p:txBody>
      </p:sp>
      <p:sp>
        <p:nvSpPr>
          <p:cNvPr id="12" name="dots-11"/>
          <p:cNvSpPr/>
          <p:nvPr/>
        </p:nvSpPr>
        <p:spPr>
          <a:xfrm>
            <a:off x="5760720" y="2578608"/>
            <a:ext cx="2651760" cy="0"/>
          </a:xfrm>
          <a:prstGeom prst="line">
            <a:avLst/>
          </a:prstGeom>
          <a:noFill/>
          <a:ln w="12700">
            <a:solidFill>
              <a:srgbClr val="E2D3CA"/>
            </a:solidFill>
            <a:prstDash val="dash"/>
          </a:ln>
        </p:spPr>
      </p:sp>
      <p:sp>
        <p:nvSpPr>
          <p:cNvPr id="13" name="text-12"/>
          <p:cNvSpPr txBox="1"/>
          <p:nvPr/>
        </p:nvSpPr>
        <p:spPr>
          <a:xfrm>
            <a:off x="5760720" y="2651760"/>
            <a:ext cx="1097280" cy="411480"/>
          </a:xfrm>
          <a:prstGeom prst="rect">
            <a:avLst/>
          </a:prstGeom>
          <a:noFill/>
          <a:ln/>
        </p:spPr>
        <p:txBody>
          <a:bodyPr wrap="square" lIns="0" tIns="0" rIns="0" bIns="0" rtlCol="0" anchor="ctr"/>
          <a:lstStyle/>
          <a:p>
            <a:pPr indent="0" marL="0">
              <a:buNone/>
            </a:pPr>
            <a:r>
              <a:rPr lang="en-US" sz="1500" dirty="0">
                <a:solidFill>
                  <a:srgbClr val="4A3F3A"/>
                </a:solidFill>
                <a:latin typeface="Arial" pitchFamily="34" charset="0"/>
                <a:ea typeface="Arial" pitchFamily="34" charset="-122"/>
                <a:cs typeface="Arial" pitchFamily="34" charset="-120"/>
              </a:rPr>
              <a:t>Emoții</a:t>
            </a:r>
            <a:endParaRPr lang="en-US" sz="1500" dirty="0"/>
          </a:p>
        </p:txBody>
      </p:sp>
      <p:sp>
        <p:nvSpPr>
          <p:cNvPr id="14" name="text-13"/>
          <p:cNvSpPr txBox="1"/>
          <p:nvPr/>
        </p:nvSpPr>
        <p:spPr>
          <a:xfrm>
            <a:off x="6812280" y="2651760"/>
            <a:ext cx="1600200" cy="411480"/>
          </a:xfrm>
          <a:prstGeom prst="rect">
            <a:avLst/>
          </a:prstGeom>
          <a:noFill/>
          <a:ln/>
        </p:spPr>
        <p:txBody>
          <a:bodyPr wrap="square" lIns="0" tIns="0" rIns="0" bIns="0" rtlCol="0" anchor="ctr"/>
          <a:lstStyle/>
          <a:p>
            <a:pPr algn="r" indent="0" marL="0">
              <a:buNone/>
            </a:pPr>
            <a:r>
              <a:rPr lang="en-US" sz="1500" b="1" dirty="0">
                <a:solidFill>
                  <a:srgbClr val="1E1A18"/>
                </a:solidFill>
                <a:latin typeface="Arial" pitchFamily="34" charset="0"/>
                <a:ea typeface="Arial" pitchFamily="34" charset="-122"/>
                <a:cs typeface="Arial" pitchFamily="34" charset="-120"/>
              </a:rPr>
              <a:t>incluse în preț</a:t>
            </a:r>
            <a:endParaRPr lang="en-US" sz="1500" dirty="0"/>
          </a:p>
        </p:txBody>
      </p:sp>
      <p:sp>
        <p:nvSpPr>
          <p:cNvPr id="15" name="text-14"/>
          <p:cNvSpPr txBox="1"/>
          <p:nvPr/>
        </p:nvSpPr>
        <p:spPr>
          <a:xfrm>
            <a:off x="640080" y="3611880"/>
            <a:ext cx="7863840" cy="457200"/>
          </a:xfrm>
          <a:prstGeom prst="rect">
            <a:avLst/>
          </a:prstGeom>
          <a:noFill/>
          <a:ln/>
        </p:spPr>
        <p:txBody>
          <a:bodyPr wrap="square" lIns="0" tIns="0" rIns="0" bIns="0" rtlCol="0" anchor="ctr"/>
          <a:lstStyle/>
          <a:p>
            <a:pPr indent="0" marL="0">
              <a:buNone/>
            </a:pPr>
            <a:r>
              <a:rPr lang="en-US" sz="2000" b="1" i="1" dirty="0">
                <a:solidFill>
                  <a:srgbClr val="9A4F5C"/>
                </a:solidFill>
                <a:latin typeface="Arial" pitchFamily="34" charset="0"/>
                <a:ea typeface="Arial" pitchFamily="34" charset="-122"/>
                <a:cs typeface="Arial" pitchFamily="34" charset="-120"/>
              </a:rPr>
              <a:t>Nu trebuie să fie perfect. Trebuie doar să fie al tău.</a:t>
            </a:r>
            <a:endParaRPr lang="en-US" sz="2000" dirty="0"/>
          </a:p>
        </p:txBody>
      </p:sp>
      <p:sp>
        <p:nvSpPr>
          <p:cNvPr id="16" name="text-15"/>
          <p:cNvSpPr txBox="1"/>
          <p:nvPr/>
        </p:nvSpPr>
        <p:spPr>
          <a:xfrm>
            <a:off x="640080" y="4709160"/>
            <a:ext cx="5486400" cy="228600"/>
          </a:xfrm>
          <a:prstGeom prst="rect">
            <a:avLst/>
          </a:prstGeom>
          <a:noFill/>
          <a:ln/>
        </p:spPr>
        <p:txBody>
          <a:bodyPr wrap="square" lIns="0" tIns="0" rIns="0" bIns="0" rtlCol="0" anchor="t"/>
          <a:lstStyle/>
          <a:p>
            <a:pPr indent="0" marL="0">
              <a:buNone/>
            </a:pPr>
            <a:r>
              <a:rPr lang="en-US" sz="1100" dirty="0">
                <a:solidFill>
                  <a:srgbClr val="4A3F3A"/>
                </a:solidFill>
                <a:latin typeface="Arial" pitchFamily="34" charset="0"/>
                <a:ea typeface="Arial" pitchFamily="34" charset="-122"/>
                <a:cs typeface="Arial" pitchFamily="34" charset="-120"/>
              </a:rPr>
              <a:t>BLONDE AMBITION by Diana Avram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16"/>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MESAJUL ZILEI</a:t>
            </a:r>
            <a:endParaRPr lang="en-US" sz="1200" dirty="0"/>
          </a:p>
        </p:txBody>
      </p:sp>
      <p:sp>
        <p:nvSpPr>
          <p:cNvPr id="3" name="text-17"/>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Emoțiile vin cu noi</a:t>
            </a:r>
            <a:endParaRPr lang="en-US" sz="2600" dirty="0"/>
          </a:p>
        </p:txBody>
      </p:sp>
      <p:sp>
        <p:nvSpPr>
          <p:cNvPr id="4" name="text-18"/>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19"/>
          <p:cNvSpPr/>
          <p:nvPr/>
        </p:nvSpPr>
        <p:spPr>
          <a:xfrm>
            <a:off x="457200" y="1325880"/>
            <a:ext cx="8229600" cy="2011680"/>
          </a:xfrm>
          <a:prstGeom prst="roundRect">
            <a:avLst>
              <a:gd name="adj" fmla="val 4545"/>
            </a:avLst>
          </a:prstGeom>
          <a:solidFill>
            <a:srgbClr val="FFFFFF"/>
          </a:solidFill>
          <a:ln w="25400">
            <a:solidFill>
              <a:srgbClr val="9A4F5C"/>
            </a:solidFill>
            <a:prstDash val="solid"/>
          </a:ln>
        </p:spPr>
      </p:sp>
      <p:sp>
        <p:nvSpPr>
          <p:cNvPr id="7" name="text-20"/>
          <p:cNvSpPr txBox="1"/>
          <p:nvPr/>
        </p:nvSpPr>
        <p:spPr>
          <a:xfrm>
            <a:off x="777240" y="1417320"/>
            <a:ext cx="7589520" cy="1828800"/>
          </a:xfrm>
          <a:prstGeom prst="rect">
            <a:avLst/>
          </a:prstGeom>
          <a:noFill/>
          <a:ln/>
        </p:spPr>
        <p:txBody>
          <a:bodyPr wrap="square" lIns="0" tIns="0" rIns="0" bIns="0" rtlCol="0" anchor="ctr"/>
          <a:lstStyle/>
          <a:p>
            <a:pPr indent="0" marL="0">
              <a:buNone/>
            </a:pPr>
            <a:r>
              <a:rPr lang="en-US" sz="2800" dirty="0">
                <a:solidFill>
                  <a:srgbClr val="1E1A18"/>
                </a:solidFill>
                <a:latin typeface="Arial" pitchFamily="34" charset="0"/>
                <a:ea typeface="Arial" pitchFamily="34" charset="-122"/>
                <a:cs typeface="Arial" pitchFamily="34" charset="-120"/>
              </a:rPr>
              <a:t>Nu trebuie să scapi de emoții ca să începi. </a:t>
            </a:r>
            <a:r>
              <a:rPr lang="en-US" sz="2800" b="1" dirty="0">
                <a:solidFill>
                  <a:srgbClr val="9A4F5C"/>
                </a:solidFill>
                <a:latin typeface="Arial" pitchFamily="34" charset="0"/>
                <a:ea typeface="Arial" pitchFamily="34" charset="-122"/>
                <a:cs typeface="Arial" pitchFamily="34" charset="-120"/>
              </a:rPr>
              <a:t>Trebuie să începi ca să înveți să lucrezi cu ele.</a:t>
            </a:r>
            <a:endParaRPr lang="en-US" sz="2800" dirty="0"/>
          </a:p>
        </p:txBody>
      </p:sp>
      <p:sp>
        <p:nvSpPr>
          <p:cNvPr id="8" name="text-21"/>
          <p:cNvSpPr txBox="1"/>
          <p:nvPr/>
        </p:nvSpPr>
        <p:spPr>
          <a:xfrm>
            <a:off x="457200" y="3611880"/>
            <a:ext cx="8229600" cy="822960"/>
          </a:xfrm>
          <a:prstGeom prst="rect">
            <a:avLst/>
          </a:prstGeom>
          <a:noFill/>
          <a:ln/>
        </p:spPr>
        <p:txBody>
          <a:bodyPr wrap="square" lIns="0" tIns="0" rIns="0" bIns="0" rtlCol="0" anchor="ctr"/>
          <a:lstStyle/>
          <a:p>
            <a:pPr indent="0" marL="0">
              <a:buNone/>
            </a:pPr>
            <a:r>
              <a:rPr lang="en-US" sz="1900" dirty="0">
                <a:solidFill>
                  <a:srgbClr val="1E1A18"/>
                </a:solidFill>
                <a:latin typeface="Arial" pitchFamily="34" charset="0"/>
                <a:ea typeface="Arial" pitchFamily="34" charset="-122"/>
                <a:cs typeface="Arial" pitchFamily="34" charset="-120"/>
              </a:rPr>
              <a:t>Emoțiile arată că </a:t>
            </a:r>
            <a:r>
              <a:rPr lang="en-US" sz="1900" b="1" dirty="0">
                <a:solidFill>
                  <a:srgbClr val="1E1A18"/>
                </a:solidFill>
                <a:latin typeface="Arial" pitchFamily="34" charset="0"/>
                <a:ea typeface="Arial" pitchFamily="34" charset="-122"/>
                <a:cs typeface="Arial" pitchFamily="34" charset="-120"/>
              </a:rPr>
              <a:t>îți pasă</a:t>
            </a:r>
            <a:r>
              <a:rPr lang="en-US" sz="1900" dirty="0">
                <a:solidFill>
                  <a:srgbClr val="1E1A18"/>
                </a:solidFill>
                <a:latin typeface="Arial" pitchFamily="34" charset="0"/>
                <a:ea typeface="Arial" pitchFamily="34" charset="-122"/>
                <a:cs typeface="Arial" pitchFamily="34" charset="-120"/>
              </a:rPr>
              <a:t> de ce spui. Azi nu le dăm afară. </a:t>
            </a:r>
            <a:r>
              <a:rPr lang="en-US" sz="1900" b="1" dirty="0">
                <a:solidFill>
                  <a:srgbClr val="1E1A18"/>
                </a:solidFill>
                <a:latin typeface="Arial" pitchFamily="34" charset="0"/>
                <a:ea typeface="Arial" pitchFamily="34" charset="-122"/>
                <a:cs typeface="Arial" pitchFamily="34" charset="-120"/>
              </a:rPr>
              <a:t>Le luăm cu noi.</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22"/>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ÎNCĂLZIREA · TOȚI ODATĂ</a:t>
            </a:r>
            <a:endParaRPr lang="en-US" sz="1200" dirty="0"/>
          </a:p>
        </p:txBody>
      </p:sp>
      <p:sp>
        <p:nvSpPr>
          <p:cNvPr id="3" name="text-23"/>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Cel mai prost video al zilei</a:t>
            </a:r>
            <a:endParaRPr lang="en-US" sz="2600" dirty="0"/>
          </a:p>
        </p:txBody>
      </p:sp>
      <p:sp>
        <p:nvSpPr>
          <p:cNvPr id="4" name="text-24"/>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25"/>
          <p:cNvSpPr/>
          <p:nvPr/>
        </p:nvSpPr>
        <p:spPr>
          <a:xfrm>
            <a:off x="457200" y="1325880"/>
            <a:ext cx="2606040" cy="2194560"/>
          </a:xfrm>
          <a:prstGeom prst="roundRect">
            <a:avLst>
              <a:gd name="adj" fmla="val 4167"/>
            </a:avLst>
          </a:prstGeom>
          <a:solidFill>
            <a:srgbClr val="F6EEE9"/>
          </a:solidFill>
          <a:ln w="12700">
            <a:solidFill>
              <a:srgbClr val="F6EEE9"/>
            </a:solidFill>
            <a:prstDash val="solid"/>
          </a:ln>
        </p:spPr>
      </p:sp>
      <p:sp>
        <p:nvSpPr>
          <p:cNvPr id="7" name="num-26"/>
          <p:cNvSpPr/>
          <p:nvPr/>
        </p:nvSpPr>
        <p:spPr>
          <a:xfrm>
            <a:off x="685800" y="1508760"/>
            <a:ext cx="502920" cy="502920"/>
          </a:xfrm>
          <a:prstGeom prst="ellipse">
            <a:avLst/>
          </a:prstGeom>
          <a:solidFill>
            <a:srgbClr val="9A4F5C"/>
          </a:solidFill>
          <a:ln w="19050">
            <a:solidFill>
              <a:srgbClr val="FFFFFF"/>
            </a:solidFill>
            <a:prstDash val="solid"/>
          </a:ln>
        </p:spPr>
      </p:sp>
      <p:sp>
        <p:nvSpPr>
          <p:cNvPr id="8" name="text-27"/>
          <p:cNvSpPr txBox="1"/>
          <p:nvPr/>
        </p:nvSpPr>
        <p:spPr>
          <a:xfrm>
            <a:off x="68580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28"/>
          <p:cNvSpPr txBox="1"/>
          <p:nvPr/>
        </p:nvSpPr>
        <p:spPr>
          <a:xfrm>
            <a:off x="685800" y="2148840"/>
            <a:ext cx="2194560" cy="411480"/>
          </a:xfrm>
          <a:prstGeom prst="rect">
            <a:avLst/>
          </a:prstGeom>
          <a:noFill/>
          <a:ln/>
        </p:spPr>
        <p:txBody>
          <a:bodyPr wrap="square" lIns="0" tIns="0" rIns="0" bIns="0" rtlCol="0" anchor="t"/>
          <a:lstStyle/>
          <a:p>
            <a:pPr indent="0" marL="0">
              <a:buNone/>
            </a:pPr>
            <a:r>
              <a:rPr lang="en-US" sz="2000" b="1" dirty="0">
                <a:solidFill>
                  <a:srgbClr val="9A4F5C"/>
                </a:solidFill>
                <a:latin typeface="Arial" pitchFamily="34" charset="0"/>
                <a:ea typeface="Arial" pitchFamily="34" charset="-122"/>
                <a:cs typeface="Arial" pitchFamily="34" charset="-120"/>
              </a:rPr>
              <a:t>Toți odată</a:t>
            </a:r>
            <a:endParaRPr lang="en-US" sz="2000" dirty="0"/>
          </a:p>
        </p:txBody>
      </p:sp>
      <p:sp>
        <p:nvSpPr>
          <p:cNvPr id="10" name="text-29"/>
          <p:cNvSpPr txBox="1"/>
          <p:nvPr/>
        </p:nvSpPr>
        <p:spPr>
          <a:xfrm>
            <a:off x="685800" y="2606040"/>
            <a:ext cx="2194560" cy="822960"/>
          </a:xfrm>
          <a:prstGeom prst="rect">
            <a:avLst/>
          </a:prstGeom>
          <a:noFill/>
          <a:ln/>
        </p:spPr>
        <p:txBody>
          <a:bodyPr wrap="square" lIns="0" tIns="0" rIns="0" bIns="0" rtlCol="0" anchor="t"/>
          <a:lstStyle/>
          <a:p>
            <a:pPr indent="0" marL="0">
              <a:buNone/>
            </a:pPr>
            <a:r>
              <a:rPr lang="en-US" sz="1600" dirty="0">
                <a:solidFill>
                  <a:srgbClr val="1E1A18"/>
                </a:solidFill>
                <a:latin typeface="Arial" pitchFamily="34" charset="0"/>
                <a:ea typeface="Arial" pitchFamily="34" charset="-122"/>
                <a:cs typeface="Arial" pitchFamily="34" charset="-120"/>
              </a:rPr>
              <a:t>filmăm 3 secunde intenționat groaznice</a:t>
            </a:r>
            <a:endParaRPr lang="en-US" sz="1600" dirty="0"/>
          </a:p>
        </p:txBody>
      </p:sp>
      <p:sp>
        <p:nvSpPr>
          <p:cNvPr id="11" name="card-30"/>
          <p:cNvSpPr/>
          <p:nvPr/>
        </p:nvSpPr>
        <p:spPr>
          <a:xfrm>
            <a:off x="3246120" y="1325880"/>
            <a:ext cx="2606040" cy="2194560"/>
          </a:xfrm>
          <a:prstGeom prst="roundRect">
            <a:avLst>
              <a:gd name="adj" fmla="val 4167"/>
            </a:avLst>
          </a:prstGeom>
          <a:solidFill>
            <a:srgbClr val="F6EEE9"/>
          </a:solidFill>
          <a:ln w="12700">
            <a:solidFill>
              <a:srgbClr val="F6EEE9"/>
            </a:solidFill>
            <a:prstDash val="solid"/>
          </a:ln>
        </p:spPr>
      </p:sp>
      <p:sp>
        <p:nvSpPr>
          <p:cNvPr id="12" name="num-31"/>
          <p:cNvSpPr/>
          <p:nvPr/>
        </p:nvSpPr>
        <p:spPr>
          <a:xfrm>
            <a:off x="3474720" y="1508760"/>
            <a:ext cx="502920" cy="502920"/>
          </a:xfrm>
          <a:prstGeom prst="ellipse">
            <a:avLst/>
          </a:prstGeom>
          <a:solidFill>
            <a:srgbClr val="9A4F5C"/>
          </a:solidFill>
          <a:ln w="19050">
            <a:solidFill>
              <a:srgbClr val="FFFFFF"/>
            </a:solidFill>
            <a:prstDash val="solid"/>
          </a:ln>
        </p:spPr>
      </p:sp>
      <p:sp>
        <p:nvSpPr>
          <p:cNvPr id="13" name="text-32"/>
          <p:cNvSpPr txBox="1"/>
          <p:nvPr/>
        </p:nvSpPr>
        <p:spPr>
          <a:xfrm>
            <a:off x="347472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33"/>
          <p:cNvSpPr txBox="1"/>
          <p:nvPr/>
        </p:nvSpPr>
        <p:spPr>
          <a:xfrm>
            <a:off x="3474720" y="2148840"/>
            <a:ext cx="2194560" cy="411480"/>
          </a:xfrm>
          <a:prstGeom prst="rect">
            <a:avLst/>
          </a:prstGeom>
          <a:noFill/>
          <a:ln/>
        </p:spPr>
        <p:txBody>
          <a:bodyPr wrap="square" lIns="0" tIns="0" rIns="0" bIns="0" rtlCol="0" anchor="t"/>
          <a:lstStyle/>
          <a:p>
            <a:pPr indent="0" marL="0">
              <a:buNone/>
            </a:pPr>
            <a:r>
              <a:rPr lang="en-US" sz="2000" b="1" dirty="0">
                <a:solidFill>
                  <a:srgbClr val="9A4F5C"/>
                </a:solidFill>
                <a:latin typeface="Arial" pitchFamily="34" charset="0"/>
                <a:ea typeface="Arial" pitchFamily="34" charset="-122"/>
                <a:cs typeface="Arial" pitchFamily="34" charset="-120"/>
              </a:rPr>
              <a:t>Exemplu</a:t>
            </a:r>
            <a:endParaRPr lang="en-US" sz="2000" dirty="0"/>
          </a:p>
        </p:txBody>
      </p:sp>
      <p:sp>
        <p:nvSpPr>
          <p:cNvPr id="15" name="text-34"/>
          <p:cNvSpPr txBox="1"/>
          <p:nvPr/>
        </p:nvSpPr>
        <p:spPr>
          <a:xfrm>
            <a:off x="3474720" y="2606040"/>
            <a:ext cx="2194560" cy="822960"/>
          </a:xfrm>
          <a:prstGeom prst="rect">
            <a:avLst/>
          </a:prstGeom>
          <a:noFill/>
          <a:ln/>
        </p:spPr>
        <p:txBody>
          <a:bodyPr wrap="square" lIns="0" tIns="0" rIns="0" bIns="0" rtlCol="0" anchor="t"/>
          <a:lstStyle/>
          <a:p>
            <a:pPr indent="0" marL="0">
              <a:buNone/>
            </a:pPr>
            <a:r>
              <a:rPr lang="en-US" sz="1600" dirty="0">
                <a:solidFill>
                  <a:srgbClr val="1E1A18"/>
                </a:solidFill>
                <a:latin typeface="Arial" pitchFamily="34" charset="0"/>
                <a:ea typeface="Arial" pitchFamily="34" charset="-122"/>
                <a:cs typeface="Arial" pitchFamily="34" charset="-120"/>
              </a:rPr>
              <a:t>„Bună… ăăă… unde se apasă?”</a:t>
            </a:r>
            <a:endParaRPr lang="en-US" sz="1600" dirty="0"/>
          </a:p>
        </p:txBody>
      </p:sp>
      <p:sp>
        <p:nvSpPr>
          <p:cNvPr id="16" name="card-35"/>
          <p:cNvSpPr/>
          <p:nvPr/>
        </p:nvSpPr>
        <p:spPr>
          <a:xfrm>
            <a:off x="6035040" y="1325880"/>
            <a:ext cx="2606040" cy="2194560"/>
          </a:xfrm>
          <a:prstGeom prst="roundRect">
            <a:avLst>
              <a:gd name="adj" fmla="val 4167"/>
            </a:avLst>
          </a:prstGeom>
          <a:solidFill>
            <a:srgbClr val="F6EEE9"/>
          </a:solidFill>
          <a:ln w="12700">
            <a:solidFill>
              <a:srgbClr val="F6EEE9"/>
            </a:solidFill>
            <a:prstDash val="solid"/>
          </a:ln>
        </p:spPr>
      </p:sp>
      <p:sp>
        <p:nvSpPr>
          <p:cNvPr id="17" name="num-36"/>
          <p:cNvSpPr/>
          <p:nvPr/>
        </p:nvSpPr>
        <p:spPr>
          <a:xfrm>
            <a:off x="6263640" y="1508760"/>
            <a:ext cx="502920" cy="502920"/>
          </a:xfrm>
          <a:prstGeom prst="ellipse">
            <a:avLst/>
          </a:prstGeom>
          <a:solidFill>
            <a:srgbClr val="9A4F5C"/>
          </a:solidFill>
          <a:ln w="19050">
            <a:solidFill>
              <a:srgbClr val="FFFFFF"/>
            </a:solidFill>
            <a:prstDash val="solid"/>
          </a:ln>
        </p:spPr>
      </p:sp>
      <p:sp>
        <p:nvSpPr>
          <p:cNvPr id="18" name="text-37"/>
          <p:cNvSpPr txBox="1"/>
          <p:nvPr/>
        </p:nvSpPr>
        <p:spPr>
          <a:xfrm>
            <a:off x="626364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38"/>
          <p:cNvSpPr txBox="1"/>
          <p:nvPr/>
        </p:nvSpPr>
        <p:spPr>
          <a:xfrm>
            <a:off x="6263640" y="2148840"/>
            <a:ext cx="2194560" cy="411480"/>
          </a:xfrm>
          <a:prstGeom prst="rect">
            <a:avLst/>
          </a:prstGeom>
          <a:noFill/>
          <a:ln/>
        </p:spPr>
        <p:txBody>
          <a:bodyPr wrap="square" lIns="0" tIns="0" rIns="0" bIns="0" rtlCol="0" anchor="t"/>
          <a:lstStyle/>
          <a:p>
            <a:pPr indent="0" marL="0">
              <a:buNone/>
            </a:pPr>
            <a:r>
              <a:rPr lang="en-US" sz="2000" b="1" dirty="0">
                <a:solidFill>
                  <a:srgbClr val="9A4F5C"/>
                </a:solidFill>
                <a:latin typeface="Arial" pitchFamily="34" charset="0"/>
                <a:ea typeface="Arial" pitchFamily="34" charset="-122"/>
                <a:cs typeface="Arial" pitchFamily="34" charset="-120"/>
              </a:rPr>
              <a:t>Ceremonia</a:t>
            </a:r>
            <a:endParaRPr lang="en-US" sz="2000" dirty="0"/>
          </a:p>
        </p:txBody>
      </p:sp>
      <p:sp>
        <p:nvSpPr>
          <p:cNvPr id="20" name="text-39"/>
          <p:cNvSpPr txBox="1"/>
          <p:nvPr/>
        </p:nvSpPr>
        <p:spPr>
          <a:xfrm>
            <a:off x="6263640" y="2606040"/>
            <a:ext cx="2194560" cy="822960"/>
          </a:xfrm>
          <a:prstGeom prst="rect">
            <a:avLst/>
          </a:prstGeom>
          <a:noFill/>
          <a:ln/>
        </p:spPr>
        <p:txBody>
          <a:bodyPr wrap="square" lIns="0" tIns="0" rIns="0" bIns="0" rtlCol="0" anchor="t"/>
          <a:lstStyle/>
          <a:p>
            <a:pPr indent="0" marL="0">
              <a:buNone/>
            </a:pPr>
            <a:r>
              <a:rPr lang="en-US" sz="1600" dirty="0">
                <a:solidFill>
                  <a:srgbClr val="1E1A18"/>
                </a:solidFill>
                <a:latin typeface="Arial" pitchFamily="34" charset="0"/>
                <a:ea typeface="Arial" pitchFamily="34" charset="-122"/>
                <a:cs typeface="Arial" pitchFamily="34" charset="-120"/>
              </a:rPr>
              <a:t>la 3, ștergem toți: adio!</a:t>
            </a:r>
            <a:endParaRPr lang="en-US" sz="1600" dirty="0"/>
          </a:p>
        </p:txBody>
      </p:sp>
      <p:sp>
        <p:nvSpPr>
          <p:cNvPr id="21" name="text-40"/>
          <p:cNvSpPr txBox="1"/>
          <p:nvPr/>
        </p:nvSpPr>
        <p:spPr>
          <a:xfrm>
            <a:off x="457200" y="3794760"/>
            <a:ext cx="8229600" cy="640080"/>
          </a:xfrm>
          <a:prstGeom prst="rect">
            <a:avLst/>
          </a:prstGeom>
          <a:noFill/>
          <a:ln/>
        </p:spPr>
        <p:txBody>
          <a:bodyPr wrap="square" lIns="0" tIns="0" rIns="0" bIns="0" rtlCol="0" anchor="ctr"/>
          <a:lstStyle/>
          <a:p>
            <a:pPr indent="0" marL="0">
              <a:buNone/>
            </a:pPr>
            <a:r>
              <a:rPr lang="en-US" sz="1900" b="1" i="1" dirty="0">
                <a:solidFill>
                  <a:srgbClr val="9A4F5C"/>
                </a:solidFill>
                <a:latin typeface="Arial" pitchFamily="34" charset="0"/>
                <a:ea typeface="Arial" pitchFamily="34" charset="-122"/>
                <a:cs typeface="Arial" pitchFamily="34" charset="-120"/>
              </a:rPr>
              <a:t>Cel mai prost video posibil s-a filmat deja. De aici, totul e mai bine.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41"/>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ALEGE-ȚI NIVELUL</a:t>
            </a:r>
            <a:endParaRPr lang="en-US" sz="1200" dirty="0"/>
          </a:p>
        </p:txBody>
      </p:sp>
      <p:sp>
        <p:nvSpPr>
          <p:cNvPr id="3" name="text-42"/>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Te provoacă puțin, dar nu te blochează</a:t>
            </a:r>
            <a:endParaRPr lang="en-US" sz="2600" dirty="0"/>
          </a:p>
        </p:txBody>
      </p:sp>
      <p:sp>
        <p:nvSpPr>
          <p:cNvPr id="4" name="text-43"/>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44"/>
          <p:cNvSpPr/>
          <p:nvPr/>
        </p:nvSpPr>
        <p:spPr>
          <a:xfrm>
            <a:off x="457200" y="1280160"/>
            <a:ext cx="2606040" cy="2697480"/>
          </a:xfrm>
          <a:prstGeom prst="roundRect">
            <a:avLst>
              <a:gd name="adj" fmla="val 3509"/>
            </a:avLst>
          </a:prstGeom>
          <a:solidFill>
            <a:srgbClr val="FFFFFF"/>
          </a:solidFill>
          <a:ln w="25400">
            <a:solidFill>
              <a:srgbClr val="3F6B4C"/>
            </a:solidFill>
            <a:prstDash val="solid"/>
          </a:ln>
        </p:spPr>
      </p:sp>
      <p:sp>
        <p:nvSpPr>
          <p:cNvPr id="7" name="tag-45"/>
          <p:cNvSpPr/>
          <p:nvPr/>
        </p:nvSpPr>
        <p:spPr>
          <a:xfrm>
            <a:off x="685800" y="1481328"/>
            <a:ext cx="822960" cy="292608"/>
          </a:xfrm>
          <a:prstGeom prst="rect">
            <a:avLst/>
          </a:prstGeom>
          <a:solidFill>
            <a:srgbClr val="3F6B4C"/>
          </a:solidFill>
          <a:ln w="12700">
            <a:solidFill>
              <a:srgbClr val="3F6B4C"/>
            </a:solidFill>
            <a:prstDash val="solid"/>
          </a:ln>
        </p:spPr>
      </p:sp>
      <p:sp>
        <p:nvSpPr>
          <p:cNvPr id="8" name="text-46"/>
          <p:cNvSpPr txBox="1"/>
          <p:nvPr/>
        </p:nvSpPr>
        <p:spPr>
          <a:xfrm>
            <a:off x="685800" y="1481328"/>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NIVEL 1</a:t>
            </a:r>
            <a:endParaRPr lang="en-US" sz="1200" dirty="0"/>
          </a:p>
        </p:txBody>
      </p:sp>
      <p:sp>
        <p:nvSpPr>
          <p:cNvPr id="9" name="text-47"/>
          <p:cNvSpPr txBox="1"/>
          <p:nvPr/>
        </p:nvSpPr>
        <p:spPr>
          <a:xfrm>
            <a:off x="685800" y="1874520"/>
            <a:ext cx="2240280" cy="685800"/>
          </a:xfrm>
          <a:prstGeom prst="rect">
            <a:avLst/>
          </a:prstGeom>
          <a:noFill/>
          <a:ln/>
        </p:spPr>
        <p:txBody>
          <a:bodyPr wrap="square" lIns="0" tIns="0" rIns="0" bIns="0" rtlCol="0" anchor="t"/>
          <a:lstStyle/>
          <a:p>
            <a:pPr indent="0" marL="0">
              <a:buNone/>
            </a:pPr>
            <a:r>
              <a:rPr lang="en-US" sz="1900" b="1" dirty="0">
                <a:solidFill>
                  <a:srgbClr val="3F6B4C"/>
                </a:solidFill>
                <a:latin typeface="Arial" pitchFamily="34" charset="0"/>
                <a:ea typeface="Arial" pitchFamily="34" charset="-122"/>
                <a:cs typeface="Arial" pitchFamily="34" charset="-120"/>
              </a:rPr>
              <a:t>Doar eu și camera</a:t>
            </a:r>
            <a:endParaRPr lang="en-US" sz="1900" dirty="0"/>
          </a:p>
        </p:txBody>
      </p:sp>
      <p:sp>
        <p:nvSpPr>
          <p:cNvPr id="10" name="text-48"/>
          <p:cNvSpPr txBox="1"/>
          <p:nvPr/>
        </p:nvSpPr>
        <p:spPr>
          <a:xfrm>
            <a:off x="685800" y="2606040"/>
            <a:ext cx="2240280" cy="12801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Te filmezi singur</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Fără public</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Colț, hol, cu spatele la sală</a:t>
            </a:r>
            <a:endParaRPr lang="en-US" sz="1500" dirty="0"/>
          </a:p>
        </p:txBody>
      </p:sp>
      <p:sp>
        <p:nvSpPr>
          <p:cNvPr id="11" name="card-49"/>
          <p:cNvSpPr/>
          <p:nvPr/>
        </p:nvSpPr>
        <p:spPr>
          <a:xfrm>
            <a:off x="3246120" y="1280160"/>
            <a:ext cx="2606040" cy="2697480"/>
          </a:xfrm>
          <a:prstGeom prst="roundRect">
            <a:avLst>
              <a:gd name="adj" fmla="val 3509"/>
            </a:avLst>
          </a:prstGeom>
          <a:solidFill>
            <a:srgbClr val="FFFFFF"/>
          </a:solidFill>
          <a:ln w="25400">
            <a:solidFill>
              <a:srgbClr val="A87420"/>
            </a:solidFill>
            <a:prstDash val="solid"/>
          </a:ln>
        </p:spPr>
      </p:sp>
      <p:sp>
        <p:nvSpPr>
          <p:cNvPr id="12" name="tag-50"/>
          <p:cNvSpPr/>
          <p:nvPr/>
        </p:nvSpPr>
        <p:spPr>
          <a:xfrm>
            <a:off x="3474720" y="1481328"/>
            <a:ext cx="822960" cy="292608"/>
          </a:xfrm>
          <a:prstGeom prst="rect">
            <a:avLst/>
          </a:prstGeom>
          <a:solidFill>
            <a:srgbClr val="A87420"/>
          </a:solidFill>
          <a:ln w="12700">
            <a:solidFill>
              <a:srgbClr val="A87420"/>
            </a:solidFill>
            <a:prstDash val="solid"/>
          </a:ln>
        </p:spPr>
      </p:sp>
      <p:sp>
        <p:nvSpPr>
          <p:cNvPr id="13" name="text-51"/>
          <p:cNvSpPr txBox="1"/>
          <p:nvPr/>
        </p:nvSpPr>
        <p:spPr>
          <a:xfrm>
            <a:off x="3474720" y="1481328"/>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NIVEL 2</a:t>
            </a:r>
            <a:endParaRPr lang="en-US" sz="1200" dirty="0"/>
          </a:p>
        </p:txBody>
      </p:sp>
      <p:sp>
        <p:nvSpPr>
          <p:cNvPr id="14" name="text-52"/>
          <p:cNvSpPr txBox="1"/>
          <p:nvPr/>
        </p:nvSpPr>
        <p:spPr>
          <a:xfrm>
            <a:off x="3474720" y="1874520"/>
            <a:ext cx="2240280" cy="685800"/>
          </a:xfrm>
          <a:prstGeom prst="rect">
            <a:avLst/>
          </a:prstGeom>
          <a:noFill/>
          <a:ln/>
        </p:spPr>
        <p:txBody>
          <a:bodyPr wrap="square" lIns="0" tIns="0" rIns="0" bIns="0" rtlCol="0" anchor="t"/>
          <a:lstStyle/>
          <a:p>
            <a:pPr indent="0" marL="0">
              <a:buNone/>
            </a:pPr>
            <a:r>
              <a:rPr lang="en-US" sz="1900" b="1" dirty="0">
                <a:solidFill>
                  <a:srgbClr val="A87420"/>
                </a:solidFill>
                <a:latin typeface="Arial" pitchFamily="34" charset="0"/>
                <a:ea typeface="Arial" pitchFamily="34" charset="-122"/>
                <a:cs typeface="Arial" pitchFamily="34" charset="-120"/>
              </a:rPr>
              <a:t>Un martor de încredere</a:t>
            </a:r>
            <a:endParaRPr lang="en-US" sz="1900" dirty="0"/>
          </a:p>
        </p:txBody>
      </p:sp>
      <p:sp>
        <p:nvSpPr>
          <p:cNvPr id="15" name="text-53"/>
          <p:cNvSpPr txBox="1"/>
          <p:nvPr/>
        </p:nvSpPr>
        <p:spPr>
          <a:xfrm>
            <a:off x="3474720" y="2606040"/>
            <a:ext cx="2240280" cy="12801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O colegă aleasă de tine</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Regula ei: zâmbește și tace</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Fără sfaturi</a:t>
            </a:r>
            <a:endParaRPr lang="en-US" sz="1500" dirty="0"/>
          </a:p>
        </p:txBody>
      </p:sp>
      <p:sp>
        <p:nvSpPr>
          <p:cNvPr id="16" name="card-54"/>
          <p:cNvSpPr/>
          <p:nvPr/>
        </p:nvSpPr>
        <p:spPr>
          <a:xfrm>
            <a:off x="6035040" y="1280160"/>
            <a:ext cx="2606040" cy="2697480"/>
          </a:xfrm>
          <a:prstGeom prst="roundRect">
            <a:avLst>
              <a:gd name="adj" fmla="val 3509"/>
            </a:avLst>
          </a:prstGeom>
          <a:solidFill>
            <a:srgbClr val="FFFFFF"/>
          </a:solidFill>
          <a:ln w="25400">
            <a:solidFill>
              <a:srgbClr val="9A3A34"/>
            </a:solidFill>
            <a:prstDash val="solid"/>
          </a:ln>
        </p:spPr>
      </p:sp>
      <p:sp>
        <p:nvSpPr>
          <p:cNvPr id="17" name="tag-55"/>
          <p:cNvSpPr/>
          <p:nvPr/>
        </p:nvSpPr>
        <p:spPr>
          <a:xfrm>
            <a:off x="6263640" y="1481328"/>
            <a:ext cx="822960" cy="292608"/>
          </a:xfrm>
          <a:prstGeom prst="rect">
            <a:avLst/>
          </a:prstGeom>
          <a:solidFill>
            <a:srgbClr val="9A3A34"/>
          </a:solidFill>
          <a:ln w="12700">
            <a:solidFill>
              <a:srgbClr val="9A3A34"/>
            </a:solidFill>
            <a:prstDash val="solid"/>
          </a:ln>
        </p:spPr>
      </p:sp>
      <p:sp>
        <p:nvSpPr>
          <p:cNvPr id="18" name="text-56"/>
          <p:cNvSpPr txBox="1"/>
          <p:nvPr/>
        </p:nvSpPr>
        <p:spPr>
          <a:xfrm>
            <a:off x="6263640" y="1481328"/>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NIVEL 3</a:t>
            </a:r>
            <a:endParaRPr lang="en-US" sz="1200" dirty="0"/>
          </a:p>
        </p:txBody>
      </p:sp>
      <p:sp>
        <p:nvSpPr>
          <p:cNvPr id="19" name="text-57"/>
          <p:cNvSpPr txBox="1"/>
          <p:nvPr/>
        </p:nvSpPr>
        <p:spPr>
          <a:xfrm>
            <a:off x="6263640" y="1874520"/>
            <a:ext cx="2240280" cy="685800"/>
          </a:xfrm>
          <a:prstGeom prst="rect">
            <a:avLst/>
          </a:prstGeom>
          <a:noFill/>
          <a:ln/>
        </p:spPr>
        <p:txBody>
          <a:bodyPr wrap="square" lIns="0" tIns="0" rIns="0" bIns="0" rtlCol="0" anchor="t"/>
          <a:lstStyle/>
          <a:p>
            <a:pPr indent="0" marL="0">
              <a:buNone/>
            </a:pPr>
            <a:r>
              <a:rPr lang="en-US" sz="1900" b="1" dirty="0">
                <a:solidFill>
                  <a:srgbClr val="9A3A34"/>
                </a:solidFill>
                <a:latin typeface="Arial" pitchFamily="34" charset="0"/>
                <a:ea typeface="Arial" pitchFamily="34" charset="-122"/>
                <a:cs typeface="Arial" pitchFamily="34" charset="-120"/>
              </a:rPr>
              <a:t>Scena</a:t>
            </a:r>
            <a:endParaRPr lang="en-US" sz="1900" dirty="0"/>
          </a:p>
        </p:txBody>
      </p:sp>
      <p:sp>
        <p:nvSpPr>
          <p:cNvPr id="20" name="text-58"/>
          <p:cNvSpPr txBox="1"/>
          <p:nvPr/>
        </p:nvSpPr>
        <p:spPr>
          <a:xfrm>
            <a:off x="6263640" y="2606040"/>
            <a:ext cx="2240280" cy="12801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Doar dacă vrei</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În fața grupului</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Aplauze pentru curaj</a:t>
            </a:r>
            <a:endParaRPr lang="en-US" sz="1500" dirty="0"/>
          </a:p>
        </p:txBody>
      </p:sp>
      <p:sp>
        <p:nvSpPr>
          <p:cNvPr id="21" name="text-59"/>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600" b="1" i="1" dirty="0">
                <a:solidFill>
                  <a:srgbClr val="9A4F5C"/>
                </a:solidFill>
                <a:latin typeface="Arial" pitchFamily="34" charset="0"/>
                <a:ea typeface="Arial" pitchFamily="34" charset="-122"/>
                <a:cs typeface="Arial" pitchFamily="34" charset="-120"/>
              </a:rPr>
              <a:t>Nimeni nu e obligat să filmeze, să arate sau să posteze.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60"/>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ALEGE O FRAZĂ</a:t>
            </a:r>
            <a:endParaRPr lang="en-US" sz="1200" dirty="0"/>
          </a:p>
        </p:txBody>
      </p:sp>
      <p:sp>
        <p:nvSpPr>
          <p:cNvPr id="3" name="text-6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Maximum 5 secunde. Poți s-o adaptezi.</a:t>
            </a:r>
            <a:endParaRPr lang="en-US" sz="2600" dirty="0"/>
          </a:p>
        </p:txBody>
      </p:sp>
      <p:sp>
        <p:nvSpPr>
          <p:cNvPr id="4" name="text-62"/>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63"/>
          <p:cNvSpPr/>
          <p:nvPr/>
        </p:nvSpPr>
        <p:spPr>
          <a:xfrm>
            <a:off x="457200" y="1188720"/>
            <a:ext cx="4023360" cy="1645920"/>
          </a:xfrm>
          <a:prstGeom prst="roundRect">
            <a:avLst>
              <a:gd name="adj" fmla="val 5556"/>
            </a:avLst>
          </a:prstGeom>
          <a:solidFill>
            <a:srgbClr val="F6EEE9"/>
          </a:solidFill>
          <a:ln w="12700">
            <a:solidFill>
              <a:srgbClr val="E2D3CA"/>
            </a:solidFill>
            <a:prstDash val="solid"/>
          </a:ln>
        </p:spPr>
      </p:sp>
      <p:sp>
        <p:nvSpPr>
          <p:cNvPr id="7" name="text-64"/>
          <p:cNvSpPr txBox="1"/>
          <p:nvPr/>
        </p:nvSpPr>
        <p:spPr>
          <a:xfrm>
            <a:off x="640080" y="1280160"/>
            <a:ext cx="3657600" cy="274320"/>
          </a:xfrm>
          <a:prstGeom prst="rect">
            <a:avLst/>
          </a:prstGeom>
          <a:noFill/>
          <a:ln/>
        </p:spPr>
        <p:txBody>
          <a:bodyPr wrap="square" lIns="0" tIns="0" rIns="0" bIns="0" rtlCol="0" anchor="t"/>
          <a:lstStyle/>
          <a:p>
            <a:pPr indent="0" marL="0">
              <a:buNone/>
            </a:pPr>
            <a:r>
              <a:rPr lang="en-US" sz="1300" b="1" spc="100" kern="0" dirty="0">
                <a:solidFill>
                  <a:srgbClr val="8A6A2F"/>
                </a:solidFill>
                <a:latin typeface="Arial" pitchFamily="34" charset="0"/>
                <a:ea typeface="Arial" pitchFamily="34" charset="-122"/>
                <a:cs typeface="Arial" pitchFamily="34" charset="-120"/>
              </a:rPr>
              <a:t>FUNNY</a:t>
            </a:r>
            <a:endParaRPr lang="en-US" sz="1300" dirty="0"/>
          </a:p>
        </p:txBody>
      </p:sp>
      <p:sp>
        <p:nvSpPr>
          <p:cNvPr id="8" name="text-65"/>
          <p:cNvSpPr txBox="1"/>
          <p:nvPr/>
        </p:nvSpPr>
        <p:spPr>
          <a:xfrm>
            <a:off x="640080" y="1600200"/>
            <a:ext cx="3703320" cy="1188720"/>
          </a:xfrm>
          <a:prstGeom prst="rect">
            <a:avLst/>
          </a:prstGeom>
          <a:noFill/>
          <a:ln/>
        </p:spPr>
        <p:txBody>
          <a:bodyPr wrap="square" lIns="0" tIns="0" rIns="0" bIns="0" rtlCol="0" anchor="t"/>
          <a:lstStyle/>
          <a:p>
            <a:pPr indent="0" marL="0">
              <a:spcAft>
                <a:spcPts val="500"/>
              </a:spcAft>
              <a:buNone/>
            </a:pPr>
            <a:r>
              <a:rPr lang="en-US" sz="1350" dirty="0">
                <a:solidFill>
                  <a:srgbClr val="1E1A18"/>
                </a:solidFill>
                <a:latin typeface="Arial" pitchFamily="34" charset="0"/>
                <a:ea typeface="Arial" pitchFamily="34" charset="-122"/>
                <a:cs typeface="Arial" pitchFamily="34" charset="-120"/>
              </a:rPr>
              <a:t>„Nu sunt emoționată. Sunt doar în timpul de procesare.”</a:t>
            </a:r>
            <a:endParaRPr lang="en-US" sz="1600" dirty="0"/>
          </a:p>
          <a:p>
            <a:pPr indent="0" marL="0">
              <a:spcAft>
                <a:spcPts val="500"/>
              </a:spcAft>
              <a:buNone/>
            </a:pPr>
            <a:r>
              <a:rPr lang="en-US" sz="1350" dirty="0">
                <a:solidFill>
                  <a:srgbClr val="1E1A18"/>
                </a:solidFill>
                <a:latin typeface="Arial" pitchFamily="34" charset="0"/>
                <a:ea typeface="Arial" pitchFamily="34" charset="-122"/>
                <a:cs typeface="Arial" pitchFamily="34" charset="-120"/>
              </a:rPr>
              <a:t>„Dacă tonerul face minuni, pot și eu 5 secunde.”</a:t>
            </a:r>
            <a:endParaRPr lang="en-US" sz="1600" dirty="0"/>
          </a:p>
          <a:p>
            <a:pPr indent="0" marL="0">
              <a:spcAft>
                <a:spcPts val="500"/>
              </a:spcAft>
              <a:buNone/>
            </a:pPr>
            <a:r>
              <a:rPr lang="en-US" sz="1350" dirty="0">
                <a:solidFill>
                  <a:srgbClr val="1E1A18"/>
                </a:solidFill>
                <a:latin typeface="Arial" pitchFamily="34" charset="0"/>
                <a:ea typeface="Arial" pitchFamily="34" charset="-122"/>
                <a:cs typeface="Arial" pitchFamily="34" charset="-120"/>
              </a:rPr>
              <a:t>„Am emoții, dar măcar părul e perfect.”</a:t>
            </a:r>
            <a:endParaRPr lang="en-US" sz="1600" dirty="0"/>
          </a:p>
        </p:txBody>
      </p:sp>
      <p:sp>
        <p:nvSpPr>
          <p:cNvPr id="9" name="card-66"/>
          <p:cNvSpPr/>
          <p:nvPr/>
        </p:nvSpPr>
        <p:spPr>
          <a:xfrm>
            <a:off x="4663440" y="1188720"/>
            <a:ext cx="4023360" cy="1645920"/>
          </a:xfrm>
          <a:prstGeom prst="roundRect">
            <a:avLst>
              <a:gd name="adj" fmla="val 5556"/>
            </a:avLst>
          </a:prstGeom>
          <a:solidFill>
            <a:srgbClr val="FFFFFF"/>
          </a:solidFill>
          <a:ln w="12700">
            <a:solidFill>
              <a:srgbClr val="E2D3CA"/>
            </a:solidFill>
            <a:prstDash val="solid"/>
          </a:ln>
        </p:spPr>
      </p:sp>
      <p:sp>
        <p:nvSpPr>
          <p:cNvPr id="10" name="text-67"/>
          <p:cNvSpPr txBox="1"/>
          <p:nvPr/>
        </p:nvSpPr>
        <p:spPr>
          <a:xfrm>
            <a:off x="4846320" y="1280160"/>
            <a:ext cx="3657600" cy="274320"/>
          </a:xfrm>
          <a:prstGeom prst="rect">
            <a:avLst/>
          </a:prstGeom>
          <a:noFill/>
          <a:ln/>
        </p:spPr>
        <p:txBody>
          <a:bodyPr wrap="square" lIns="0" tIns="0" rIns="0" bIns="0" rtlCol="0" anchor="t"/>
          <a:lstStyle/>
          <a:p>
            <a:pPr indent="0" marL="0">
              <a:buNone/>
            </a:pPr>
            <a:r>
              <a:rPr lang="en-US" sz="1300" b="1" spc="100" kern="0" dirty="0">
                <a:solidFill>
                  <a:srgbClr val="9A4F5C"/>
                </a:solidFill>
                <a:latin typeface="Arial" pitchFamily="34" charset="0"/>
                <a:ea typeface="Arial" pitchFamily="34" charset="-122"/>
                <a:cs typeface="Arial" pitchFamily="34" charset="-120"/>
              </a:rPr>
              <a:t>SMART</a:t>
            </a:r>
            <a:endParaRPr lang="en-US" sz="1300" dirty="0"/>
          </a:p>
        </p:txBody>
      </p:sp>
      <p:sp>
        <p:nvSpPr>
          <p:cNvPr id="11" name="text-68"/>
          <p:cNvSpPr txBox="1"/>
          <p:nvPr/>
        </p:nvSpPr>
        <p:spPr>
          <a:xfrm>
            <a:off x="4846320" y="1600200"/>
            <a:ext cx="3703320" cy="1188720"/>
          </a:xfrm>
          <a:prstGeom prst="rect">
            <a:avLst/>
          </a:prstGeom>
          <a:noFill/>
          <a:ln/>
        </p:spPr>
        <p:txBody>
          <a:bodyPr wrap="square" lIns="0" tIns="0" rIns="0" bIns="0" rtlCol="0" anchor="t"/>
          <a:lstStyle/>
          <a:p>
            <a:pPr indent="0" marL="0">
              <a:spcAft>
                <a:spcPts val="500"/>
              </a:spcAft>
              <a:buNone/>
            </a:pPr>
            <a:r>
              <a:rPr lang="en-US" sz="1350" dirty="0">
                <a:solidFill>
                  <a:srgbClr val="1E1A18"/>
                </a:solidFill>
                <a:latin typeface="Arial" pitchFamily="34" charset="0"/>
                <a:ea typeface="Arial" pitchFamily="34" charset="-122"/>
                <a:cs typeface="Arial" pitchFamily="34" charset="-120"/>
              </a:rPr>
              <a:t>„Blondul frumos începe cu un diagnostic corect.”</a:t>
            </a:r>
            <a:endParaRPr lang="en-US" sz="1600" dirty="0"/>
          </a:p>
          <a:p>
            <a:pPr indent="0" marL="0">
              <a:spcAft>
                <a:spcPts val="500"/>
              </a:spcAft>
              <a:buNone/>
            </a:pPr>
            <a:r>
              <a:rPr lang="en-US" sz="1350" dirty="0">
                <a:solidFill>
                  <a:srgbClr val="1E1A18"/>
                </a:solidFill>
                <a:latin typeface="Arial" pitchFamily="34" charset="0"/>
                <a:ea typeface="Arial" pitchFamily="34" charset="-122"/>
                <a:cs typeface="Arial" pitchFamily="34" charset="-120"/>
              </a:rPr>
              <a:t>„Nu vând culoare. Vând felul în care te simți în oglindă.”</a:t>
            </a:r>
            <a:endParaRPr lang="en-US" sz="1600" dirty="0"/>
          </a:p>
          <a:p>
            <a:pPr indent="0" marL="0">
              <a:spcAft>
                <a:spcPts val="500"/>
              </a:spcAft>
              <a:buNone/>
            </a:pPr>
            <a:r>
              <a:rPr lang="en-US" sz="1350" dirty="0">
                <a:solidFill>
                  <a:srgbClr val="1E1A18"/>
                </a:solidFill>
                <a:latin typeface="Arial" pitchFamily="34" charset="0"/>
                <a:ea typeface="Arial" pitchFamily="34" charset="-122"/>
                <a:cs typeface="Arial" pitchFamily="34" charset="-120"/>
              </a:rPr>
              <a:t>„Lumina în păr nu se aruncă. Se plasează.”</a:t>
            </a:r>
            <a:endParaRPr lang="en-US" sz="1600" dirty="0"/>
          </a:p>
        </p:txBody>
      </p:sp>
      <p:sp>
        <p:nvSpPr>
          <p:cNvPr id="12" name="card-69"/>
          <p:cNvSpPr/>
          <p:nvPr/>
        </p:nvSpPr>
        <p:spPr>
          <a:xfrm>
            <a:off x="457200" y="2971800"/>
            <a:ext cx="4023360" cy="1645920"/>
          </a:xfrm>
          <a:prstGeom prst="roundRect">
            <a:avLst>
              <a:gd name="adj" fmla="val 5556"/>
            </a:avLst>
          </a:prstGeom>
          <a:solidFill>
            <a:srgbClr val="F6EEE9"/>
          </a:solidFill>
          <a:ln w="12700">
            <a:solidFill>
              <a:srgbClr val="E2D3CA"/>
            </a:solidFill>
            <a:prstDash val="solid"/>
          </a:ln>
        </p:spPr>
      </p:sp>
      <p:sp>
        <p:nvSpPr>
          <p:cNvPr id="13" name="text-70"/>
          <p:cNvSpPr txBox="1"/>
          <p:nvPr/>
        </p:nvSpPr>
        <p:spPr>
          <a:xfrm>
            <a:off x="640080" y="3063240"/>
            <a:ext cx="3657600" cy="274320"/>
          </a:xfrm>
          <a:prstGeom prst="rect">
            <a:avLst/>
          </a:prstGeom>
          <a:noFill/>
          <a:ln/>
        </p:spPr>
        <p:txBody>
          <a:bodyPr wrap="square" lIns="0" tIns="0" rIns="0" bIns="0" rtlCol="0" anchor="t"/>
          <a:lstStyle/>
          <a:p>
            <a:pPr indent="0" marL="0">
              <a:buNone/>
            </a:pPr>
            <a:r>
              <a:rPr lang="en-US" sz="1300" b="1" spc="100" kern="0" dirty="0">
                <a:solidFill>
                  <a:srgbClr val="3F6B4C"/>
                </a:solidFill>
                <a:latin typeface="Arial" pitchFamily="34" charset="0"/>
                <a:ea typeface="Arial" pitchFamily="34" charset="-122"/>
                <a:cs typeface="Arial" pitchFamily="34" charset="-120"/>
              </a:rPr>
              <a:t>PENTRU ÎNCEPUT</a:t>
            </a:r>
            <a:endParaRPr lang="en-US" sz="1300" dirty="0"/>
          </a:p>
        </p:txBody>
      </p:sp>
      <p:sp>
        <p:nvSpPr>
          <p:cNvPr id="14" name="text-71"/>
          <p:cNvSpPr txBox="1"/>
          <p:nvPr/>
        </p:nvSpPr>
        <p:spPr>
          <a:xfrm>
            <a:off x="640080" y="3383280"/>
            <a:ext cx="3703320" cy="1188720"/>
          </a:xfrm>
          <a:prstGeom prst="rect">
            <a:avLst/>
          </a:prstGeom>
          <a:noFill/>
          <a:ln/>
        </p:spPr>
        <p:txBody>
          <a:bodyPr wrap="square" lIns="0" tIns="0" rIns="0" bIns="0" rtlCol="0" anchor="t"/>
          <a:lstStyle/>
          <a:p>
            <a:pPr indent="0" marL="0">
              <a:spcAft>
                <a:spcPts val="500"/>
              </a:spcAft>
              <a:buNone/>
            </a:pPr>
            <a:r>
              <a:rPr lang="en-US" sz="1350" dirty="0">
                <a:solidFill>
                  <a:srgbClr val="1E1A18"/>
                </a:solidFill>
                <a:latin typeface="Arial" pitchFamily="34" charset="0"/>
                <a:ea typeface="Arial" pitchFamily="34" charset="-122"/>
                <a:cs typeface="Arial" pitchFamily="34" charset="-120"/>
              </a:rPr>
              <a:t>„Bună, sunt [nume]. Ne vedem în salon.”</a:t>
            </a:r>
            <a:endParaRPr lang="en-US" sz="1600" dirty="0"/>
          </a:p>
          <a:p>
            <a:pPr indent="0" marL="0">
              <a:spcAft>
                <a:spcPts val="500"/>
              </a:spcAft>
              <a:buNone/>
            </a:pPr>
            <a:r>
              <a:rPr lang="en-US" sz="1350" dirty="0">
                <a:solidFill>
                  <a:srgbClr val="1E1A18"/>
                </a:solidFill>
                <a:latin typeface="Arial" pitchFamily="34" charset="0"/>
                <a:ea typeface="Arial" pitchFamily="34" charset="-122"/>
                <a:cs typeface="Arial" pitchFamily="34" charset="-120"/>
              </a:rPr>
              <a:t>„Acesta e primul meu video. Urmează și altele.”</a:t>
            </a:r>
            <a:endParaRPr lang="en-US" sz="1600" dirty="0"/>
          </a:p>
        </p:txBody>
      </p:sp>
      <p:sp>
        <p:nvSpPr>
          <p:cNvPr id="15" name="card-72"/>
          <p:cNvSpPr/>
          <p:nvPr/>
        </p:nvSpPr>
        <p:spPr>
          <a:xfrm>
            <a:off x="4663440" y="2971800"/>
            <a:ext cx="4023360" cy="1645920"/>
          </a:xfrm>
          <a:prstGeom prst="roundRect">
            <a:avLst>
              <a:gd name="adj" fmla="val 5556"/>
            </a:avLst>
          </a:prstGeom>
          <a:solidFill>
            <a:srgbClr val="FFFFFF"/>
          </a:solidFill>
          <a:ln w="12700">
            <a:solidFill>
              <a:srgbClr val="E2D3CA"/>
            </a:solidFill>
            <a:prstDash val="solid"/>
          </a:ln>
        </p:spPr>
      </p:sp>
      <p:sp>
        <p:nvSpPr>
          <p:cNvPr id="16" name="text-73"/>
          <p:cNvSpPr txBox="1"/>
          <p:nvPr/>
        </p:nvSpPr>
        <p:spPr>
          <a:xfrm>
            <a:off x="4846320" y="3063240"/>
            <a:ext cx="3657600" cy="274320"/>
          </a:xfrm>
          <a:prstGeom prst="rect">
            <a:avLst/>
          </a:prstGeom>
          <a:noFill/>
          <a:ln/>
        </p:spPr>
        <p:txBody>
          <a:bodyPr wrap="square" lIns="0" tIns="0" rIns="0" bIns="0" rtlCol="0" anchor="t"/>
          <a:lstStyle/>
          <a:p>
            <a:pPr indent="0" marL="0">
              <a:buNone/>
            </a:pPr>
            <a:r>
              <a:rPr lang="en-US" sz="1300" b="1" spc="100" kern="0" dirty="0">
                <a:solidFill>
                  <a:srgbClr val="9A3A34"/>
                </a:solidFill>
                <a:latin typeface="Arial" pitchFamily="34" charset="0"/>
                <a:ea typeface="Arial" pitchFamily="34" charset="-122"/>
                <a:cs typeface="Arial" pitchFamily="34" charset="-120"/>
              </a:rPr>
              <a:t>PROVOCARE</a:t>
            </a:r>
            <a:endParaRPr lang="en-US" sz="1300" dirty="0"/>
          </a:p>
        </p:txBody>
      </p:sp>
      <p:sp>
        <p:nvSpPr>
          <p:cNvPr id="17" name="text-74"/>
          <p:cNvSpPr txBox="1"/>
          <p:nvPr/>
        </p:nvSpPr>
        <p:spPr>
          <a:xfrm>
            <a:off x="4846320" y="3383280"/>
            <a:ext cx="3703320" cy="1188720"/>
          </a:xfrm>
          <a:prstGeom prst="rect">
            <a:avLst/>
          </a:prstGeom>
          <a:noFill/>
          <a:ln/>
        </p:spPr>
        <p:txBody>
          <a:bodyPr wrap="square" lIns="0" tIns="0" rIns="0" bIns="0" rtlCol="0" anchor="t"/>
          <a:lstStyle/>
          <a:p>
            <a:pPr indent="0" marL="0">
              <a:spcAft>
                <a:spcPts val="500"/>
              </a:spcAft>
              <a:buNone/>
            </a:pPr>
            <a:r>
              <a:rPr lang="en-US" sz="1350" dirty="0">
                <a:solidFill>
                  <a:srgbClr val="1E1A18"/>
                </a:solidFill>
                <a:latin typeface="Arial" pitchFamily="34" charset="0"/>
                <a:ea typeface="Arial" pitchFamily="34" charset="-122"/>
                <a:cs typeface="Arial" pitchFamily="34" charset="-120"/>
              </a:rPr>
              <a:t>„Sunt [nume], cea mai bună coloristă… din camera asta.”</a:t>
            </a:r>
            <a:endParaRPr lang="en-US" sz="1600" dirty="0"/>
          </a:p>
          <a:p>
            <a:pPr indent="0" marL="0">
              <a:spcAft>
                <a:spcPts val="500"/>
              </a:spcAft>
              <a:buNone/>
            </a:pPr>
            <a:r>
              <a:rPr lang="en-US" sz="1350" dirty="0">
                <a:solidFill>
                  <a:srgbClr val="1E1A18"/>
                </a:solidFill>
                <a:latin typeface="Arial" pitchFamily="34" charset="0"/>
                <a:ea typeface="Arial" pitchFamily="34" charset="-122"/>
                <a:cs typeface="Arial" pitchFamily="34" charset="-120"/>
              </a:rPr>
              <a:t>„Peste un an o să râd de video-ul ăsta. Dar azi îl fac.”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75"/>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ÎNAINTE DE FILMARE · 10 SECUNDE</a:t>
            </a:r>
            <a:endParaRPr lang="en-US" sz="1200" dirty="0"/>
          </a:p>
        </p:txBody>
      </p:sp>
      <p:sp>
        <p:nvSpPr>
          <p:cNvPr id="3" name="text-76"/>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Numește și respiră</a:t>
            </a:r>
            <a:endParaRPr lang="en-US" sz="2600" dirty="0"/>
          </a:p>
        </p:txBody>
      </p:sp>
      <p:sp>
        <p:nvSpPr>
          <p:cNvPr id="4" name="text-77"/>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78"/>
          <p:cNvSpPr/>
          <p:nvPr/>
        </p:nvSpPr>
        <p:spPr>
          <a:xfrm>
            <a:off x="457200" y="1325880"/>
            <a:ext cx="4023360" cy="2194560"/>
          </a:xfrm>
          <a:prstGeom prst="roundRect">
            <a:avLst>
              <a:gd name="adj" fmla="val 4167"/>
            </a:avLst>
          </a:prstGeom>
          <a:solidFill>
            <a:srgbClr val="F6EEE9"/>
          </a:solidFill>
          <a:ln w="12700">
            <a:solidFill>
              <a:srgbClr val="F6EEE9"/>
            </a:solidFill>
            <a:prstDash val="solid"/>
          </a:ln>
        </p:spPr>
      </p:sp>
      <p:sp>
        <p:nvSpPr>
          <p:cNvPr id="7" name="num-79"/>
          <p:cNvSpPr/>
          <p:nvPr/>
        </p:nvSpPr>
        <p:spPr>
          <a:xfrm>
            <a:off x="685800" y="1508760"/>
            <a:ext cx="548640" cy="548640"/>
          </a:xfrm>
          <a:prstGeom prst="ellipse">
            <a:avLst/>
          </a:prstGeom>
          <a:solidFill>
            <a:srgbClr val="9A4F5C"/>
          </a:solidFill>
          <a:ln w="19050">
            <a:solidFill>
              <a:srgbClr val="FFFFFF"/>
            </a:solidFill>
            <a:prstDash val="solid"/>
          </a:ln>
        </p:spPr>
      </p:sp>
      <p:sp>
        <p:nvSpPr>
          <p:cNvPr id="8" name="text-80"/>
          <p:cNvSpPr txBox="1"/>
          <p:nvPr/>
        </p:nvSpPr>
        <p:spPr>
          <a:xfrm>
            <a:off x="68580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81"/>
          <p:cNvSpPr txBox="1"/>
          <p:nvPr/>
        </p:nvSpPr>
        <p:spPr>
          <a:xfrm>
            <a:off x="3200400" y="1554480"/>
            <a:ext cx="1097280" cy="457200"/>
          </a:xfrm>
          <a:prstGeom prst="rect">
            <a:avLst/>
          </a:prstGeom>
          <a:noFill/>
          <a:ln/>
        </p:spPr>
        <p:txBody>
          <a:bodyPr wrap="square" lIns="0" tIns="0" rIns="0" bIns="0" rtlCol="0" anchor="t"/>
          <a:lstStyle/>
          <a:p>
            <a:pPr algn="r" indent="0" marL="0">
              <a:buNone/>
            </a:pPr>
            <a:r>
              <a:rPr lang="en-US" sz="1800" b="1" dirty="0">
                <a:solidFill>
                  <a:srgbClr val="8A6A2F"/>
                </a:solidFill>
                <a:latin typeface="Arial" pitchFamily="34" charset="0"/>
                <a:ea typeface="Arial" pitchFamily="34" charset="-122"/>
                <a:cs typeface="Arial" pitchFamily="34" charset="-120"/>
              </a:rPr>
              <a:t>3 sec</a:t>
            </a:r>
            <a:endParaRPr lang="en-US" sz="1800" dirty="0"/>
          </a:p>
        </p:txBody>
      </p:sp>
      <p:sp>
        <p:nvSpPr>
          <p:cNvPr id="10" name="text-82"/>
          <p:cNvSpPr txBox="1"/>
          <p:nvPr/>
        </p:nvSpPr>
        <p:spPr>
          <a:xfrm>
            <a:off x="685800" y="2194560"/>
            <a:ext cx="3566160" cy="457200"/>
          </a:xfrm>
          <a:prstGeom prst="rect">
            <a:avLst/>
          </a:prstGeom>
          <a:noFill/>
          <a:ln/>
        </p:spPr>
        <p:txBody>
          <a:bodyPr wrap="square" lIns="0" tIns="0" rIns="0" bIns="0" rtlCol="0" anchor="t"/>
          <a:lstStyle/>
          <a:p>
            <a:pPr indent="0" marL="0">
              <a:buNone/>
            </a:pPr>
            <a:r>
              <a:rPr lang="en-US" sz="2400" b="1" dirty="0">
                <a:solidFill>
                  <a:srgbClr val="9A4F5C"/>
                </a:solidFill>
                <a:latin typeface="Arial" pitchFamily="34" charset="0"/>
                <a:ea typeface="Arial" pitchFamily="34" charset="-122"/>
                <a:cs typeface="Arial" pitchFamily="34" charset="-120"/>
              </a:rPr>
              <a:t>Numește</a:t>
            </a:r>
            <a:endParaRPr lang="en-US" sz="2400" dirty="0"/>
          </a:p>
        </p:txBody>
      </p:sp>
      <p:sp>
        <p:nvSpPr>
          <p:cNvPr id="11" name="text-83"/>
          <p:cNvSpPr txBox="1"/>
          <p:nvPr/>
        </p:nvSpPr>
        <p:spPr>
          <a:xfrm>
            <a:off x="685800" y="2697480"/>
            <a:ext cx="3566160" cy="731520"/>
          </a:xfrm>
          <a:prstGeom prst="rect">
            <a:avLst/>
          </a:prstGeom>
          <a:noFill/>
          <a:ln/>
        </p:spPr>
        <p:txBody>
          <a:bodyPr wrap="square" lIns="0" tIns="0" rIns="0" bIns="0" rtlCol="0" anchor="t"/>
          <a:lstStyle/>
          <a:p>
            <a:pPr indent="0" marL="0">
              <a:buNone/>
            </a:pPr>
            <a:r>
              <a:rPr lang="en-US" sz="1700" dirty="0">
                <a:solidFill>
                  <a:srgbClr val="1E1A18"/>
                </a:solidFill>
                <a:latin typeface="Arial" pitchFamily="34" charset="0"/>
                <a:ea typeface="Arial" pitchFamily="34" charset="-122"/>
                <a:cs typeface="Arial" pitchFamily="34" charset="-120"/>
              </a:rPr>
              <a:t>„Am emoții. Și filmez oricum.”</a:t>
            </a:r>
            <a:endParaRPr lang="en-US" sz="1700" dirty="0"/>
          </a:p>
        </p:txBody>
      </p:sp>
      <p:sp>
        <p:nvSpPr>
          <p:cNvPr id="12" name="card-84"/>
          <p:cNvSpPr/>
          <p:nvPr/>
        </p:nvSpPr>
        <p:spPr>
          <a:xfrm>
            <a:off x="4663440" y="1325880"/>
            <a:ext cx="4023360" cy="2194560"/>
          </a:xfrm>
          <a:prstGeom prst="roundRect">
            <a:avLst>
              <a:gd name="adj" fmla="val 4167"/>
            </a:avLst>
          </a:prstGeom>
          <a:solidFill>
            <a:srgbClr val="F6EEE9"/>
          </a:solidFill>
          <a:ln w="12700">
            <a:solidFill>
              <a:srgbClr val="F6EEE9"/>
            </a:solidFill>
            <a:prstDash val="solid"/>
          </a:ln>
        </p:spPr>
      </p:sp>
      <p:sp>
        <p:nvSpPr>
          <p:cNvPr id="13" name="num-85"/>
          <p:cNvSpPr/>
          <p:nvPr/>
        </p:nvSpPr>
        <p:spPr>
          <a:xfrm>
            <a:off x="4892040" y="1508760"/>
            <a:ext cx="548640" cy="548640"/>
          </a:xfrm>
          <a:prstGeom prst="ellipse">
            <a:avLst/>
          </a:prstGeom>
          <a:solidFill>
            <a:srgbClr val="9A4F5C"/>
          </a:solidFill>
          <a:ln w="19050">
            <a:solidFill>
              <a:srgbClr val="FFFFFF"/>
            </a:solidFill>
            <a:prstDash val="solid"/>
          </a:ln>
        </p:spPr>
      </p:sp>
      <p:sp>
        <p:nvSpPr>
          <p:cNvPr id="14" name="text-86"/>
          <p:cNvSpPr txBox="1"/>
          <p:nvPr/>
        </p:nvSpPr>
        <p:spPr>
          <a:xfrm>
            <a:off x="489204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87"/>
          <p:cNvSpPr txBox="1"/>
          <p:nvPr/>
        </p:nvSpPr>
        <p:spPr>
          <a:xfrm>
            <a:off x="7406640" y="1554480"/>
            <a:ext cx="1097280" cy="457200"/>
          </a:xfrm>
          <a:prstGeom prst="rect">
            <a:avLst/>
          </a:prstGeom>
          <a:noFill/>
          <a:ln/>
        </p:spPr>
        <p:txBody>
          <a:bodyPr wrap="square" lIns="0" tIns="0" rIns="0" bIns="0" rtlCol="0" anchor="t"/>
          <a:lstStyle/>
          <a:p>
            <a:pPr algn="r" indent="0" marL="0">
              <a:buNone/>
            </a:pPr>
            <a:r>
              <a:rPr lang="en-US" sz="1800" b="1" dirty="0">
                <a:solidFill>
                  <a:srgbClr val="8A6A2F"/>
                </a:solidFill>
                <a:latin typeface="Arial" pitchFamily="34" charset="0"/>
                <a:ea typeface="Arial" pitchFamily="34" charset="-122"/>
                <a:cs typeface="Arial" pitchFamily="34" charset="-120"/>
              </a:rPr>
              <a:t>7 sec</a:t>
            </a:r>
            <a:endParaRPr lang="en-US" sz="1800" dirty="0"/>
          </a:p>
        </p:txBody>
      </p:sp>
      <p:sp>
        <p:nvSpPr>
          <p:cNvPr id="16" name="text-88"/>
          <p:cNvSpPr txBox="1"/>
          <p:nvPr/>
        </p:nvSpPr>
        <p:spPr>
          <a:xfrm>
            <a:off x="4892040" y="2194560"/>
            <a:ext cx="3566160" cy="457200"/>
          </a:xfrm>
          <a:prstGeom prst="rect">
            <a:avLst/>
          </a:prstGeom>
          <a:noFill/>
          <a:ln/>
        </p:spPr>
        <p:txBody>
          <a:bodyPr wrap="square" lIns="0" tIns="0" rIns="0" bIns="0" rtlCol="0" anchor="t"/>
          <a:lstStyle/>
          <a:p>
            <a:pPr indent="0" marL="0">
              <a:buNone/>
            </a:pPr>
            <a:r>
              <a:rPr lang="en-US" sz="2400" b="1" dirty="0">
                <a:solidFill>
                  <a:srgbClr val="9A4F5C"/>
                </a:solidFill>
                <a:latin typeface="Arial" pitchFamily="34" charset="0"/>
                <a:ea typeface="Arial" pitchFamily="34" charset="-122"/>
                <a:cs typeface="Arial" pitchFamily="34" charset="-120"/>
              </a:rPr>
              <a:t>Respiră</a:t>
            </a:r>
            <a:endParaRPr lang="en-US" sz="2400" dirty="0"/>
          </a:p>
        </p:txBody>
      </p:sp>
      <p:sp>
        <p:nvSpPr>
          <p:cNvPr id="17" name="text-89"/>
          <p:cNvSpPr txBox="1"/>
          <p:nvPr/>
        </p:nvSpPr>
        <p:spPr>
          <a:xfrm>
            <a:off x="4892040" y="2697480"/>
            <a:ext cx="3566160" cy="731520"/>
          </a:xfrm>
          <a:prstGeom prst="rect">
            <a:avLst/>
          </a:prstGeom>
          <a:noFill/>
          <a:ln/>
        </p:spPr>
        <p:txBody>
          <a:bodyPr wrap="square" lIns="0" tIns="0" rIns="0" bIns="0" rtlCol="0" anchor="t"/>
          <a:lstStyle/>
          <a:p>
            <a:pPr indent="0" marL="0">
              <a:buNone/>
            </a:pPr>
            <a:r>
              <a:rPr lang="en-US" sz="1700" dirty="0">
                <a:solidFill>
                  <a:srgbClr val="1E1A18"/>
                </a:solidFill>
                <a:latin typeface="Arial" pitchFamily="34" charset="0"/>
                <a:ea typeface="Arial" pitchFamily="34" charset="-122"/>
                <a:cs typeface="Arial" pitchFamily="34" charset="-120"/>
              </a:rPr>
              <a:t>Inspiră pe nas. Expiră lent, mai lung, pe gură.</a:t>
            </a:r>
            <a:endParaRPr lang="en-US" sz="1700" dirty="0"/>
          </a:p>
        </p:txBody>
      </p:sp>
      <p:sp>
        <p:nvSpPr>
          <p:cNvPr id="18" name="text-90"/>
          <p:cNvSpPr txBox="1"/>
          <p:nvPr/>
        </p:nvSpPr>
        <p:spPr>
          <a:xfrm>
            <a:off x="457200" y="3794760"/>
            <a:ext cx="8229600" cy="640080"/>
          </a:xfrm>
          <a:prstGeom prst="rect">
            <a:avLst/>
          </a:prstGeom>
          <a:noFill/>
          <a:ln/>
        </p:spPr>
        <p:txBody>
          <a:bodyPr wrap="square" lIns="0" tIns="0" rIns="0" bIns="0" rtlCol="0" anchor="ctr"/>
          <a:lstStyle/>
          <a:p>
            <a:pPr indent="0" marL="0">
              <a:buNone/>
            </a:pPr>
            <a:r>
              <a:rPr lang="en-US" sz="1900" b="1" i="1" dirty="0">
                <a:solidFill>
                  <a:srgbClr val="9A4F5C"/>
                </a:solidFill>
                <a:latin typeface="Arial" pitchFamily="34" charset="0"/>
                <a:ea typeface="Arial" pitchFamily="34" charset="-122"/>
                <a:cs typeface="Arial" pitchFamily="34" charset="-120"/>
              </a:rPr>
              <a:t>Emoțiile nu dispar la comandă. Stau pe scaunul din spate. Tu conduci.</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91"/>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DUPĂ CURS · OPȚIONAL</a:t>
            </a:r>
            <a:endParaRPr lang="en-US" sz="1200" dirty="0"/>
          </a:p>
        </p:txBody>
      </p:sp>
      <p:sp>
        <p:nvSpPr>
          <p:cNvPr id="3" name="text-92"/>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Captionul onest</a:t>
            </a:r>
            <a:endParaRPr lang="en-US" sz="2600" dirty="0"/>
          </a:p>
        </p:txBody>
      </p:sp>
      <p:sp>
        <p:nvSpPr>
          <p:cNvPr id="4" name="text-93"/>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94"/>
          <p:cNvSpPr/>
          <p:nvPr/>
        </p:nvSpPr>
        <p:spPr>
          <a:xfrm>
            <a:off x="457200" y="1280160"/>
            <a:ext cx="8229600" cy="914400"/>
          </a:xfrm>
          <a:prstGeom prst="roundRect">
            <a:avLst>
              <a:gd name="adj" fmla="val 10000"/>
            </a:avLst>
          </a:prstGeom>
          <a:solidFill>
            <a:srgbClr val="FFFFFF"/>
          </a:solidFill>
          <a:ln w="19050">
            <a:solidFill>
              <a:srgbClr val="9A4F5C"/>
            </a:solidFill>
            <a:prstDash val="solid"/>
          </a:ln>
        </p:spPr>
      </p:sp>
      <p:sp>
        <p:nvSpPr>
          <p:cNvPr id="7" name="text-95"/>
          <p:cNvSpPr txBox="1"/>
          <p:nvPr/>
        </p:nvSpPr>
        <p:spPr>
          <a:xfrm>
            <a:off x="685800" y="1325880"/>
            <a:ext cx="7772400" cy="822960"/>
          </a:xfrm>
          <a:prstGeom prst="rect">
            <a:avLst/>
          </a:prstGeom>
          <a:noFill/>
          <a:ln/>
        </p:spPr>
        <p:txBody>
          <a:bodyPr wrap="square" lIns="0" tIns="0" rIns="0" bIns="0" rtlCol="0" anchor="ctr"/>
          <a:lstStyle/>
          <a:p>
            <a:pPr indent="0" marL="0">
              <a:buNone/>
            </a:pPr>
            <a:r>
              <a:rPr lang="en-US" sz="2000" b="1" i="1" dirty="0">
                <a:solidFill>
                  <a:srgbClr val="9A4F5C"/>
                </a:solidFill>
                <a:latin typeface="Arial" pitchFamily="34" charset="0"/>
                <a:ea typeface="Arial" pitchFamily="34" charset="-122"/>
                <a:cs typeface="Arial" pitchFamily="34" charset="-120"/>
              </a:rPr>
              <a:t>„Primul meu video. Am avut emoții. L-am făcut oricum. #BlondeAmbition”</a:t>
            </a:r>
            <a:endParaRPr lang="en-US" sz="2000" dirty="0"/>
          </a:p>
        </p:txBody>
      </p:sp>
      <p:sp>
        <p:nvSpPr>
          <p:cNvPr id="8" name="card-96"/>
          <p:cNvSpPr/>
          <p:nvPr/>
        </p:nvSpPr>
        <p:spPr>
          <a:xfrm>
            <a:off x="457200" y="2423160"/>
            <a:ext cx="2606040" cy="1325880"/>
          </a:xfrm>
          <a:prstGeom prst="roundRect">
            <a:avLst>
              <a:gd name="adj" fmla="val 6897"/>
            </a:avLst>
          </a:prstGeom>
          <a:solidFill>
            <a:srgbClr val="F6EEE9"/>
          </a:solidFill>
          <a:ln w="12700">
            <a:solidFill>
              <a:srgbClr val="F6EEE9"/>
            </a:solidFill>
            <a:prstDash val="solid"/>
          </a:ln>
        </p:spPr>
      </p:sp>
      <p:sp>
        <p:nvSpPr>
          <p:cNvPr id="9" name="num-97"/>
          <p:cNvSpPr/>
          <p:nvPr/>
        </p:nvSpPr>
        <p:spPr>
          <a:xfrm>
            <a:off x="640080" y="2578608"/>
            <a:ext cx="457200" cy="457200"/>
          </a:xfrm>
          <a:prstGeom prst="ellipse">
            <a:avLst/>
          </a:prstGeom>
          <a:solidFill>
            <a:srgbClr val="9A4F5C"/>
          </a:solidFill>
          <a:ln w="19050">
            <a:solidFill>
              <a:srgbClr val="FFFFFF"/>
            </a:solidFill>
            <a:prstDash val="solid"/>
          </a:ln>
        </p:spPr>
      </p:sp>
      <p:sp>
        <p:nvSpPr>
          <p:cNvPr id="10" name="text-98"/>
          <p:cNvSpPr txBox="1"/>
          <p:nvPr/>
        </p:nvSpPr>
        <p:spPr>
          <a:xfrm>
            <a:off x="640080" y="2578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text-99"/>
          <p:cNvSpPr txBox="1"/>
          <p:nvPr/>
        </p:nvSpPr>
        <p:spPr>
          <a:xfrm>
            <a:off x="1234440" y="2578608"/>
            <a:ext cx="1737360" cy="457200"/>
          </a:xfrm>
          <a:prstGeom prst="rect">
            <a:avLst/>
          </a:prstGeom>
          <a:noFill/>
          <a:ln/>
        </p:spPr>
        <p:txBody>
          <a:bodyPr wrap="square" lIns="0" tIns="0" rIns="0" bIns="0" rtlCol="0" anchor="ctr"/>
          <a:lstStyle/>
          <a:p>
            <a:pPr indent="0" marL="0">
              <a:buNone/>
            </a:pPr>
            <a:r>
              <a:rPr lang="en-US" sz="1800" b="1" dirty="0">
                <a:solidFill>
                  <a:srgbClr val="1E1A18"/>
                </a:solidFill>
                <a:latin typeface="Arial" pitchFamily="34" charset="0"/>
                <a:ea typeface="Arial" pitchFamily="34" charset="-122"/>
                <a:cs typeface="Arial" pitchFamily="34" charset="-120"/>
              </a:rPr>
              <a:t>Îl păstrez</a:t>
            </a:r>
            <a:endParaRPr lang="en-US" sz="1800" dirty="0"/>
          </a:p>
        </p:txBody>
      </p:sp>
      <p:sp>
        <p:nvSpPr>
          <p:cNvPr id="12" name="text-100"/>
          <p:cNvSpPr txBox="1"/>
          <p:nvPr/>
        </p:nvSpPr>
        <p:spPr>
          <a:xfrm>
            <a:off x="640080" y="3127248"/>
            <a:ext cx="2286000" cy="548640"/>
          </a:xfrm>
          <a:prstGeom prst="rect">
            <a:avLst/>
          </a:prstGeom>
          <a:noFill/>
          <a:ln/>
        </p:spPr>
        <p:txBody>
          <a:bodyPr wrap="square" lIns="0" tIns="0" rIns="0" bIns="0" rtlCol="0" anchor="t"/>
          <a:lstStyle/>
          <a:p>
            <a:pPr indent="0" marL="0">
              <a:buNone/>
            </a:pPr>
            <a:r>
              <a:rPr lang="en-US" sz="1400" dirty="0">
                <a:solidFill>
                  <a:srgbClr val="4A3F3A"/>
                </a:solidFill>
                <a:latin typeface="Arial" pitchFamily="34" charset="0"/>
                <a:ea typeface="Arial" pitchFamily="34" charset="-122"/>
                <a:cs typeface="Arial" pitchFamily="34" charset="-120"/>
              </a:rPr>
              <a:t>punctul meu zero; peste 6 luni văd progresul</a:t>
            </a:r>
            <a:endParaRPr lang="en-US" sz="1400" dirty="0"/>
          </a:p>
        </p:txBody>
      </p:sp>
      <p:sp>
        <p:nvSpPr>
          <p:cNvPr id="13" name="card-101"/>
          <p:cNvSpPr/>
          <p:nvPr/>
        </p:nvSpPr>
        <p:spPr>
          <a:xfrm>
            <a:off x="3246120" y="2423160"/>
            <a:ext cx="2606040" cy="1325880"/>
          </a:xfrm>
          <a:prstGeom prst="roundRect">
            <a:avLst>
              <a:gd name="adj" fmla="val 6897"/>
            </a:avLst>
          </a:prstGeom>
          <a:solidFill>
            <a:srgbClr val="F6EEE9"/>
          </a:solidFill>
          <a:ln w="12700">
            <a:solidFill>
              <a:srgbClr val="F6EEE9"/>
            </a:solidFill>
            <a:prstDash val="solid"/>
          </a:ln>
        </p:spPr>
      </p:sp>
      <p:sp>
        <p:nvSpPr>
          <p:cNvPr id="14" name="num-102"/>
          <p:cNvSpPr/>
          <p:nvPr/>
        </p:nvSpPr>
        <p:spPr>
          <a:xfrm>
            <a:off x="3429000" y="2578608"/>
            <a:ext cx="457200" cy="457200"/>
          </a:xfrm>
          <a:prstGeom prst="ellipse">
            <a:avLst/>
          </a:prstGeom>
          <a:solidFill>
            <a:srgbClr val="9A4F5C"/>
          </a:solidFill>
          <a:ln w="19050">
            <a:solidFill>
              <a:srgbClr val="FFFFFF"/>
            </a:solidFill>
            <a:prstDash val="solid"/>
          </a:ln>
        </p:spPr>
      </p:sp>
      <p:sp>
        <p:nvSpPr>
          <p:cNvPr id="15" name="text-103"/>
          <p:cNvSpPr txBox="1"/>
          <p:nvPr/>
        </p:nvSpPr>
        <p:spPr>
          <a:xfrm>
            <a:off x="3429000" y="2578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104"/>
          <p:cNvSpPr txBox="1"/>
          <p:nvPr/>
        </p:nvSpPr>
        <p:spPr>
          <a:xfrm>
            <a:off x="4023360" y="2578608"/>
            <a:ext cx="1737360" cy="457200"/>
          </a:xfrm>
          <a:prstGeom prst="rect">
            <a:avLst/>
          </a:prstGeom>
          <a:noFill/>
          <a:ln/>
        </p:spPr>
        <p:txBody>
          <a:bodyPr wrap="square" lIns="0" tIns="0" rIns="0" bIns="0" rtlCol="0" anchor="ctr"/>
          <a:lstStyle/>
          <a:p>
            <a:pPr indent="0" marL="0">
              <a:buNone/>
            </a:pPr>
            <a:r>
              <a:rPr lang="en-US" sz="1800" b="1" dirty="0">
                <a:solidFill>
                  <a:srgbClr val="1E1A18"/>
                </a:solidFill>
                <a:latin typeface="Arial" pitchFamily="34" charset="0"/>
                <a:ea typeface="Arial" pitchFamily="34" charset="-122"/>
                <a:cs typeface="Arial" pitchFamily="34" charset="-120"/>
              </a:rPr>
              <a:t>Story</a:t>
            </a:r>
            <a:endParaRPr lang="en-US" sz="1800" dirty="0"/>
          </a:p>
        </p:txBody>
      </p:sp>
      <p:sp>
        <p:nvSpPr>
          <p:cNvPr id="17" name="text-105"/>
          <p:cNvSpPr txBox="1"/>
          <p:nvPr/>
        </p:nvSpPr>
        <p:spPr>
          <a:xfrm>
            <a:off x="3429000" y="3127248"/>
            <a:ext cx="2286000" cy="548640"/>
          </a:xfrm>
          <a:prstGeom prst="rect">
            <a:avLst/>
          </a:prstGeom>
          <a:noFill/>
          <a:ln/>
        </p:spPr>
        <p:txBody>
          <a:bodyPr wrap="square" lIns="0" tIns="0" rIns="0" bIns="0" rtlCol="0" anchor="t"/>
          <a:lstStyle/>
          <a:p>
            <a:pPr indent="0" marL="0">
              <a:buNone/>
            </a:pPr>
            <a:r>
              <a:rPr lang="en-US" sz="1400" dirty="0">
                <a:solidFill>
                  <a:srgbClr val="4A3F3A"/>
                </a:solidFill>
                <a:latin typeface="Arial" pitchFamily="34" charset="0"/>
                <a:ea typeface="Arial" pitchFamily="34" charset="-122"/>
                <a:cs typeface="Arial" pitchFamily="34" charset="-120"/>
              </a:rPr>
              <a:t>doar la „Prieteni apropiați”</a:t>
            </a:r>
            <a:endParaRPr lang="en-US" sz="1400" dirty="0"/>
          </a:p>
        </p:txBody>
      </p:sp>
      <p:sp>
        <p:nvSpPr>
          <p:cNvPr id="18" name="card-106"/>
          <p:cNvSpPr/>
          <p:nvPr/>
        </p:nvSpPr>
        <p:spPr>
          <a:xfrm>
            <a:off x="6035040" y="2423160"/>
            <a:ext cx="2606040" cy="1325880"/>
          </a:xfrm>
          <a:prstGeom prst="roundRect">
            <a:avLst>
              <a:gd name="adj" fmla="val 6897"/>
            </a:avLst>
          </a:prstGeom>
          <a:solidFill>
            <a:srgbClr val="F6EEE9"/>
          </a:solidFill>
          <a:ln w="12700">
            <a:solidFill>
              <a:srgbClr val="F6EEE9"/>
            </a:solidFill>
            <a:prstDash val="solid"/>
          </a:ln>
        </p:spPr>
      </p:sp>
      <p:sp>
        <p:nvSpPr>
          <p:cNvPr id="19" name="num-107"/>
          <p:cNvSpPr/>
          <p:nvPr/>
        </p:nvSpPr>
        <p:spPr>
          <a:xfrm>
            <a:off x="6217920" y="2578608"/>
            <a:ext cx="457200" cy="457200"/>
          </a:xfrm>
          <a:prstGeom prst="ellipse">
            <a:avLst/>
          </a:prstGeom>
          <a:solidFill>
            <a:srgbClr val="9A4F5C"/>
          </a:solidFill>
          <a:ln w="19050">
            <a:solidFill>
              <a:srgbClr val="FFFFFF"/>
            </a:solidFill>
            <a:prstDash val="solid"/>
          </a:ln>
        </p:spPr>
      </p:sp>
      <p:sp>
        <p:nvSpPr>
          <p:cNvPr id="20" name="text-108"/>
          <p:cNvSpPr txBox="1"/>
          <p:nvPr/>
        </p:nvSpPr>
        <p:spPr>
          <a:xfrm>
            <a:off x="6217920" y="2578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1" name="text-109"/>
          <p:cNvSpPr txBox="1"/>
          <p:nvPr/>
        </p:nvSpPr>
        <p:spPr>
          <a:xfrm>
            <a:off x="6812280" y="2578608"/>
            <a:ext cx="1737360" cy="457200"/>
          </a:xfrm>
          <a:prstGeom prst="rect">
            <a:avLst/>
          </a:prstGeom>
          <a:noFill/>
          <a:ln/>
        </p:spPr>
        <p:txBody>
          <a:bodyPr wrap="square" lIns="0" tIns="0" rIns="0" bIns="0" rtlCol="0" anchor="ctr"/>
          <a:lstStyle/>
          <a:p>
            <a:pPr indent="0" marL="0">
              <a:buNone/>
            </a:pPr>
            <a:r>
              <a:rPr lang="en-US" sz="1800" b="1" dirty="0">
                <a:solidFill>
                  <a:srgbClr val="1E1A18"/>
                </a:solidFill>
                <a:latin typeface="Arial" pitchFamily="34" charset="0"/>
                <a:ea typeface="Arial" pitchFamily="34" charset="-122"/>
                <a:cs typeface="Arial" pitchFamily="34" charset="-120"/>
              </a:rPr>
              <a:t>Îl postez</a:t>
            </a:r>
            <a:endParaRPr lang="en-US" sz="1800" dirty="0"/>
          </a:p>
        </p:txBody>
      </p:sp>
      <p:sp>
        <p:nvSpPr>
          <p:cNvPr id="22" name="text-110"/>
          <p:cNvSpPr txBox="1"/>
          <p:nvPr/>
        </p:nvSpPr>
        <p:spPr>
          <a:xfrm>
            <a:off x="6217920" y="3127248"/>
            <a:ext cx="2286000" cy="548640"/>
          </a:xfrm>
          <a:prstGeom prst="rect">
            <a:avLst/>
          </a:prstGeom>
          <a:noFill/>
          <a:ln/>
        </p:spPr>
        <p:txBody>
          <a:bodyPr wrap="square" lIns="0" tIns="0" rIns="0" bIns="0" rtlCol="0" anchor="t"/>
          <a:lstStyle/>
          <a:p>
            <a:pPr indent="0" marL="0">
              <a:buNone/>
            </a:pPr>
            <a:r>
              <a:rPr lang="en-US" sz="1400" dirty="0">
                <a:solidFill>
                  <a:srgbClr val="4A3F3A"/>
                </a:solidFill>
                <a:latin typeface="Arial" pitchFamily="34" charset="0"/>
                <a:ea typeface="Arial" pitchFamily="34" charset="-122"/>
                <a:cs typeface="Arial" pitchFamily="34" charset="-120"/>
              </a:rPr>
              <a:t>cu captionul onest; mă poți eticheta</a:t>
            </a:r>
            <a:endParaRPr lang="en-US" sz="1400" dirty="0"/>
          </a:p>
        </p:txBody>
      </p:sp>
      <p:sp>
        <p:nvSpPr>
          <p:cNvPr id="23" name="text-111"/>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800" b="1" i="1" dirty="0">
                <a:solidFill>
                  <a:srgbClr val="9A4F5C"/>
                </a:solidFill>
                <a:latin typeface="Arial" pitchFamily="34" charset="0"/>
                <a:ea typeface="Arial" pitchFamily="34" charset="-122"/>
                <a:cs typeface="Arial" pitchFamily="34" charset="-120"/>
              </a:rPr>
              <a:t>Nu postezi pentru algoritm. Postezi pentru tine, cea de peste un an.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EE9"/>
        </a:solidFill>
      </p:bgPr>
    </p:bg>
    <p:spTree>
      <p:nvGrpSpPr>
        <p:cNvPr id="1" name=""/>
        <p:cNvGrpSpPr/>
        <p:nvPr/>
      </p:nvGrpSpPr>
      <p:grpSpPr>
        <a:xfrm>
          <a:off x="0" y="0"/>
          <a:ext cx="0" cy="0"/>
          <a:chOff x="0" y="0"/>
          <a:chExt cx="0" cy="0"/>
        </a:xfrm>
      </p:grpSpPr>
      <p:sp>
        <p:nvSpPr>
          <p:cNvPr id="2" name="text-112"/>
          <p:cNvSpPr txBox="1"/>
          <p:nvPr/>
        </p:nvSpPr>
        <p:spPr>
          <a:xfrm>
            <a:off x="640080" y="457200"/>
            <a:ext cx="7863840" cy="274320"/>
          </a:xfrm>
          <a:prstGeom prst="rect">
            <a:avLst/>
          </a:prstGeom>
          <a:noFill/>
          <a:ln/>
        </p:spPr>
        <p:txBody>
          <a:bodyPr wrap="square" lIns="0" tIns="0" rIns="0" bIns="0" rtlCol="0" anchor="t"/>
          <a:lstStyle/>
          <a:p>
            <a:pPr indent="0" marL="0">
              <a:buNone/>
            </a:pPr>
            <a:r>
              <a:rPr lang="en-US" sz="1300" b="1" spc="200" kern="0" dirty="0">
                <a:solidFill>
                  <a:srgbClr val="9A4F5C"/>
                </a:solidFill>
                <a:latin typeface="Arial" pitchFamily="34" charset="0"/>
                <a:ea typeface="Arial" pitchFamily="34" charset="-122"/>
                <a:cs typeface="Arial" pitchFamily="34" charset="-120"/>
              </a:rPr>
              <a:t>ÎNCHEIERE</a:t>
            </a:r>
            <a:endParaRPr lang="en-US" sz="1300" dirty="0"/>
          </a:p>
        </p:txBody>
      </p:sp>
      <p:sp>
        <p:nvSpPr>
          <p:cNvPr id="3" name="text-113"/>
          <p:cNvSpPr txBox="1"/>
          <p:nvPr/>
        </p:nvSpPr>
        <p:spPr>
          <a:xfrm>
            <a:off x="640080" y="822960"/>
            <a:ext cx="7863840" cy="109728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Ai apăsat „record” cu emoții cu tot. Emoțiile n-au plecat. Și totuși, video-ul există.</a:t>
            </a:r>
            <a:endParaRPr lang="en-US" sz="2600" dirty="0"/>
          </a:p>
        </p:txBody>
      </p:sp>
      <p:sp>
        <p:nvSpPr>
          <p:cNvPr id="4" name="card-114"/>
          <p:cNvSpPr/>
          <p:nvPr/>
        </p:nvSpPr>
        <p:spPr>
          <a:xfrm>
            <a:off x="640080" y="2148840"/>
            <a:ext cx="7863840" cy="1143000"/>
          </a:xfrm>
          <a:prstGeom prst="roundRect">
            <a:avLst>
              <a:gd name="adj" fmla="val 8000"/>
            </a:avLst>
          </a:prstGeom>
          <a:solidFill>
            <a:srgbClr val="FFFFFF"/>
          </a:solidFill>
          <a:ln w="25400">
            <a:solidFill>
              <a:srgbClr val="9A4F5C"/>
            </a:solidFill>
            <a:prstDash val="solid"/>
          </a:ln>
        </p:spPr>
      </p:sp>
      <p:sp>
        <p:nvSpPr>
          <p:cNvPr id="5" name="text-115"/>
          <p:cNvSpPr txBox="1"/>
          <p:nvPr/>
        </p:nvSpPr>
        <p:spPr>
          <a:xfrm>
            <a:off x="868680" y="2194560"/>
            <a:ext cx="7406640" cy="1051560"/>
          </a:xfrm>
          <a:prstGeom prst="rect">
            <a:avLst/>
          </a:prstGeom>
          <a:noFill/>
          <a:ln/>
        </p:spPr>
        <p:txBody>
          <a:bodyPr wrap="square" lIns="0" tIns="0" rIns="0" bIns="0" rtlCol="0" anchor="ctr"/>
          <a:lstStyle/>
          <a:p>
            <a:pPr indent="0" marL="0">
              <a:buNone/>
            </a:pPr>
            <a:r>
              <a:rPr lang="en-US" sz="2100" b="1" dirty="0">
                <a:solidFill>
                  <a:srgbClr val="9A4F5C"/>
                </a:solidFill>
                <a:latin typeface="Arial" pitchFamily="34" charset="0"/>
                <a:ea typeface="Arial" pitchFamily="34" charset="-122"/>
                <a:cs typeface="Arial" pitchFamily="34" charset="-120"/>
              </a:rPr>
              <a:t>Nu trebuie să scapi de emoții ca să începi. Trebuie să începi ca să înveți să lucrezi cu ele.</a:t>
            </a:r>
            <a:endParaRPr lang="en-US" sz="2100" dirty="0"/>
          </a:p>
        </p:txBody>
      </p:sp>
      <p:sp>
        <p:nvSpPr>
          <p:cNvPr id="6" name="text-116"/>
          <p:cNvSpPr txBox="1"/>
          <p:nvPr/>
        </p:nvSpPr>
        <p:spPr>
          <a:xfrm>
            <a:off x="640080" y="3520440"/>
            <a:ext cx="7863840" cy="731520"/>
          </a:xfrm>
          <a:prstGeom prst="rect">
            <a:avLst/>
          </a:prstGeom>
          <a:noFill/>
          <a:ln/>
        </p:spPr>
        <p:txBody>
          <a:bodyPr wrap="square" lIns="0" tIns="0" rIns="0" bIns="0" rtlCol="0" anchor="ctr"/>
          <a:lstStyle/>
          <a:p>
            <a:pPr indent="0" marL="0">
              <a:buNone/>
            </a:pPr>
            <a:r>
              <a:rPr lang="en-US" sz="1800" i="1" dirty="0">
                <a:solidFill>
                  <a:srgbClr val="4A3F3A"/>
                </a:solidFill>
                <a:latin typeface="Arial" pitchFamily="34" charset="0"/>
                <a:ea typeface="Arial" pitchFamily="34" charset="-122"/>
                <a:cs typeface="Arial" pitchFamily="34" charset="-120"/>
              </a:rPr>
              <a:t>Ai supraviețuit clientelor care spun „vreau doar puțin mai deschis”. Camera e floare la ureche.</a:t>
            </a:r>
            <a:endParaRPr lang="en-US" sz="1800" dirty="0"/>
          </a:p>
        </p:txBody>
      </p:sp>
      <p:sp>
        <p:nvSpPr>
          <p:cNvPr id="7" name="text-117"/>
          <p:cNvSpPr txBox="1"/>
          <p:nvPr/>
        </p:nvSpPr>
        <p:spPr>
          <a:xfrm>
            <a:off x="640080" y="4709160"/>
            <a:ext cx="5486400" cy="228600"/>
          </a:xfrm>
          <a:prstGeom prst="rect">
            <a:avLst/>
          </a:prstGeom>
          <a:noFill/>
          <a:ln/>
        </p:spPr>
        <p:txBody>
          <a:bodyPr wrap="square" lIns="0" tIns="0" rIns="0" bIns="0" rtlCol="0" anchor="t"/>
          <a:lstStyle/>
          <a:p>
            <a:pPr indent="0" marL="0">
              <a:buNone/>
            </a:pPr>
            <a:r>
              <a:rPr lang="en-US" sz="1100" dirty="0">
                <a:solidFill>
                  <a:srgbClr val="4A3F3A"/>
                </a:solidFill>
                <a:latin typeface="Arial" pitchFamily="34" charset="0"/>
                <a:ea typeface="Arial" pitchFamily="34" charset="-122"/>
                <a:cs typeface="Arial" pitchFamily="34" charset="-120"/>
              </a:rPr>
              <a:t>BLONDE AMBITION by Diana Avram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Emoții incluse – BLONDE AMBITION</dc:title>
  <dc:subject>PptxGenJS Presentation</dc:subject>
  <dc:creator>Diana Avram</dc:creator>
  <cp:lastModifiedBy>Diana Avram</cp:lastModifiedBy>
  <cp:revision>1</cp:revision>
  <dcterms:created xsi:type="dcterms:W3CDTF">2026-11-01T10:38:26Z</dcterms:created>
  <dcterms:modified xsi:type="dcterms:W3CDTF">2026-11-01T10:38:26Z</dcterms:modified>
</cp:coreProperties>
</file>