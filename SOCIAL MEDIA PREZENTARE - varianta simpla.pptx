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Deschidere: nu plecăm de aici influencerițe, plecăm cu un plan simplu, aplicabil mâine în salon, cu telefonul pe care îl avem deja.
Ordinea: Cum începem · Facebook · Instagram · TikTok · CapCut · Planul de acțiune.
Pe cuprins poți apăsa pe orice secțiune ca să sari direct la 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Clientele noi te caută înainte să sune, iar postările sunt singura dovadă pe care o văd.
Exemplu: un platinat perfect, filmat seara sub becul galben, orizontal, cu «Bună, sunt…» în primele secunde: cine derulează vede un blond gălbui și trece mai departe. Același blond, filmat la fereastră, vertical, cu rezultatul din prima secundă, arată exact cum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Nișa = lucrul pentru care vrei să fii cunoscută. Începi cu ce știi cel mai bine: dacă balayage-ul e punctul tău forte, cu el începi.
Identitatea vizuală înseamnă repetiție: același colț de filmare, aceeași lumină, același font și aceleași 2 culori în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scară, nu un salt: fiecare etapă poate dura câteva săptămâni.
Trucuri: un post-it cu 3 cuvinte-cheie lângă cameră (nu un text citit); filmezi cu o colegă care e regizor, nu juriu; îți spui «sunt entuziasmată» în loc de «calmează-te» (cercetarea lui Alison Wood Brooks,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Pagina profesională, cunoscută ca «pagina de like-uri», se creează din contul personal: Meniu → Pagini → Creează (denumirile pot varia ușor).
Nume: numele salonului + nișa (ex. «Studio Ana · Blonduri»), categoria «Salon de coafură», poza de profil și coperta cu cea mai bună lucrare.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comentariu «vreau și eu» primește răspuns public și un mesaj privat în aceeași zi, cu link-ul de programare sau două variante de oră. Un mesaj citit după 3 zile e o clientă pierdută.
Bonus: postează în grupurile locale doar unde regulile permit reclame; cere clientelor mulțumite o recomandare pe pagină; etichetează clienta, cu acordul 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vizibil de obicei 24 de ore, dacă nu îl salvezi la Evidențiate; îl văd mai ales urmăritorii.
Reels: video vertical care rămâne pe profil și poate fi recomandat celor care nu te urmăresc.
Postarea: o fotografie sau un carusel de până la 20 de imagini.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Profilul profesional e gratuit. Numele apare în căutare, deci scrie nișa și orașul în nume. Fără citate motivaționale în bio.
Evidențiatele răspund la întrebările frecvente: nu mai scrii aceleași răspunsuri de 20 de ori pe 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Urmăritorii interesați vin din: conținut specific nișei, cuvinte-cheie + oraș în descriere, etichetarea clientelor și răspunsuri la comentarii. Nicio frecvență nu garantează creșterea.
Îndemn la acțiune (call to action) = ce vrei să facă omul după clip. Unul singur pe postare: comentariu, salvare, distribuire sau programare. Fără «dați like, vă rog».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Înainte și după: marchează locul cu bandă pe podea, telefon pe suport, aceeași lumină. Cu lumini diferite pare trucat.
Giveaway: anunți premiul și termenul, condiții simple, extragere filmată, anunți public câștigătoarea. Premiul potrivit atrage clientele tale reale; bonus: câștigătoarea vine în salon = o transformare nouă de filmat.
Regulile Instagram pentru promoții: tu ești responsabilă de concurs, nu ceri etichetări false; se aplică legislația locală și GDPR.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Oficial (TikTok): recomandarea se bazează pe interacțiuni (aprecieri, distribuiri, comentarii, vizionare până la final), informații despre clip (descriere, sunet, hashtaguri) și, cu pondere mică, setări. Numărul de urmăritori nu e un factor direct.
Primele SECUNDE ale clipului decid dacă omul rămâne. Primele MINUTE după publicare nu sunt un verdict: un clip poate crește și după câteva zile.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 = un format folosit de mulți în aceeași perioadă. Îl găsești pe «Pentru tine», în căutare și în TikTok Creative Center. Un trend nepotrivit aduce vizualizări, dar nu cliente.
Conturile de afaceri au acces doar la Biblioteca de muzică comercială.
Tranziția: telefon fix pe suport; pui mâna peste cameră și oprești; faci transformarea; pornești cu mâna peste cameră și o iei. În editare tai exact când mâna acoperă tot ecranul.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Creator Rewards: 18 ani, 10.000 urmăritori, 100.000 vizualizări în 30 de zile, cont personal, clipuri de peste 1 minut; România nu e pe lista de țări. Abonamente: aceleași praguri, nelansat în România. Cadouri în LIVE: verifici în aplicație. Unde verifici: Profil → meniul ≡ → TikTok Studio → Monetizare.
LIVE: pragul de urmăritori variază (frecvent 1.000). Pentru culise cu clienta, cereți acordul ei.
Un public atras prin scandal nu se programează la 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Trucuri din experiența creatorilor: rezultatul în prima secundă, text pe ecran în primele 2 secunde, sunetul natural al salonului, răspuns video la comentarii, cuvinte-cheie în descriere („balayage blond rece”).
Exercițiu: fiecare scrie un început pentru o lucrare de-a 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Demonstrează live, cu ecranul telefonului proiectat (iPhone: Oglindire ecran).
Subtitrări: generatorul automat este în CapCut Pro; în varianta gratuită le scrii manual sau folosești subtitrările din Instagram/TikTok. Vocea: Audio → înregistrare.
Tutoriale oficiale: https://www.capcut.com/resource/split-video-into-parts · https://www.capcut.com/resource/how-to-speed-up-a-video · https://www.capcut.com/help/use-template · https://www.capcut.com/resource/instagram-reel-ratio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ghidul oficial CapCut «CapCut Standard vs Pro» (septembrie 2026), https://www.capcut.com/resource/capcut-standard-vs-pro. Funcțiile și prețurile diferă după versiune, dispozitiv și țară.
Pro merită dacă postezi des și vrei subtitrări automate sau șabloane premium. Sfat: duplică un proiect reușit și schimbă doar clipurile.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Mesajul final, spus rar.
Planul: filmezi o transformare (cu acordul clientei), editezi un clip scurt în CapCut, îl publici pe platforma potrivită, te uiți la reacții după câteva zile, repeți și îmbunătățești un singur lucru data viitoare.
Provocare: prima postare în maximum 7 zile după 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 Target="slide2.xml"/><Relationship Id="rId8" Type="http://schemas.openxmlformats.org/officeDocument/2006/relationships/slide" Target="slide5.xml"/><Relationship Id="rId10" Type="http://schemas.openxmlformats.org/officeDocument/2006/relationships/slide" Target="slide7.xml"/><Relationship Id="rId12" Type="http://schemas.openxmlformats.org/officeDocument/2006/relationships/slide" Target="slide11.xml"/><Relationship Id="rId14" Type="http://schemas.openxmlformats.org/officeDocument/2006/relationships/slide" Target="slide15.xml"/><Relationship Id="rId16" Type="http://schemas.openxmlformats.org/officeDocument/2006/relationships/slide" Target="slide17.xm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7" Type="http://schemas.openxmlformats.org/officeDocument/2006/relationships/image" Target="../media/image-1-6.png"/><Relationship Id="rId9" Type="http://schemas.openxmlformats.org/officeDocument/2006/relationships/image" Target="../media/image-1-7.png"/><Relationship Id="rId11" Type="http://schemas.openxmlformats.org/officeDocument/2006/relationships/image" Target="../media/image-1-8.png"/><Relationship Id="rId13" Type="http://schemas.openxmlformats.org/officeDocument/2006/relationships/image" Target="../media/image-1-9.png"/><Relationship Id="rId15" Type="http://schemas.openxmlformats.org/officeDocument/2006/relationships/image" Target="../media/image-1-10.png"/><Relationship Id="rId17" Type="http://schemas.openxmlformats.org/officeDocument/2006/relationships/slideLayout" Target="../slideLayouts/slideLayout1.xml"/><Relationship Id="rId1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2-1.png"/><Relationship Id="rId2"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2-5.png"/><Relationship Id="rId13" Type="http://schemas.openxmlformats.org/officeDocument/2006/relationships/image" Target="../media/image-2-6.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3-1.png"/><Relationship Id="rId2"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3-5.pn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4-1.png"/><Relationship Id="rId2" Type="http://schemas.openxmlformats.org/officeDocument/2006/relationships/image" Target="../media/image-4-2.png"/><Relationship Id="rId10" Type="http://schemas.openxmlformats.org/officeDocument/2006/relationships/image" Target="../media/image-4-3.png"/><Relationship Id="rId11" Type="http://schemas.openxmlformats.org/officeDocument/2006/relationships/image" Target="../media/image-4-4.png"/><Relationship Id="rId12" Type="http://schemas.openxmlformats.org/officeDocument/2006/relationships/image" Target="../media/image-4-5.png"/><Relationship Id="rId13" Type="http://schemas.openxmlformats.org/officeDocument/2006/relationships/image" Target="../media/image-4-6.png"/><Relationship Id="rId14" Type="http://schemas.openxmlformats.org/officeDocument/2006/relationships/slideLayout" Target="../slideLayouts/slideLayout1.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5-1.png"/><Relationship Id="rId2" Type="http://schemas.openxmlformats.org/officeDocument/2006/relationships/image" Target="../media/image-5-2.png"/><Relationship Id="rId10" Type="http://schemas.openxmlformats.org/officeDocument/2006/relationships/image" Target="../media/image-5-3.png"/><Relationship Id="rId11" Type="http://schemas.openxmlformats.org/officeDocument/2006/relationships/image" Target="../media/image-5-4.png"/><Relationship Id="rId12" Type="http://schemas.openxmlformats.org/officeDocument/2006/relationships/image" Target="../media/image-5-5.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6-1.png"/><Relationship Id="rId2" Type="http://schemas.openxmlformats.org/officeDocument/2006/relationships/image" Target="../media/image-6-2.png"/><Relationship Id="rId10" Type="http://schemas.openxmlformats.org/officeDocument/2006/relationships/image" Target="../media/image-6-3.png"/><Relationship Id="rId11" Type="http://schemas.openxmlformats.org/officeDocument/2006/relationships/image" Target="../media/image-6-4.png"/><Relationship Id="rId12" Type="http://schemas.openxmlformats.org/officeDocument/2006/relationships/image" Target="../media/image-6-5.png"/><Relationship Id="rId13" Type="http://schemas.openxmlformats.org/officeDocument/2006/relationships/image" Target="../media/image-6-6.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7-1.png"/><Relationship Id="rId2" Type="http://schemas.openxmlformats.org/officeDocument/2006/relationships/image" Target="../media/image-7-2.png"/><Relationship Id="rId10" Type="http://schemas.openxmlformats.org/officeDocument/2006/relationships/image" Target="../media/image-7-3.png"/><Relationship Id="rId11" Type="http://schemas.openxmlformats.org/officeDocument/2006/relationships/image" Target="../media/image-7-4.png"/><Relationship Id="rId12" Type="http://schemas.openxmlformats.org/officeDocument/2006/relationships/image" Target="../media/image-7-5.png"/><Relationship Id="rId13" Type="http://schemas.openxmlformats.org/officeDocument/2006/relationships/image" Target="../media/image-7-6.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8-1.png"/><Relationship Id="rId2" Type="http://schemas.openxmlformats.org/officeDocument/2006/relationships/image" Target="../media/image-8-2.png"/><Relationship Id="rId10" Type="http://schemas.openxmlformats.org/officeDocument/2006/relationships/image" Target="../media/image-8-3.png"/><Relationship Id="rId11" Type="http://schemas.openxmlformats.org/officeDocument/2006/relationships/image" Target="../media/image-8-4.png"/><Relationship Id="rId12" Type="http://schemas.openxmlformats.org/officeDocument/2006/relationships/image" Target="../media/image-8-5.png"/><Relationship Id="rId13" Type="http://schemas.openxmlformats.org/officeDocument/2006/relationships/image" Target="../media/image-8-6.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9-1.png"/><Relationship Id="rId2" Type="http://schemas.openxmlformats.org/officeDocument/2006/relationships/image" Target="../media/image-9-2.png"/><Relationship Id="rId10" Type="http://schemas.openxmlformats.org/officeDocument/2006/relationships/image" Target="../media/image-9-3.png"/><Relationship Id="rId11" Type="http://schemas.openxmlformats.org/officeDocument/2006/relationships/image" Target="../media/image-9-4.png"/><Relationship Id="rId12" Type="http://schemas.openxmlformats.org/officeDocument/2006/relationships/image" Target="../media/image-9-5.png"/><Relationship Id="rId13" Type="http://schemas.openxmlformats.org/officeDocument/2006/relationships/image" Target="../media/image-9-6.png"/><Relationship Id="rId14" Type="http://schemas.openxmlformats.org/officeDocument/2006/relationships/image" Target="../media/image-9-7.png"/><Relationship Id="rId15" Type="http://schemas.openxmlformats.org/officeDocument/2006/relationships/slideLayout" Target="../slideLayouts/slideLayout1.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0-1.png"/><Relationship Id="rId2" Type="http://schemas.openxmlformats.org/officeDocument/2006/relationships/image" Target="../media/image-10-2.png"/><Relationship Id="rId10" Type="http://schemas.openxmlformats.org/officeDocument/2006/relationships/image" Target="../media/image-10-3.png"/><Relationship Id="rId11" Type="http://schemas.openxmlformats.org/officeDocument/2006/relationships/image" Target="../media/image-10-4.png"/><Relationship Id="rId12" Type="http://schemas.openxmlformats.org/officeDocument/2006/relationships/image" Target="../media/image-10-5.png"/><Relationship Id="rId13" Type="http://schemas.openxmlformats.org/officeDocument/2006/relationships/image" Target="../media/image-10-6.png"/><Relationship Id="rId14" Type="http://schemas.openxmlformats.org/officeDocument/2006/relationships/slideLayout" Target="../slideLayouts/slideLayout1.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1-1.png"/><Relationship Id="rId2" Type="http://schemas.openxmlformats.org/officeDocument/2006/relationships/image" Target="../media/image-11-2.png"/><Relationship Id="rId10" Type="http://schemas.openxmlformats.org/officeDocument/2006/relationships/image" Target="../media/image-11-3.png"/><Relationship Id="rId11" Type="http://schemas.openxmlformats.org/officeDocument/2006/relationships/image" Target="../media/image-11-4.png"/><Relationship Id="rId12" Type="http://schemas.openxmlformats.org/officeDocument/2006/relationships/image" Target="../media/image-11-5.png"/><Relationship Id="rId13" Type="http://schemas.openxmlformats.org/officeDocument/2006/relationships/image" Target="../media/image-11-6.png"/><Relationship Id="rId14" Type="http://schemas.openxmlformats.org/officeDocument/2006/relationships/slideLayout" Target="../slideLayouts/slideLayout1.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2-1.png"/><Relationship Id="rId2" Type="http://schemas.openxmlformats.org/officeDocument/2006/relationships/image" Target="../media/image-12-2.png"/><Relationship Id="rId10" Type="http://schemas.openxmlformats.org/officeDocument/2006/relationships/image" Target="../media/image-12-3.png"/><Relationship Id="rId11" Type="http://schemas.openxmlformats.org/officeDocument/2006/relationships/image" Target="../media/image-12-4.png"/><Relationship Id="rId12" Type="http://schemas.openxmlformats.org/officeDocument/2006/relationships/image" Target="../media/image-12-5.png"/><Relationship Id="rId13" Type="http://schemas.openxmlformats.org/officeDocument/2006/relationships/slideLayout" Target="../slideLayouts/slideLayout1.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3-1.png"/><Relationship Id="rId2" Type="http://schemas.openxmlformats.org/officeDocument/2006/relationships/image" Target="../media/image-13-2.png"/><Relationship Id="rId10" Type="http://schemas.openxmlformats.org/officeDocument/2006/relationships/image" Target="../media/image-13-3.png"/><Relationship Id="rId11" Type="http://schemas.openxmlformats.org/officeDocument/2006/relationships/image" Target="../media/image-13-4.png"/><Relationship Id="rId12" Type="http://schemas.openxmlformats.org/officeDocument/2006/relationships/image" Target="../media/image-13-5.png"/><Relationship Id="rId13" Type="http://schemas.openxmlformats.org/officeDocument/2006/relationships/image" Target="../media/image-13-6.png"/><Relationship Id="rId14" Type="http://schemas.openxmlformats.org/officeDocument/2006/relationships/slideLayout" Target="../slideLayouts/slideLayout1.xml"/><Relationship Id="rId1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4-1.png"/><Relationship Id="rId2" Type="http://schemas.openxmlformats.org/officeDocument/2006/relationships/image" Target="../media/image-14-2.png"/><Relationship Id="rId10" Type="http://schemas.openxmlformats.org/officeDocument/2006/relationships/image" Target="../media/image-14-3.png"/><Relationship Id="rId11" Type="http://schemas.openxmlformats.org/officeDocument/2006/relationships/image" Target="../media/image-14-4.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5-1.png"/><Relationship Id="rId2" Type="http://schemas.openxmlformats.org/officeDocument/2006/relationships/image" Target="../media/image-15-2.png"/><Relationship Id="rId10" Type="http://schemas.openxmlformats.org/officeDocument/2006/relationships/image" Target="../media/image-15-3.png"/><Relationship Id="rId11" Type="http://schemas.openxmlformats.org/officeDocument/2006/relationships/image" Target="../media/image-15-4.png"/><Relationship Id="rId12" Type="http://schemas.openxmlformats.org/officeDocument/2006/relationships/image" Target="../media/image-15-5.png"/><Relationship Id="rId13" Type="http://schemas.openxmlformats.org/officeDocument/2006/relationships/image" Target="../media/image-15-6.png"/><Relationship Id="rId14" Type="http://schemas.openxmlformats.org/officeDocument/2006/relationships/image" Target="../media/image-15-7.png"/><Relationship Id="rId15" Type="http://schemas.openxmlformats.org/officeDocument/2006/relationships/image" Target="../media/image-15-8.png"/><Relationship Id="rId16" Type="http://schemas.openxmlformats.org/officeDocument/2006/relationships/image" Target="../media/image-15-9.png"/><Relationship Id="rId17" Type="http://schemas.openxmlformats.org/officeDocument/2006/relationships/slideLayout" Target="../slideLayouts/slideLayout1.xml"/><Relationship Id="rId1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6-1.png"/><Relationship Id="rId2" Type="http://schemas.openxmlformats.org/officeDocument/2006/relationships/image" Target="../media/image-16-2.png"/><Relationship Id="rId10" Type="http://schemas.openxmlformats.org/officeDocument/2006/relationships/image" Target="../media/image-16-3.png"/><Relationship Id="rId11" Type="http://schemas.openxmlformats.org/officeDocument/2006/relationships/image" Target="../media/image-16-4.png"/><Relationship Id="rId12" Type="http://schemas.openxmlformats.org/officeDocument/2006/relationships/image" Target="../media/image-16-5.png"/><Relationship Id="rId13" Type="http://schemas.openxmlformats.org/officeDocument/2006/relationships/image" Target="../media/image-16-6.png"/><Relationship Id="rId14" Type="http://schemas.openxmlformats.org/officeDocument/2006/relationships/slideLayout" Target="../slideLayouts/slideLayout1.xml"/><Relationship Id="rId1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 Target="slide17.xml"/><Relationship Id="rId4" Type="http://schemas.openxmlformats.org/officeDocument/2006/relationships/slide" Target="slide15.xml"/><Relationship Id="rId5" Type="http://schemas.openxmlformats.org/officeDocument/2006/relationships/slide" Target="slide11.xml"/><Relationship Id="rId6" Type="http://schemas.openxmlformats.org/officeDocument/2006/relationships/slide" Target="slide7.xml"/><Relationship Id="rId7" Type="http://schemas.openxmlformats.org/officeDocument/2006/relationships/slide" Target="slide5.xml"/><Relationship Id="rId8" Type="http://schemas.openxmlformats.org/officeDocument/2006/relationships/slide" Target="slide2.xml"/><Relationship Id="rId9" Type="http://schemas.openxmlformats.org/officeDocument/2006/relationships/slide" Target="slide1.xml"/><Relationship Id="rId1" Type="http://schemas.openxmlformats.org/officeDocument/2006/relationships/image" Target="../media/image-17-1.png"/><Relationship Id="rId2" Type="http://schemas.openxmlformats.org/officeDocument/2006/relationships/image" Target="../media/image-17-2.png"/><Relationship Id="rId10" Type="http://schemas.openxmlformats.org/officeDocument/2006/relationships/image" Target="../media/image-17-3.png"/><Relationship Id="rId11" Type="http://schemas.openxmlformats.org/officeDocument/2006/relationships/image" Target="../media/image-17-4.png"/><Relationship Id="rId12" Type="http://schemas.openxmlformats.org/officeDocument/2006/relationships/slideLayout" Target="../slideLayouts/slideLayout1.xml"/><Relationship Id="rId1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1"/>
          <p:cNvSpPr txBox="1"/>
          <p:nvPr/>
        </p:nvSpPr>
        <p:spPr>
          <a:xfrm>
            <a:off x="731520" y="1097280"/>
            <a:ext cx="5852160" cy="2194560"/>
          </a:xfrm>
          <a:prstGeom prst="rect">
            <a:avLst/>
          </a:prstGeom>
          <a:noFill/>
          <a:ln/>
        </p:spPr>
        <p:txBody>
          <a:bodyPr wrap="square" lIns="0" tIns="0" rIns="0" bIns="0" rtlCol="0" anchor="ctr"/>
          <a:lstStyle/>
          <a:p>
            <a:pPr indent="0" marL="0">
              <a:buNone/>
            </a:pPr>
            <a:r>
              <a:rPr lang="en-US" sz="5000" b="1" dirty="0">
                <a:solidFill>
                  <a:srgbClr val="111111"/>
                </a:solidFill>
                <a:latin typeface="Arial" pitchFamily="34" charset="0"/>
                <a:ea typeface="Arial" pitchFamily="34" charset="-122"/>
                <a:cs typeface="Arial" pitchFamily="34" charset="-120"/>
              </a:rPr>
              <a:t>SOCIAL MEDIA PREZENTARE</a:t>
            </a:r>
            <a:endParaRPr lang="en-US" sz="5000" dirty="0"/>
          </a:p>
        </p:txBody>
      </p:sp>
      <p:pic>
        <p:nvPicPr>
          <p:cNvPr id="3" name="coverlogo-2" descr="preencoded.png">    </p:cNvPr>
          <p:cNvPicPr>
            <a:picLocks noChangeAspect="1"/>
          </p:cNvPicPr>
          <p:nvPr/>
        </p:nvPicPr>
        <p:blipFill>
          <a:blip r:embed="rId1"/>
          <a:stretch>
            <a:fillRect/>
          </a:stretch>
        </p:blipFill>
        <p:spPr>
          <a:xfrm>
            <a:off x="731520" y="3520440"/>
            <a:ext cx="658368" cy="658368"/>
          </a:xfrm>
          <a:prstGeom prst="rect">
            <a:avLst/>
          </a:prstGeom>
        </p:spPr>
      </p:pic>
      <p:pic>
        <p:nvPicPr>
          <p:cNvPr id="4" name="coverlogo-3" descr="preencoded.png">    </p:cNvPr>
          <p:cNvPicPr>
            <a:picLocks noChangeAspect="1"/>
          </p:cNvPicPr>
          <p:nvPr/>
        </p:nvPicPr>
        <p:blipFill>
          <a:blip r:embed="rId2"/>
          <a:stretch>
            <a:fillRect/>
          </a:stretch>
        </p:blipFill>
        <p:spPr>
          <a:xfrm>
            <a:off x="1600200" y="3520440"/>
            <a:ext cx="658368" cy="658368"/>
          </a:xfrm>
          <a:prstGeom prst="rect">
            <a:avLst/>
          </a:prstGeom>
        </p:spPr>
      </p:pic>
      <p:pic>
        <p:nvPicPr>
          <p:cNvPr id="5" name="coverlogo-4" descr="preencoded.png">    </p:cNvPr>
          <p:cNvPicPr>
            <a:picLocks noChangeAspect="1"/>
          </p:cNvPicPr>
          <p:nvPr/>
        </p:nvPicPr>
        <p:blipFill>
          <a:blip r:embed="rId3"/>
          <a:stretch>
            <a:fillRect/>
          </a:stretch>
        </p:blipFill>
        <p:spPr>
          <a:xfrm>
            <a:off x="2468880" y="3520440"/>
            <a:ext cx="658368" cy="658368"/>
          </a:xfrm>
          <a:prstGeom prst="rect">
            <a:avLst/>
          </a:prstGeom>
        </p:spPr>
      </p:pic>
      <p:pic>
        <p:nvPicPr>
          <p:cNvPr id="6" name="coverlogo-5" descr="preencoded.png">    </p:cNvPr>
          <p:cNvPicPr>
            <a:picLocks noChangeAspect="1"/>
          </p:cNvPicPr>
          <p:nvPr/>
        </p:nvPicPr>
        <p:blipFill>
          <a:blip r:embed="rId4"/>
          <a:stretch>
            <a:fillRect/>
          </a:stretch>
        </p:blipFill>
        <p:spPr>
          <a:xfrm>
            <a:off x="3337560" y="3520440"/>
            <a:ext cx="658368" cy="658368"/>
          </a:xfrm>
          <a:prstGeom prst="rect">
            <a:avLst/>
          </a:prstGeom>
        </p:spPr>
      </p:pic>
      <p:sp>
        <p:nvSpPr>
          <p:cNvPr id="7" name="toc-6"/>
          <p:cNvSpPr/>
          <p:nvPr/>
        </p:nvSpPr>
        <p:spPr>
          <a:xfrm>
            <a:off x="6949440" y="1188720"/>
            <a:ext cx="2148840" cy="1234440"/>
          </a:xfrm>
          <a:prstGeom prst="roundRect">
            <a:avLst>
              <a:gd name="adj" fmla="val 8889"/>
            </a:avLst>
          </a:prstGeom>
          <a:solidFill>
            <a:srgbClr val="FAF0EC"/>
          </a:solidFill>
          <a:ln w="12700">
            <a:solidFill>
              <a:srgbClr val="EABDAA"/>
            </a:solidFill>
            <a:prstDash val="solid"/>
          </a:ln>
        </p:spPr>
      </p:sp>
      <p:pic>
        <p:nvPicPr>
          <p:cNvPr id="8" name="toclogo-7" descr="preencoded.png">    </p:cNvPr>
          <p:cNvPicPr>
            <a:picLocks noChangeAspect="1"/>
          </p:cNvPicPr>
          <p:nvPr/>
        </p:nvPicPr>
        <p:blipFill>
          <a:blip r:embed="rId5"/>
          <a:stretch>
            <a:fillRect/>
          </a:stretch>
        </p:blipFill>
        <p:spPr>
          <a:xfrm>
            <a:off x="7132320" y="1371600"/>
            <a:ext cx="457200" cy="457200"/>
          </a:xfrm>
          <a:prstGeom prst="rect">
            <a:avLst/>
          </a:prstGeom>
        </p:spPr>
      </p:pic>
      <p:sp>
        <p:nvSpPr>
          <p:cNvPr id="9" name="toclink-8"/>
          <p:cNvSpPr txBox="1"/>
          <p:nvPr/>
        </p:nvSpPr>
        <p:spPr>
          <a:xfrm>
            <a:off x="7132320" y="1901952"/>
            <a:ext cx="1828800" cy="365760"/>
          </a:xfrm>
          <a:prstGeom prst="rect">
            <a:avLst/>
          </a:prstGeom>
          <a:noFill/>
          <a:ln/>
        </p:spPr>
        <p:txBody>
          <a:bodyPr wrap="square" lIns="0" tIns="0" rIns="0" bIns="0" rtlCol="0" anchor="ctr"/>
          <a:lstStyle/>
          <a:p>
            <a:pPr indent="0" marL="0">
              <a:buNone/>
            </a:pPr>
            <a:r>
              <a:rPr lang="en-US" sz="1600" b="1" u="sng" dirty="0">
                <a:solidFill>
                  <a:srgbClr val="C2410C"/>
                </a:solidFill>
                <a:latin typeface="Arial" pitchFamily="34" charset="0"/>
                <a:ea typeface="Arial" pitchFamily="34" charset="-122"/>
                <a:cs typeface="Arial" pitchFamily="34" charset="-120"/>
                <a:hlinkClick r:id="rId6" action="ppaction://hlinksldjump" tooltip="Cum începem">
                  <a:extLst>
                    <a:ext uri="{A12FA001-AC4F-418D-AE19-62706E023703}">
                      <ahyp:hlinkClr xmlns:ahyp="http://schemas.microsoft.com/office/drawing/2018/hyperlinkcolor" val="tx"/>
                    </a:ext>
                  </a:extLst>
                </a:hlinkClick>
              </a:rPr>
              <a:t>Cum începem</a:t>
            </a:r>
            <a:endParaRPr lang="en-US" sz="1600" dirty="0"/>
          </a:p>
        </p:txBody>
      </p:sp>
      <p:sp>
        <p:nvSpPr>
          <p:cNvPr id="10" name="text-9"/>
          <p:cNvSpPr txBox="1"/>
          <p:nvPr/>
        </p:nvSpPr>
        <p:spPr>
          <a:xfrm>
            <a:off x="8458200" y="138988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2</a:t>
            </a:r>
            <a:endParaRPr lang="en-US" sz="1200" dirty="0"/>
          </a:p>
        </p:txBody>
      </p:sp>
      <p:sp>
        <p:nvSpPr>
          <p:cNvPr id="11" name="toc-10"/>
          <p:cNvSpPr/>
          <p:nvPr/>
        </p:nvSpPr>
        <p:spPr>
          <a:xfrm>
            <a:off x="9281160" y="1188720"/>
            <a:ext cx="2148840" cy="1234440"/>
          </a:xfrm>
          <a:prstGeom prst="roundRect">
            <a:avLst>
              <a:gd name="adj" fmla="val 8889"/>
            </a:avLst>
          </a:prstGeom>
          <a:solidFill>
            <a:srgbClr val="ECF3FC"/>
          </a:solidFill>
          <a:ln w="12700">
            <a:solidFill>
              <a:srgbClr val="ADC9F1"/>
            </a:solidFill>
            <a:prstDash val="solid"/>
          </a:ln>
        </p:spPr>
      </p:sp>
      <p:pic>
        <p:nvPicPr>
          <p:cNvPr id="12" name="toclogo-11" descr="preencoded.png">    </p:cNvPr>
          <p:cNvPicPr>
            <a:picLocks noChangeAspect="1"/>
          </p:cNvPicPr>
          <p:nvPr/>
        </p:nvPicPr>
        <p:blipFill>
          <a:blip r:embed="rId7"/>
          <a:stretch>
            <a:fillRect/>
          </a:stretch>
        </p:blipFill>
        <p:spPr>
          <a:xfrm>
            <a:off x="9464040" y="1371600"/>
            <a:ext cx="457200" cy="457200"/>
          </a:xfrm>
          <a:prstGeom prst="rect">
            <a:avLst/>
          </a:prstGeom>
        </p:spPr>
      </p:pic>
      <p:sp>
        <p:nvSpPr>
          <p:cNvPr id="13" name="toclink-12"/>
          <p:cNvSpPr txBox="1"/>
          <p:nvPr/>
        </p:nvSpPr>
        <p:spPr>
          <a:xfrm>
            <a:off x="9464040" y="1901952"/>
            <a:ext cx="1828800" cy="365760"/>
          </a:xfrm>
          <a:prstGeom prst="rect">
            <a:avLst/>
          </a:prstGeom>
          <a:noFill/>
          <a:ln/>
        </p:spPr>
        <p:txBody>
          <a:bodyPr wrap="square" lIns="0" tIns="0" rIns="0" bIns="0" rtlCol="0" anchor="ctr"/>
          <a:lstStyle/>
          <a:p>
            <a:pPr indent="0" marL="0">
              <a:buNone/>
            </a:pPr>
            <a:r>
              <a:rPr lang="en-US" sz="1600" b="1" u="sng" dirty="0">
                <a:solidFill>
                  <a:srgbClr val="1565D8"/>
                </a:solidFill>
                <a:latin typeface="Arial" pitchFamily="34" charset="0"/>
                <a:ea typeface="Arial" pitchFamily="34" charset="-122"/>
                <a:cs typeface="Arial" pitchFamily="34" charset="-120"/>
                <a:hlinkClick r:id="rId8" action="ppaction://hlinksldjump" tooltip="Facebook">
                  <a:extLst>
                    <a:ext uri="{A12FA001-AC4F-418D-AE19-62706E023703}">
                      <ahyp:hlinkClr xmlns:ahyp="http://schemas.microsoft.com/office/drawing/2018/hyperlinkcolor" val="tx"/>
                    </a:ext>
                  </a:extLst>
                </a:hlinkClick>
              </a:rPr>
              <a:t>Facebook</a:t>
            </a:r>
            <a:endParaRPr lang="en-US" sz="1600" dirty="0"/>
          </a:p>
        </p:txBody>
      </p:sp>
      <p:sp>
        <p:nvSpPr>
          <p:cNvPr id="14" name="text-13"/>
          <p:cNvSpPr txBox="1"/>
          <p:nvPr/>
        </p:nvSpPr>
        <p:spPr>
          <a:xfrm>
            <a:off x="10789920" y="138988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5</a:t>
            </a:r>
            <a:endParaRPr lang="en-US" sz="1200" dirty="0"/>
          </a:p>
        </p:txBody>
      </p:sp>
      <p:sp>
        <p:nvSpPr>
          <p:cNvPr id="15" name="toc-14"/>
          <p:cNvSpPr/>
          <p:nvPr/>
        </p:nvSpPr>
        <p:spPr>
          <a:xfrm>
            <a:off x="6949440" y="2606040"/>
            <a:ext cx="2148840" cy="1234440"/>
          </a:xfrm>
          <a:prstGeom prst="roundRect">
            <a:avLst>
              <a:gd name="adj" fmla="val 8889"/>
            </a:avLst>
          </a:prstGeom>
          <a:solidFill>
            <a:srgbClr val="F9ECF1"/>
          </a:solidFill>
          <a:ln w="12700">
            <a:solidFill>
              <a:srgbClr val="E3ACC1"/>
            </a:solidFill>
            <a:prstDash val="solid"/>
          </a:ln>
        </p:spPr>
      </p:sp>
      <p:pic>
        <p:nvPicPr>
          <p:cNvPr id="16" name="toclogo-15" descr="preencoded.png">    </p:cNvPr>
          <p:cNvPicPr>
            <a:picLocks noChangeAspect="1"/>
          </p:cNvPicPr>
          <p:nvPr/>
        </p:nvPicPr>
        <p:blipFill>
          <a:blip r:embed="rId9"/>
          <a:stretch>
            <a:fillRect/>
          </a:stretch>
        </p:blipFill>
        <p:spPr>
          <a:xfrm>
            <a:off x="7132320" y="2788920"/>
            <a:ext cx="457200" cy="457200"/>
          </a:xfrm>
          <a:prstGeom prst="rect">
            <a:avLst/>
          </a:prstGeom>
        </p:spPr>
      </p:pic>
      <p:sp>
        <p:nvSpPr>
          <p:cNvPr id="17" name="toclink-16"/>
          <p:cNvSpPr txBox="1"/>
          <p:nvPr/>
        </p:nvSpPr>
        <p:spPr>
          <a:xfrm>
            <a:off x="7132320" y="3319272"/>
            <a:ext cx="1828800" cy="365760"/>
          </a:xfrm>
          <a:prstGeom prst="rect">
            <a:avLst/>
          </a:prstGeom>
          <a:noFill/>
          <a:ln/>
        </p:spPr>
        <p:txBody>
          <a:bodyPr wrap="square" lIns="0" tIns="0" rIns="0" bIns="0" rtlCol="0" anchor="ctr"/>
          <a:lstStyle/>
          <a:p>
            <a:pPr indent="0" marL="0">
              <a:buNone/>
            </a:pPr>
            <a:r>
              <a:rPr lang="en-US" sz="1600" b="1" u="sng" dirty="0">
                <a:solidFill>
                  <a:srgbClr val="B0124F"/>
                </a:solidFill>
                <a:latin typeface="Arial" pitchFamily="34" charset="0"/>
                <a:ea typeface="Arial" pitchFamily="34" charset="-122"/>
                <a:cs typeface="Arial" pitchFamily="34" charset="-120"/>
                <a:hlinkClick r:id="rId10" action="ppaction://hlinksldjump" tooltip="Instagram">
                  <a:extLst>
                    <a:ext uri="{A12FA001-AC4F-418D-AE19-62706E023703}">
                      <ahyp:hlinkClr xmlns:ahyp="http://schemas.microsoft.com/office/drawing/2018/hyperlinkcolor" val="tx"/>
                    </a:ext>
                  </a:extLst>
                </a:hlinkClick>
              </a:rPr>
              <a:t>Instagram</a:t>
            </a:r>
            <a:endParaRPr lang="en-US" sz="1600" dirty="0"/>
          </a:p>
        </p:txBody>
      </p:sp>
      <p:sp>
        <p:nvSpPr>
          <p:cNvPr id="18" name="text-17"/>
          <p:cNvSpPr txBox="1"/>
          <p:nvPr/>
        </p:nvSpPr>
        <p:spPr>
          <a:xfrm>
            <a:off x="8458200" y="280720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7</a:t>
            </a:r>
            <a:endParaRPr lang="en-US" sz="1200" dirty="0"/>
          </a:p>
        </p:txBody>
      </p:sp>
      <p:sp>
        <p:nvSpPr>
          <p:cNvPr id="19" name="toc-18"/>
          <p:cNvSpPr/>
          <p:nvPr/>
        </p:nvSpPr>
        <p:spPr>
          <a:xfrm>
            <a:off x="9281160" y="2606040"/>
            <a:ext cx="2148840" cy="1234440"/>
          </a:xfrm>
          <a:prstGeom prst="roundRect">
            <a:avLst>
              <a:gd name="adj" fmla="val 8889"/>
            </a:avLst>
          </a:prstGeom>
          <a:solidFill>
            <a:srgbClr val="FAECF0"/>
          </a:solidFill>
          <a:ln w="12700">
            <a:solidFill>
              <a:srgbClr val="EAABBC"/>
            </a:solidFill>
            <a:prstDash val="solid"/>
          </a:ln>
        </p:spPr>
      </p:sp>
      <p:pic>
        <p:nvPicPr>
          <p:cNvPr id="20" name="toclogo-19" descr="preencoded.png">    </p:cNvPr>
          <p:cNvPicPr>
            <a:picLocks noChangeAspect="1"/>
          </p:cNvPicPr>
          <p:nvPr/>
        </p:nvPicPr>
        <p:blipFill>
          <a:blip r:embed="rId11"/>
          <a:stretch>
            <a:fillRect/>
          </a:stretch>
        </p:blipFill>
        <p:spPr>
          <a:xfrm>
            <a:off x="9464040" y="2788920"/>
            <a:ext cx="457200" cy="457200"/>
          </a:xfrm>
          <a:prstGeom prst="rect">
            <a:avLst/>
          </a:prstGeom>
        </p:spPr>
      </p:pic>
      <p:sp>
        <p:nvSpPr>
          <p:cNvPr id="21" name="toclink-20"/>
          <p:cNvSpPr txBox="1"/>
          <p:nvPr/>
        </p:nvSpPr>
        <p:spPr>
          <a:xfrm>
            <a:off x="9464040" y="3319272"/>
            <a:ext cx="1828800" cy="365760"/>
          </a:xfrm>
          <a:prstGeom prst="rect">
            <a:avLst/>
          </a:prstGeom>
          <a:noFill/>
          <a:ln/>
        </p:spPr>
        <p:txBody>
          <a:bodyPr wrap="square" lIns="0" tIns="0" rIns="0" bIns="0" rtlCol="0" anchor="ctr"/>
          <a:lstStyle/>
          <a:p>
            <a:pPr indent="0" marL="0">
              <a:buNone/>
            </a:pPr>
            <a:r>
              <a:rPr lang="en-US" sz="1600" b="1" u="sng" dirty="0">
                <a:solidFill>
                  <a:srgbClr val="C20E3F"/>
                </a:solidFill>
                <a:latin typeface="Arial" pitchFamily="34" charset="0"/>
                <a:ea typeface="Arial" pitchFamily="34" charset="-122"/>
                <a:cs typeface="Arial" pitchFamily="34" charset="-120"/>
                <a:hlinkClick r:id="rId12" action="ppaction://hlinksldjump" tooltip="TikTok">
                  <a:extLst>
                    <a:ext uri="{A12FA001-AC4F-418D-AE19-62706E023703}">
                      <ahyp:hlinkClr xmlns:ahyp="http://schemas.microsoft.com/office/drawing/2018/hyperlinkcolor" val="tx"/>
                    </a:ext>
                  </a:extLst>
                </a:hlinkClick>
              </a:rPr>
              <a:t>TikTok</a:t>
            </a:r>
            <a:endParaRPr lang="en-US" sz="1600" dirty="0"/>
          </a:p>
        </p:txBody>
      </p:sp>
      <p:sp>
        <p:nvSpPr>
          <p:cNvPr id="22" name="text-21"/>
          <p:cNvSpPr txBox="1"/>
          <p:nvPr/>
        </p:nvSpPr>
        <p:spPr>
          <a:xfrm>
            <a:off x="10789920" y="280720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11</a:t>
            </a:r>
            <a:endParaRPr lang="en-US" sz="1200" dirty="0"/>
          </a:p>
        </p:txBody>
      </p:sp>
      <p:sp>
        <p:nvSpPr>
          <p:cNvPr id="23" name="toc-22"/>
          <p:cNvSpPr/>
          <p:nvPr/>
        </p:nvSpPr>
        <p:spPr>
          <a:xfrm>
            <a:off x="6949440" y="4023360"/>
            <a:ext cx="2148840" cy="1234440"/>
          </a:xfrm>
          <a:prstGeom prst="roundRect">
            <a:avLst>
              <a:gd name="adj" fmla="val 8889"/>
            </a:avLst>
          </a:prstGeom>
          <a:solidFill>
            <a:srgbClr val="F2EDF9"/>
          </a:solidFill>
          <a:ln w="12700">
            <a:solidFill>
              <a:srgbClr val="C6AFE5"/>
            </a:solidFill>
            <a:prstDash val="solid"/>
          </a:ln>
        </p:spPr>
      </p:sp>
      <p:pic>
        <p:nvPicPr>
          <p:cNvPr id="24" name="toclogo-23" descr="preencoded.png">    </p:cNvPr>
          <p:cNvPicPr>
            <a:picLocks noChangeAspect="1"/>
          </p:cNvPicPr>
          <p:nvPr/>
        </p:nvPicPr>
        <p:blipFill>
          <a:blip r:embed="rId13"/>
          <a:stretch>
            <a:fillRect/>
          </a:stretch>
        </p:blipFill>
        <p:spPr>
          <a:xfrm>
            <a:off x="7132320" y="4206240"/>
            <a:ext cx="457200" cy="457200"/>
          </a:xfrm>
          <a:prstGeom prst="rect">
            <a:avLst/>
          </a:prstGeom>
        </p:spPr>
      </p:pic>
      <p:sp>
        <p:nvSpPr>
          <p:cNvPr id="25" name="toclink-24"/>
          <p:cNvSpPr txBox="1"/>
          <p:nvPr/>
        </p:nvSpPr>
        <p:spPr>
          <a:xfrm>
            <a:off x="7132320" y="4736592"/>
            <a:ext cx="1828800" cy="365760"/>
          </a:xfrm>
          <a:prstGeom prst="rect">
            <a:avLst/>
          </a:prstGeom>
          <a:noFill/>
          <a:ln/>
        </p:spPr>
        <p:txBody>
          <a:bodyPr wrap="square" lIns="0" tIns="0" rIns="0" bIns="0" rtlCol="0" anchor="ctr"/>
          <a:lstStyle/>
          <a:p>
            <a:pPr indent="0" marL="0">
              <a:buNone/>
            </a:pPr>
            <a:r>
              <a:rPr lang="en-US" sz="1600" b="1" u="sng" dirty="0">
                <a:solidFill>
                  <a:srgbClr val="5B1BB5"/>
                </a:solidFill>
                <a:latin typeface="Arial" pitchFamily="34" charset="0"/>
                <a:ea typeface="Arial" pitchFamily="34" charset="-122"/>
                <a:cs typeface="Arial" pitchFamily="34" charset="-120"/>
                <a:hlinkClick r:id="rId14" action="ppaction://hlinksldjump" tooltip="CapCut">
                  <a:extLst>
                    <a:ext uri="{A12FA001-AC4F-418D-AE19-62706E023703}">
                      <ahyp:hlinkClr xmlns:ahyp="http://schemas.microsoft.com/office/drawing/2018/hyperlinkcolor" val="tx"/>
                    </a:ext>
                  </a:extLst>
                </a:hlinkClick>
              </a:rPr>
              <a:t>CapCut</a:t>
            </a:r>
            <a:endParaRPr lang="en-US" sz="1600" dirty="0"/>
          </a:p>
        </p:txBody>
      </p:sp>
      <p:sp>
        <p:nvSpPr>
          <p:cNvPr id="26" name="text-25"/>
          <p:cNvSpPr txBox="1"/>
          <p:nvPr/>
        </p:nvSpPr>
        <p:spPr>
          <a:xfrm>
            <a:off x="8458200" y="422452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15</a:t>
            </a:r>
            <a:endParaRPr lang="en-US" sz="1200" dirty="0"/>
          </a:p>
        </p:txBody>
      </p:sp>
      <p:sp>
        <p:nvSpPr>
          <p:cNvPr id="27" name="toc-26"/>
          <p:cNvSpPr/>
          <p:nvPr/>
        </p:nvSpPr>
        <p:spPr>
          <a:xfrm>
            <a:off x="9281160" y="4023360"/>
            <a:ext cx="2148840" cy="1234440"/>
          </a:xfrm>
          <a:prstGeom prst="roundRect">
            <a:avLst>
              <a:gd name="adj" fmla="val 8889"/>
            </a:avLst>
          </a:prstGeom>
          <a:solidFill>
            <a:srgbClr val="FAF0EC"/>
          </a:solidFill>
          <a:ln w="12700">
            <a:solidFill>
              <a:srgbClr val="EABDAA"/>
            </a:solidFill>
            <a:prstDash val="solid"/>
          </a:ln>
        </p:spPr>
      </p:sp>
      <p:pic>
        <p:nvPicPr>
          <p:cNvPr id="28" name="toclogo-27" descr="preencoded.png">    </p:cNvPr>
          <p:cNvPicPr>
            <a:picLocks noChangeAspect="1"/>
          </p:cNvPicPr>
          <p:nvPr/>
        </p:nvPicPr>
        <p:blipFill>
          <a:blip r:embed="rId15"/>
          <a:stretch>
            <a:fillRect/>
          </a:stretch>
        </p:blipFill>
        <p:spPr>
          <a:xfrm>
            <a:off x="9464040" y="4206240"/>
            <a:ext cx="457200" cy="457200"/>
          </a:xfrm>
          <a:prstGeom prst="rect">
            <a:avLst/>
          </a:prstGeom>
        </p:spPr>
      </p:pic>
      <p:sp>
        <p:nvSpPr>
          <p:cNvPr id="29" name="toclink-28"/>
          <p:cNvSpPr txBox="1"/>
          <p:nvPr/>
        </p:nvSpPr>
        <p:spPr>
          <a:xfrm>
            <a:off x="9464040" y="4736592"/>
            <a:ext cx="1828800" cy="365760"/>
          </a:xfrm>
          <a:prstGeom prst="rect">
            <a:avLst/>
          </a:prstGeom>
          <a:noFill/>
          <a:ln/>
        </p:spPr>
        <p:txBody>
          <a:bodyPr wrap="square" lIns="0" tIns="0" rIns="0" bIns="0" rtlCol="0" anchor="ctr"/>
          <a:lstStyle/>
          <a:p>
            <a:pPr indent="0" marL="0">
              <a:buNone/>
            </a:pPr>
            <a:r>
              <a:rPr lang="en-US" sz="1600" b="1" u="sng" dirty="0">
                <a:solidFill>
                  <a:srgbClr val="C2410C"/>
                </a:solidFill>
                <a:latin typeface="Arial" pitchFamily="34" charset="0"/>
                <a:ea typeface="Arial" pitchFamily="34" charset="-122"/>
                <a:cs typeface="Arial" pitchFamily="34" charset="-120"/>
                <a:hlinkClick r:id="rId16" action="ppaction://hlinksldjump" tooltip="Concluzie">
                  <a:extLst>
                    <a:ext uri="{A12FA001-AC4F-418D-AE19-62706E023703}">
                      <ahyp:hlinkClr xmlns:ahyp="http://schemas.microsoft.com/office/drawing/2018/hyperlinkcolor" val="tx"/>
                    </a:ext>
                  </a:extLst>
                </a:hlinkClick>
              </a:rPr>
              <a:t>Concluzie</a:t>
            </a:r>
            <a:endParaRPr lang="en-US" sz="1600" dirty="0"/>
          </a:p>
        </p:txBody>
      </p:sp>
      <p:sp>
        <p:nvSpPr>
          <p:cNvPr id="30" name="text-29"/>
          <p:cNvSpPr txBox="1"/>
          <p:nvPr/>
        </p:nvSpPr>
        <p:spPr>
          <a:xfrm>
            <a:off x="10789920" y="4224528"/>
            <a:ext cx="457200" cy="365760"/>
          </a:xfrm>
          <a:prstGeom prst="rect">
            <a:avLst/>
          </a:prstGeom>
          <a:noFill/>
          <a:ln/>
        </p:spPr>
        <p:txBody>
          <a:bodyPr wrap="square" lIns="0" tIns="0" rIns="0" bIns="0" rtlCol="0" anchor="t"/>
          <a:lstStyle/>
          <a:p>
            <a:pPr algn="r" indent="0" marL="0">
              <a:buNone/>
            </a:pPr>
            <a:r>
              <a:rPr lang="en-US" sz="1200" b="1" dirty="0">
                <a:solidFill>
                  <a:srgbClr val="6B6B6B"/>
                </a:solidFill>
                <a:latin typeface="Arial" pitchFamily="34" charset="0"/>
                <a:ea typeface="Arial" pitchFamily="34" charset="-122"/>
                <a:cs typeface="Arial" pitchFamily="34" charset="-120"/>
              </a:rPr>
              <a:t>17</a:t>
            </a:r>
            <a:endParaRPr lang="en-US" sz="1200" dirty="0"/>
          </a:p>
        </p:txBody>
      </p:sp>
      <p:sp>
        <p:nvSpPr>
          <p:cNvPr id="31" name="text-30"/>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watermark-31"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32" descr="Cum începem">    </p:cNvPr>
          <p:cNvPicPr>
            <a:picLocks noChangeAspect="1"/>
          </p:cNvPicPr>
          <p:nvPr/>
        </p:nvPicPr>
        <p:blipFill>
          <a:blip r:embed="rId2"/>
          <a:stretch>
            <a:fillRect/>
          </a:stretch>
        </p:blipFill>
        <p:spPr>
          <a:xfrm>
            <a:off x="548640" y="329184"/>
            <a:ext cx="384048" cy="384048"/>
          </a:xfrm>
          <a:prstGeom prst="rect">
            <a:avLst/>
          </a:prstGeom>
        </p:spPr>
      </p:pic>
      <p:sp>
        <p:nvSpPr>
          <p:cNvPr id="4" name="text-33"/>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410C"/>
                </a:solidFill>
                <a:latin typeface="Arial" pitchFamily="34" charset="0"/>
                <a:ea typeface="Arial" pitchFamily="34" charset="-122"/>
                <a:cs typeface="Arial" pitchFamily="34" charset="-120"/>
              </a:rPr>
              <a:t>CUM ÎNCEPEM</a:t>
            </a:r>
            <a:endParaRPr lang="en-US" sz="1500" dirty="0"/>
          </a:p>
        </p:txBody>
      </p:sp>
      <p:sp>
        <p:nvSpPr>
          <p:cNvPr id="5" name="text-34"/>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Un blond nefilmat e un secret bine păstrat</a:t>
            </a:r>
            <a:endParaRPr lang="en-US" sz="3200" dirty="0"/>
          </a:p>
        </p:txBody>
      </p:sp>
      <p:sp>
        <p:nvSpPr>
          <p:cNvPr id="6" name="nav-35">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36">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37">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38">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39">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40">
            <a:hlinkClick r:id="rId8" tooltip="Cum începem" action="ppaction://hlinksldjump"/>
          </p:cNvPr>
          <p:cNvSpPr/>
          <p:nvPr/>
        </p:nvSpPr>
        <p:spPr>
          <a:xfrm>
            <a:off x="5489143" y="365760"/>
            <a:ext cx="1197864" cy="310896"/>
          </a:xfrm>
          <a:prstGeom prst="roundRect">
            <a:avLst>
              <a:gd name="adj" fmla="val 50000"/>
            </a:avLst>
          </a:prstGeom>
          <a:solidFill>
            <a:srgbClr val="C2410C"/>
          </a:solidFill>
          <a:ln w="12700">
            <a:solidFill>
              <a:srgbClr val="C2410C"/>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41"/>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42"/>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410C"/>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43"/>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2</a:t>
            </a:r>
            <a:endParaRPr lang="en-US" sz="1000" dirty="0"/>
          </a:p>
        </p:txBody>
      </p:sp>
      <p:sp>
        <p:nvSpPr>
          <p:cNvPr id="15" name="card-44"/>
          <p:cNvSpPr/>
          <p:nvPr/>
        </p:nvSpPr>
        <p:spPr>
          <a:xfrm>
            <a:off x="548640" y="1572768"/>
            <a:ext cx="3515258" cy="2020062"/>
          </a:xfrm>
          <a:prstGeom prst="roundRect">
            <a:avLst>
              <a:gd name="adj" fmla="val 4527"/>
            </a:avLst>
          </a:prstGeom>
          <a:solidFill>
            <a:srgbClr val="FBF2EE"/>
          </a:solidFill>
          <a:ln w="12700">
            <a:solidFill>
              <a:srgbClr val="F2D5CA"/>
            </a:solidFill>
            <a:prstDash val="solid"/>
          </a:ln>
        </p:spPr>
      </p:sp>
      <p:sp>
        <p:nvSpPr>
          <p:cNvPr id="16" name="iconbg-45"/>
          <p:cNvSpPr/>
          <p:nvPr/>
        </p:nvSpPr>
        <p:spPr>
          <a:xfrm>
            <a:off x="694944" y="1719072"/>
            <a:ext cx="457200" cy="457200"/>
          </a:xfrm>
          <a:prstGeom prst="ellipse">
            <a:avLst/>
          </a:prstGeom>
          <a:solidFill>
            <a:srgbClr val="C2410C"/>
          </a:solidFill>
          <a:ln w="12700">
            <a:solidFill>
              <a:srgbClr val="C2410C"/>
            </a:solidFill>
            <a:prstDash val="solid"/>
          </a:ln>
        </p:spPr>
      </p:sp>
      <p:pic>
        <p:nvPicPr>
          <p:cNvPr id="17" name="icon-46"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47"/>
          <p:cNvSpPr txBox="1"/>
          <p:nvPr/>
        </p:nvSpPr>
        <p:spPr>
          <a:xfrm>
            <a:off x="1316736"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Clientele te caută online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Înainte să sune, îți deschid profilul.</a:t>
            </a:r>
            <a:endParaRPr lang="en-US" sz="1600" dirty="0"/>
          </a:p>
        </p:txBody>
      </p:sp>
      <p:sp>
        <p:nvSpPr>
          <p:cNvPr id="19" name="card-48"/>
          <p:cNvSpPr/>
          <p:nvPr/>
        </p:nvSpPr>
        <p:spPr>
          <a:xfrm>
            <a:off x="4338218" y="1572768"/>
            <a:ext cx="3515258" cy="2020062"/>
          </a:xfrm>
          <a:prstGeom prst="roundRect">
            <a:avLst>
              <a:gd name="adj" fmla="val 4527"/>
            </a:avLst>
          </a:prstGeom>
          <a:solidFill>
            <a:srgbClr val="FBF2EE"/>
          </a:solidFill>
          <a:ln w="12700">
            <a:solidFill>
              <a:srgbClr val="F2D5CA"/>
            </a:solidFill>
            <a:prstDash val="solid"/>
          </a:ln>
        </p:spPr>
      </p:sp>
      <p:sp>
        <p:nvSpPr>
          <p:cNvPr id="20" name="iconbg-49"/>
          <p:cNvSpPr/>
          <p:nvPr/>
        </p:nvSpPr>
        <p:spPr>
          <a:xfrm>
            <a:off x="4484522" y="1719072"/>
            <a:ext cx="457200" cy="457200"/>
          </a:xfrm>
          <a:prstGeom prst="ellipse">
            <a:avLst/>
          </a:prstGeom>
          <a:solidFill>
            <a:srgbClr val="C2410C"/>
          </a:solidFill>
          <a:ln w="12700">
            <a:solidFill>
              <a:srgbClr val="C2410C"/>
            </a:solidFill>
            <a:prstDash val="solid"/>
          </a:ln>
        </p:spPr>
      </p:sp>
      <p:pic>
        <p:nvPicPr>
          <p:cNvPr id="21" name="icon-50" descr="preencoded.png">    </p:cNvPr>
          <p:cNvPicPr>
            <a:picLocks noChangeAspect="1"/>
          </p:cNvPicPr>
          <p:nvPr/>
        </p:nvPicPr>
        <p:blipFill>
          <a:blip r:embed="rId11"/>
          <a:stretch>
            <a:fillRect/>
          </a:stretch>
        </p:blipFill>
        <p:spPr>
          <a:xfrm>
            <a:off x="4585106" y="1819656"/>
            <a:ext cx="256032" cy="256032"/>
          </a:xfrm>
          <a:prstGeom prst="rect">
            <a:avLst/>
          </a:prstGeom>
        </p:spPr>
      </p:pic>
      <p:sp>
        <p:nvSpPr>
          <p:cNvPr id="22" name="text-51"/>
          <p:cNvSpPr txBox="1"/>
          <p:nvPr/>
        </p:nvSpPr>
        <p:spPr>
          <a:xfrm>
            <a:off x="5106314"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Lumină bună, telefon vertical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Blondul rece, la bec galben, pare ratat.</a:t>
            </a:r>
            <a:endParaRPr lang="en-US" sz="1600" dirty="0"/>
          </a:p>
        </p:txBody>
      </p:sp>
      <p:sp>
        <p:nvSpPr>
          <p:cNvPr id="23" name="card-52"/>
          <p:cNvSpPr/>
          <p:nvPr/>
        </p:nvSpPr>
        <p:spPr>
          <a:xfrm>
            <a:off x="8127797" y="1572768"/>
            <a:ext cx="3515258" cy="2020062"/>
          </a:xfrm>
          <a:prstGeom prst="roundRect">
            <a:avLst>
              <a:gd name="adj" fmla="val 4527"/>
            </a:avLst>
          </a:prstGeom>
          <a:solidFill>
            <a:srgbClr val="FBF2EE"/>
          </a:solidFill>
          <a:ln w="12700">
            <a:solidFill>
              <a:srgbClr val="F2D5CA"/>
            </a:solidFill>
            <a:prstDash val="solid"/>
          </a:ln>
        </p:spPr>
      </p:sp>
      <p:sp>
        <p:nvSpPr>
          <p:cNvPr id="24" name="iconbg-53"/>
          <p:cNvSpPr/>
          <p:nvPr/>
        </p:nvSpPr>
        <p:spPr>
          <a:xfrm>
            <a:off x="8274101" y="1719072"/>
            <a:ext cx="457200" cy="457200"/>
          </a:xfrm>
          <a:prstGeom prst="ellipse">
            <a:avLst/>
          </a:prstGeom>
          <a:solidFill>
            <a:srgbClr val="C2410C"/>
          </a:solidFill>
          <a:ln w="12700">
            <a:solidFill>
              <a:srgbClr val="C2410C"/>
            </a:solidFill>
            <a:prstDash val="solid"/>
          </a:ln>
        </p:spPr>
      </p:sp>
      <p:pic>
        <p:nvPicPr>
          <p:cNvPr id="25" name="icon-54" descr="preencoded.png">    </p:cNvPr>
          <p:cNvPicPr>
            <a:picLocks noChangeAspect="1"/>
          </p:cNvPicPr>
          <p:nvPr/>
        </p:nvPicPr>
        <p:blipFill>
          <a:blip r:embed="rId12"/>
          <a:stretch>
            <a:fillRect/>
          </a:stretch>
        </p:blipFill>
        <p:spPr>
          <a:xfrm>
            <a:off x="8374685" y="1819656"/>
            <a:ext cx="256032" cy="256032"/>
          </a:xfrm>
          <a:prstGeom prst="rect">
            <a:avLst/>
          </a:prstGeom>
        </p:spPr>
      </p:pic>
      <p:sp>
        <p:nvSpPr>
          <p:cNvPr id="26" name="text-55"/>
          <p:cNvSpPr txBox="1"/>
          <p:nvPr/>
        </p:nvSpPr>
        <p:spPr>
          <a:xfrm>
            <a:off x="8895893"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Rezultatul în prima secundă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Nu la final, nu după „Bună, sunt Ana…”.</a:t>
            </a:r>
            <a:endParaRPr lang="en-US" sz="1600" dirty="0"/>
          </a:p>
        </p:txBody>
      </p:sp>
      <p:sp>
        <p:nvSpPr>
          <p:cNvPr id="27" name="note-56"/>
          <p:cNvSpPr/>
          <p:nvPr/>
        </p:nvSpPr>
        <p:spPr>
          <a:xfrm>
            <a:off x="548640" y="3720846"/>
            <a:ext cx="11094415" cy="589026"/>
          </a:xfrm>
          <a:prstGeom prst="roundRect">
            <a:avLst>
              <a:gd name="adj" fmla="val 15524"/>
            </a:avLst>
          </a:prstGeom>
          <a:solidFill>
            <a:srgbClr val="FFFFFF"/>
          </a:solidFill>
          <a:ln w="19050">
            <a:solidFill>
              <a:srgbClr val="C2410C"/>
            </a:solidFill>
            <a:prstDash val="dash"/>
          </a:ln>
        </p:spPr>
      </p:sp>
      <p:pic>
        <p:nvPicPr>
          <p:cNvPr id="28" name="noteicon-57" descr="preencoded.png">    </p:cNvPr>
          <p:cNvPicPr>
            <a:picLocks noChangeAspect="1"/>
          </p:cNvPicPr>
          <p:nvPr/>
        </p:nvPicPr>
        <p:blipFill>
          <a:blip r:embed="rId13"/>
          <a:stretch>
            <a:fillRect/>
          </a:stretch>
        </p:blipFill>
        <p:spPr>
          <a:xfrm>
            <a:off x="685800" y="3841623"/>
            <a:ext cx="347472" cy="347472"/>
          </a:xfrm>
          <a:prstGeom prst="rect">
            <a:avLst/>
          </a:prstGeom>
        </p:spPr>
      </p:pic>
      <p:sp>
        <p:nvSpPr>
          <p:cNvPr id="29" name="text-58"/>
          <p:cNvSpPr txBox="1"/>
          <p:nvPr/>
        </p:nvSpPr>
        <p:spPr>
          <a:xfrm>
            <a:off x="1143000" y="3812286"/>
            <a:ext cx="10362895" cy="406146"/>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Profilul tău = vitrina salonului. Deschisă și duminica la 23:00.</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watermark-59"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60" descr="Cum începem">    </p:cNvPr>
          <p:cNvPicPr>
            <a:picLocks noChangeAspect="1"/>
          </p:cNvPicPr>
          <p:nvPr/>
        </p:nvPicPr>
        <p:blipFill>
          <a:blip r:embed="rId2"/>
          <a:stretch>
            <a:fillRect/>
          </a:stretch>
        </p:blipFill>
        <p:spPr>
          <a:xfrm>
            <a:off x="548640" y="329184"/>
            <a:ext cx="384048" cy="384048"/>
          </a:xfrm>
          <a:prstGeom prst="rect">
            <a:avLst/>
          </a:prstGeom>
        </p:spPr>
      </p:pic>
      <p:sp>
        <p:nvSpPr>
          <p:cNvPr id="4" name="text-61"/>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410C"/>
                </a:solidFill>
                <a:latin typeface="Arial" pitchFamily="34" charset="0"/>
                <a:ea typeface="Arial" pitchFamily="34" charset="-122"/>
                <a:cs typeface="Arial" pitchFamily="34" charset="-120"/>
              </a:rPr>
              <a:t>CUM ÎNCEPEM</a:t>
            </a:r>
            <a:endParaRPr lang="en-US" sz="1500" dirty="0"/>
          </a:p>
        </p:txBody>
      </p:sp>
      <p:sp>
        <p:nvSpPr>
          <p:cNvPr id="5" name="text-62"/>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Alege o nișă. Începe cu înainte și după.</a:t>
            </a:r>
            <a:endParaRPr lang="en-US" sz="3200" dirty="0"/>
          </a:p>
        </p:txBody>
      </p:sp>
      <p:sp>
        <p:nvSpPr>
          <p:cNvPr id="6" name="nav-63">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64">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65">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66">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67">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68">
            <a:hlinkClick r:id="rId8" tooltip="Cum începem" action="ppaction://hlinksldjump"/>
          </p:cNvPr>
          <p:cNvSpPr/>
          <p:nvPr/>
        </p:nvSpPr>
        <p:spPr>
          <a:xfrm>
            <a:off x="5489143" y="365760"/>
            <a:ext cx="1197864" cy="310896"/>
          </a:xfrm>
          <a:prstGeom prst="roundRect">
            <a:avLst>
              <a:gd name="adj" fmla="val 50000"/>
            </a:avLst>
          </a:prstGeom>
          <a:solidFill>
            <a:srgbClr val="C2410C"/>
          </a:solidFill>
          <a:ln w="12700">
            <a:solidFill>
              <a:srgbClr val="C2410C"/>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69"/>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70"/>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410C"/>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71"/>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3</a:t>
            </a:r>
            <a:endParaRPr lang="en-US" sz="1000" dirty="0"/>
          </a:p>
        </p:txBody>
      </p:sp>
      <p:sp>
        <p:nvSpPr>
          <p:cNvPr id="15" name="card-72"/>
          <p:cNvSpPr/>
          <p:nvPr/>
        </p:nvSpPr>
        <p:spPr>
          <a:xfrm>
            <a:off x="548640" y="1572768"/>
            <a:ext cx="3515258" cy="1705356"/>
          </a:xfrm>
          <a:prstGeom prst="roundRect">
            <a:avLst>
              <a:gd name="adj" fmla="val 5362"/>
            </a:avLst>
          </a:prstGeom>
          <a:solidFill>
            <a:srgbClr val="FBF2EE"/>
          </a:solidFill>
          <a:ln w="12700">
            <a:solidFill>
              <a:srgbClr val="F2D5CA"/>
            </a:solidFill>
            <a:prstDash val="solid"/>
          </a:ln>
        </p:spPr>
      </p:sp>
      <p:sp>
        <p:nvSpPr>
          <p:cNvPr id="16" name="iconbg-73"/>
          <p:cNvSpPr/>
          <p:nvPr/>
        </p:nvSpPr>
        <p:spPr>
          <a:xfrm>
            <a:off x="694944" y="1719072"/>
            <a:ext cx="457200" cy="457200"/>
          </a:xfrm>
          <a:prstGeom prst="ellipse">
            <a:avLst/>
          </a:prstGeom>
          <a:solidFill>
            <a:srgbClr val="C2410C"/>
          </a:solidFill>
          <a:ln w="12700">
            <a:solidFill>
              <a:srgbClr val="C2410C"/>
            </a:solidFill>
            <a:prstDash val="solid"/>
          </a:ln>
        </p:spPr>
      </p:sp>
      <p:pic>
        <p:nvPicPr>
          <p:cNvPr id="17" name="icon-74"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75"/>
          <p:cNvSpPr txBox="1"/>
          <p:nvPr/>
        </p:nvSpPr>
        <p:spPr>
          <a:xfrm>
            <a:off x="1316736" y="1700784"/>
            <a:ext cx="2600858" cy="1449324"/>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O nișă clară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„Blonduri reci, fără galben”, nu „fac de toate”.</a:t>
            </a:r>
            <a:endParaRPr lang="en-US" sz="1600" dirty="0"/>
          </a:p>
        </p:txBody>
      </p:sp>
      <p:sp>
        <p:nvSpPr>
          <p:cNvPr id="19" name="card-76"/>
          <p:cNvSpPr/>
          <p:nvPr/>
        </p:nvSpPr>
        <p:spPr>
          <a:xfrm>
            <a:off x="4338218" y="1572768"/>
            <a:ext cx="3515258" cy="1705356"/>
          </a:xfrm>
          <a:prstGeom prst="roundRect">
            <a:avLst>
              <a:gd name="adj" fmla="val 5362"/>
            </a:avLst>
          </a:prstGeom>
          <a:solidFill>
            <a:srgbClr val="FBF2EE"/>
          </a:solidFill>
          <a:ln w="12700">
            <a:solidFill>
              <a:srgbClr val="F2D5CA"/>
            </a:solidFill>
            <a:prstDash val="solid"/>
          </a:ln>
        </p:spPr>
      </p:sp>
      <p:sp>
        <p:nvSpPr>
          <p:cNvPr id="20" name="iconbg-77"/>
          <p:cNvSpPr/>
          <p:nvPr/>
        </p:nvSpPr>
        <p:spPr>
          <a:xfrm>
            <a:off x="4484522" y="1719072"/>
            <a:ext cx="457200" cy="457200"/>
          </a:xfrm>
          <a:prstGeom prst="ellipse">
            <a:avLst/>
          </a:prstGeom>
          <a:solidFill>
            <a:srgbClr val="C2410C"/>
          </a:solidFill>
          <a:ln w="12700">
            <a:solidFill>
              <a:srgbClr val="C2410C"/>
            </a:solidFill>
            <a:prstDash val="solid"/>
          </a:ln>
        </p:spPr>
      </p:sp>
      <p:pic>
        <p:nvPicPr>
          <p:cNvPr id="21" name="icon-78" descr="preencoded.png">    </p:cNvPr>
          <p:cNvPicPr>
            <a:picLocks noChangeAspect="1"/>
          </p:cNvPicPr>
          <p:nvPr/>
        </p:nvPicPr>
        <p:blipFill>
          <a:blip r:embed="rId11"/>
          <a:stretch>
            <a:fillRect/>
          </a:stretch>
        </p:blipFill>
        <p:spPr>
          <a:xfrm>
            <a:off x="4585106" y="1819656"/>
            <a:ext cx="256032" cy="256032"/>
          </a:xfrm>
          <a:prstGeom prst="rect">
            <a:avLst/>
          </a:prstGeom>
        </p:spPr>
      </p:pic>
      <p:sp>
        <p:nvSpPr>
          <p:cNvPr id="22" name="text-79"/>
          <p:cNvSpPr txBox="1"/>
          <p:nvPr/>
        </p:nvSpPr>
        <p:spPr>
          <a:xfrm>
            <a:off x="5106314" y="1700784"/>
            <a:ext cx="2600858" cy="1449324"/>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Înainte și după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Rezultatul vorbește. Nu trebuie să apari.</a:t>
            </a:r>
            <a:endParaRPr lang="en-US" sz="1600" dirty="0"/>
          </a:p>
        </p:txBody>
      </p:sp>
      <p:sp>
        <p:nvSpPr>
          <p:cNvPr id="23" name="card-80"/>
          <p:cNvSpPr/>
          <p:nvPr/>
        </p:nvSpPr>
        <p:spPr>
          <a:xfrm>
            <a:off x="8127797" y="1572768"/>
            <a:ext cx="3515258" cy="1705356"/>
          </a:xfrm>
          <a:prstGeom prst="roundRect">
            <a:avLst>
              <a:gd name="adj" fmla="val 5362"/>
            </a:avLst>
          </a:prstGeom>
          <a:solidFill>
            <a:srgbClr val="FBF2EE"/>
          </a:solidFill>
          <a:ln w="12700">
            <a:solidFill>
              <a:srgbClr val="F2D5CA"/>
            </a:solidFill>
            <a:prstDash val="solid"/>
          </a:ln>
        </p:spPr>
      </p:sp>
      <p:sp>
        <p:nvSpPr>
          <p:cNvPr id="24" name="iconbg-81"/>
          <p:cNvSpPr/>
          <p:nvPr/>
        </p:nvSpPr>
        <p:spPr>
          <a:xfrm>
            <a:off x="8274101" y="1719072"/>
            <a:ext cx="457200" cy="457200"/>
          </a:xfrm>
          <a:prstGeom prst="ellipse">
            <a:avLst/>
          </a:prstGeom>
          <a:solidFill>
            <a:srgbClr val="C2410C"/>
          </a:solidFill>
          <a:ln w="12700">
            <a:solidFill>
              <a:srgbClr val="C2410C"/>
            </a:solidFill>
            <a:prstDash val="solid"/>
          </a:ln>
        </p:spPr>
      </p:sp>
      <p:pic>
        <p:nvPicPr>
          <p:cNvPr id="25" name="icon-82" descr="preencoded.png">    </p:cNvPr>
          <p:cNvPicPr>
            <a:picLocks noChangeAspect="1"/>
          </p:cNvPicPr>
          <p:nvPr/>
        </p:nvPicPr>
        <p:blipFill>
          <a:blip r:embed="rId12"/>
          <a:stretch>
            <a:fillRect/>
          </a:stretch>
        </p:blipFill>
        <p:spPr>
          <a:xfrm>
            <a:off x="8374685" y="1819656"/>
            <a:ext cx="256032" cy="256032"/>
          </a:xfrm>
          <a:prstGeom prst="rect">
            <a:avLst/>
          </a:prstGeom>
        </p:spPr>
      </p:pic>
      <p:sp>
        <p:nvSpPr>
          <p:cNvPr id="26" name="text-83"/>
          <p:cNvSpPr txBox="1"/>
          <p:nvPr/>
        </p:nvSpPr>
        <p:spPr>
          <a:xfrm>
            <a:off x="8895893" y="1700784"/>
            <a:ext cx="2600858" cy="1449324"/>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Același colț, aceeași lumină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Așa te recunosc clientele din prima.</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watermark-84"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85" descr="Cum începem">    </p:cNvPr>
          <p:cNvPicPr>
            <a:picLocks noChangeAspect="1"/>
          </p:cNvPicPr>
          <p:nvPr/>
        </p:nvPicPr>
        <p:blipFill>
          <a:blip r:embed="rId2"/>
          <a:stretch>
            <a:fillRect/>
          </a:stretch>
        </p:blipFill>
        <p:spPr>
          <a:xfrm>
            <a:off x="548640" y="329184"/>
            <a:ext cx="384048" cy="384048"/>
          </a:xfrm>
          <a:prstGeom prst="rect">
            <a:avLst/>
          </a:prstGeom>
        </p:spPr>
      </p:pic>
      <p:sp>
        <p:nvSpPr>
          <p:cNvPr id="4" name="text-86"/>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410C"/>
                </a:solidFill>
                <a:latin typeface="Arial" pitchFamily="34" charset="0"/>
                <a:ea typeface="Arial" pitchFamily="34" charset="-122"/>
                <a:cs typeface="Arial" pitchFamily="34" charset="-120"/>
              </a:rPr>
              <a:t>CUM ÎNCEPEM</a:t>
            </a:r>
            <a:endParaRPr lang="en-US" sz="1500" dirty="0"/>
          </a:p>
        </p:txBody>
      </p:sp>
      <p:sp>
        <p:nvSpPr>
          <p:cNvPr id="5" name="text-87"/>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Te filmezi pas cu pas, fără rușine</a:t>
            </a:r>
            <a:endParaRPr lang="en-US" sz="3200" dirty="0"/>
          </a:p>
        </p:txBody>
      </p:sp>
      <p:sp>
        <p:nvSpPr>
          <p:cNvPr id="6" name="nav-88">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89">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90">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91">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92">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93">
            <a:hlinkClick r:id="rId8" tooltip="Cum începem" action="ppaction://hlinksldjump"/>
          </p:cNvPr>
          <p:cNvSpPr/>
          <p:nvPr/>
        </p:nvSpPr>
        <p:spPr>
          <a:xfrm>
            <a:off x="5489143" y="365760"/>
            <a:ext cx="1197864" cy="310896"/>
          </a:xfrm>
          <a:prstGeom prst="roundRect">
            <a:avLst>
              <a:gd name="adj" fmla="val 50000"/>
            </a:avLst>
          </a:prstGeom>
          <a:solidFill>
            <a:srgbClr val="C2410C"/>
          </a:solidFill>
          <a:ln w="12700">
            <a:solidFill>
              <a:srgbClr val="C2410C"/>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94"/>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95"/>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410C"/>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96"/>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4</a:t>
            </a:r>
            <a:endParaRPr lang="en-US" sz="1000" dirty="0"/>
          </a:p>
        </p:txBody>
      </p:sp>
      <p:sp>
        <p:nvSpPr>
          <p:cNvPr id="15" name="card-97"/>
          <p:cNvSpPr/>
          <p:nvPr/>
        </p:nvSpPr>
        <p:spPr>
          <a:xfrm>
            <a:off x="548640" y="1572768"/>
            <a:ext cx="3515258" cy="2020062"/>
          </a:xfrm>
          <a:prstGeom prst="roundRect">
            <a:avLst>
              <a:gd name="adj" fmla="val 4527"/>
            </a:avLst>
          </a:prstGeom>
          <a:solidFill>
            <a:srgbClr val="FBF2EE"/>
          </a:solidFill>
          <a:ln w="12700">
            <a:solidFill>
              <a:srgbClr val="F2D5CA"/>
            </a:solidFill>
            <a:prstDash val="solid"/>
          </a:ln>
        </p:spPr>
      </p:sp>
      <p:sp>
        <p:nvSpPr>
          <p:cNvPr id="16" name="iconbg-98"/>
          <p:cNvSpPr/>
          <p:nvPr/>
        </p:nvSpPr>
        <p:spPr>
          <a:xfrm>
            <a:off x="694944" y="1719072"/>
            <a:ext cx="457200" cy="457200"/>
          </a:xfrm>
          <a:prstGeom prst="ellipse">
            <a:avLst/>
          </a:prstGeom>
          <a:solidFill>
            <a:srgbClr val="C2410C"/>
          </a:solidFill>
          <a:ln w="12700">
            <a:solidFill>
              <a:srgbClr val="C2410C"/>
            </a:solidFill>
            <a:prstDash val="solid"/>
          </a:ln>
        </p:spPr>
      </p:sp>
      <p:pic>
        <p:nvPicPr>
          <p:cNvPr id="17" name="icon-99"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100"/>
          <p:cNvSpPr txBox="1"/>
          <p:nvPr/>
        </p:nvSpPr>
        <p:spPr>
          <a:xfrm>
            <a:off x="1316736"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Etapa 1: Doar transformarea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Înainte și după, fără tine în cadru.</a:t>
            </a:r>
            <a:endParaRPr lang="en-US" sz="1600" dirty="0"/>
          </a:p>
        </p:txBody>
      </p:sp>
      <p:sp>
        <p:nvSpPr>
          <p:cNvPr id="19" name="card-101"/>
          <p:cNvSpPr/>
          <p:nvPr/>
        </p:nvSpPr>
        <p:spPr>
          <a:xfrm>
            <a:off x="4338218" y="1572768"/>
            <a:ext cx="3515258" cy="2020062"/>
          </a:xfrm>
          <a:prstGeom prst="roundRect">
            <a:avLst>
              <a:gd name="adj" fmla="val 4527"/>
            </a:avLst>
          </a:prstGeom>
          <a:solidFill>
            <a:srgbClr val="FBF2EE"/>
          </a:solidFill>
          <a:ln w="12700">
            <a:solidFill>
              <a:srgbClr val="F2D5CA"/>
            </a:solidFill>
            <a:prstDash val="solid"/>
          </a:ln>
        </p:spPr>
      </p:sp>
      <p:sp>
        <p:nvSpPr>
          <p:cNvPr id="20" name="iconbg-102"/>
          <p:cNvSpPr/>
          <p:nvPr/>
        </p:nvSpPr>
        <p:spPr>
          <a:xfrm>
            <a:off x="4484522" y="1719072"/>
            <a:ext cx="457200" cy="457200"/>
          </a:xfrm>
          <a:prstGeom prst="ellipse">
            <a:avLst/>
          </a:prstGeom>
          <a:solidFill>
            <a:srgbClr val="C2410C"/>
          </a:solidFill>
          <a:ln w="12700">
            <a:solidFill>
              <a:srgbClr val="C2410C"/>
            </a:solidFill>
            <a:prstDash val="solid"/>
          </a:ln>
        </p:spPr>
      </p:sp>
      <p:pic>
        <p:nvPicPr>
          <p:cNvPr id="21" name="icon-103" descr="preencoded.png">    </p:cNvPr>
          <p:cNvPicPr>
            <a:picLocks noChangeAspect="1"/>
          </p:cNvPicPr>
          <p:nvPr/>
        </p:nvPicPr>
        <p:blipFill>
          <a:blip r:embed="rId11"/>
          <a:stretch>
            <a:fillRect/>
          </a:stretch>
        </p:blipFill>
        <p:spPr>
          <a:xfrm>
            <a:off x="4585106" y="1819656"/>
            <a:ext cx="256032" cy="256032"/>
          </a:xfrm>
          <a:prstGeom prst="rect">
            <a:avLst/>
          </a:prstGeom>
        </p:spPr>
      </p:pic>
      <p:sp>
        <p:nvSpPr>
          <p:cNvPr id="22" name="text-104"/>
          <p:cNvSpPr txBox="1"/>
          <p:nvPr/>
        </p:nvSpPr>
        <p:spPr>
          <a:xfrm>
            <a:off x="5106314"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Etapa 2: Vocea ta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Explici ce ai făcut, peste video.</a:t>
            </a:r>
            <a:endParaRPr lang="en-US" sz="1600" dirty="0"/>
          </a:p>
        </p:txBody>
      </p:sp>
      <p:sp>
        <p:nvSpPr>
          <p:cNvPr id="23" name="card-105"/>
          <p:cNvSpPr/>
          <p:nvPr/>
        </p:nvSpPr>
        <p:spPr>
          <a:xfrm>
            <a:off x="8127797" y="1572768"/>
            <a:ext cx="3515258" cy="2020062"/>
          </a:xfrm>
          <a:prstGeom prst="roundRect">
            <a:avLst>
              <a:gd name="adj" fmla="val 4527"/>
            </a:avLst>
          </a:prstGeom>
          <a:solidFill>
            <a:srgbClr val="FBF2EE"/>
          </a:solidFill>
          <a:ln w="12700">
            <a:solidFill>
              <a:srgbClr val="F2D5CA"/>
            </a:solidFill>
            <a:prstDash val="solid"/>
          </a:ln>
        </p:spPr>
      </p:sp>
      <p:sp>
        <p:nvSpPr>
          <p:cNvPr id="24" name="iconbg-106"/>
          <p:cNvSpPr/>
          <p:nvPr/>
        </p:nvSpPr>
        <p:spPr>
          <a:xfrm>
            <a:off x="8274101" y="1719072"/>
            <a:ext cx="457200" cy="457200"/>
          </a:xfrm>
          <a:prstGeom prst="ellipse">
            <a:avLst/>
          </a:prstGeom>
          <a:solidFill>
            <a:srgbClr val="C2410C"/>
          </a:solidFill>
          <a:ln w="12700">
            <a:solidFill>
              <a:srgbClr val="C2410C"/>
            </a:solidFill>
            <a:prstDash val="solid"/>
          </a:ln>
        </p:spPr>
      </p:sp>
      <p:pic>
        <p:nvPicPr>
          <p:cNvPr id="25" name="icon-107" descr="preencoded.png">    </p:cNvPr>
          <p:cNvPicPr>
            <a:picLocks noChangeAspect="1"/>
          </p:cNvPicPr>
          <p:nvPr/>
        </p:nvPicPr>
        <p:blipFill>
          <a:blip r:embed="rId12"/>
          <a:stretch>
            <a:fillRect/>
          </a:stretch>
        </p:blipFill>
        <p:spPr>
          <a:xfrm>
            <a:off x="8374685" y="1819656"/>
            <a:ext cx="256032" cy="256032"/>
          </a:xfrm>
          <a:prstGeom prst="rect">
            <a:avLst/>
          </a:prstGeom>
        </p:spPr>
      </p:pic>
      <p:sp>
        <p:nvSpPr>
          <p:cNvPr id="26" name="text-108"/>
          <p:cNvSpPr txBox="1"/>
          <p:nvPr/>
        </p:nvSpPr>
        <p:spPr>
          <a:xfrm>
            <a:off x="8895893"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Etapa 3: Tu în cadru</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Vorbești și îți arăți personalitatea.</a:t>
            </a:r>
            <a:endParaRPr lang="en-US" sz="1600" dirty="0"/>
          </a:p>
        </p:txBody>
      </p:sp>
      <p:sp>
        <p:nvSpPr>
          <p:cNvPr id="27" name="note-109"/>
          <p:cNvSpPr/>
          <p:nvPr/>
        </p:nvSpPr>
        <p:spPr>
          <a:xfrm>
            <a:off x="548640" y="3720846"/>
            <a:ext cx="11094415" cy="903732"/>
          </a:xfrm>
          <a:prstGeom prst="roundRect">
            <a:avLst>
              <a:gd name="adj" fmla="val 10118"/>
            </a:avLst>
          </a:prstGeom>
          <a:solidFill>
            <a:srgbClr val="FFFFFF"/>
          </a:solidFill>
          <a:ln w="19050">
            <a:solidFill>
              <a:srgbClr val="C2410C"/>
            </a:solidFill>
            <a:prstDash val="dash"/>
          </a:ln>
        </p:spPr>
      </p:sp>
      <p:pic>
        <p:nvPicPr>
          <p:cNvPr id="28" name="noteicon-110" descr="preencoded.png">    </p:cNvPr>
          <p:cNvPicPr>
            <a:picLocks noChangeAspect="1"/>
          </p:cNvPicPr>
          <p:nvPr/>
        </p:nvPicPr>
        <p:blipFill>
          <a:blip r:embed="rId13"/>
          <a:stretch>
            <a:fillRect/>
          </a:stretch>
        </p:blipFill>
        <p:spPr>
          <a:xfrm>
            <a:off x="685800" y="3998976"/>
            <a:ext cx="347472" cy="347472"/>
          </a:xfrm>
          <a:prstGeom prst="rect">
            <a:avLst/>
          </a:prstGeom>
        </p:spPr>
      </p:pic>
      <p:sp>
        <p:nvSpPr>
          <p:cNvPr id="29" name="text-111"/>
          <p:cNvSpPr txBox="1"/>
          <p:nvPr/>
        </p:nvSpPr>
        <p:spPr>
          <a:xfrm>
            <a:off x="1143000" y="3812286"/>
            <a:ext cx="10362895" cy="720852"/>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Emoții? Prima dublă e de încălzire. Spune-ți „Sunt entuziasmată”, nu „calmează-te”.</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watermark-112"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113" descr="Facebook">    </p:cNvPr>
          <p:cNvPicPr>
            <a:picLocks noChangeAspect="1"/>
          </p:cNvPicPr>
          <p:nvPr/>
        </p:nvPicPr>
        <p:blipFill>
          <a:blip r:embed="rId2"/>
          <a:stretch>
            <a:fillRect/>
          </a:stretch>
        </p:blipFill>
        <p:spPr>
          <a:xfrm>
            <a:off x="548640" y="329184"/>
            <a:ext cx="384048" cy="384048"/>
          </a:xfrm>
          <a:prstGeom prst="rect">
            <a:avLst/>
          </a:prstGeom>
        </p:spPr>
      </p:pic>
      <p:sp>
        <p:nvSpPr>
          <p:cNvPr id="4" name="text-114"/>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1565D8"/>
                </a:solidFill>
                <a:latin typeface="Arial" pitchFamily="34" charset="0"/>
                <a:ea typeface="Arial" pitchFamily="34" charset="-122"/>
                <a:cs typeface="Arial" pitchFamily="34" charset="-120"/>
              </a:rPr>
              <a:t>FACEBOOK</a:t>
            </a:r>
            <a:endParaRPr lang="en-US" sz="1500" dirty="0"/>
          </a:p>
        </p:txBody>
      </p:sp>
      <p:sp>
        <p:nvSpPr>
          <p:cNvPr id="5" name="text-115"/>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Pagina salonului, nu profilul tău</a:t>
            </a:r>
            <a:endParaRPr lang="en-US" sz="3200" dirty="0"/>
          </a:p>
        </p:txBody>
      </p:sp>
      <p:sp>
        <p:nvSpPr>
          <p:cNvPr id="6" name="nav-116">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117">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118">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119">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120">
            <a:hlinkClick r:id="rId7" tooltip="Facebook" action="ppaction://hlinksldjump"/>
          </p:cNvPr>
          <p:cNvSpPr/>
          <p:nvPr/>
        </p:nvSpPr>
        <p:spPr>
          <a:xfrm>
            <a:off x="6760159" y="365760"/>
            <a:ext cx="950976" cy="310896"/>
          </a:xfrm>
          <a:prstGeom prst="roundRect">
            <a:avLst>
              <a:gd name="adj" fmla="val 50000"/>
            </a:avLst>
          </a:prstGeom>
          <a:solidFill>
            <a:srgbClr val="1565D8"/>
          </a:solidFill>
          <a:ln w="12700">
            <a:solidFill>
              <a:srgbClr val="1565D8"/>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121">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122"/>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123"/>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1565D8"/>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124"/>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5</a:t>
            </a:r>
            <a:endParaRPr lang="en-US" sz="1000" dirty="0"/>
          </a:p>
        </p:txBody>
      </p:sp>
      <p:sp>
        <p:nvSpPr>
          <p:cNvPr id="15" name="card-125"/>
          <p:cNvSpPr/>
          <p:nvPr/>
        </p:nvSpPr>
        <p:spPr>
          <a:xfrm>
            <a:off x="548640" y="1572768"/>
            <a:ext cx="3515258" cy="2334768"/>
          </a:xfrm>
          <a:prstGeom prst="roundRect">
            <a:avLst>
              <a:gd name="adj" fmla="val 3916"/>
            </a:avLst>
          </a:prstGeom>
          <a:solidFill>
            <a:srgbClr val="EFF4FC"/>
          </a:solidFill>
          <a:ln w="12700">
            <a:solidFill>
              <a:srgbClr val="CCDDF6"/>
            </a:solidFill>
            <a:prstDash val="solid"/>
          </a:ln>
        </p:spPr>
      </p:sp>
      <p:sp>
        <p:nvSpPr>
          <p:cNvPr id="16" name="iconbg-126"/>
          <p:cNvSpPr/>
          <p:nvPr/>
        </p:nvSpPr>
        <p:spPr>
          <a:xfrm>
            <a:off x="694944" y="1719072"/>
            <a:ext cx="457200" cy="457200"/>
          </a:xfrm>
          <a:prstGeom prst="ellipse">
            <a:avLst/>
          </a:prstGeom>
          <a:solidFill>
            <a:srgbClr val="1565D8"/>
          </a:solidFill>
          <a:ln w="12700">
            <a:solidFill>
              <a:srgbClr val="1565D8"/>
            </a:solidFill>
            <a:prstDash val="solid"/>
          </a:ln>
        </p:spPr>
      </p:sp>
      <p:pic>
        <p:nvPicPr>
          <p:cNvPr id="17" name="icon-127"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128"/>
          <p:cNvSpPr txBox="1"/>
          <p:nvPr/>
        </p:nvSpPr>
        <p:spPr>
          <a:xfrm>
            <a:off x="1316736" y="1700784"/>
            <a:ext cx="2600858" cy="2078736"/>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Profil personal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Pentru prieteni și familie. Maximum 5.000 de prieteni.</a:t>
            </a:r>
            <a:endParaRPr lang="en-US" sz="1600" dirty="0"/>
          </a:p>
        </p:txBody>
      </p:sp>
      <p:sp>
        <p:nvSpPr>
          <p:cNvPr id="19" name="card-129"/>
          <p:cNvSpPr/>
          <p:nvPr/>
        </p:nvSpPr>
        <p:spPr>
          <a:xfrm>
            <a:off x="4338218" y="1572768"/>
            <a:ext cx="3515258" cy="2334768"/>
          </a:xfrm>
          <a:prstGeom prst="roundRect">
            <a:avLst>
              <a:gd name="adj" fmla="val 3916"/>
            </a:avLst>
          </a:prstGeom>
          <a:solidFill>
            <a:srgbClr val="EFF4FC"/>
          </a:solidFill>
          <a:ln w="12700">
            <a:solidFill>
              <a:srgbClr val="CCDDF6"/>
            </a:solidFill>
            <a:prstDash val="solid"/>
          </a:ln>
        </p:spPr>
      </p:sp>
      <p:sp>
        <p:nvSpPr>
          <p:cNvPr id="20" name="iconbg-130"/>
          <p:cNvSpPr/>
          <p:nvPr/>
        </p:nvSpPr>
        <p:spPr>
          <a:xfrm>
            <a:off x="4484522" y="1719072"/>
            <a:ext cx="457200" cy="457200"/>
          </a:xfrm>
          <a:prstGeom prst="ellipse">
            <a:avLst/>
          </a:prstGeom>
          <a:solidFill>
            <a:srgbClr val="1565D8"/>
          </a:solidFill>
          <a:ln w="12700">
            <a:solidFill>
              <a:srgbClr val="1565D8"/>
            </a:solidFill>
            <a:prstDash val="solid"/>
          </a:ln>
        </p:spPr>
      </p:sp>
      <p:pic>
        <p:nvPicPr>
          <p:cNvPr id="21" name="icon-131" descr="preencoded.png">    </p:cNvPr>
          <p:cNvPicPr>
            <a:picLocks noChangeAspect="1"/>
          </p:cNvPicPr>
          <p:nvPr/>
        </p:nvPicPr>
        <p:blipFill>
          <a:blip r:embed="rId11"/>
          <a:stretch>
            <a:fillRect/>
          </a:stretch>
        </p:blipFill>
        <p:spPr>
          <a:xfrm>
            <a:off x="4585106" y="1819656"/>
            <a:ext cx="256032" cy="256032"/>
          </a:xfrm>
          <a:prstGeom prst="rect">
            <a:avLst/>
          </a:prstGeom>
        </p:spPr>
      </p:pic>
      <p:sp>
        <p:nvSpPr>
          <p:cNvPr id="22" name="text-132"/>
          <p:cNvSpPr txBox="1"/>
          <p:nvPr/>
        </p:nvSpPr>
        <p:spPr>
          <a:xfrm>
            <a:off x="5106314" y="1700784"/>
            <a:ext cx="2600858" cy="2078736"/>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Pagină profesională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Urmăritori fără limită, statistici, buton de programare.</a:t>
            </a:r>
            <a:endParaRPr lang="en-US" sz="1600" dirty="0"/>
          </a:p>
        </p:txBody>
      </p:sp>
      <p:sp>
        <p:nvSpPr>
          <p:cNvPr id="23" name="card-133"/>
          <p:cNvSpPr/>
          <p:nvPr/>
        </p:nvSpPr>
        <p:spPr>
          <a:xfrm>
            <a:off x="8127797" y="1572768"/>
            <a:ext cx="3515258" cy="2334768"/>
          </a:xfrm>
          <a:prstGeom prst="roundRect">
            <a:avLst>
              <a:gd name="adj" fmla="val 3916"/>
            </a:avLst>
          </a:prstGeom>
          <a:solidFill>
            <a:srgbClr val="EFF4FC"/>
          </a:solidFill>
          <a:ln w="12700">
            <a:solidFill>
              <a:srgbClr val="CCDDF6"/>
            </a:solidFill>
            <a:prstDash val="solid"/>
          </a:ln>
        </p:spPr>
      </p:sp>
      <p:sp>
        <p:nvSpPr>
          <p:cNvPr id="24" name="iconbg-134"/>
          <p:cNvSpPr/>
          <p:nvPr/>
        </p:nvSpPr>
        <p:spPr>
          <a:xfrm>
            <a:off x="8274101" y="1719072"/>
            <a:ext cx="457200" cy="457200"/>
          </a:xfrm>
          <a:prstGeom prst="ellipse">
            <a:avLst/>
          </a:prstGeom>
          <a:solidFill>
            <a:srgbClr val="1565D8"/>
          </a:solidFill>
          <a:ln w="12700">
            <a:solidFill>
              <a:srgbClr val="1565D8"/>
            </a:solidFill>
            <a:prstDash val="solid"/>
          </a:ln>
        </p:spPr>
      </p:sp>
      <p:pic>
        <p:nvPicPr>
          <p:cNvPr id="25" name="icon-135" descr="preencoded.png">    </p:cNvPr>
          <p:cNvPicPr>
            <a:picLocks noChangeAspect="1"/>
          </p:cNvPicPr>
          <p:nvPr/>
        </p:nvPicPr>
        <p:blipFill>
          <a:blip r:embed="rId12"/>
          <a:stretch>
            <a:fillRect/>
          </a:stretch>
        </p:blipFill>
        <p:spPr>
          <a:xfrm>
            <a:off x="8374685" y="1819656"/>
            <a:ext cx="256032" cy="256032"/>
          </a:xfrm>
          <a:prstGeom prst="rect">
            <a:avLst/>
          </a:prstGeom>
        </p:spPr>
      </p:pic>
      <p:sp>
        <p:nvSpPr>
          <p:cNvPr id="26" name="text-136"/>
          <p:cNvSpPr txBox="1"/>
          <p:nvPr/>
        </p:nvSpPr>
        <p:spPr>
          <a:xfrm>
            <a:off x="8895893" y="1700784"/>
            <a:ext cx="2600858" cy="2078736"/>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Completezi tot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Adresa, programul, telefonul, WhatsApp, link de programare.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watermark-137"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138" descr="Facebook">    </p:cNvPr>
          <p:cNvPicPr>
            <a:picLocks noChangeAspect="1"/>
          </p:cNvPicPr>
          <p:nvPr/>
        </p:nvPicPr>
        <p:blipFill>
          <a:blip r:embed="rId2"/>
          <a:stretch>
            <a:fillRect/>
          </a:stretch>
        </p:blipFill>
        <p:spPr>
          <a:xfrm>
            <a:off x="548640" y="329184"/>
            <a:ext cx="384048" cy="384048"/>
          </a:xfrm>
          <a:prstGeom prst="rect">
            <a:avLst/>
          </a:prstGeom>
        </p:spPr>
      </p:pic>
      <p:sp>
        <p:nvSpPr>
          <p:cNvPr id="4" name="text-139"/>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1565D8"/>
                </a:solidFill>
                <a:latin typeface="Arial" pitchFamily="34" charset="0"/>
                <a:ea typeface="Arial" pitchFamily="34" charset="-122"/>
                <a:cs typeface="Arial" pitchFamily="34" charset="-120"/>
              </a:rPr>
              <a:t>FACEBOOK</a:t>
            </a:r>
            <a:endParaRPr lang="en-US" sz="1500" dirty="0"/>
          </a:p>
        </p:txBody>
      </p:sp>
      <p:sp>
        <p:nvSpPr>
          <p:cNvPr id="5" name="text-140"/>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De la like la programare</a:t>
            </a:r>
            <a:endParaRPr lang="en-US" sz="3200" dirty="0"/>
          </a:p>
        </p:txBody>
      </p:sp>
      <p:sp>
        <p:nvSpPr>
          <p:cNvPr id="6" name="nav-141">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142">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143">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144">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145">
            <a:hlinkClick r:id="rId7" tooltip="Facebook" action="ppaction://hlinksldjump"/>
          </p:cNvPr>
          <p:cNvSpPr/>
          <p:nvPr/>
        </p:nvSpPr>
        <p:spPr>
          <a:xfrm>
            <a:off x="6760159" y="365760"/>
            <a:ext cx="950976" cy="310896"/>
          </a:xfrm>
          <a:prstGeom prst="roundRect">
            <a:avLst>
              <a:gd name="adj" fmla="val 50000"/>
            </a:avLst>
          </a:prstGeom>
          <a:solidFill>
            <a:srgbClr val="1565D8"/>
          </a:solidFill>
          <a:ln w="12700">
            <a:solidFill>
              <a:srgbClr val="1565D8"/>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146">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147"/>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148"/>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1565D8"/>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149"/>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6</a:t>
            </a:r>
            <a:endParaRPr lang="en-US" sz="1000" dirty="0"/>
          </a:p>
        </p:txBody>
      </p:sp>
      <p:sp>
        <p:nvSpPr>
          <p:cNvPr id="15" name="card-150"/>
          <p:cNvSpPr/>
          <p:nvPr/>
        </p:nvSpPr>
        <p:spPr>
          <a:xfrm>
            <a:off x="548640" y="1572768"/>
            <a:ext cx="5410048" cy="1345692"/>
          </a:xfrm>
          <a:prstGeom prst="roundRect">
            <a:avLst>
              <a:gd name="adj" fmla="val 6795"/>
            </a:avLst>
          </a:prstGeom>
          <a:solidFill>
            <a:srgbClr val="EFF4FC"/>
          </a:solidFill>
          <a:ln w="12700">
            <a:solidFill>
              <a:srgbClr val="CCDDF6"/>
            </a:solidFill>
            <a:prstDash val="solid"/>
          </a:ln>
        </p:spPr>
      </p:sp>
      <p:sp>
        <p:nvSpPr>
          <p:cNvPr id="16" name="iconbg-151"/>
          <p:cNvSpPr/>
          <p:nvPr/>
        </p:nvSpPr>
        <p:spPr>
          <a:xfrm>
            <a:off x="694944" y="1719072"/>
            <a:ext cx="457200" cy="457200"/>
          </a:xfrm>
          <a:prstGeom prst="ellipse">
            <a:avLst/>
          </a:prstGeom>
          <a:solidFill>
            <a:srgbClr val="1565D8"/>
          </a:solidFill>
          <a:ln w="12700">
            <a:solidFill>
              <a:srgbClr val="1565D8"/>
            </a:solidFill>
            <a:prstDash val="solid"/>
          </a:ln>
        </p:spPr>
      </p:sp>
      <p:pic>
        <p:nvPicPr>
          <p:cNvPr id="17" name="icon-152"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153"/>
          <p:cNvSpPr txBox="1"/>
          <p:nvPr/>
        </p:nvSpPr>
        <p:spPr>
          <a:xfrm>
            <a:off x="1316736" y="1700784"/>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O postare, 4 poze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Înainte · procesul · după · luciul.</a:t>
            </a:r>
            <a:endParaRPr lang="en-US" sz="1600" dirty="0"/>
          </a:p>
        </p:txBody>
      </p:sp>
      <p:sp>
        <p:nvSpPr>
          <p:cNvPr id="19" name="card-154"/>
          <p:cNvSpPr/>
          <p:nvPr/>
        </p:nvSpPr>
        <p:spPr>
          <a:xfrm>
            <a:off x="6233008" y="1572768"/>
            <a:ext cx="5410048" cy="1345692"/>
          </a:xfrm>
          <a:prstGeom prst="roundRect">
            <a:avLst>
              <a:gd name="adj" fmla="val 6795"/>
            </a:avLst>
          </a:prstGeom>
          <a:solidFill>
            <a:srgbClr val="EFF4FC"/>
          </a:solidFill>
          <a:ln w="12700">
            <a:solidFill>
              <a:srgbClr val="CCDDF6"/>
            </a:solidFill>
            <a:prstDash val="solid"/>
          </a:ln>
        </p:spPr>
      </p:sp>
      <p:sp>
        <p:nvSpPr>
          <p:cNvPr id="20" name="iconbg-155"/>
          <p:cNvSpPr/>
          <p:nvPr/>
        </p:nvSpPr>
        <p:spPr>
          <a:xfrm>
            <a:off x="6379312" y="1719072"/>
            <a:ext cx="457200" cy="457200"/>
          </a:xfrm>
          <a:prstGeom prst="ellipse">
            <a:avLst/>
          </a:prstGeom>
          <a:solidFill>
            <a:srgbClr val="1565D8"/>
          </a:solidFill>
          <a:ln w="12700">
            <a:solidFill>
              <a:srgbClr val="1565D8"/>
            </a:solidFill>
            <a:prstDash val="solid"/>
          </a:ln>
        </p:spPr>
      </p:sp>
      <p:pic>
        <p:nvPicPr>
          <p:cNvPr id="21" name="icon-156"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157"/>
          <p:cNvSpPr txBox="1"/>
          <p:nvPr/>
        </p:nvSpPr>
        <p:spPr>
          <a:xfrm>
            <a:off x="7001104" y="1700784"/>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Orașul și cartierul în text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„Blond rece, Cluj, Mărăști”.</a:t>
            </a:r>
            <a:endParaRPr lang="en-US" sz="1600" dirty="0"/>
          </a:p>
        </p:txBody>
      </p:sp>
      <p:sp>
        <p:nvSpPr>
          <p:cNvPr id="23" name="card-158"/>
          <p:cNvSpPr/>
          <p:nvPr/>
        </p:nvSpPr>
        <p:spPr>
          <a:xfrm>
            <a:off x="548640" y="3046476"/>
            <a:ext cx="5410048" cy="1345692"/>
          </a:xfrm>
          <a:prstGeom prst="roundRect">
            <a:avLst>
              <a:gd name="adj" fmla="val 6795"/>
            </a:avLst>
          </a:prstGeom>
          <a:solidFill>
            <a:srgbClr val="EFF4FC"/>
          </a:solidFill>
          <a:ln w="12700">
            <a:solidFill>
              <a:srgbClr val="CCDDF6"/>
            </a:solidFill>
            <a:prstDash val="solid"/>
          </a:ln>
        </p:spPr>
      </p:sp>
      <p:sp>
        <p:nvSpPr>
          <p:cNvPr id="24" name="iconbg-159"/>
          <p:cNvSpPr/>
          <p:nvPr/>
        </p:nvSpPr>
        <p:spPr>
          <a:xfrm>
            <a:off x="694944" y="3192780"/>
            <a:ext cx="457200" cy="457200"/>
          </a:xfrm>
          <a:prstGeom prst="ellipse">
            <a:avLst/>
          </a:prstGeom>
          <a:solidFill>
            <a:srgbClr val="1565D8"/>
          </a:solidFill>
          <a:ln w="12700">
            <a:solidFill>
              <a:srgbClr val="1565D8"/>
            </a:solidFill>
            <a:prstDash val="solid"/>
          </a:ln>
        </p:spPr>
      </p:sp>
      <p:pic>
        <p:nvPicPr>
          <p:cNvPr id="25" name="icon-160" descr="preencoded.png">    </p:cNvPr>
          <p:cNvPicPr>
            <a:picLocks noChangeAspect="1"/>
          </p:cNvPicPr>
          <p:nvPr/>
        </p:nvPicPr>
        <p:blipFill>
          <a:blip r:embed="rId12"/>
          <a:stretch>
            <a:fillRect/>
          </a:stretch>
        </p:blipFill>
        <p:spPr>
          <a:xfrm>
            <a:off x="795528" y="3293364"/>
            <a:ext cx="256032" cy="256032"/>
          </a:xfrm>
          <a:prstGeom prst="rect">
            <a:avLst/>
          </a:prstGeom>
        </p:spPr>
      </p:pic>
      <p:sp>
        <p:nvSpPr>
          <p:cNvPr id="26" name="text-161"/>
          <p:cNvSpPr txBox="1"/>
          <p:nvPr/>
        </p:nvSpPr>
        <p:spPr>
          <a:xfrm>
            <a:off x="1316736" y="3174492"/>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Răspunzi în aceeași zi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Public la comentariu + în mesaj.</a:t>
            </a:r>
            <a:endParaRPr lang="en-US" sz="1600" dirty="0"/>
          </a:p>
        </p:txBody>
      </p:sp>
      <p:sp>
        <p:nvSpPr>
          <p:cNvPr id="27" name="card-162"/>
          <p:cNvSpPr/>
          <p:nvPr/>
        </p:nvSpPr>
        <p:spPr>
          <a:xfrm>
            <a:off x="6233008" y="3046476"/>
            <a:ext cx="5410048" cy="1345692"/>
          </a:xfrm>
          <a:prstGeom prst="roundRect">
            <a:avLst>
              <a:gd name="adj" fmla="val 6795"/>
            </a:avLst>
          </a:prstGeom>
          <a:solidFill>
            <a:srgbClr val="EFF4FC"/>
          </a:solidFill>
          <a:ln w="12700">
            <a:solidFill>
              <a:srgbClr val="CCDDF6"/>
            </a:solidFill>
            <a:prstDash val="solid"/>
          </a:ln>
        </p:spPr>
      </p:sp>
      <p:sp>
        <p:nvSpPr>
          <p:cNvPr id="28" name="iconbg-163"/>
          <p:cNvSpPr/>
          <p:nvPr/>
        </p:nvSpPr>
        <p:spPr>
          <a:xfrm>
            <a:off x="6379312" y="3192780"/>
            <a:ext cx="457200" cy="457200"/>
          </a:xfrm>
          <a:prstGeom prst="ellipse">
            <a:avLst/>
          </a:prstGeom>
          <a:solidFill>
            <a:srgbClr val="1565D8"/>
          </a:solidFill>
          <a:ln w="12700">
            <a:solidFill>
              <a:srgbClr val="1565D8"/>
            </a:solidFill>
            <a:prstDash val="solid"/>
          </a:ln>
        </p:spPr>
      </p:sp>
      <p:pic>
        <p:nvPicPr>
          <p:cNvPr id="29" name="icon-164" descr="preencoded.png">    </p:cNvPr>
          <p:cNvPicPr>
            <a:picLocks noChangeAspect="1"/>
          </p:cNvPicPr>
          <p:nvPr/>
        </p:nvPicPr>
        <p:blipFill>
          <a:blip r:embed="rId13"/>
          <a:stretch>
            <a:fillRect/>
          </a:stretch>
        </p:blipFill>
        <p:spPr>
          <a:xfrm>
            <a:off x="6479896" y="3293364"/>
            <a:ext cx="256032" cy="256032"/>
          </a:xfrm>
          <a:prstGeom prst="rect">
            <a:avLst/>
          </a:prstGeom>
        </p:spPr>
      </p:pic>
      <p:sp>
        <p:nvSpPr>
          <p:cNvPr id="30" name="text-165"/>
          <p:cNvSpPr txBox="1"/>
          <p:nvPr/>
        </p:nvSpPr>
        <p:spPr>
          <a:xfrm>
            <a:off x="7001104" y="3174492"/>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1565D8"/>
                </a:solidFill>
                <a:latin typeface="Arial" pitchFamily="34" charset="0"/>
                <a:ea typeface="Arial" pitchFamily="34" charset="-122"/>
                <a:cs typeface="Arial" pitchFamily="34" charset="-120"/>
              </a:rPr>
              <a:t>Oferi 2 ore libere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Nu „când vrei”.</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watermark-166"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167"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168"/>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169"/>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Story, Reels sau postare?</a:t>
            </a:r>
            <a:endParaRPr lang="en-US" sz="3200" dirty="0"/>
          </a:p>
        </p:txBody>
      </p:sp>
      <p:sp>
        <p:nvSpPr>
          <p:cNvPr id="6" name="nav-170">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171">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172">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173">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174">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175">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176"/>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177"/>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178"/>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7</a:t>
            </a:r>
            <a:endParaRPr lang="en-US" sz="1000" dirty="0"/>
          </a:p>
        </p:txBody>
      </p:sp>
      <p:sp>
        <p:nvSpPr>
          <p:cNvPr id="15" name="card-179"/>
          <p:cNvSpPr/>
          <p:nvPr/>
        </p:nvSpPr>
        <p:spPr>
          <a:xfrm>
            <a:off x="548640" y="1572768"/>
            <a:ext cx="3515258" cy="1975104"/>
          </a:xfrm>
          <a:prstGeom prst="roundRect">
            <a:avLst>
              <a:gd name="adj" fmla="val 4630"/>
            </a:avLst>
          </a:prstGeom>
          <a:solidFill>
            <a:srgbClr val="F9EEF3"/>
          </a:solidFill>
          <a:ln w="12700">
            <a:solidFill>
              <a:srgbClr val="EECBD8"/>
            </a:solidFill>
            <a:prstDash val="solid"/>
          </a:ln>
        </p:spPr>
      </p:sp>
      <p:sp>
        <p:nvSpPr>
          <p:cNvPr id="16" name="iconbg-180"/>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181"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182"/>
          <p:cNvSpPr txBox="1"/>
          <p:nvPr/>
        </p:nvSpPr>
        <p:spPr>
          <a:xfrm>
            <a:off x="1316736" y="1700784"/>
            <a:ext cx="2600858" cy="1719072"/>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Story</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Ține clientele aproape. Culise, sondaje, locuri libere.</a:t>
            </a:r>
            <a:endParaRPr lang="en-US" sz="1600" dirty="0"/>
          </a:p>
        </p:txBody>
      </p:sp>
      <p:sp>
        <p:nvSpPr>
          <p:cNvPr id="19" name="card-183"/>
          <p:cNvSpPr/>
          <p:nvPr/>
        </p:nvSpPr>
        <p:spPr>
          <a:xfrm>
            <a:off x="4338218" y="1572768"/>
            <a:ext cx="3515258" cy="1975104"/>
          </a:xfrm>
          <a:prstGeom prst="roundRect">
            <a:avLst>
              <a:gd name="adj" fmla="val 4630"/>
            </a:avLst>
          </a:prstGeom>
          <a:solidFill>
            <a:srgbClr val="F9EEF3"/>
          </a:solidFill>
          <a:ln w="12700">
            <a:solidFill>
              <a:srgbClr val="EECBD8"/>
            </a:solidFill>
            <a:prstDash val="solid"/>
          </a:ln>
        </p:spPr>
      </p:sp>
      <p:sp>
        <p:nvSpPr>
          <p:cNvPr id="20" name="iconbg-184"/>
          <p:cNvSpPr/>
          <p:nvPr/>
        </p:nvSpPr>
        <p:spPr>
          <a:xfrm>
            <a:off x="4484522" y="1719072"/>
            <a:ext cx="457200" cy="457200"/>
          </a:xfrm>
          <a:prstGeom prst="ellipse">
            <a:avLst/>
          </a:prstGeom>
          <a:solidFill>
            <a:srgbClr val="B0124F"/>
          </a:solidFill>
          <a:ln w="12700">
            <a:solidFill>
              <a:srgbClr val="B0124F"/>
            </a:solidFill>
            <a:prstDash val="solid"/>
          </a:ln>
        </p:spPr>
      </p:sp>
      <p:pic>
        <p:nvPicPr>
          <p:cNvPr id="21" name="icon-185" descr="preencoded.png">    </p:cNvPr>
          <p:cNvPicPr>
            <a:picLocks noChangeAspect="1"/>
          </p:cNvPicPr>
          <p:nvPr/>
        </p:nvPicPr>
        <p:blipFill>
          <a:blip r:embed="rId11"/>
          <a:stretch>
            <a:fillRect/>
          </a:stretch>
        </p:blipFill>
        <p:spPr>
          <a:xfrm>
            <a:off x="4585106" y="1819656"/>
            <a:ext cx="256032" cy="256032"/>
          </a:xfrm>
          <a:prstGeom prst="rect">
            <a:avLst/>
          </a:prstGeom>
        </p:spPr>
      </p:pic>
      <p:sp>
        <p:nvSpPr>
          <p:cNvPr id="22" name="text-186"/>
          <p:cNvSpPr txBox="1"/>
          <p:nvPr/>
        </p:nvSpPr>
        <p:spPr>
          <a:xfrm>
            <a:off x="5106314" y="1700784"/>
            <a:ext cx="2600858" cy="1719072"/>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Reels</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Aduc oameni noi. Video vertical cu transformarea.</a:t>
            </a:r>
            <a:endParaRPr lang="en-US" sz="1600" dirty="0"/>
          </a:p>
        </p:txBody>
      </p:sp>
      <p:sp>
        <p:nvSpPr>
          <p:cNvPr id="23" name="card-187"/>
          <p:cNvSpPr/>
          <p:nvPr/>
        </p:nvSpPr>
        <p:spPr>
          <a:xfrm>
            <a:off x="8127797" y="1572768"/>
            <a:ext cx="3515258" cy="1975104"/>
          </a:xfrm>
          <a:prstGeom prst="roundRect">
            <a:avLst>
              <a:gd name="adj" fmla="val 4630"/>
            </a:avLst>
          </a:prstGeom>
          <a:solidFill>
            <a:srgbClr val="F9EEF3"/>
          </a:solidFill>
          <a:ln w="12700">
            <a:solidFill>
              <a:srgbClr val="EECBD8"/>
            </a:solidFill>
            <a:prstDash val="solid"/>
          </a:ln>
        </p:spPr>
      </p:sp>
      <p:sp>
        <p:nvSpPr>
          <p:cNvPr id="24" name="iconbg-188"/>
          <p:cNvSpPr/>
          <p:nvPr/>
        </p:nvSpPr>
        <p:spPr>
          <a:xfrm>
            <a:off x="8274101" y="1719072"/>
            <a:ext cx="457200" cy="457200"/>
          </a:xfrm>
          <a:prstGeom prst="ellipse">
            <a:avLst/>
          </a:prstGeom>
          <a:solidFill>
            <a:srgbClr val="B0124F"/>
          </a:solidFill>
          <a:ln w="12700">
            <a:solidFill>
              <a:srgbClr val="B0124F"/>
            </a:solidFill>
            <a:prstDash val="solid"/>
          </a:ln>
        </p:spPr>
      </p:sp>
      <p:pic>
        <p:nvPicPr>
          <p:cNvPr id="25" name="icon-189" descr="preencoded.png">    </p:cNvPr>
          <p:cNvPicPr>
            <a:picLocks noChangeAspect="1"/>
          </p:cNvPicPr>
          <p:nvPr/>
        </p:nvPicPr>
        <p:blipFill>
          <a:blip r:embed="rId12"/>
          <a:stretch>
            <a:fillRect/>
          </a:stretch>
        </p:blipFill>
        <p:spPr>
          <a:xfrm>
            <a:off x="8374685" y="1819656"/>
            <a:ext cx="256032" cy="256032"/>
          </a:xfrm>
          <a:prstGeom prst="rect">
            <a:avLst/>
          </a:prstGeom>
        </p:spPr>
      </p:pic>
      <p:sp>
        <p:nvSpPr>
          <p:cNvPr id="26" name="text-190"/>
          <p:cNvSpPr txBox="1"/>
          <p:nvPr/>
        </p:nvSpPr>
        <p:spPr>
          <a:xfrm>
            <a:off x="8895893" y="1700784"/>
            <a:ext cx="2600858" cy="1719072"/>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Postare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Portofoliul tău. Înainte și după, detalii.</a:t>
            </a:r>
            <a:endParaRPr lang="en-US" sz="1600" dirty="0"/>
          </a:p>
        </p:txBody>
      </p:sp>
      <p:sp>
        <p:nvSpPr>
          <p:cNvPr id="27" name="note-191"/>
          <p:cNvSpPr/>
          <p:nvPr/>
        </p:nvSpPr>
        <p:spPr>
          <a:xfrm>
            <a:off x="548640" y="3675888"/>
            <a:ext cx="11094415" cy="589026"/>
          </a:xfrm>
          <a:prstGeom prst="roundRect">
            <a:avLst>
              <a:gd name="adj" fmla="val 15524"/>
            </a:avLst>
          </a:prstGeom>
          <a:solidFill>
            <a:srgbClr val="FFFFFF"/>
          </a:solidFill>
          <a:ln w="19050">
            <a:solidFill>
              <a:srgbClr val="B0124F"/>
            </a:solidFill>
            <a:prstDash val="dash"/>
          </a:ln>
        </p:spPr>
      </p:sp>
      <p:pic>
        <p:nvPicPr>
          <p:cNvPr id="28" name="noteicon-192" descr="preencoded.png">    </p:cNvPr>
          <p:cNvPicPr>
            <a:picLocks noChangeAspect="1"/>
          </p:cNvPicPr>
          <p:nvPr/>
        </p:nvPicPr>
        <p:blipFill>
          <a:blip r:embed="rId13"/>
          <a:stretch>
            <a:fillRect/>
          </a:stretch>
        </p:blipFill>
        <p:spPr>
          <a:xfrm>
            <a:off x="685800" y="3796665"/>
            <a:ext cx="347472" cy="347472"/>
          </a:xfrm>
          <a:prstGeom prst="rect">
            <a:avLst/>
          </a:prstGeom>
        </p:spPr>
      </p:pic>
      <p:sp>
        <p:nvSpPr>
          <p:cNvPr id="29" name="text-193"/>
          <p:cNvSpPr txBox="1"/>
          <p:nvPr/>
        </p:nvSpPr>
        <p:spPr>
          <a:xfrm>
            <a:off x="1143000" y="3767328"/>
            <a:ext cx="10362895" cy="406146"/>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Reels aduce omul. Story-ul îl face clientă. Postarea îl convinge.</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watermark-194"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195"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196"/>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197"/>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Un profil care atrage cliente</a:t>
            </a:r>
            <a:endParaRPr lang="en-US" sz="3200" dirty="0"/>
          </a:p>
        </p:txBody>
      </p:sp>
      <p:sp>
        <p:nvSpPr>
          <p:cNvPr id="6" name="nav-198">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199">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200">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201">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202">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203">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204"/>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205"/>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206"/>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8</a:t>
            </a:r>
            <a:endParaRPr lang="en-US" sz="1000" dirty="0"/>
          </a:p>
        </p:txBody>
      </p:sp>
      <p:sp>
        <p:nvSpPr>
          <p:cNvPr id="15" name="card-207"/>
          <p:cNvSpPr/>
          <p:nvPr/>
        </p:nvSpPr>
        <p:spPr>
          <a:xfrm>
            <a:off x="548640" y="1572768"/>
            <a:ext cx="5410048" cy="1030986"/>
          </a:xfrm>
          <a:prstGeom prst="roundRect">
            <a:avLst>
              <a:gd name="adj" fmla="val 8869"/>
            </a:avLst>
          </a:prstGeom>
          <a:solidFill>
            <a:srgbClr val="F9EEF3"/>
          </a:solidFill>
          <a:ln w="12700">
            <a:solidFill>
              <a:srgbClr val="EECBD8"/>
            </a:solidFill>
            <a:prstDash val="solid"/>
          </a:ln>
        </p:spPr>
      </p:sp>
      <p:sp>
        <p:nvSpPr>
          <p:cNvPr id="16" name="iconbg-208"/>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209"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210"/>
          <p:cNvSpPr txBox="1"/>
          <p:nvPr/>
        </p:nvSpPr>
        <p:spPr>
          <a:xfrm>
            <a:off x="1316736" y="1700784"/>
            <a:ext cx="4495648" cy="77495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Poză clară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Tu sau cea mai bună lucrare.</a:t>
            </a:r>
            <a:endParaRPr lang="en-US" sz="1600" dirty="0"/>
          </a:p>
        </p:txBody>
      </p:sp>
      <p:sp>
        <p:nvSpPr>
          <p:cNvPr id="19" name="card-211"/>
          <p:cNvSpPr/>
          <p:nvPr/>
        </p:nvSpPr>
        <p:spPr>
          <a:xfrm>
            <a:off x="6233008" y="1572768"/>
            <a:ext cx="5410048" cy="1030986"/>
          </a:xfrm>
          <a:prstGeom prst="roundRect">
            <a:avLst>
              <a:gd name="adj" fmla="val 8869"/>
            </a:avLst>
          </a:prstGeom>
          <a:solidFill>
            <a:srgbClr val="F9EEF3"/>
          </a:solidFill>
          <a:ln w="12700">
            <a:solidFill>
              <a:srgbClr val="EECBD8"/>
            </a:solidFill>
            <a:prstDash val="solid"/>
          </a:ln>
        </p:spPr>
      </p:sp>
      <p:sp>
        <p:nvSpPr>
          <p:cNvPr id="20" name="iconbg-212"/>
          <p:cNvSpPr/>
          <p:nvPr/>
        </p:nvSpPr>
        <p:spPr>
          <a:xfrm>
            <a:off x="6379312" y="1719072"/>
            <a:ext cx="457200" cy="457200"/>
          </a:xfrm>
          <a:prstGeom prst="ellipse">
            <a:avLst/>
          </a:prstGeom>
          <a:solidFill>
            <a:srgbClr val="B0124F"/>
          </a:solidFill>
          <a:ln w="12700">
            <a:solidFill>
              <a:srgbClr val="B0124F"/>
            </a:solidFill>
            <a:prstDash val="solid"/>
          </a:ln>
        </p:spPr>
      </p:sp>
      <p:pic>
        <p:nvPicPr>
          <p:cNvPr id="21" name="icon-213"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214"/>
          <p:cNvSpPr txBox="1"/>
          <p:nvPr/>
        </p:nvSpPr>
        <p:spPr>
          <a:xfrm>
            <a:off x="7001104" y="1700784"/>
            <a:ext cx="4495648" cy="77495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Nume cu nișă și oraș</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„Ana · Blonduri reci · Iași”.</a:t>
            </a:r>
            <a:endParaRPr lang="en-US" sz="1600" dirty="0"/>
          </a:p>
        </p:txBody>
      </p:sp>
      <p:sp>
        <p:nvSpPr>
          <p:cNvPr id="23" name="card-215"/>
          <p:cNvSpPr/>
          <p:nvPr/>
        </p:nvSpPr>
        <p:spPr>
          <a:xfrm>
            <a:off x="548640" y="2731770"/>
            <a:ext cx="5410048" cy="1390650"/>
          </a:xfrm>
          <a:prstGeom prst="roundRect">
            <a:avLst>
              <a:gd name="adj" fmla="val 6575"/>
            </a:avLst>
          </a:prstGeom>
          <a:solidFill>
            <a:srgbClr val="F9EEF3"/>
          </a:solidFill>
          <a:ln w="12700">
            <a:solidFill>
              <a:srgbClr val="EECBD8"/>
            </a:solidFill>
            <a:prstDash val="solid"/>
          </a:ln>
        </p:spPr>
      </p:sp>
      <p:sp>
        <p:nvSpPr>
          <p:cNvPr id="24" name="iconbg-216"/>
          <p:cNvSpPr/>
          <p:nvPr/>
        </p:nvSpPr>
        <p:spPr>
          <a:xfrm>
            <a:off x="694944" y="2878074"/>
            <a:ext cx="457200" cy="457200"/>
          </a:xfrm>
          <a:prstGeom prst="ellipse">
            <a:avLst/>
          </a:prstGeom>
          <a:solidFill>
            <a:srgbClr val="B0124F"/>
          </a:solidFill>
          <a:ln w="12700">
            <a:solidFill>
              <a:srgbClr val="B0124F"/>
            </a:solidFill>
            <a:prstDash val="solid"/>
          </a:ln>
        </p:spPr>
      </p:sp>
      <p:pic>
        <p:nvPicPr>
          <p:cNvPr id="25" name="icon-217" descr="preencoded.png">    </p:cNvPr>
          <p:cNvPicPr>
            <a:picLocks noChangeAspect="1"/>
          </p:cNvPicPr>
          <p:nvPr/>
        </p:nvPicPr>
        <p:blipFill>
          <a:blip r:embed="rId12"/>
          <a:stretch>
            <a:fillRect/>
          </a:stretch>
        </p:blipFill>
        <p:spPr>
          <a:xfrm>
            <a:off x="795528" y="2978658"/>
            <a:ext cx="256032" cy="256032"/>
          </a:xfrm>
          <a:prstGeom prst="rect">
            <a:avLst/>
          </a:prstGeom>
        </p:spPr>
      </p:pic>
      <p:sp>
        <p:nvSpPr>
          <p:cNvPr id="26" name="text-218"/>
          <p:cNvSpPr txBox="1"/>
          <p:nvPr/>
        </p:nvSpPr>
        <p:spPr>
          <a:xfrm>
            <a:off x="1316736" y="2859786"/>
            <a:ext cx="4495648" cy="1134618"/>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Bio: ce faci, pentru cine, unde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Plus link de programare.</a:t>
            </a:r>
            <a:endParaRPr lang="en-US" sz="1600" dirty="0"/>
          </a:p>
        </p:txBody>
      </p:sp>
      <p:sp>
        <p:nvSpPr>
          <p:cNvPr id="27" name="card-219"/>
          <p:cNvSpPr/>
          <p:nvPr/>
        </p:nvSpPr>
        <p:spPr>
          <a:xfrm>
            <a:off x="6233008" y="2731770"/>
            <a:ext cx="5410048" cy="1390650"/>
          </a:xfrm>
          <a:prstGeom prst="roundRect">
            <a:avLst>
              <a:gd name="adj" fmla="val 6575"/>
            </a:avLst>
          </a:prstGeom>
          <a:solidFill>
            <a:srgbClr val="F9EEF3"/>
          </a:solidFill>
          <a:ln w="12700">
            <a:solidFill>
              <a:srgbClr val="EECBD8"/>
            </a:solidFill>
            <a:prstDash val="solid"/>
          </a:ln>
        </p:spPr>
      </p:sp>
      <p:sp>
        <p:nvSpPr>
          <p:cNvPr id="28" name="iconbg-220"/>
          <p:cNvSpPr/>
          <p:nvPr/>
        </p:nvSpPr>
        <p:spPr>
          <a:xfrm>
            <a:off x="6379312" y="2878074"/>
            <a:ext cx="457200" cy="457200"/>
          </a:xfrm>
          <a:prstGeom prst="ellipse">
            <a:avLst/>
          </a:prstGeom>
          <a:solidFill>
            <a:srgbClr val="B0124F"/>
          </a:solidFill>
          <a:ln w="12700">
            <a:solidFill>
              <a:srgbClr val="B0124F"/>
            </a:solidFill>
            <a:prstDash val="solid"/>
          </a:ln>
        </p:spPr>
      </p:sp>
      <p:pic>
        <p:nvPicPr>
          <p:cNvPr id="29" name="icon-221" descr="preencoded.png">    </p:cNvPr>
          <p:cNvPicPr>
            <a:picLocks noChangeAspect="1"/>
          </p:cNvPicPr>
          <p:nvPr/>
        </p:nvPicPr>
        <p:blipFill>
          <a:blip r:embed="rId13"/>
          <a:stretch>
            <a:fillRect/>
          </a:stretch>
        </p:blipFill>
        <p:spPr>
          <a:xfrm>
            <a:off x="6479896" y="2978658"/>
            <a:ext cx="256032" cy="256032"/>
          </a:xfrm>
          <a:prstGeom prst="rect">
            <a:avLst/>
          </a:prstGeom>
        </p:spPr>
      </p:pic>
      <p:sp>
        <p:nvSpPr>
          <p:cNvPr id="30" name="text-222"/>
          <p:cNvSpPr txBox="1"/>
          <p:nvPr/>
        </p:nvSpPr>
        <p:spPr>
          <a:xfrm>
            <a:off x="7001104" y="2859786"/>
            <a:ext cx="4495648" cy="1134618"/>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Evidențiate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Prețuri, programări, îngrijire, recenzii.</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watermark-223"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224"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225"/>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226"/>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Ritm realist + un singur îndemn</a:t>
            </a:r>
            <a:endParaRPr lang="en-US" sz="3200" dirty="0"/>
          </a:p>
        </p:txBody>
      </p:sp>
      <p:sp>
        <p:nvSpPr>
          <p:cNvPr id="6" name="nav-227">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228">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229">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230">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231">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232">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233"/>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234"/>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235"/>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9</a:t>
            </a:r>
            <a:endParaRPr lang="en-US" sz="1000" dirty="0"/>
          </a:p>
        </p:txBody>
      </p:sp>
      <p:sp>
        <p:nvSpPr>
          <p:cNvPr id="15" name="card-236"/>
          <p:cNvSpPr/>
          <p:nvPr/>
        </p:nvSpPr>
        <p:spPr>
          <a:xfrm>
            <a:off x="548640" y="1572768"/>
            <a:ext cx="5410048" cy="1030986"/>
          </a:xfrm>
          <a:prstGeom prst="roundRect">
            <a:avLst>
              <a:gd name="adj" fmla="val 8869"/>
            </a:avLst>
          </a:prstGeom>
          <a:solidFill>
            <a:srgbClr val="F9EEF3"/>
          </a:solidFill>
          <a:ln w="12700">
            <a:solidFill>
              <a:srgbClr val="EECBD8"/>
            </a:solidFill>
            <a:prstDash val="solid"/>
          </a:ln>
        </p:spPr>
      </p:sp>
      <p:sp>
        <p:nvSpPr>
          <p:cNvPr id="16" name="iconbg-237"/>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238"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239"/>
          <p:cNvSpPr txBox="1"/>
          <p:nvPr/>
        </p:nvSpPr>
        <p:spPr>
          <a:xfrm>
            <a:off x="1316736" y="1700784"/>
            <a:ext cx="4495648" cy="77495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Zilnic</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Story: culise, 5 minute.</a:t>
            </a:r>
            <a:endParaRPr lang="en-US" sz="1600" dirty="0"/>
          </a:p>
        </p:txBody>
      </p:sp>
      <p:sp>
        <p:nvSpPr>
          <p:cNvPr id="19" name="card-240"/>
          <p:cNvSpPr/>
          <p:nvPr/>
        </p:nvSpPr>
        <p:spPr>
          <a:xfrm>
            <a:off x="6233008" y="1572768"/>
            <a:ext cx="5410048" cy="1030986"/>
          </a:xfrm>
          <a:prstGeom prst="roundRect">
            <a:avLst>
              <a:gd name="adj" fmla="val 8869"/>
            </a:avLst>
          </a:prstGeom>
          <a:solidFill>
            <a:srgbClr val="F9EEF3"/>
          </a:solidFill>
          <a:ln w="12700">
            <a:solidFill>
              <a:srgbClr val="EECBD8"/>
            </a:solidFill>
            <a:prstDash val="solid"/>
          </a:ln>
        </p:spPr>
      </p:sp>
      <p:sp>
        <p:nvSpPr>
          <p:cNvPr id="20" name="iconbg-241"/>
          <p:cNvSpPr/>
          <p:nvPr/>
        </p:nvSpPr>
        <p:spPr>
          <a:xfrm>
            <a:off x="6379312" y="1719072"/>
            <a:ext cx="457200" cy="457200"/>
          </a:xfrm>
          <a:prstGeom prst="ellipse">
            <a:avLst/>
          </a:prstGeom>
          <a:solidFill>
            <a:srgbClr val="B0124F"/>
          </a:solidFill>
          <a:ln w="12700">
            <a:solidFill>
              <a:srgbClr val="B0124F"/>
            </a:solidFill>
            <a:prstDash val="solid"/>
          </a:ln>
        </p:spPr>
      </p:sp>
      <p:pic>
        <p:nvPicPr>
          <p:cNvPr id="21" name="icon-242"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243"/>
          <p:cNvSpPr txBox="1"/>
          <p:nvPr/>
        </p:nvSpPr>
        <p:spPr>
          <a:xfrm>
            <a:off x="7001104" y="1700784"/>
            <a:ext cx="4495648" cy="77495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De 2–3 ori pe săptămână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Reel cu o transformare.</a:t>
            </a:r>
            <a:endParaRPr lang="en-US" sz="1600" dirty="0"/>
          </a:p>
        </p:txBody>
      </p:sp>
      <p:sp>
        <p:nvSpPr>
          <p:cNvPr id="23" name="card-244"/>
          <p:cNvSpPr/>
          <p:nvPr/>
        </p:nvSpPr>
        <p:spPr>
          <a:xfrm>
            <a:off x="548640" y="2731770"/>
            <a:ext cx="5410048" cy="1345692"/>
          </a:xfrm>
          <a:prstGeom prst="roundRect">
            <a:avLst>
              <a:gd name="adj" fmla="val 6795"/>
            </a:avLst>
          </a:prstGeom>
          <a:solidFill>
            <a:srgbClr val="F9EEF3"/>
          </a:solidFill>
          <a:ln w="12700">
            <a:solidFill>
              <a:srgbClr val="EECBD8"/>
            </a:solidFill>
            <a:prstDash val="solid"/>
          </a:ln>
        </p:spPr>
      </p:sp>
      <p:sp>
        <p:nvSpPr>
          <p:cNvPr id="24" name="iconbg-245"/>
          <p:cNvSpPr/>
          <p:nvPr/>
        </p:nvSpPr>
        <p:spPr>
          <a:xfrm>
            <a:off x="694944" y="2878074"/>
            <a:ext cx="457200" cy="457200"/>
          </a:xfrm>
          <a:prstGeom prst="ellipse">
            <a:avLst/>
          </a:prstGeom>
          <a:solidFill>
            <a:srgbClr val="B0124F"/>
          </a:solidFill>
          <a:ln w="12700">
            <a:solidFill>
              <a:srgbClr val="B0124F"/>
            </a:solidFill>
            <a:prstDash val="solid"/>
          </a:ln>
        </p:spPr>
      </p:sp>
      <p:pic>
        <p:nvPicPr>
          <p:cNvPr id="25" name="icon-246" descr="preencoded.png">    </p:cNvPr>
          <p:cNvPicPr>
            <a:picLocks noChangeAspect="1"/>
          </p:cNvPicPr>
          <p:nvPr/>
        </p:nvPicPr>
        <p:blipFill>
          <a:blip r:embed="rId12"/>
          <a:stretch>
            <a:fillRect/>
          </a:stretch>
        </p:blipFill>
        <p:spPr>
          <a:xfrm>
            <a:off x="795528" y="2978658"/>
            <a:ext cx="256032" cy="256032"/>
          </a:xfrm>
          <a:prstGeom prst="rect">
            <a:avLst/>
          </a:prstGeom>
        </p:spPr>
      </p:pic>
      <p:sp>
        <p:nvSpPr>
          <p:cNvPr id="26" name="text-247"/>
          <p:cNvSpPr txBox="1"/>
          <p:nvPr/>
        </p:nvSpPr>
        <p:spPr>
          <a:xfrm>
            <a:off x="1316736" y="2859786"/>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O dată pe săptămână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carusel foto (portofoliu).</a:t>
            </a:r>
            <a:endParaRPr lang="en-US" sz="1600" dirty="0"/>
          </a:p>
        </p:txBody>
      </p:sp>
      <p:sp>
        <p:nvSpPr>
          <p:cNvPr id="27" name="card-248"/>
          <p:cNvSpPr/>
          <p:nvPr/>
        </p:nvSpPr>
        <p:spPr>
          <a:xfrm>
            <a:off x="6233008" y="2731770"/>
            <a:ext cx="5410048" cy="1345692"/>
          </a:xfrm>
          <a:prstGeom prst="roundRect">
            <a:avLst>
              <a:gd name="adj" fmla="val 6795"/>
            </a:avLst>
          </a:prstGeom>
          <a:solidFill>
            <a:srgbClr val="F9EEF3"/>
          </a:solidFill>
          <a:ln w="12700">
            <a:solidFill>
              <a:srgbClr val="EECBD8"/>
            </a:solidFill>
            <a:prstDash val="solid"/>
          </a:ln>
        </p:spPr>
      </p:sp>
      <p:sp>
        <p:nvSpPr>
          <p:cNvPr id="28" name="iconbg-249"/>
          <p:cNvSpPr/>
          <p:nvPr/>
        </p:nvSpPr>
        <p:spPr>
          <a:xfrm>
            <a:off x="6379312" y="2878074"/>
            <a:ext cx="457200" cy="457200"/>
          </a:xfrm>
          <a:prstGeom prst="ellipse">
            <a:avLst/>
          </a:prstGeom>
          <a:solidFill>
            <a:srgbClr val="B0124F"/>
          </a:solidFill>
          <a:ln w="12700">
            <a:solidFill>
              <a:srgbClr val="B0124F"/>
            </a:solidFill>
            <a:prstDash val="solid"/>
          </a:ln>
        </p:spPr>
      </p:sp>
      <p:pic>
        <p:nvPicPr>
          <p:cNvPr id="29" name="icon-250" descr="preencoded.png">    </p:cNvPr>
          <p:cNvPicPr>
            <a:picLocks noChangeAspect="1"/>
          </p:cNvPicPr>
          <p:nvPr/>
        </p:nvPicPr>
        <p:blipFill>
          <a:blip r:embed="rId13"/>
          <a:stretch>
            <a:fillRect/>
          </a:stretch>
        </p:blipFill>
        <p:spPr>
          <a:xfrm>
            <a:off x="6479896" y="2978658"/>
            <a:ext cx="256032" cy="256032"/>
          </a:xfrm>
          <a:prstGeom prst="rect">
            <a:avLst/>
          </a:prstGeom>
        </p:spPr>
      </p:pic>
      <p:sp>
        <p:nvSpPr>
          <p:cNvPr id="30" name="text-251"/>
          <p:cNvSpPr txBox="1"/>
          <p:nvPr/>
        </p:nvSpPr>
        <p:spPr>
          <a:xfrm>
            <a:off x="7001104" y="2859786"/>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Un singur îndemn</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„Scrie BLOND în mesaje și îți trimit locurile libere.”</a:t>
            </a:r>
            <a:endParaRPr lang="en-US" sz="1600" dirty="0"/>
          </a:p>
        </p:txBody>
      </p:sp>
      <p:sp>
        <p:nvSpPr>
          <p:cNvPr id="31" name="note-252"/>
          <p:cNvSpPr/>
          <p:nvPr/>
        </p:nvSpPr>
        <p:spPr>
          <a:xfrm>
            <a:off x="548640" y="4205478"/>
            <a:ext cx="11094415" cy="589026"/>
          </a:xfrm>
          <a:prstGeom prst="roundRect">
            <a:avLst>
              <a:gd name="adj" fmla="val 15524"/>
            </a:avLst>
          </a:prstGeom>
          <a:solidFill>
            <a:srgbClr val="FFFFFF"/>
          </a:solidFill>
          <a:ln w="19050">
            <a:solidFill>
              <a:srgbClr val="B0124F"/>
            </a:solidFill>
            <a:prstDash val="dash"/>
          </a:ln>
        </p:spPr>
      </p:sp>
      <p:pic>
        <p:nvPicPr>
          <p:cNvPr id="32" name="noteicon-253" descr="preencoded.png">    </p:cNvPr>
          <p:cNvPicPr>
            <a:picLocks noChangeAspect="1"/>
          </p:cNvPicPr>
          <p:nvPr/>
        </p:nvPicPr>
        <p:blipFill>
          <a:blip r:embed="rId14"/>
          <a:stretch>
            <a:fillRect/>
          </a:stretch>
        </p:blipFill>
        <p:spPr>
          <a:xfrm>
            <a:off x="685800" y="4326255"/>
            <a:ext cx="347472" cy="347472"/>
          </a:xfrm>
          <a:prstGeom prst="rect">
            <a:avLst/>
          </a:prstGeom>
        </p:spPr>
      </p:pic>
      <p:sp>
        <p:nvSpPr>
          <p:cNvPr id="33" name="text-254"/>
          <p:cNvSpPr txBox="1"/>
          <p:nvPr/>
        </p:nvSpPr>
        <p:spPr>
          <a:xfrm>
            <a:off x="1143000" y="4296918"/>
            <a:ext cx="10362895" cy="406146"/>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Ritmul e un punct de pornire, nu o regulă.</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watermark-255"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256" descr="Instagram">    </p:cNvPr>
          <p:cNvPicPr>
            <a:picLocks noChangeAspect="1"/>
          </p:cNvPicPr>
          <p:nvPr/>
        </p:nvPicPr>
        <p:blipFill>
          <a:blip r:embed="rId2"/>
          <a:stretch>
            <a:fillRect/>
          </a:stretch>
        </p:blipFill>
        <p:spPr>
          <a:xfrm>
            <a:off x="548640" y="329184"/>
            <a:ext cx="384048" cy="384048"/>
          </a:xfrm>
          <a:prstGeom prst="rect">
            <a:avLst/>
          </a:prstGeom>
        </p:spPr>
      </p:pic>
      <p:sp>
        <p:nvSpPr>
          <p:cNvPr id="4" name="text-257"/>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B0124F"/>
                </a:solidFill>
                <a:latin typeface="Arial" pitchFamily="34" charset="0"/>
                <a:ea typeface="Arial" pitchFamily="34" charset="-122"/>
                <a:cs typeface="Arial" pitchFamily="34" charset="-120"/>
              </a:rPr>
              <a:t>INSTAGRAM</a:t>
            </a:r>
            <a:endParaRPr lang="en-US" sz="1500" dirty="0"/>
          </a:p>
        </p:txBody>
      </p:sp>
      <p:sp>
        <p:nvSpPr>
          <p:cNvPr id="5" name="text-258"/>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Înainte și după corect. Giveaway simplu.</a:t>
            </a:r>
            <a:endParaRPr lang="en-US" sz="3200" dirty="0"/>
          </a:p>
        </p:txBody>
      </p:sp>
      <p:sp>
        <p:nvSpPr>
          <p:cNvPr id="6" name="nav-259">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260">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261">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262">
            <a:hlinkClick r:id="rId6" tooltip="Instagram" action="ppaction://hlinksldjump"/>
          </p:cNvPr>
          <p:cNvSpPr/>
          <p:nvPr/>
        </p:nvSpPr>
        <p:spPr>
          <a:xfrm>
            <a:off x="7784287" y="365760"/>
            <a:ext cx="1033272" cy="310896"/>
          </a:xfrm>
          <a:prstGeom prst="roundRect">
            <a:avLst>
              <a:gd name="adj" fmla="val 50000"/>
            </a:avLst>
          </a:prstGeom>
          <a:solidFill>
            <a:srgbClr val="B0124F"/>
          </a:solidFill>
          <a:ln w="12700">
            <a:solidFill>
              <a:srgbClr val="B0124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263">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264">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265"/>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266"/>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B0124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267"/>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10</a:t>
            </a:r>
            <a:endParaRPr lang="en-US" sz="1000" dirty="0"/>
          </a:p>
        </p:txBody>
      </p:sp>
      <p:sp>
        <p:nvSpPr>
          <p:cNvPr id="15" name="card-268"/>
          <p:cNvSpPr/>
          <p:nvPr/>
        </p:nvSpPr>
        <p:spPr>
          <a:xfrm>
            <a:off x="548640" y="1572768"/>
            <a:ext cx="5410048" cy="1345692"/>
          </a:xfrm>
          <a:prstGeom prst="roundRect">
            <a:avLst>
              <a:gd name="adj" fmla="val 6795"/>
            </a:avLst>
          </a:prstGeom>
          <a:solidFill>
            <a:srgbClr val="F9EEF3"/>
          </a:solidFill>
          <a:ln w="12700">
            <a:solidFill>
              <a:srgbClr val="EECBD8"/>
            </a:solidFill>
            <a:prstDash val="solid"/>
          </a:ln>
        </p:spPr>
      </p:sp>
      <p:sp>
        <p:nvSpPr>
          <p:cNvPr id="16" name="iconbg-269"/>
          <p:cNvSpPr/>
          <p:nvPr/>
        </p:nvSpPr>
        <p:spPr>
          <a:xfrm>
            <a:off x="694944" y="1719072"/>
            <a:ext cx="457200" cy="457200"/>
          </a:xfrm>
          <a:prstGeom prst="ellipse">
            <a:avLst/>
          </a:prstGeom>
          <a:solidFill>
            <a:srgbClr val="B0124F"/>
          </a:solidFill>
          <a:ln w="12700">
            <a:solidFill>
              <a:srgbClr val="B0124F"/>
            </a:solidFill>
            <a:prstDash val="solid"/>
          </a:ln>
        </p:spPr>
      </p:sp>
      <p:pic>
        <p:nvPicPr>
          <p:cNvPr id="17" name="icon-270"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271"/>
          <p:cNvSpPr txBox="1"/>
          <p:nvPr/>
        </p:nvSpPr>
        <p:spPr>
          <a:xfrm>
            <a:off x="1316736" y="1700784"/>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Același loc, aceeași lumină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Telefonul fix, fără filtru.</a:t>
            </a:r>
            <a:endParaRPr lang="en-US" sz="1600" dirty="0"/>
          </a:p>
        </p:txBody>
      </p:sp>
      <p:sp>
        <p:nvSpPr>
          <p:cNvPr id="19" name="card-272"/>
          <p:cNvSpPr/>
          <p:nvPr/>
        </p:nvSpPr>
        <p:spPr>
          <a:xfrm>
            <a:off x="6233008" y="1572768"/>
            <a:ext cx="5410048" cy="1345692"/>
          </a:xfrm>
          <a:prstGeom prst="roundRect">
            <a:avLst>
              <a:gd name="adj" fmla="val 6795"/>
            </a:avLst>
          </a:prstGeom>
          <a:solidFill>
            <a:srgbClr val="F9EEF3"/>
          </a:solidFill>
          <a:ln w="12700">
            <a:solidFill>
              <a:srgbClr val="EECBD8"/>
            </a:solidFill>
            <a:prstDash val="solid"/>
          </a:ln>
        </p:spPr>
      </p:sp>
      <p:sp>
        <p:nvSpPr>
          <p:cNvPr id="20" name="iconbg-273"/>
          <p:cNvSpPr/>
          <p:nvPr/>
        </p:nvSpPr>
        <p:spPr>
          <a:xfrm>
            <a:off x="6379312" y="1719072"/>
            <a:ext cx="457200" cy="457200"/>
          </a:xfrm>
          <a:prstGeom prst="ellipse">
            <a:avLst/>
          </a:prstGeom>
          <a:solidFill>
            <a:srgbClr val="B0124F"/>
          </a:solidFill>
          <a:ln w="12700">
            <a:solidFill>
              <a:srgbClr val="B0124F"/>
            </a:solidFill>
            <a:prstDash val="solid"/>
          </a:ln>
        </p:spPr>
      </p:sp>
      <p:pic>
        <p:nvPicPr>
          <p:cNvPr id="21" name="icon-274"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275"/>
          <p:cNvSpPr txBox="1"/>
          <p:nvPr/>
        </p:nvSpPr>
        <p:spPr>
          <a:xfrm>
            <a:off x="7001104" y="1700784"/>
            <a:ext cx="4495648" cy="1089660"/>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Premiu de salon</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Tratament, tonifiere, voucher. Nu telefon, nu bani.</a:t>
            </a:r>
            <a:endParaRPr lang="en-US" sz="1600" dirty="0"/>
          </a:p>
        </p:txBody>
      </p:sp>
      <p:sp>
        <p:nvSpPr>
          <p:cNvPr id="23" name="card-276"/>
          <p:cNvSpPr/>
          <p:nvPr/>
        </p:nvSpPr>
        <p:spPr>
          <a:xfrm>
            <a:off x="548640" y="3046476"/>
            <a:ext cx="5410048" cy="1705356"/>
          </a:xfrm>
          <a:prstGeom prst="roundRect">
            <a:avLst>
              <a:gd name="adj" fmla="val 5362"/>
            </a:avLst>
          </a:prstGeom>
          <a:solidFill>
            <a:srgbClr val="F9EEF3"/>
          </a:solidFill>
          <a:ln w="12700">
            <a:solidFill>
              <a:srgbClr val="EECBD8"/>
            </a:solidFill>
            <a:prstDash val="solid"/>
          </a:ln>
        </p:spPr>
      </p:sp>
      <p:sp>
        <p:nvSpPr>
          <p:cNvPr id="24" name="iconbg-277"/>
          <p:cNvSpPr/>
          <p:nvPr/>
        </p:nvSpPr>
        <p:spPr>
          <a:xfrm>
            <a:off x="694944" y="3192780"/>
            <a:ext cx="457200" cy="457200"/>
          </a:xfrm>
          <a:prstGeom prst="ellipse">
            <a:avLst/>
          </a:prstGeom>
          <a:solidFill>
            <a:srgbClr val="B0124F"/>
          </a:solidFill>
          <a:ln w="12700">
            <a:solidFill>
              <a:srgbClr val="B0124F"/>
            </a:solidFill>
            <a:prstDash val="solid"/>
          </a:ln>
        </p:spPr>
      </p:sp>
      <p:pic>
        <p:nvPicPr>
          <p:cNvPr id="25" name="icon-278" descr="preencoded.png">    </p:cNvPr>
          <p:cNvPicPr>
            <a:picLocks noChangeAspect="1"/>
          </p:cNvPicPr>
          <p:nvPr/>
        </p:nvPicPr>
        <p:blipFill>
          <a:blip r:embed="rId12"/>
          <a:stretch>
            <a:fillRect/>
          </a:stretch>
        </p:blipFill>
        <p:spPr>
          <a:xfrm>
            <a:off x="795528" y="3293364"/>
            <a:ext cx="256032" cy="256032"/>
          </a:xfrm>
          <a:prstGeom prst="rect">
            <a:avLst/>
          </a:prstGeom>
        </p:spPr>
      </p:pic>
      <p:sp>
        <p:nvSpPr>
          <p:cNvPr id="26" name="text-279"/>
          <p:cNvSpPr txBox="1"/>
          <p:nvPr/>
        </p:nvSpPr>
        <p:spPr>
          <a:xfrm>
            <a:off x="1316736" y="3174492"/>
            <a:ext cx="4495648" cy="144932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Spui că Instagram nu e implicat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„Concursul nu este sponsorizat sau administrat de Instagram.”</a:t>
            </a:r>
            <a:endParaRPr lang="en-US" sz="1600" dirty="0"/>
          </a:p>
        </p:txBody>
      </p:sp>
      <p:sp>
        <p:nvSpPr>
          <p:cNvPr id="27" name="card-280"/>
          <p:cNvSpPr/>
          <p:nvPr/>
        </p:nvSpPr>
        <p:spPr>
          <a:xfrm>
            <a:off x="6233008" y="3046476"/>
            <a:ext cx="5410048" cy="1705356"/>
          </a:xfrm>
          <a:prstGeom prst="roundRect">
            <a:avLst>
              <a:gd name="adj" fmla="val 5362"/>
            </a:avLst>
          </a:prstGeom>
          <a:solidFill>
            <a:srgbClr val="F9EEF3"/>
          </a:solidFill>
          <a:ln w="12700">
            <a:solidFill>
              <a:srgbClr val="EECBD8"/>
            </a:solidFill>
            <a:prstDash val="solid"/>
          </a:ln>
        </p:spPr>
      </p:sp>
      <p:sp>
        <p:nvSpPr>
          <p:cNvPr id="28" name="iconbg-281"/>
          <p:cNvSpPr/>
          <p:nvPr/>
        </p:nvSpPr>
        <p:spPr>
          <a:xfrm>
            <a:off x="6379312" y="3192780"/>
            <a:ext cx="457200" cy="457200"/>
          </a:xfrm>
          <a:prstGeom prst="ellipse">
            <a:avLst/>
          </a:prstGeom>
          <a:solidFill>
            <a:srgbClr val="B0124F"/>
          </a:solidFill>
          <a:ln w="12700">
            <a:solidFill>
              <a:srgbClr val="B0124F"/>
            </a:solidFill>
            <a:prstDash val="solid"/>
          </a:ln>
        </p:spPr>
      </p:sp>
      <p:pic>
        <p:nvPicPr>
          <p:cNvPr id="29" name="icon-282" descr="preencoded.png">    </p:cNvPr>
          <p:cNvPicPr>
            <a:picLocks noChangeAspect="1"/>
          </p:cNvPicPr>
          <p:nvPr/>
        </p:nvPicPr>
        <p:blipFill>
          <a:blip r:embed="rId13"/>
          <a:stretch>
            <a:fillRect/>
          </a:stretch>
        </p:blipFill>
        <p:spPr>
          <a:xfrm>
            <a:off x="6479896" y="3293364"/>
            <a:ext cx="256032" cy="256032"/>
          </a:xfrm>
          <a:prstGeom prst="rect">
            <a:avLst/>
          </a:prstGeom>
        </p:spPr>
      </p:pic>
      <p:sp>
        <p:nvSpPr>
          <p:cNvPr id="30" name="text-283"/>
          <p:cNvSpPr txBox="1"/>
          <p:nvPr/>
        </p:nvSpPr>
        <p:spPr>
          <a:xfrm>
            <a:off x="7001104" y="3174492"/>
            <a:ext cx="4495648" cy="1449324"/>
          </a:xfrm>
          <a:prstGeom prst="rect">
            <a:avLst/>
          </a:prstGeom>
          <a:noFill/>
          <a:ln/>
        </p:spPr>
        <p:txBody>
          <a:bodyPr wrap="square" lIns="0" tIns="0" rIns="0" bIns="0" rtlCol="0" anchor="t"/>
          <a:lstStyle/>
          <a:p>
            <a:pPr indent="0" marL="0">
              <a:spcAft>
                <a:spcPts val="200"/>
              </a:spcAft>
              <a:buNone/>
            </a:pPr>
            <a:r>
              <a:rPr lang="en-US" sz="2400" b="1" dirty="0">
                <a:solidFill>
                  <a:srgbClr val="B0124F"/>
                </a:solidFill>
                <a:latin typeface="Arial" pitchFamily="34" charset="0"/>
                <a:ea typeface="Arial" pitchFamily="34" charset="-122"/>
                <a:cs typeface="Arial" pitchFamily="34" charset="-120"/>
              </a:rPr>
              <a:t>Regulament scurt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Perioada, cine participă, cum alegi câștigătoarea. GDPR.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watermark-284"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285"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286"/>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287"/>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Cum alege TikTok ce arată</a:t>
            </a:r>
            <a:endParaRPr lang="en-US" sz="3200" dirty="0"/>
          </a:p>
        </p:txBody>
      </p:sp>
      <p:sp>
        <p:nvSpPr>
          <p:cNvPr id="6" name="nav-288">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289">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290">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291">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292">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293">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294"/>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295"/>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296"/>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11</a:t>
            </a:r>
            <a:endParaRPr lang="en-US" sz="1000" dirty="0"/>
          </a:p>
        </p:txBody>
      </p:sp>
      <p:sp>
        <p:nvSpPr>
          <p:cNvPr id="15" name="card-297"/>
          <p:cNvSpPr/>
          <p:nvPr/>
        </p:nvSpPr>
        <p:spPr>
          <a:xfrm>
            <a:off x="548640" y="1572768"/>
            <a:ext cx="3515258" cy="2020062"/>
          </a:xfrm>
          <a:prstGeom prst="roundRect">
            <a:avLst>
              <a:gd name="adj" fmla="val 4527"/>
            </a:avLst>
          </a:prstGeom>
          <a:solidFill>
            <a:srgbClr val="FBEEF2"/>
          </a:solidFill>
          <a:ln w="12700">
            <a:solidFill>
              <a:srgbClr val="F2CAD5"/>
            </a:solidFill>
            <a:prstDash val="solid"/>
          </a:ln>
        </p:spPr>
      </p:sp>
      <p:sp>
        <p:nvSpPr>
          <p:cNvPr id="16" name="iconbg-298"/>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299"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300"/>
          <p:cNvSpPr txBox="1"/>
          <p:nvPr/>
        </p:nvSpPr>
        <p:spPr>
          <a:xfrm>
            <a:off x="1316736"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Cât timp se uită oamenii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Și dacă văd clipul până la final.</a:t>
            </a:r>
            <a:endParaRPr lang="en-US" sz="1600" dirty="0"/>
          </a:p>
        </p:txBody>
      </p:sp>
      <p:sp>
        <p:nvSpPr>
          <p:cNvPr id="19" name="card-301"/>
          <p:cNvSpPr/>
          <p:nvPr/>
        </p:nvSpPr>
        <p:spPr>
          <a:xfrm>
            <a:off x="4338218" y="1572768"/>
            <a:ext cx="3515258" cy="2020062"/>
          </a:xfrm>
          <a:prstGeom prst="roundRect">
            <a:avLst>
              <a:gd name="adj" fmla="val 4527"/>
            </a:avLst>
          </a:prstGeom>
          <a:solidFill>
            <a:srgbClr val="FBEEF2"/>
          </a:solidFill>
          <a:ln w="12700">
            <a:solidFill>
              <a:srgbClr val="F2CAD5"/>
            </a:solidFill>
            <a:prstDash val="solid"/>
          </a:ln>
        </p:spPr>
      </p:sp>
      <p:sp>
        <p:nvSpPr>
          <p:cNvPr id="20" name="iconbg-302"/>
          <p:cNvSpPr/>
          <p:nvPr/>
        </p:nvSpPr>
        <p:spPr>
          <a:xfrm>
            <a:off x="4484522" y="1719072"/>
            <a:ext cx="457200" cy="457200"/>
          </a:xfrm>
          <a:prstGeom prst="ellipse">
            <a:avLst/>
          </a:prstGeom>
          <a:solidFill>
            <a:srgbClr val="C20E3F"/>
          </a:solidFill>
          <a:ln w="12700">
            <a:solidFill>
              <a:srgbClr val="C20E3F"/>
            </a:solidFill>
            <a:prstDash val="solid"/>
          </a:ln>
        </p:spPr>
      </p:sp>
      <p:pic>
        <p:nvPicPr>
          <p:cNvPr id="21" name="icon-303" descr="preencoded.png">    </p:cNvPr>
          <p:cNvPicPr>
            <a:picLocks noChangeAspect="1"/>
          </p:cNvPicPr>
          <p:nvPr/>
        </p:nvPicPr>
        <p:blipFill>
          <a:blip r:embed="rId11"/>
          <a:stretch>
            <a:fillRect/>
          </a:stretch>
        </p:blipFill>
        <p:spPr>
          <a:xfrm>
            <a:off x="4585106" y="1819656"/>
            <a:ext cx="256032" cy="256032"/>
          </a:xfrm>
          <a:prstGeom prst="rect">
            <a:avLst/>
          </a:prstGeom>
        </p:spPr>
      </p:pic>
      <p:sp>
        <p:nvSpPr>
          <p:cNvPr id="22" name="text-304"/>
          <p:cNvSpPr txBox="1"/>
          <p:nvPr/>
        </p:nvSpPr>
        <p:spPr>
          <a:xfrm>
            <a:off x="5106314"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Comentarii și distribuiri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„Trimite-i și ei.”</a:t>
            </a:r>
            <a:endParaRPr lang="en-US" sz="1600" dirty="0"/>
          </a:p>
        </p:txBody>
      </p:sp>
      <p:sp>
        <p:nvSpPr>
          <p:cNvPr id="23" name="card-305"/>
          <p:cNvSpPr/>
          <p:nvPr/>
        </p:nvSpPr>
        <p:spPr>
          <a:xfrm>
            <a:off x="8127797" y="1572768"/>
            <a:ext cx="3515258" cy="2020062"/>
          </a:xfrm>
          <a:prstGeom prst="roundRect">
            <a:avLst>
              <a:gd name="adj" fmla="val 4527"/>
            </a:avLst>
          </a:prstGeom>
          <a:solidFill>
            <a:srgbClr val="FBEEF2"/>
          </a:solidFill>
          <a:ln w="12700">
            <a:solidFill>
              <a:srgbClr val="F2CAD5"/>
            </a:solidFill>
            <a:prstDash val="solid"/>
          </a:ln>
        </p:spPr>
      </p:sp>
      <p:sp>
        <p:nvSpPr>
          <p:cNvPr id="24" name="iconbg-306"/>
          <p:cNvSpPr/>
          <p:nvPr/>
        </p:nvSpPr>
        <p:spPr>
          <a:xfrm>
            <a:off x="8274101" y="1719072"/>
            <a:ext cx="457200" cy="457200"/>
          </a:xfrm>
          <a:prstGeom prst="ellipse">
            <a:avLst/>
          </a:prstGeom>
          <a:solidFill>
            <a:srgbClr val="C20E3F"/>
          </a:solidFill>
          <a:ln w="12700">
            <a:solidFill>
              <a:srgbClr val="C20E3F"/>
            </a:solidFill>
            <a:prstDash val="solid"/>
          </a:ln>
        </p:spPr>
      </p:sp>
      <p:pic>
        <p:nvPicPr>
          <p:cNvPr id="25" name="icon-307" descr="preencoded.png">    </p:cNvPr>
          <p:cNvPicPr>
            <a:picLocks noChangeAspect="1"/>
          </p:cNvPicPr>
          <p:nvPr/>
        </p:nvPicPr>
        <p:blipFill>
          <a:blip r:embed="rId12"/>
          <a:stretch>
            <a:fillRect/>
          </a:stretch>
        </p:blipFill>
        <p:spPr>
          <a:xfrm>
            <a:off x="8374685" y="1819656"/>
            <a:ext cx="256032" cy="256032"/>
          </a:xfrm>
          <a:prstGeom prst="rect">
            <a:avLst/>
          </a:prstGeom>
        </p:spPr>
      </p:pic>
      <p:sp>
        <p:nvSpPr>
          <p:cNvPr id="26" name="text-308"/>
          <p:cNvSpPr txBox="1"/>
          <p:nvPr/>
        </p:nvSpPr>
        <p:spPr>
          <a:xfrm>
            <a:off x="8895893"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Nu contează câți urmăritori ai</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„Pentru tine” arată clipuri și de la conturi noi.</a:t>
            </a:r>
            <a:endParaRPr lang="en-US" sz="1600" dirty="0"/>
          </a:p>
        </p:txBody>
      </p:sp>
      <p:sp>
        <p:nvSpPr>
          <p:cNvPr id="27" name="note-309"/>
          <p:cNvSpPr/>
          <p:nvPr/>
        </p:nvSpPr>
        <p:spPr>
          <a:xfrm>
            <a:off x="548640" y="3720846"/>
            <a:ext cx="11094415" cy="589026"/>
          </a:xfrm>
          <a:prstGeom prst="roundRect">
            <a:avLst>
              <a:gd name="adj" fmla="val 15524"/>
            </a:avLst>
          </a:prstGeom>
          <a:solidFill>
            <a:srgbClr val="FFFFFF"/>
          </a:solidFill>
          <a:ln w="19050">
            <a:solidFill>
              <a:srgbClr val="C20E3F"/>
            </a:solidFill>
            <a:prstDash val="dash"/>
          </a:ln>
        </p:spPr>
      </p:sp>
      <p:pic>
        <p:nvPicPr>
          <p:cNvPr id="28" name="noteicon-310" descr="preencoded.png">    </p:cNvPr>
          <p:cNvPicPr>
            <a:picLocks noChangeAspect="1"/>
          </p:cNvPicPr>
          <p:nvPr/>
        </p:nvPicPr>
        <p:blipFill>
          <a:blip r:embed="rId13"/>
          <a:stretch>
            <a:fillRect/>
          </a:stretch>
        </p:blipFill>
        <p:spPr>
          <a:xfrm>
            <a:off x="685800" y="3841623"/>
            <a:ext cx="347472" cy="347472"/>
          </a:xfrm>
          <a:prstGeom prst="rect">
            <a:avLst/>
          </a:prstGeom>
        </p:spPr>
      </p:pic>
      <p:sp>
        <p:nvSpPr>
          <p:cNvPr id="29" name="text-311"/>
          <p:cNvSpPr txBox="1"/>
          <p:nvPr/>
        </p:nvSpPr>
        <p:spPr>
          <a:xfrm>
            <a:off x="1143000" y="3812286"/>
            <a:ext cx="10362895" cy="406146"/>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Primele secunde ale clipului decid dacă omul rămâne.</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watermark-312"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313"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314"/>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315"/>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Trenduri, sunete, tranziții</a:t>
            </a:r>
            <a:endParaRPr lang="en-US" sz="3200" dirty="0"/>
          </a:p>
        </p:txBody>
      </p:sp>
      <p:sp>
        <p:nvSpPr>
          <p:cNvPr id="6" name="nav-316">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317">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318">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319">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320">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321">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322"/>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323"/>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324"/>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12</a:t>
            </a:r>
            <a:endParaRPr lang="en-US" sz="1000" dirty="0"/>
          </a:p>
        </p:txBody>
      </p:sp>
      <p:sp>
        <p:nvSpPr>
          <p:cNvPr id="15" name="card-325"/>
          <p:cNvSpPr/>
          <p:nvPr/>
        </p:nvSpPr>
        <p:spPr>
          <a:xfrm>
            <a:off x="548640" y="1572768"/>
            <a:ext cx="3515258" cy="2334768"/>
          </a:xfrm>
          <a:prstGeom prst="roundRect">
            <a:avLst>
              <a:gd name="adj" fmla="val 3916"/>
            </a:avLst>
          </a:prstGeom>
          <a:solidFill>
            <a:srgbClr val="FBEEF2"/>
          </a:solidFill>
          <a:ln w="12700">
            <a:solidFill>
              <a:srgbClr val="F2CAD5"/>
            </a:solidFill>
            <a:prstDash val="solid"/>
          </a:ln>
        </p:spPr>
      </p:sp>
      <p:sp>
        <p:nvSpPr>
          <p:cNvPr id="16" name="iconbg-326"/>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327"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328"/>
          <p:cNvSpPr txBox="1"/>
          <p:nvPr/>
        </p:nvSpPr>
        <p:spPr>
          <a:xfrm>
            <a:off x="1316736" y="1700784"/>
            <a:ext cx="2600858" cy="2078736"/>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Trend adaptat la salon</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„POV: clienta spune «doar vârfurile» și pleacă blondă platinată”.</a:t>
            </a:r>
            <a:endParaRPr lang="en-US" sz="1600" dirty="0"/>
          </a:p>
        </p:txBody>
      </p:sp>
      <p:sp>
        <p:nvSpPr>
          <p:cNvPr id="19" name="card-329"/>
          <p:cNvSpPr/>
          <p:nvPr/>
        </p:nvSpPr>
        <p:spPr>
          <a:xfrm>
            <a:off x="4338218" y="1572768"/>
            <a:ext cx="3515258" cy="2334768"/>
          </a:xfrm>
          <a:prstGeom prst="roundRect">
            <a:avLst>
              <a:gd name="adj" fmla="val 3916"/>
            </a:avLst>
          </a:prstGeom>
          <a:solidFill>
            <a:srgbClr val="FBEEF2"/>
          </a:solidFill>
          <a:ln w="12700">
            <a:solidFill>
              <a:srgbClr val="F2CAD5"/>
            </a:solidFill>
            <a:prstDash val="solid"/>
          </a:ln>
        </p:spPr>
      </p:sp>
      <p:sp>
        <p:nvSpPr>
          <p:cNvPr id="20" name="iconbg-330"/>
          <p:cNvSpPr/>
          <p:nvPr/>
        </p:nvSpPr>
        <p:spPr>
          <a:xfrm>
            <a:off x="4484522" y="1719072"/>
            <a:ext cx="457200" cy="457200"/>
          </a:xfrm>
          <a:prstGeom prst="ellipse">
            <a:avLst/>
          </a:prstGeom>
          <a:solidFill>
            <a:srgbClr val="C20E3F"/>
          </a:solidFill>
          <a:ln w="12700">
            <a:solidFill>
              <a:srgbClr val="C20E3F"/>
            </a:solidFill>
            <a:prstDash val="solid"/>
          </a:ln>
        </p:spPr>
      </p:sp>
      <p:pic>
        <p:nvPicPr>
          <p:cNvPr id="21" name="icon-331" descr="preencoded.png">    </p:cNvPr>
          <p:cNvPicPr>
            <a:picLocks noChangeAspect="1"/>
          </p:cNvPicPr>
          <p:nvPr/>
        </p:nvPicPr>
        <p:blipFill>
          <a:blip r:embed="rId11"/>
          <a:stretch>
            <a:fillRect/>
          </a:stretch>
        </p:blipFill>
        <p:spPr>
          <a:xfrm>
            <a:off x="4585106" y="1819656"/>
            <a:ext cx="256032" cy="256032"/>
          </a:xfrm>
          <a:prstGeom prst="rect">
            <a:avLst/>
          </a:prstGeom>
        </p:spPr>
      </p:pic>
      <p:sp>
        <p:nvSpPr>
          <p:cNvPr id="22" name="text-332"/>
          <p:cNvSpPr txBox="1"/>
          <p:nvPr/>
        </p:nvSpPr>
        <p:spPr>
          <a:xfrm>
            <a:off x="5106314" y="1700784"/>
            <a:ext cx="2600858" cy="2078736"/>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Sunet potrivit cu clipul</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Cont de afaceri = doar muzică cu licență.</a:t>
            </a:r>
            <a:endParaRPr lang="en-US" sz="1600" dirty="0"/>
          </a:p>
        </p:txBody>
      </p:sp>
      <p:sp>
        <p:nvSpPr>
          <p:cNvPr id="23" name="card-333"/>
          <p:cNvSpPr/>
          <p:nvPr/>
        </p:nvSpPr>
        <p:spPr>
          <a:xfrm>
            <a:off x="8127797" y="1572768"/>
            <a:ext cx="3515258" cy="2334768"/>
          </a:xfrm>
          <a:prstGeom prst="roundRect">
            <a:avLst>
              <a:gd name="adj" fmla="val 3916"/>
            </a:avLst>
          </a:prstGeom>
          <a:solidFill>
            <a:srgbClr val="FBEEF2"/>
          </a:solidFill>
          <a:ln w="12700">
            <a:solidFill>
              <a:srgbClr val="F2CAD5"/>
            </a:solidFill>
            <a:prstDash val="solid"/>
          </a:ln>
        </p:spPr>
      </p:sp>
      <p:sp>
        <p:nvSpPr>
          <p:cNvPr id="24" name="iconbg-334"/>
          <p:cNvSpPr/>
          <p:nvPr/>
        </p:nvSpPr>
        <p:spPr>
          <a:xfrm>
            <a:off x="8274101" y="1719072"/>
            <a:ext cx="457200" cy="457200"/>
          </a:xfrm>
          <a:prstGeom prst="ellipse">
            <a:avLst/>
          </a:prstGeom>
          <a:solidFill>
            <a:srgbClr val="C20E3F"/>
          </a:solidFill>
          <a:ln w="12700">
            <a:solidFill>
              <a:srgbClr val="C20E3F"/>
            </a:solidFill>
            <a:prstDash val="solid"/>
          </a:ln>
        </p:spPr>
      </p:sp>
      <p:pic>
        <p:nvPicPr>
          <p:cNvPr id="25" name="icon-335" descr="preencoded.png">    </p:cNvPr>
          <p:cNvPicPr>
            <a:picLocks noChangeAspect="1"/>
          </p:cNvPicPr>
          <p:nvPr/>
        </p:nvPicPr>
        <p:blipFill>
          <a:blip r:embed="rId12"/>
          <a:stretch>
            <a:fillRect/>
          </a:stretch>
        </p:blipFill>
        <p:spPr>
          <a:xfrm>
            <a:off x="8374685" y="1819656"/>
            <a:ext cx="256032" cy="256032"/>
          </a:xfrm>
          <a:prstGeom prst="rect">
            <a:avLst/>
          </a:prstGeom>
        </p:spPr>
      </p:pic>
      <p:sp>
        <p:nvSpPr>
          <p:cNvPr id="26" name="text-336"/>
          <p:cNvSpPr txBox="1"/>
          <p:nvPr/>
        </p:nvSpPr>
        <p:spPr>
          <a:xfrm>
            <a:off x="8895893" y="1700784"/>
            <a:ext cx="2600858" cy="2078736"/>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Tranziția cu mâna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Înainte → mâna peste cameră → după.</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watermark-337"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338"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339"/>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340"/>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Bani, LIVE și comentarii negative</a:t>
            </a:r>
            <a:endParaRPr lang="en-US" sz="3200" dirty="0"/>
          </a:p>
        </p:txBody>
      </p:sp>
      <p:sp>
        <p:nvSpPr>
          <p:cNvPr id="6" name="nav-341">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342">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343">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344">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345">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346">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347"/>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348"/>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349"/>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13</a:t>
            </a:r>
            <a:endParaRPr lang="en-US" sz="1000" dirty="0"/>
          </a:p>
        </p:txBody>
      </p:sp>
      <p:sp>
        <p:nvSpPr>
          <p:cNvPr id="15" name="card-350"/>
          <p:cNvSpPr/>
          <p:nvPr/>
        </p:nvSpPr>
        <p:spPr>
          <a:xfrm>
            <a:off x="548640" y="1572768"/>
            <a:ext cx="3515258" cy="2020062"/>
          </a:xfrm>
          <a:prstGeom prst="roundRect">
            <a:avLst>
              <a:gd name="adj" fmla="val 4527"/>
            </a:avLst>
          </a:prstGeom>
          <a:solidFill>
            <a:srgbClr val="FBEEF2"/>
          </a:solidFill>
          <a:ln w="12700">
            <a:solidFill>
              <a:srgbClr val="F2CAD5"/>
            </a:solidFill>
            <a:prstDash val="solid"/>
          </a:ln>
        </p:spPr>
      </p:sp>
      <p:sp>
        <p:nvSpPr>
          <p:cNvPr id="16" name="iconbg-351"/>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352"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353"/>
          <p:cNvSpPr txBox="1"/>
          <p:nvPr/>
        </p:nvSpPr>
        <p:spPr>
          <a:xfrm>
            <a:off x="1316736"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Bani din TikTok în România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Creator Rewards: NU. Colaborări cu branduri: DA.</a:t>
            </a:r>
            <a:endParaRPr lang="en-US" sz="1600" dirty="0"/>
          </a:p>
        </p:txBody>
      </p:sp>
      <p:sp>
        <p:nvSpPr>
          <p:cNvPr id="19" name="card-354"/>
          <p:cNvSpPr/>
          <p:nvPr/>
        </p:nvSpPr>
        <p:spPr>
          <a:xfrm>
            <a:off x="4338218" y="1572768"/>
            <a:ext cx="3515258" cy="2020062"/>
          </a:xfrm>
          <a:prstGeom prst="roundRect">
            <a:avLst>
              <a:gd name="adj" fmla="val 4527"/>
            </a:avLst>
          </a:prstGeom>
          <a:solidFill>
            <a:srgbClr val="FBEEF2"/>
          </a:solidFill>
          <a:ln w="12700">
            <a:solidFill>
              <a:srgbClr val="F2CAD5"/>
            </a:solidFill>
            <a:prstDash val="solid"/>
          </a:ln>
        </p:spPr>
      </p:sp>
      <p:sp>
        <p:nvSpPr>
          <p:cNvPr id="20" name="iconbg-355"/>
          <p:cNvSpPr/>
          <p:nvPr/>
        </p:nvSpPr>
        <p:spPr>
          <a:xfrm>
            <a:off x="4484522" y="1719072"/>
            <a:ext cx="457200" cy="457200"/>
          </a:xfrm>
          <a:prstGeom prst="ellipse">
            <a:avLst/>
          </a:prstGeom>
          <a:solidFill>
            <a:srgbClr val="C20E3F"/>
          </a:solidFill>
          <a:ln w="12700">
            <a:solidFill>
              <a:srgbClr val="C20E3F"/>
            </a:solidFill>
            <a:prstDash val="solid"/>
          </a:ln>
        </p:spPr>
      </p:sp>
      <p:pic>
        <p:nvPicPr>
          <p:cNvPr id="21" name="icon-356" descr="preencoded.png">    </p:cNvPr>
          <p:cNvPicPr>
            <a:picLocks noChangeAspect="1"/>
          </p:cNvPicPr>
          <p:nvPr/>
        </p:nvPicPr>
        <p:blipFill>
          <a:blip r:embed="rId11"/>
          <a:stretch>
            <a:fillRect/>
          </a:stretch>
        </p:blipFill>
        <p:spPr>
          <a:xfrm>
            <a:off x="4585106" y="1819656"/>
            <a:ext cx="256032" cy="256032"/>
          </a:xfrm>
          <a:prstGeom prst="rect">
            <a:avLst/>
          </a:prstGeom>
        </p:spPr>
      </p:pic>
      <p:sp>
        <p:nvSpPr>
          <p:cNvPr id="22" name="text-357"/>
          <p:cNvSpPr txBox="1"/>
          <p:nvPr/>
        </p:nvSpPr>
        <p:spPr>
          <a:xfrm>
            <a:off x="5106314"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LIVE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18+. Apeși „+”: dacă apare LIVE, ai acces.</a:t>
            </a:r>
            <a:endParaRPr lang="en-US" sz="1600" dirty="0"/>
          </a:p>
        </p:txBody>
      </p:sp>
      <p:sp>
        <p:nvSpPr>
          <p:cNvPr id="23" name="card-358"/>
          <p:cNvSpPr/>
          <p:nvPr/>
        </p:nvSpPr>
        <p:spPr>
          <a:xfrm>
            <a:off x="8127797" y="1572768"/>
            <a:ext cx="3515258" cy="2020062"/>
          </a:xfrm>
          <a:prstGeom prst="roundRect">
            <a:avLst>
              <a:gd name="adj" fmla="val 4527"/>
            </a:avLst>
          </a:prstGeom>
          <a:solidFill>
            <a:srgbClr val="FBEEF2"/>
          </a:solidFill>
          <a:ln w="12700">
            <a:solidFill>
              <a:srgbClr val="F2CAD5"/>
            </a:solidFill>
            <a:prstDash val="solid"/>
          </a:ln>
        </p:spPr>
      </p:sp>
      <p:sp>
        <p:nvSpPr>
          <p:cNvPr id="24" name="iconbg-359"/>
          <p:cNvSpPr/>
          <p:nvPr/>
        </p:nvSpPr>
        <p:spPr>
          <a:xfrm>
            <a:off x="8274101" y="1719072"/>
            <a:ext cx="457200" cy="457200"/>
          </a:xfrm>
          <a:prstGeom prst="ellipse">
            <a:avLst/>
          </a:prstGeom>
          <a:solidFill>
            <a:srgbClr val="C20E3F"/>
          </a:solidFill>
          <a:ln w="12700">
            <a:solidFill>
              <a:srgbClr val="C20E3F"/>
            </a:solidFill>
            <a:prstDash val="solid"/>
          </a:ln>
        </p:spPr>
      </p:sp>
      <p:pic>
        <p:nvPicPr>
          <p:cNvPr id="25" name="icon-360" descr="preencoded.png">    </p:cNvPr>
          <p:cNvPicPr>
            <a:picLocks noChangeAspect="1"/>
          </p:cNvPicPr>
          <p:nvPr/>
        </p:nvPicPr>
        <p:blipFill>
          <a:blip r:embed="rId12"/>
          <a:stretch>
            <a:fillRect/>
          </a:stretch>
        </p:blipFill>
        <p:spPr>
          <a:xfrm>
            <a:off x="8374685" y="1819656"/>
            <a:ext cx="256032" cy="256032"/>
          </a:xfrm>
          <a:prstGeom prst="rect">
            <a:avLst/>
          </a:prstGeom>
        </p:spPr>
      </p:pic>
      <p:sp>
        <p:nvSpPr>
          <p:cNvPr id="26" name="text-361"/>
          <p:cNvSpPr txBox="1"/>
          <p:nvPr/>
        </p:nvSpPr>
        <p:spPr>
          <a:xfrm>
            <a:off x="8895893" y="1700784"/>
            <a:ext cx="2600858" cy="1764030"/>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Hate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Răspunzi la critică. Ignori, blochezi sau raportezi jignirea.</a:t>
            </a:r>
            <a:endParaRPr lang="en-US" sz="1600" dirty="0"/>
          </a:p>
        </p:txBody>
      </p:sp>
      <p:sp>
        <p:nvSpPr>
          <p:cNvPr id="27" name="note-362"/>
          <p:cNvSpPr/>
          <p:nvPr/>
        </p:nvSpPr>
        <p:spPr>
          <a:xfrm>
            <a:off x="548640" y="3720846"/>
            <a:ext cx="11094415" cy="589026"/>
          </a:xfrm>
          <a:prstGeom prst="roundRect">
            <a:avLst>
              <a:gd name="adj" fmla="val 15524"/>
            </a:avLst>
          </a:prstGeom>
          <a:solidFill>
            <a:srgbClr val="FFFFFF"/>
          </a:solidFill>
          <a:ln w="19050">
            <a:solidFill>
              <a:srgbClr val="C20E3F"/>
            </a:solidFill>
            <a:prstDash val="dash"/>
          </a:ln>
        </p:spPr>
      </p:sp>
      <p:pic>
        <p:nvPicPr>
          <p:cNvPr id="28" name="noteicon-363" descr="preencoded.png">    </p:cNvPr>
          <p:cNvPicPr>
            <a:picLocks noChangeAspect="1"/>
          </p:cNvPicPr>
          <p:nvPr/>
        </p:nvPicPr>
        <p:blipFill>
          <a:blip r:embed="rId13"/>
          <a:stretch>
            <a:fillRect/>
          </a:stretch>
        </p:blipFill>
        <p:spPr>
          <a:xfrm>
            <a:off x="685800" y="3841623"/>
            <a:ext cx="347472" cy="347472"/>
          </a:xfrm>
          <a:prstGeom prst="rect">
            <a:avLst/>
          </a:prstGeom>
        </p:spPr>
      </p:pic>
      <p:sp>
        <p:nvSpPr>
          <p:cNvPr id="29" name="text-364"/>
          <p:cNvSpPr txBox="1"/>
          <p:nvPr/>
        </p:nvSpPr>
        <p:spPr>
          <a:xfrm>
            <a:off x="1143000" y="3812286"/>
            <a:ext cx="10362895" cy="406146"/>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Nu provoca conflicte intenționat.</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watermark-365"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366" descr="TikTok">    </p:cNvPr>
          <p:cNvPicPr>
            <a:picLocks noChangeAspect="1"/>
          </p:cNvPicPr>
          <p:nvPr/>
        </p:nvPicPr>
        <p:blipFill>
          <a:blip r:embed="rId2"/>
          <a:stretch>
            <a:fillRect/>
          </a:stretch>
        </p:blipFill>
        <p:spPr>
          <a:xfrm>
            <a:off x="548640" y="329184"/>
            <a:ext cx="384048" cy="384048"/>
          </a:xfrm>
          <a:prstGeom prst="rect">
            <a:avLst/>
          </a:prstGeom>
        </p:spPr>
      </p:pic>
      <p:sp>
        <p:nvSpPr>
          <p:cNvPr id="4" name="text-367"/>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0E3F"/>
                </a:solidFill>
                <a:latin typeface="Arial" pitchFamily="34" charset="0"/>
                <a:ea typeface="Arial" pitchFamily="34" charset="-122"/>
                <a:cs typeface="Arial" pitchFamily="34" charset="-120"/>
              </a:rPr>
              <a:t>TIKTOK</a:t>
            </a:r>
            <a:endParaRPr lang="en-US" sz="1500" dirty="0"/>
          </a:p>
        </p:txBody>
      </p:sp>
      <p:sp>
        <p:nvSpPr>
          <p:cNvPr id="5" name="text-368"/>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Începuturi care opresc derularea</a:t>
            </a:r>
            <a:endParaRPr lang="en-US" sz="3200" dirty="0"/>
          </a:p>
        </p:txBody>
      </p:sp>
      <p:sp>
        <p:nvSpPr>
          <p:cNvPr id="6" name="nav-369">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370">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371">
            <a:hlinkClick r:id="rId5" tooltip="TikTok" action="ppaction://hlinksldjump"/>
          </p:cNvPr>
          <p:cNvSpPr/>
          <p:nvPr/>
        </p:nvSpPr>
        <p:spPr>
          <a:xfrm>
            <a:off x="8890711" y="365760"/>
            <a:ext cx="786384" cy="310896"/>
          </a:xfrm>
          <a:prstGeom prst="roundRect">
            <a:avLst>
              <a:gd name="adj" fmla="val 50000"/>
            </a:avLst>
          </a:prstGeom>
          <a:solidFill>
            <a:srgbClr val="C20E3F"/>
          </a:solidFill>
          <a:ln w="12700">
            <a:solidFill>
              <a:srgbClr val="C20E3F"/>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372">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373">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374">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375"/>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376"/>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0E3F"/>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377"/>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14</a:t>
            </a:r>
            <a:endParaRPr lang="en-US" sz="1000" dirty="0"/>
          </a:p>
        </p:txBody>
      </p:sp>
      <p:sp>
        <p:nvSpPr>
          <p:cNvPr id="15" name="card-378"/>
          <p:cNvSpPr/>
          <p:nvPr/>
        </p:nvSpPr>
        <p:spPr>
          <a:xfrm>
            <a:off x="548640" y="1572768"/>
            <a:ext cx="5410048" cy="3019044"/>
          </a:xfrm>
          <a:prstGeom prst="roundRect">
            <a:avLst>
              <a:gd name="adj" fmla="val 3029"/>
            </a:avLst>
          </a:prstGeom>
          <a:solidFill>
            <a:srgbClr val="FBEEF2"/>
          </a:solidFill>
          <a:ln w="12700">
            <a:solidFill>
              <a:srgbClr val="F2CAD5"/>
            </a:solidFill>
            <a:prstDash val="solid"/>
          </a:ln>
        </p:spPr>
      </p:sp>
      <p:sp>
        <p:nvSpPr>
          <p:cNvPr id="16" name="iconbg-379"/>
          <p:cNvSpPr/>
          <p:nvPr/>
        </p:nvSpPr>
        <p:spPr>
          <a:xfrm>
            <a:off x="694944" y="1719072"/>
            <a:ext cx="457200" cy="457200"/>
          </a:xfrm>
          <a:prstGeom prst="ellipse">
            <a:avLst/>
          </a:prstGeom>
          <a:solidFill>
            <a:srgbClr val="C20E3F"/>
          </a:solidFill>
          <a:ln w="12700">
            <a:solidFill>
              <a:srgbClr val="C20E3F"/>
            </a:solidFill>
            <a:prstDash val="solid"/>
          </a:ln>
        </p:spPr>
      </p:sp>
      <p:pic>
        <p:nvPicPr>
          <p:cNvPr id="17" name="icon-380"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381"/>
          <p:cNvSpPr txBox="1"/>
          <p:nvPr/>
        </p:nvSpPr>
        <p:spPr>
          <a:xfrm>
            <a:off x="1316736" y="1700784"/>
            <a:ext cx="4495648" cy="2763012"/>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Începuturi care atrag atenția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„Nu-ți decolora părul până nu vezi asta.”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„Greșeala care îți face blondul galben.”</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„A cerut blond de Pinterest. Uite ce a primit.”</a:t>
            </a:r>
            <a:endParaRPr lang="en-US" sz="1600" dirty="0"/>
          </a:p>
        </p:txBody>
      </p:sp>
      <p:sp>
        <p:nvSpPr>
          <p:cNvPr id="19" name="card-382"/>
          <p:cNvSpPr/>
          <p:nvPr/>
        </p:nvSpPr>
        <p:spPr>
          <a:xfrm>
            <a:off x="6233008" y="1572768"/>
            <a:ext cx="5410048" cy="3019044"/>
          </a:xfrm>
          <a:prstGeom prst="roundRect">
            <a:avLst>
              <a:gd name="adj" fmla="val 3029"/>
            </a:avLst>
          </a:prstGeom>
          <a:solidFill>
            <a:srgbClr val="FBEEF2"/>
          </a:solidFill>
          <a:ln w="12700">
            <a:solidFill>
              <a:srgbClr val="F2CAD5"/>
            </a:solidFill>
            <a:prstDash val="solid"/>
          </a:ln>
        </p:spPr>
      </p:sp>
      <p:sp>
        <p:nvSpPr>
          <p:cNvPr id="20" name="iconbg-383"/>
          <p:cNvSpPr/>
          <p:nvPr/>
        </p:nvSpPr>
        <p:spPr>
          <a:xfrm>
            <a:off x="6379312" y="1719072"/>
            <a:ext cx="457200" cy="457200"/>
          </a:xfrm>
          <a:prstGeom prst="ellipse">
            <a:avLst/>
          </a:prstGeom>
          <a:solidFill>
            <a:srgbClr val="C20E3F"/>
          </a:solidFill>
          <a:ln w="12700">
            <a:solidFill>
              <a:srgbClr val="C20E3F"/>
            </a:solidFill>
            <a:prstDash val="solid"/>
          </a:ln>
        </p:spPr>
      </p:sp>
      <p:pic>
        <p:nvPicPr>
          <p:cNvPr id="21" name="icon-384"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385"/>
          <p:cNvSpPr txBox="1"/>
          <p:nvPr/>
        </p:nvSpPr>
        <p:spPr>
          <a:xfrm>
            <a:off x="7001104" y="1700784"/>
            <a:ext cx="4495648" cy="2763012"/>
          </a:xfrm>
          <a:prstGeom prst="rect">
            <a:avLst/>
          </a:prstGeom>
          <a:noFill/>
          <a:ln/>
        </p:spPr>
        <p:txBody>
          <a:bodyPr wrap="square" lIns="0" tIns="0" rIns="0" bIns="0" rtlCol="0" anchor="t"/>
          <a:lstStyle/>
          <a:p>
            <a:pPr indent="0" marL="0">
              <a:spcAft>
                <a:spcPts val="200"/>
              </a:spcAft>
              <a:buNone/>
            </a:pPr>
            <a:r>
              <a:rPr lang="en-US" sz="2400" b="1" dirty="0">
                <a:solidFill>
                  <a:srgbClr val="C20E3F"/>
                </a:solidFill>
                <a:latin typeface="Arial" pitchFamily="34" charset="0"/>
                <a:ea typeface="Arial" pitchFamily="34" charset="-122"/>
                <a:cs typeface="Arial" pitchFamily="34" charset="-120"/>
              </a:rPr>
              <a:t>Idei de conținut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Ce a cerut vs. ce a primit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Mit sau adevăr</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3 greșeli la blondul de acasă</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watermark-386"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387" descr="CapCut">    </p:cNvPr>
          <p:cNvPicPr>
            <a:picLocks noChangeAspect="1"/>
          </p:cNvPicPr>
          <p:nvPr/>
        </p:nvPicPr>
        <p:blipFill>
          <a:blip r:embed="rId2"/>
          <a:stretch>
            <a:fillRect/>
          </a:stretch>
        </p:blipFill>
        <p:spPr>
          <a:xfrm>
            <a:off x="548640" y="329184"/>
            <a:ext cx="384048" cy="384048"/>
          </a:xfrm>
          <a:prstGeom prst="rect">
            <a:avLst/>
          </a:prstGeom>
        </p:spPr>
      </p:pic>
      <p:sp>
        <p:nvSpPr>
          <p:cNvPr id="4" name="text-388"/>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5B1BB5"/>
                </a:solidFill>
                <a:latin typeface="Arial" pitchFamily="34" charset="0"/>
                <a:ea typeface="Arial" pitchFamily="34" charset="-122"/>
                <a:cs typeface="Arial" pitchFamily="34" charset="-120"/>
              </a:rPr>
              <a:t>EDITARE VIDEO · CAPCUT</a:t>
            </a:r>
            <a:endParaRPr lang="en-US" sz="1500" dirty="0"/>
          </a:p>
        </p:txBody>
      </p:sp>
      <p:sp>
        <p:nvSpPr>
          <p:cNvPr id="5" name="text-389"/>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CapCut în 6 pași simpli</a:t>
            </a:r>
            <a:endParaRPr lang="en-US" sz="3200" dirty="0"/>
          </a:p>
        </p:txBody>
      </p:sp>
      <p:sp>
        <p:nvSpPr>
          <p:cNvPr id="6" name="nav-390">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391">
            <a:hlinkClick r:id="rId4" tooltip="CapCut" action="ppaction://hlinksldjump"/>
          </p:cNvPr>
          <p:cNvSpPr/>
          <p:nvPr/>
        </p:nvSpPr>
        <p:spPr>
          <a:xfrm>
            <a:off x="9750247" y="365760"/>
            <a:ext cx="786384" cy="310896"/>
          </a:xfrm>
          <a:prstGeom prst="roundRect">
            <a:avLst>
              <a:gd name="adj" fmla="val 50000"/>
            </a:avLst>
          </a:prstGeom>
          <a:solidFill>
            <a:srgbClr val="5B1BB5"/>
          </a:solidFill>
          <a:ln w="12700">
            <a:solidFill>
              <a:srgbClr val="5B1BB5"/>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392">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393">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394">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395">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396"/>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397"/>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5B1BB5"/>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398"/>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15</a:t>
            </a:r>
            <a:endParaRPr lang="en-US" sz="1000" dirty="0"/>
          </a:p>
        </p:txBody>
      </p:sp>
      <p:sp>
        <p:nvSpPr>
          <p:cNvPr id="15" name="card-399"/>
          <p:cNvSpPr/>
          <p:nvPr/>
        </p:nvSpPr>
        <p:spPr>
          <a:xfrm>
            <a:off x="548640" y="1572768"/>
            <a:ext cx="5410048" cy="1210818"/>
          </a:xfrm>
          <a:prstGeom prst="roundRect">
            <a:avLst>
              <a:gd name="adj" fmla="val 7552"/>
            </a:avLst>
          </a:prstGeom>
          <a:solidFill>
            <a:srgbClr val="F4EFFA"/>
          </a:solidFill>
          <a:ln w="12700">
            <a:solidFill>
              <a:srgbClr val="DBCDEF"/>
            </a:solidFill>
            <a:prstDash val="solid"/>
          </a:ln>
        </p:spPr>
      </p:sp>
      <p:sp>
        <p:nvSpPr>
          <p:cNvPr id="16" name="iconbg-400"/>
          <p:cNvSpPr/>
          <p:nvPr/>
        </p:nvSpPr>
        <p:spPr>
          <a:xfrm>
            <a:off x="694944" y="1719072"/>
            <a:ext cx="457200" cy="457200"/>
          </a:xfrm>
          <a:prstGeom prst="ellipse">
            <a:avLst/>
          </a:prstGeom>
          <a:solidFill>
            <a:srgbClr val="5B1BB5"/>
          </a:solidFill>
          <a:ln w="12700">
            <a:solidFill>
              <a:srgbClr val="5B1BB5"/>
            </a:solidFill>
            <a:prstDash val="solid"/>
          </a:ln>
        </p:spPr>
      </p:sp>
      <p:pic>
        <p:nvPicPr>
          <p:cNvPr id="17" name="icon-401"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402"/>
          <p:cNvSpPr txBox="1"/>
          <p:nvPr/>
        </p:nvSpPr>
        <p:spPr>
          <a:xfrm>
            <a:off x="1316736" y="1700784"/>
            <a:ext cx="4495648" cy="954786"/>
          </a:xfrm>
          <a:prstGeom prst="rect">
            <a:avLst/>
          </a:prstGeom>
          <a:noFill/>
          <a:ln/>
        </p:spPr>
        <p:txBody>
          <a:bodyPr wrap="square" lIns="0" tIns="0" rIns="0" bIns="0" rtlCol="0" anchor="t"/>
          <a:lstStyle/>
          <a:p>
            <a:pPr indent="0" marL="0">
              <a:spcAft>
                <a:spcPts val="200"/>
              </a:spcAft>
              <a:buNone/>
            </a:pPr>
            <a:r>
              <a:rPr lang="en-US" sz="2100" b="1" dirty="0">
                <a:solidFill>
                  <a:srgbClr val="5B1BB5"/>
                </a:solidFill>
                <a:latin typeface="Arial" pitchFamily="34" charset="0"/>
                <a:ea typeface="Arial" pitchFamily="34" charset="-122"/>
                <a:cs typeface="Arial" pitchFamily="34" charset="-120"/>
              </a:rPr>
              <a:t>1. Adaugi clipurile</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Proiect nou → alegi clipurile → Adaugă.</a:t>
            </a:r>
            <a:endParaRPr lang="en-US" sz="1600" dirty="0"/>
          </a:p>
        </p:txBody>
      </p:sp>
      <p:sp>
        <p:nvSpPr>
          <p:cNvPr id="19" name="card-403"/>
          <p:cNvSpPr/>
          <p:nvPr/>
        </p:nvSpPr>
        <p:spPr>
          <a:xfrm>
            <a:off x="6233008" y="1572768"/>
            <a:ext cx="5410048" cy="1210818"/>
          </a:xfrm>
          <a:prstGeom prst="roundRect">
            <a:avLst>
              <a:gd name="adj" fmla="val 7552"/>
            </a:avLst>
          </a:prstGeom>
          <a:solidFill>
            <a:srgbClr val="F4EFFA"/>
          </a:solidFill>
          <a:ln w="12700">
            <a:solidFill>
              <a:srgbClr val="DBCDEF"/>
            </a:solidFill>
            <a:prstDash val="solid"/>
          </a:ln>
        </p:spPr>
      </p:sp>
      <p:sp>
        <p:nvSpPr>
          <p:cNvPr id="20" name="iconbg-404"/>
          <p:cNvSpPr/>
          <p:nvPr/>
        </p:nvSpPr>
        <p:spPr>
          <a:xfrm>
            <a:off x="6379312" y="1719072"/>
            <a:ext cx="457200" cy="457200"/>
          </a:xfrm>
          <a:prstGeom prst="ellipse">
            <a:avLst/>
          </a:prstGeom>
          <a:solidFill>
            <a:srgbClr val="5B1BB5"/>
          </a:solidFill>
          <a:ln w="12700">
            <a:solidFill>
              <a:srgbClr val="5B1BB5"/>
            </a:solidFill>
            <a:prstDash val="solid"/>
          </a:ln>
        </p:spPr>
      </p:sp>
      <p:pic>
        <p:nvPicPr>
          <p:cNvPr id="21" name="icon-405" descr="preencoded.png">    </p:cNvPr>
          <p:cNvPicPr>
            <a:picLocks noChangeAspect="1"/>
          </p:cNvPicPr>
          <p:nvPr/>
        </p:nvPicPr>
        <p:blipFill>
          <a:blip r:embed="rId11"/>
          <a:stretch>
            <a:fillRect/>
          </a:stretch>
        </p:blipFill>
        <p:spPr>
          <a:xfrm>
            <a:off x="6479896" y="1819656"/>
            <a:ext cx="256032" cy="256032"/>
          </a:xfrm>
          <a:prstGeom prst="rect">
            <a:avLst/>
          </a:prstGeom>
        </p:spPr>
      </p:pic>
      <p:sp>
        <p:nvSpPr>
          <p:cNvPr id="22" name="text-406"/>
          <p:cNvSpPr txBox="1"/>
          <p:nvPr/>
        </p:nvSpPr>
        <p:spPr>
          <a:xfrm>
            <a:off x="7001104" y="1700784"/>
            <a:ext cx="4495648" cy="954786"/>
          </a:xfrm>
          <a:prstGeom prst="rect">
            <a:avLst/>
          </a:prstGeom>
          <a:noFill/>
          <a:ln/>
        </p:spPr>
        <p:txBody>
          <a:bodyPr wrap="square" lIns="0" tIns="0" rIns="0" bIns="0" rtlCol="0" anchor="t"/>
          <a:lstStyle/>
          <a:p>
            <a:pPr indent="0" marL="0">
              <a:spcAft>
                <a:spcPts val="200"/>
              </a:spcAft>
              <a:buNone/>
            </a:pPr>
            <a:r>
              <a:rPr lang="en-US" sz="2100" b="1" dirty="0">
                <a:solidFill>
                  <a:srgbClr val="5B1BB5"/>
                </a:solidFill>
                <a:latin typeface="Arial" pitchFamily="34" charset="0"/>
                <a:ea typeface="Arial" pitchFamily="34" charset="-122"/>
                <a:cs typeface="Arial" pitchFamily="34" charset="-120"/>
              </a:rPr>
              <a:t>2. Tai ce e în plus</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Tragi de margini sau Împarte → Șterge.</a:t>
            </a:r>
            <a:endParaRPr lang="en-US" sz="1600" dirty="0"/>
          </a:p>
        </p:txBody>
      </p:sp>
      <p:sp>
        <p:nvSpPr>
          <p:cNvPr id="23" name="card-407"/>
          <p:cNvSpPr/>
          <p:nvPr/>
        </p:nvSpPr>
        <p:spPr>
          <a:xfrm>
            <a:off x="548640" y="2911602"/>
            <a:ext cx="5410048" cy="1210818"/>
          </a:xfrm>
          <a:prstGeom prst="roundRect">
            <a:avLst>
              <a:gd name="adj" fmla="val 7552"/>
            </a:avLst>
          </a:prstGeom>
          <a:solidFill>
            <a:srgbClr val="F4EFFA"/>
          </a:solidFill>
          <a:ln w="12700">
            <a:solidFill>
              <a:srgbClr val="DBCDEF"/>
            </a:solidFill>
            <a:prstDash val="solid"/>
          </a:ln>
        </p:spPr>
      </p:sp>
      <p:sp>
        <p:nvSpPr>
          <p:cNvPr id="24" name="iconbg-408"/>
          <p:cNvSpPr/>
          <p:nvPr/>
        </p:nvSpPr>
        <p:spPr>
          <a:xfrm>
            <a:off x="694944" y="3057906"/>
            <a:ext cx="457200" cy="457200"/>
          </a:xfrm>
          <a:prstGeom prst="ellipse">
            <a:avLst/>
          </a:prstGeom>
          <a:solidFill>
            <a:srgbClr val="5B1BB5"/>
          </a:solidFill>
          <a:ln w="12700">
            <a:solidFill>
              <a:srgbClr val="5B1BB5"/>
            </a:solidFill>
            <a:prstDash val="solid"/>
          </a:ln>
        </p:spPr>
      </p:sp>
      <p:pic>
        <p:nvPicPr>
          <p:cNvPr id="25" name="icon-409" descr="preencoded.png">    </p:cNvPr>
          <p:cNvPicPr>
            <a:picLocks noChangeAspect="1"/>
          </p:cNvPicPr>
          <p:nvPr/>
        </p:nvPicPr>
        <p:blipFill>
          <a:blip r:embed="rId12"/>
          <a:stretch>
            <a:fillRect/>
          </a:stretch>
        </p:blipFill>
        <p:spPr>
          <a:xfrm>
            <a:off x="795528" y="3158490"/>
            <a:ext cx="256032" cy="256032"/>
          </a:xfrm>
          <a:prstGeom prst="rect">
            <a:avLst/>
          </a:prstGeom>
        </p:spPr>
      </p:pic>
      <p:sp>
        <p:nvSpPr>
          <p:cNvPr id="26" name="text-410"/>
          <p:cNvSpPr txBox="1"/>
          <p:nvPr/>
        </p:nvSpPr>
        <p:spPr>
          <a:xfrm>
            <a:off x="1316736" y="3039618"/>
            <a:ext cx="4495648" cy="954786"/>
          </a:xfrm>
          <a:prstGeom prst="rect">
            <a:avLst/>
          </a:prstGeom>
          <a:noFill/>
          <a:ln/>
        </p:spPr>
        <p:txBody>
          <a:bodyPr wrap="square" lIns="0" tIns="0" rIns="0" bIns="0" rtlCol="0" anchor="t"/>
          <a:lstStyle/>
          <a:p>
            <a:pPr indent="0" marL="0">
              <a:spcAft>
                <a:spcPts val="200"/>
              </a:spcAft>
              <a:buNone/>
            </a:pPr>
            <a:r>
              <a:rPr lang="en-US" sz="2100" b="1" dirty="0">
                <a:solidFill>
                  <a:srgbClr val="5B1BB5"/>
                </a:solidFill>
                <a:latin typeface="Arial" pitchFamily="34" charset="0"/>
                <a:ea typeface="Arial" pitchFamily="34" charset="-122"/>
                <a:cs typeface="Arial" pitchFamily="34" charset="-120"/>
              </a:rPr>
              <a:t>3. Viteza</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Procesul accelerat, reveal-ul încetinit.</a:t>
            </a:r>
            <a:endParaRPr lang="en-US" sz="1600" dirty="0"/>
          </a:p>
        </p:txBody>
      </p:sp>
      <p:sp>
        <p:nvSpPr>
          <p:cNvPr id="27" name="card-411"/>
          <p:cNvSpPr/>
          <p:nvPr/>
        </p:nvSpPr>
        <p:spPr>
          <a:xfrm>
            <a:off x="6233008" y="2911602"/>
            <a:ext cx="5410048" cy="1210818"/>
          </a:xfrm>
          <a:prstGeom prst="roundRect">
            <a:avLst>
              <a:gd name="adj" fmla="val 7552"/>
            </a:avLst>
          </a:prstGeom>
          <a:solidFill>
            <a:srgbClr val="F4EFFA"/>
          </a:solidFill>
          <a:ln w="12700">
            <a:solidFill>
              <a:srgbClr val="DBCDEF"/>
            </a:solidFill>
            <a:prstDash val="solid"/>
          </a:ln>
        </p:spPr>
      </p:sp>
      <p:sp>
        <p:nvSpPr>
          <p:cNvPr id="28" name="iconbg-412"/>
          <p:cNvSpPr/>
          <p:nvPr/>
        </p:nvSpPr>
        <p:spPr>
          <a:xfrm>
            <a:off x="6379312" y="3057906"/>
            <a:ext cx="457200" cy="457200"/>
          </a:xfrm>
          <a:prstGeom prst="ellipse">
            <a:avLst/>
          </a:prstGeom>
          <a:solidFill>
            <a:srgbClr val="5B1BB5"/>
          </a:solidFill>
          <a:ln w="12700">
            <a:solidFill>
              <a:srgbClr val="5B1BB5"/>
            </a:solidFill>
            <a:prstDash val="solid"/>
          </a:ln>
        </p:spPr>
      </p:sp>
      <p:pic>
        <p:nvPicPr>
          <p:cNvPr id="29" name="icon-413" descr="preencoded.png">    </p:cNvPr>
          <p:cNvPicPr>
            <a:picLocks noChangeAspect="1"/>
          </p:cNvPicPr>
          <p:nvPr/>
        </p:nvPicPr>
        <p:blipFill>
          <a:blip r:embed="rId13"/>
          <a:stretch>
            <a:fillRect/>
          </a:stretch>
        </p:blipFill>
        <p:spPr>
          <a:xfrm>
            <a:off x="6479896" y="3158490"/>
            <a:ext cx="256032" cy="256032"/>
          </a:xfrm>
          <a:prstGeom prst="rect">
            <a:avLst/>
          </a:prstGeom>
        </p:spPr>
      </p:pic>
      <p:sp>
        <p:nvSpPr>
          <p:cNvPr id="30" name="text-414"/>
          <p:cNvSpPr txBox="1"/>
          <p:nvPr/>
        </p:nvSpPr>
        <p:spPr>
          <a:xfrm>
            <a:off x="7001104" y="3039618"/>
            <a:ext cx="4495648" cy="954786"/>
          </a:xfrm>
          <a:prstGeom prst="rect">
            <a:avLst/>
          </a:prstGeom>
          <a:noFill/>
          <a:ln/>
        </p:spPr>
        <p:txBody>
          <a:bodyPr wrap="square" lIns="0" tIns="0" rIns="0" bIns="0" rtlCol="0" anchor="t"/>
          <a:lstStyle/>
          <a:p>
            <a:pPr indent="0" marL="0">
              <a:spcAft>
                <a:spcPts val="200"/>
              </a:spcAft>
              <a:buNone/>
            </a:pPr>
            <a:r>
              <a:rPr lang="en-US" sz="2100" b="1" dirty="0">
                <a:solidFill>
                  <a:srgbClr val="5B1BB5"/>
                </a:solidFill>
                <a:latin typeface="Arial" pitchFamily="34" charset="0"/>
                <a:ea typeface="Arial" pitchFamily="34" charset="-122"/>
                <a:cs typeface="Arial" pitchFamily="34" charset="-120"/>
              </a:rPr>
              <a:t>4. Muzica și tranziția</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Muzica încet. O singură tranziție.</a:t>
            </a:r>
            <a:endParaRPr lang="en-US" sz="1600" dirty="0"/>
          </a:p>
        </p:txBody>
      </p:sp>
      <p:sp>
        <p:nvSpPr>
          <p:cNvPr id="31" name="card-415"/>
          <p:cNvSpPr/>
          <p:nvPr/>
        </p:nvSpPr>
        <p:spPr>
          <a:xfrm>
            <a:off x="548640" y="4250436"/>
            <a:ext cx="5410048" cy="1210818"/>
          </a:xfrm>
          <a:prstGeom prst="roundRect">
            <a:avLst>
              <a:gd name="adj" fmla="val 7552"/>
            </a:avLst>
          </a:prstGeom>
          <a:solidFill>
            <a:srgbClr val="F4EFFA"/>
          </a:solidFill>
          <a:ln w="12700">
            <a:solidFill>
              <a:srgbClr val="DBCDEF"/>
            </a:solidFill>
            <a:prstDash val="solid"/>
          </a:ln>
        </p:spPr>
      </p:sp>
      <p:sp>
        <p:nvSpPr>
          <p:cNvPr id="32" name="iconbg-416"/>
          <p:cNvSpPr/>
          <p:nvPr/>
        </p:nvSpPr>
        <p:spPr>
          <a:xfrm>
            <a:off x="694944" y="4396740"/>
            <a:ext cx="457200" cy="457200"/>
          </a:xfrm>
          <a:prstGeom prst="ellipse">
            <a:avLst/>
          </a:prstGeom>
          <a:solidFill>
            <a:srgbClr val="5B1BB5"/>
          </a:solidFill>
          <a:ln w="12700">
            <a:solidFill>
              <a:srgbClr val="5B1BB5"/>
            </a:solidFill>
            <a:prstDash val="solid"/>
          </a:ln>
        </p:spPr>
      </p:sp>
      <p:pic>
        <p:nvPicPr>
          <p:cNvPr id="33" name="icon-417" descr="preencoded.png">    </p:cNvPr>
          <p:cNvPicPr>
            <a:picLocks noChangeAspect="1"/>
          </p:cNvPicPr>
          <p:nvPr/>
        </p:nvPicPr>
        <p:blipFill>
          <a:blip r:embed="rId14"/>
          <a:stretch>
            <a:fillRect/>
          </a:stretch>
        </p:blipFill>
        <p:spPr>
          <a:xfrm>
            <a:off x="795528" y="4497324"/>
            <a:ext cx="256032" cy="256032"/>
          </a:xfrm>
          <a:prstGeom prst="rect">
            <a:avLst/>
          </a:prstGeom>
        </p:spPr>
      </p:pic>
      <p:sp>
        <p:nvSpPr>
          <p:cNvPr id="34" name="text-418"/>
          <p:cNvSpPr txBox="1"/>
          <p:nvPr/>
        </p:nvSpPr>
        <p:spPr>
          <a:xfrm>
            <a:off x="1316736" y="4378452"/>
            <a:ext cx="4495648" cy="954786"/>
          </a:xfrm>
          <a:prstGeom prst="rect">
            <a:avLst/>
          </a:prstGeom>
          <a:noFill/>
          <a:ln/>
        </p:spPr>
        <p:txBody>
          <a:bodyPr wrap="square" lIns="0" tIns="0" rIns="0" bIns="0" rtlCol="0" anchor="t"/>
          <a:lstStyle/>
          <a:p>
            <a:pPr indent="0" marL="0">
              <a:spcAft>
                <a:spcPts val="200"/>
              </a:spcAft>
              <a:buNone/>
            </a:pPr>
            <a:r>
              <a:rPr lang="en-US" sz="2100" b="1" dirty="0">
                <a:solidFill>
                  <a:srgbClr val="5B1BB5"/>
                </a:solidFill>
                <a:latin typeface="Arial" pitchFamily="34" charset="0"/>
                <a:ea typeface="Arial" pitchFamily="34" charset="-122"/>
                <a:cs typeface="Arial" pitchFamily="34" charset="-120"/>
              </a:rPr>
              <a:t>5. Text scurt</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„Blond rece, fără galben”, în prima secundă.</a:t>
            </a:r>
            <a:endParaRPr lang="en-US" sz="1600" dirty="0"/>
          </a:p>
        </p:txBody>
      </p:sp>
      <p:sp>
        <p:nvSpPr>
          <p:cNvPr id="35" name="card-419"/>
          <p:cNvSpPr/>
          <p:nvPr/>
        </p:nvSpPr>
        <p:spPr>
          <a:xfrm>
            <a:off x="6233008" y="4250436"/>
            <a:ext cx="5410048" cy="1210818"/>
          </a:xfrm>
          <a:prstGeom prst="roundRect">
            <a:avLst>
              <a:gd name="adj" fmla="val 7552"/>
            </a:avLst>
          </a:prstGeom>
          <a:solidFill>
            <a:srgbClr val="F4EFFA"/>
          </a:solidFill>
          <a:ln w="12700">
            <a:solidFill>
              <a:srgbClr val="DBCDEF"/>
            </a:solidFill>
            <a:prstDash val="solid"/>
          </a:ln>
        </p:spPr>
      </p:sp>
      <p:sp>
        <p:nvSpPr>
          <p:cNvPr id="36" name="iconbg-420"/>
          <p:cNvSpPr/>
          <p:nvPr/>
        </p:nvSpPr>
        <p:spPr>
          <a:xfrm>
            <a:off x="6379312" y="4396740"/>
            <a:ext cx="457200" cy="457200"/>
          </a:xfrm>
          <a:prstGeom prst="ellipse">
            <a:avLst/>
          </a:prstGeom>
          <a:solidFill>
            <a:srgbClr val="5B1BB5"/>
          </a:solidFill>
          <a:ln w="12700">
            <a:solidFill>
              <a:srgbClr val="5B1BB5"/>
            </a:solidFill>
            <a:prstDash val="solid"/>
          </a:ln>
        </p:spPr>
      </p:sp>
      <p:pic>
        <p:nvPicPr>
          <p:cNvPr id="37" name="icon-421" descr="preencoded.png">    </p:cNvPr>
          <p:cNvPicPr>
            <a:picLocks noChangeAspect="1"/>
          </p:cNvPicPr>
          <p:nvPr/>
        </p:nvPicPr>
        <p:blipFill>
          <a:blip r:embed="rId15"/>
          <a:stretch>
            <a:fillRect/>
          </a:stretch>
        </p:blipFill>
        <p:spPr>
          <a:xfrm>
            <a:off x="6479896" y="4497324"/>
            <a:ext cx="256032" cy="256032"/>
          </a:xfrm>
          <a:prstGeom prst="rect">
            <a:avLst/>
          </a:prstGeom>
        </p:spPr>
      </p:pic>
      <p:sp>
        <p:nvSpPr>
          <p:cNvPr id="38" name="text-422"/>
          <p:cNvSpPr txBox="1"/>
          <p:nvPr/>
        </p:nvSpPr>
        <p:spPr>
          <a:xfrm>
            <a:off x="7001104" y="4378452"/>
            <a:ext cx="4495648" cy="954786"/>
          </a:xfrm>
          <a:prstGeom prst="rect">
            <a:avLst/>
          </a:prstGeom>
          <a:noFill/>
          <a:ln/>
        </p:spPr>
        <p:txBody>
          <a:bodyPr wrap="square" lIns="0" tIns="0" rIns="0" bIns="0" rtlCol="0" anchor="t"/>
          <a:lstStyle/>
          <a:p>
            <a:pPr indent="0" marL="0">
              <a:spcAft>
                <a:spcPts val="200"/>
              </a:spcAft>
              <a:buNone/>
            </a:pPr>
            <a:r>
              <a:rPr lang="en-US" sz="2100" b="1" dirty="0">
                <a:solidFill>
                  <a:srgbClr val="5B1BB5"/>
                </a:solidFill>
                <a:latin typeface="Arial" pitchFamily="34" charset="0"/>
                <a:ea typeface="Arial" pitchFamily="34" charset="-122"/>
                <a:cs typeface="Arial" pitchFamily="34" charset="-120"/>
              </a:rPr>
              <a:t>6. Export</a:t>
            </a:r>
            <a:endParaRPr lang="en-US" sz="1600" dirty="0"/>
          </a:p>
          <a:p>
            <a:pPr indent="0" marL="0">
              <a:spcAft>
                <a:spcPts val="200"/>
              </a:spcAft>
              <a:buNone/>
            </a:pPr>
            <a:r>
              <a:rPr lang="en-US" sz="1800" dirty="0">
                <a:solidFill>
                  <a:srgbClr val="3D3D3D"/>
                </a:solidFill>
                <a:latin typeface="Arial" pitchFamily="34" charset="0"/>
                <a:ea typeface="Arial" pitchFamily="34" charset="-122"/>
                <a:cs typeface="Arial" pitchFamily="34" charset="-120"/>
              </a:rPr>
              <a:t>1080p · 30 fps · vertical 9:16.</a:t>
            </a:r>
            <a:endParaRPr lang="en-US" sz="1600" dirty="0"/>
          </a:p>
        </p:txBody>
      </p:sp>
      <p:sp>
        <p:nvSpPr>
          <p:cNvPr id="39" name="note-423"/>
          <p:cNvSpPr/>
          <p:nvPr/>
        </p:nvSpPr>
        <p:spPr>
          <a:xfrm>
            <a:off x="548640" y="5589270"/>
            <a:ext cx="11094415" cy="544068"/>
          </a:xfrm>
          <a:prstGeom prst="roundRect">
            <a:avLst>
              <a:gd name="adj" fmla="val 16807"/>
            </a:avLst>
          </a:prstGeom>
          <a:solidFill>
            <a:srgbClr val="FFFFFF"/>
          </a:solidFill>
          <a:ln w="19050">
            <a:solidFill>
              <a:srgbClr val="5B1BB5"/>
            </a:solidFill>
            <a:prstDash val="dash"/>
          </a:ln>
        </p:spPr>
      </p:sp>
      <p:pic>
        <p:nvPicPr>
          <p:cNvPr id="40" name="noteicon-424" descr="preencoded.png">    </p:cNvPr>
          <p:cNvPicPr>
            <a:picLocks noChangeAspect="1"/>
          </p:cNvPicPr>
          <p:nvPr/>
        </p:nvPicPr>
        <p:blipFill>
          <a:blip r:embed="rId16"/>
          <a:stretch>
            <a:fillRect/>
          </a:stretch>
        </p:blipFill>
        <p:spPr>
          <a:xfrm>
            <a:off x="685800" y="5687568"/>
            <a:ext cx="347472" cy="347472"/>
          </a:xfrm>
          <a:prstGeom prst="rect">
            <a:avLst/>
          </a:prstGeom>
        </p:spPr>
      </p:pic>
      <p:sp>
        <p:nvSpPr>
          <p:cNvPr id="41" name="text-425"/>
          <p:cNvSpPr txBox="1"/>
          <p:nvPr/>
        </p:nvSpPr>
        <p:spPr>
          <a:xfrm>
            <a:off x="1143000" y="5680710"/>
            <a:ext cx="10362895" cy="361188"/>
          </a:xfrm>
          <a:prstGeom prst="rect">
            <a:avLst/>
          </a:prstGeom>
          <a:noFill/>
          <a:ln/>
        </p:spPr>
        <p:txBody>
          <a:bodyPr wrap="square" lIns="0" tIns="0" rIns="0" bIns="0" rtlCol="0" anchor="ctr"/>
          <a:lstStyle/>
          <a:p>
            <a:pPr indent="0" marL="0">
              <a:buNone/>
            </a:pPr>
            <a:r>
              <a:rPr lang="en-US" sz="1800" b="1" dirty="0">
                <a:solidFill>
                  <a:srgbClr val="111111"/>
                </a:solidFill>
                <a:latin typeface="Arial" pitchFamily="34" charset="0"/>
                <a:ea typeface="Arial" pitchFamily="34" charset="-122"/>
                <a:cs typeface="Arial" pitchFamily="34" charset="-120"/>
              </a:rPr>
              <a:t>Meniurile pot varia după versiune și limbă.</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watermark-426"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427" descr="CapCut">    </p:cNvPr>
          <p:cNvPicPr>
            <a:picLocks noChangeAspect="1"/>
          </p:cNvPicPr>
          <p:nvPr/>
        </p:nvPicPr>
        <p:blipFill>
          <a:blip r:embed="rId2"/>
          <a:stretch>
            <a:fillRect/>
          </a:stretch>
        </p:blipFill>
        <p:spPr>
          <a:xfrm>
            <a:off x="548640" y="329184"/>
            <a:ext cx="384048" cy="384048"/>
          </a:xfrm>
          <a:prstGeom prst="rect">
            <a:avLst/>
          </a:prstGeom>
        </p:spPr>
      </p:pic>
      <p:sp>
        <p:nvSpPr>
          <p:cNvPr id="4" name="text-428"/>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5B1BB5"/>
                </a:solidFill>
                <a:latin typeface="Arial" pitchFamily="34" charset="0"/>
                <a:ea typeface="Arial" pitchFamily="34" charset="-122"/>
                <a:cs typeface="Arial" pitchFamily="34" charset="-120"/>
              </a:rPr>
              <a:t>EDITARE VIDEO · CAPCUT</a:t>
            </a:r>
            <a:endParaRPr lang="en-US" sz="1500" dirty="0"/>
          </a:p>
        </p:txBody>
      </p:sp>
      <p:sp>
        <p:nvSpPr>
          <p:cNvPr id="5" name="text-429"/>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Gratuit sau Pro? La început, gratuit.</a:t>
            </a:r>
            <a:endParaRPr lang="en-US" sz="3200" dirty="0"/>
          </a:p>
        </p:txBody>
      </p:sp>
      <p:sp>
        <p:nvSpPr>
          <p:cNvPr id="6" name="nav-430">
            <a:hlinkClick r:id="rId3" tooltip="Concluzie" action="ppaction://hlinksldjump"/>
          </p:cNvPr>
          <p:cNvSpPr/>
          <p:nvPr/>
        </p:nvSpPr>
        <p:spPr>
          <a:xfrm>
            <a:off x="10609783" y="365760"/>
            <a:ext cx="1033272"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431">
            <a:hlinkClick r:id="rId4" tooltip="CapCut" action="ppaction://hlinksldjump"/>
          </p:cNvPr>
          <p:cNvSpPr/>
          <p:nvPr/>
        </p:nvSpPr>
        <p:spPr>
          <a:xfrm>
            <a:off x="9750247" y="365760"/>
            <a:ext cx="786384" cy="310896"/>
          </a:xfrm>
          <a:prstGeom prst="roundRect">
            <a:avLst>
              <a:gd name="adj" fmla="val 50000"/>
            </a:avLst>
          </a:prstGeom>
          <a:solidFill>
            <a:srgbClr val="5B1BB5"/>
          </a:solidFill>
          <a:ln w="12700">
            <a:solidFill>
              <a:srgbClr val="5B1BB5"/>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432">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433">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434">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435">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436"/>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437"/>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5B1BB5"/>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438"/>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16</a:t>
            </a:r>
            <a:endParaRPr lang="en-US" sz="1000" dirty="0"/>
          </a:p>
        </p:txBody>
      </p:sp>
      <p:sp>
        <p:nvSpPr>
          <p:cNvPr id="15" name="card-439"/>
          <p:cNvSpPr/>
          <p:nvPr/>
        </p:nvSpPr>
        <p:spPr>
          <a:xfrm>
            <a:off x="548640" y="1572768"/>
            <a:ext cx="3515258" cy="1705356"/>
          </a:xfrm>
          <a:prstGeom prst="roundRect">
            <a:avLst>
              <a:gd name="adj" fmla="val 5362"/>
            </a:avLst>
          </a:prstGeom>
          <a:solidFill>
            <a:srgbClr val="EFF6F2"/>
          </a:solidFill>
          <a:ln w="12700">
            <a:solidFill>
              <a:srgbClr val="CEE2D7"/>
            </a:solidFill>
            <a:prstDash val="solid"/>
          </a:ln>
        </p:spPr>
      </p:sp>
      <p:sp>
        <p:nvSpPr>
          <p:cNvPr id="16" name="iconbg-440"/>
          <p:cNvSpPr/>
          <p:nvPr/>
        </p:nvSpPr>
        <p:spPr>
          <a:xfrm>
            <a:off x="694944" y="1719072"/>
            <a:ext cx="457200" cy="457200"/>
          </a:xfrm>
          <a:prstGeom prst="ellipse">
            <a:avLst/>
          </a:prstGeom>
          <a:solidFill>
            <a:srgbClr val="1F7A4A"/>
          </a:solidFill>
          <a:ln w="12700">
            <a:solidFill>
              <a:srgbClr val="1F7A4A"/>
            </a:solidFill>
            <a:prstDash val="solid"/>
          </a:ln>
        </p:spPr>
      </p:sp>
      <p:pic>
        <p:nvPicPr>
          <p:cNvPr id="17" name="icon-441" descr="preencoded.png">    </p:cNvPr>
          <p:cNvPicPr>
            <a:picLocks noChangeAspect="1"/>
          </p:cNvPicPr>
          <p:nvPr/>
        </p:nvPicPr>
        <p:blipFill>
          <a:blip r:embed="rId10"/>
          <a:stretch>
            <a:fillRect/>
          </a:stretch>
        </p:blipFill>
        <p:spPr>
          <a:xfrm>
            <a:off x="795528" y="1819656"/>
            <a:ext cx="256032" cy="256032"/>
          </a:xfrm>
          <a:prstGeom prst="rect">
            <a:avLst/>
          </a:prstGeom>
        </p:spPr>
      </p:pic>
      <p:sp>
        <p:nvSpPr>
          <p:cNvPr id="18" name="text-442"/>
          <p:cNvSpPr txBox="1"/>
          <p:nvPr/>
        </p:nvSpPr>
        <p:spPr>
          <a:xfrm>
            <a:off x="1316736" y="1700784"/>
            <a:ext cx="2600858" cy="1449324"/>
          </a:xfrm>
          <a:prstGeom prst="rect">
            <a:avLst/>
          </a:prstGeom>
          <a:noFill/>
          <a:ln/>
        </p:spPr>
        <p:txBody>
          <a:bodyPr wrap="square" lIns="0" tIns="0" rIns="0" bIns="0" rtlCol="0" anchor="t"/>
          <a:lstStyle/>
          <a:p>
            <a:pPr indent="0" marL="0">
              <a:spcAft>
                <a:spcPts val="200"/>
              </a:spcAft>
              <a:buNone/>
            </a:pPr>
            <a:r>
              <a:rPr lang="en-US" sz="2400" b="1" dirty="0">
                <a:solidFill>
                  <a:srgbClr val="1F7A4A"/>
                </a:solidFill>
                <a:latin typeface="Arial" pitchFamily="34" charset="0"/>
                <a:ea typeface="Arial" pitchFamily="34" charset="-122"/>
                <a:cs typeface="Arial" pitchFamily="34" charset="-120"/>
              </a:rPr>
              <a:t>Gratuit: DA</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Tăiere, viteză, tranziții, text, export de calitate.</a:t>
            </a:r>
            <a:endParaRPr lang="en-US" sz="1600" dirty="0"/>
          </a:p>
        </p:txBody>
      </p:sp>
      <p:sp>
        <p:nvSpPr>
          <p:cNvPr id="19" name="card-443"/>
          <p:cNvSpPr/>
          <p:nvPr/>
        </p:nvSpPr>
        <p:spPr>
          <a:xfrm>
            <a:off x="4338218" y="1572768"/>
            <a:ext cx="3515258" cy="1705356"/>
          </a:xfrm>
          <a:prstGeom prst="roundRect">
            <a:avLst>
              <a:gd name="adj" fmla="val 5362"/>
            </a:avLst>
          </a:prstGeom>
          <a:solidFill>
            <a:srgbClr val="F4EFFA"/>
          </a:solidFill>
          <a:ln w="12700">
            <a:solidFill>
              <a:srgbClr val="DBCDEF"/>
            </a:solidFill>
            <a:prstDash val="solid"/>
          </a:ln>
        </p:spPr>
      </p:sp>
      <p:sp>
        <p:nvSpPr>
          <p:cNvPr id="20" name="iconbg-444"/>
          <p:cNvSpPr/>
          <p:nvPr/>
        </p:nvSpPr>
        <p:spPr>
          <a:xfrm>
            <a:off x="4484522" y="1719072"/>
            <a:ext cx="457200" cy="457200"/>
          </a:xfrm>
          <a:prstGeom prst="ellipse">
            <a:avLst/>
          </a:prstGeom>
          <a:solidFill>
            <a:srgbClr val="5B1BB5"/>
          </a:solidFill>
          <a:ln w="12700">
            <a:solidFill>
              <a:srgbClr val="5B1BB5"/>
            </a:solidFill>
            <a:prstDash val="solid"/>
          </a:ln>
        </p:spPr>
      </p:sp>
      <p:pic>
        <p:nvPicPr>
          <p:cNvPr id="21" name="icon-445" descr="preencoded.png">    </p:cNvPr>
          <p:cNvPicPr>
            <a:picLocks noChangeAspect="1"/>
          </p:cNvPicPr>
          <p:nvPr/>
        </p:nvPicPr>
        <p:blipFill>
          <a:blip r:embed="rId11"/>
          <a:stretch>
            <a:fillRect/>
          </a:stretch>
        </p:blipFill>
        <p:spPr>
          <a:xfrm>
            <a:off x="4585106" y="1819656"/>
            <a:ext cx="256032" cy="256032"/>
          </a:xfrm>
          <a:prstGeom prst="rect">
            <a:avLst/>
          </a:prstGeom>
        </p:spPr>
      </p:pic>
      <p:sp>
        <p:nvSpPr>
          <p:cNvPr id="22" name="text-446"/>
          <p:cNvSpPr txBox="1"/>
          <p:nvPr/>
        </p:nvSpPr>
        <p:spPr>
          <a:xfrm>
            <a:off x="5106314" y="1700784"/>
            <a:ext cx="2600858" cy="144932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Doar în Pro</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Subtitrări automate, unelte AI, șabloane premium.</a:t>
            </a:r>
            <a:endParaRPr lang="en-US" sz="1600" dirty="0"/>
          </a:p>
        </p:txBody>
      </p:sp>
      <p:sp>
        <p:nvSpPr>
          <p:cNvPr id="23" name="card-447"/>
          <p:cNvSpPr/>
          <p:nvPr/>
        </p:nvSpPr>
        <p:spPr>
          <a:xfrm>
            <a:off x="8127797" y="1572768"/>
            <a:ext cx="3515258" cy="1705356"/>
          </a:xfrm>
          <a:prstGeom prst="roundRect">
            <a:avLst>
              <a:gd name="adj" fmla="val 5362"/>
            </a:avLst>
          </a:prstGeom>
          <a:solidFill>
            <a:srgbClr val="F4EFFA"/>
          </a:solidFill>
          <a:ln w="12700">
            <a:solidFill>
              <a:srgbClr val="DBCDEF"/>
            </a:solidFill>
            <a:prstDash val="solid"/>
          </a:ln>
        </p:spPr>
      </p:sp>
      <p:sp>
        <p:nvSpPr>
          <p:cNvPr id="24" name="iconbg-448"/>
          <p:cNvSpPr/>
          <p:nvPr/>
        </p:nvSpPr>
        <p:spPr>
          <a:xfrm>
            <a:off x="8274101" y="1719072"/>
            <a:ext cx="457200" cy="457200"/>
          </a:xfrm>
          <a:prstGeom prst="ellipse">
            <a:avLst/>
          </a:prstGeom>
          <a:solidFill>
            <a:srgbClr val="5B1BB5"/>
          </a:solidFill>
          <a:ln w="12700">
            <a:solidFill>
              <a:srgbClr val="5B1BB5"/>
            </a:solidFill>
            <a:prstDash val="solid"/>
          </a:ln>
        </p:spPr>
      </p:sp>
      <p:pic>
        <p:nvPicPr>
          <p:cNvPr id="25" name="icon-449" descr="preencoded.png">    </p:cNvPr>
          <p:cNvPicPr>
            <a:picLocks noChangeAspect="1"/>
          </p:cNvPicPr>
          <p:nvPr/>
        </p:nvPicPr>
        <p:blipFill>
          <a:blip r:embed="rId12"/>
          <a:stretch>
            <a:fillRect/>
          </a:stretch>
        </p:blipFill>
        <p:spPr>
          <a:xfrm>
            <a:off x="8374685" y="1819656"/>
            <a:ext cx="256032" cy="256032"/>
          </a:xfrm>
          <a:prstGeom prst="rect">
            <a:avLst/>
          </a:prstGeom>
        </p:spPr>
      </p:pic>
      <p:sp>
        <p:nvSpPr>
          <p:cNvPr id="26" name="text-450"/>
          <p:cNvSpPr txBox="1"/>
          <p:nvPr/>
        </p:nvSpPr>
        <p:spPr>
          <a:xfrm>
            <a:off x="8895893" y="1700784"/>
            <a:ext cx="2600858" cy="1449324"/>
          </a:xfrm>
          <a:prstGeom prst="rect">
            <a:avLst/>
          </a:prstGeom>
          <a:noFill/>
          <a:ln/>
        </p:spPr>
        <p:txBody>
          <a:bodyPr wrap="square" lIns="0" tIns="0" rIns="0" bIns="0" rtlCol="0" anchor="t"/>
          <a:lstStyle/>
          <a:p>
            <a:pPr indent="0" marL="0">
              <a:spcAft>
                <a:spcPts val="200"/>
              </a:spcAft>
              <a:buNone/>
            </a:pPr>
            <a:r>
              <a:rPr lang="en-US" sz="2400" b="1" dirty="0">
                <a:solidFill>
                  <a:srgbClr val="5B1BB5"/>
                </a:solidFill>
                <a:latin typeface="Arial" pitchFamily="34" charset="0"/>
                <a:ea typeface="Arial" pitchFamily="34" charset="-122"/>
                <a:cs typeface="Arial" pitchFamily="34" charset="-120"/>
              </a:rPr>
              <a:t>Fără filtre pe blond</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Schimbă nuanța pe care ai lucrat-o.</a:t>
            </a:r>
            <a:endParaRPr lang="en-US" sz="1600" dirty="0"/>
          </a:p>
        </p:txBody>
      </p:sp>
      <p:sp>
        <p:nvSpPr>
          <p:cNvPr id="27" name="note-451"/>
          <p:cNvSpPr/>
          <p:nvPr/>
        </p:nvSpPr>
        <p:spPr>
          <a:xfrm>
            <a:off x="548640" y="3406140"/>
            <a:ext cx="11094415" cy="589026"/>
          </a:xfrm>
          <a:prstGeom prst="roundRect">
            <a:avLst>
              <a:gd name="adj" fmla="val 15524"/>
            </a:avLst>
          </a:prstGeom>
          <a:solidFill>
            <a:srgbClr val="FFFFFF"/>
          </a:solidFill>
          <a:ln w="19050">
            <a:solidFill>
              <a:srgbClr val="5B1BB5"/>
            </a:solidFill>
            <a:prstDash val="dash"/>
          </a:ln>
        </p:spPr>
      </p:sp>
      <p:pic>
        <p:nvPicPr>
          <p:cNvPr id="28" name="noteicon-452" descr="preencoded.png">    </p:cNvPr>
          <p:cNvPicPr>
            <a:picLocks noChangeAspect="1"/>
          </p:cNvPicPr>
          <p:nvPr/>
        </p:nvPicPr>
        <p:blipFill>
          <a:blip r:embed="rId13"/>
          <a:stretch>
            <a:fillRect/>
          </a:stretch>
        </p:blipFill>
        <p:spPr>
          <a:xfrm>
            <a:off x="685800" y="3526917"/>
            <a:ext cx="347472" cy="347472"/>
          </a:xfrm>
          <a:prstGeom prst="rect">
            <a:avLst/>
          </a:prstGeom>
        </p:spPr>
      </p:pic>
      <p:sp>
        <p:nvSpPr>
          <p:cNvPr id="29" name="text-453"/>
          <p:cNvSpPr txBox="1"/>
          <p:nvPr/>
        </p:nvSpPr>
        <p:spPr>
          <a:xfrm>
            <a:off x="1143000" y="3497580"/>
            <a:ext cx="10362895" cy="406146"/>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Verifică prețul în aplicație.</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watermark-454" descr="preencoded.png">    </p:cNvPr>
          <p:cNvPicPr>
            <a:picLocks noChangeAspect="1"/>
          </p:cNvPicPr>
          <p:nvPr/>
        </p:nvPicPr>
        <p:blipFill>
          <a:blip r:embed="rId1"/>
          <a:stretch>
            <a:fillRect/>
          </a:stretch>
        </p:blipFill>
        <p:spPr>
          <a:xfrm>
            <a:off x="9814255" y="4343400"/>
            <a:ext cx="2057400" cy="2057400"/>
          </a:xfrm>
          <a:prstGeom prst="rect">
            <a:avLst/>
          </a:prstGeom>
        </p:spPr>
      </p:pic>
      <p:pic>
        <p:nvPicPr>
          <p:cNvPr id="3" name="logo-455" descr="Concluzie">    </p:cNvPr>
          <p:cNvPicPr>
            <a:picLocks noChangeAspect="1"/>
          </p:cNvPicPr>
          <p:nvPr/>
        </p:nvPicPr>
        <p:blipFill>
          <a:blip r:embed="rId2"/>
          <a:stretch>
            <a:fillRect/>
          </a:stretch>
        </p:blipFill>
        <p:spPr>
          <a:xfrm>
            <a:off x="548640" y="329184"/>
            <a:ext cx="384048" cy="384048"/>
          </a:xfrm>
          <a:prstGeom prst="rect">
            <a:avLst/>
          </a:prstGeom>
        </p:spPr>
      </p:pic>
      <p:sp>
        <p:nvSpPr>
          <p:cNvPr id="4" name="text-456"/>
          <p:cNvSpPr txBox="1"/>
          <p:nvPr/>
        </p:nvSpPr>
        <p:spPr>
          <a:xfrm>
            <a:off x="1024128" y="329184"/>
            <a:ext cx="4572000" cy="384048"/>
          </a:xfrm>
          <a:prstGeom prst="rect">
            <a:avLst/>
          </a:prstGeom>
          <a:noFill/>
          <a:ln/>
        </p:spPr>
        <p:txBody>
          <a:bodyPr wrap="square" lIns="0" tIns="0" rIns="0" bIns="0" rtlCol="0" anchor="ctr"/>
          <a:lstStyle/>
          <a:p>
            <a:pPr indent="0" marL="0">
              <a:buNone/>
            </a:pPr>
            <a:r>
              <a:rPr lang="en-US" sz="1500" b="1" spc="100" kern="0" dirty="0">
                <a:solidFill>
                  <a:srgbClr val="C2410C"/>
                </a:solidFill>
                <a:latin typeface="Arial" pitchFamily="34" charset="0"/>
                <a:ea typeface="Arial" pitchFamily="34" charset="-122"/>
                <a:cs typeface="Arial" pitchFamily="34" charset="-120"/>
              </a:rPr>
              <a:t>CONCLUZIE</a:t>
            </a:r>
            <a:endParaRPr lang="en-US" sz="1500" dirty="0"/>
          </a:p>
        </p:txBody>
      </p:sp>
      <p:sp>
        <p:nvSpPr>
          <p:cNvPr id="5" name="text-457"/>
          <p:cNvSpPr txBox="1"/>
          <p:nvPr/>
        </p:nvSpPr>
        <p:spPr>
          <a:xfrm>
            <a:off x="548640" y="822960"/>
            <a:ext cx="11094415" cy="640080"/>
          </a:xfrm>
          <a:prstGeom prst="rect">
            <a:avLst/>
          </a:prstGeom>
          <a:noFill/>
          <a:ln/>
        </p:spPr>
        <p:txBody>
          <a:bodyPr wrap="square" lIns="0" tIns="0" rIns="0" bIns="0" rtlCol="0" anchor="ctr"/>
          <a:lstStyle/>
          <a:p>
            <a:pPr indent="0" marL="0">
              <a:buNone/>
            </a:pPr>
            <a:r>
              <a:rPr lang="en-US" sz="3200" b="1" dirty="0">
                <a:solidFill>
                  <a:srgbClr val="111111"/>
                </a:solidFill>
                <a:latin typeface="Arial" pitchFamily="34" charset="0"/>
                <a:ea typeface="Arial" pitchFamily="34" charset="-122"/>
                <a:cs typeface="Arial" pitchFamily="34" charset="-120"/>
              </a:rPr>
              <a:t>Nu trebuie să fii influencer ca să îți promovezi munca.</a:t>
            </a:r>
            <a:endParaRPr lang="en-US" sz="3200" dirty="0"/>
          </a:p>
        </p:txBody>
      </p:sp>
      <p:sp>
        <p:nvSpPr>
          <p:cNvPr id="6" name="nav-458">
            <a:hlinkClick r:id="rId3" tooltip="Concluzie" action="ppaction://hlinksldjump"/>
          </p:cNvPr>
          <p:cNvSpPr/>
          <p:nvPr/>
        </p:nvSpPr>
        <p:spPr>
          <a:xfrm>
            <a:off x="10609783" y="365760"/>
            <a:ext cx="1033272" cy="310896"/>
          </a:xfrm>
          <a:prstGeom prst="roundRect">
            <a:avLst>
              <a:gd name="adj" fmla="val 50000"/>
            </a:avLst>
          </a:prstGeom>
          <a:solidFill>
            <a:srgbClr val="C2410C"/>
          </a:solidFill>
          <a:ln w="12700">
            <a:solidFill>
              <a:srgbClr val="C2410C"/>
            </a:solidFill>
          </a:ln>
        </p:spPr>
        <p:txBody>
          <a:bodyPr wrap="square" lIns="0" tIns="0" rIns="0" bIns="0" rtlCol="0" anchor="ctr"/>
          <a:lstStyle/>
          <a:p>
            <a:pPr algn="ctr" indent="0" marL="0">
              <a:buNone/>
            </a:pPr>
            <a:r>
              <a:rPr lang="en-US" sz="1100" b="1" u="sng" dirty="0">
                <a:solidFill>
                  <a:srgbClr val="FFFFFF"/>
                </a:solidFill>
                <a:latin typeface="Arial" pitchFamily="34" charset="0"/>
                <a:ea typeface="Arial" pitchFamily="34" charset="-122"/>
                <a:cs typeface="Arial" pitchFamily="34" charset="-120"/>
                <a:hlinkClick r:id="rId3" action="ppaction://hlinksldjump" tooltip="Concluzie">
                  <a:extLst>
                    <a:ext uri="{A12FA001-AC4F-418D-AE19-62706E023703}">
                      <ahyp:hlinkClr xmlns:ahyp="http://schemas.microsoft.com/office/drawing/2018/hyperlinkcolor" val="tx"/>
                    </a:ext>
                  </a:extLst>
                </a:hlinkClick>
              </a:rPr>
              <a:t>Concluzie</a:t>
            </a:r>
            <a:endParaRPr lang="en-US" sz="1100" dirty="0"/>
          </a:p>
        </p:txBody>
      </p:sp>
      <p:sp>
        <p:nvSpPr>
          <p:cNvPr id="7" name="nav-459">
            <a:hlinkClick r:id="rId4" tooltip="CapCut" action="ppaction://hlinksldjump"/>
          </p:cNvPr>
          <p:cNvSpPr/>
          <p:nvPr/>
        </p:nvSpPr>
        <p:spPr>
          <a:xfrm>
            <a:off x="9750247" y="365760"/>
            <a:ext cx="786384" cy="310896"/>
          </a:xfrm>
          <a:prstGeom prst="roundRect">
            <a:avLst>
              <a:gd name="adj" fmla="val 50000"/>
            </a:avLst>
          </a:prstGeom>
          <a:solidFill>
            <a:srgbClr val="FFFFFF"/>
          </a:solidFill>
          <a:ln w="12700">
            <a:solidFill>
              <a:srgbClr val="B598DE"/>
            </a:solidFill>
          </a:ln>
        </p:spPr>
        <p:txBody>
          <a:bodyPr wrap="square" lIns="0" tIns="0" rIns="0" bIns="0" rtlCol="0" anchor="ctr"/>
          <a:lstStyle/>
          <a:p>
            <a:pPr algn="ctr" indent="0" marL="0">
              <a:buNone/>
            </a:pPr>
            <a:r>
              <a:rPr lang="en-US" sz="1100" b="1" u="sng" dirty="0">
                <a:solidFill>
                  <a:srgbClr val="5B1BB5"/>
                </a:solidFill>
                <a:latin typeface="Arial" pitchFamily="34" charset="0"/>
                <a:ea typeface="Arial" pitchFamily="34" charset="-122"/>
                <a:cs typeface="Arial" pitchFamily="34" charset="-120"/>
                <a:hlinkClick r:id="rId4" action="ppaction://hlinksldjump" tooltip="CapCut">
                  <a:extLst>
                    <a:ext uri="{A12FA001-AC4F-418D-AE19-62706E023703}">
                      <ahyp:hlinkClr xmlns:ahyp="http://schemas.microsoft.com/office/drawing/2018/hyperlinkcolor" val="tx"/>
                    </a:ext>
                  </a:extLst>
                </a:hlinkClick>
              </a:rPr>
              <a:t>CapCut</a:t>
            </a:r>
            <a:endParaRPr lang="en-US" sz="1100" dirty="0"/>
          </a:p>
        </p:txBody>
      </p:sp>
      <p:sp>
        <p:nvSpPr>
          <p:cNvPr id="8" name="nav-460">
            <a:hlinkClick r:id="rId5" tooltip="TikTok" action="ppaction://hlinksldjump"/>
          </p:cNvPr>
          <p:cNvSpPr/>
          <p:nvPr/>
        </p:nvSpPr>
        <p:spPr>
          <a:xfrm>
            <a:off x="8890711" y="365760"/>
            <a:ext cx="786384" cy="310896"/>
          </a:xfrm>
          <a:prstGeom prst="roundRect">
            <a:avLst>
              <a:gd name="adj" fmla="val 50000"/>
            </a:avLst>
          </a:prstGeom>
          <a:solidFill>
            <a:srgbClr val="FFFFFF"/>
          </a:solidFill>
          <a:ln w="12700">
            <a:solidFill>
              <a:srgbClr val="E493A9"/>
            </a:solidFill>
          </a:ln>
        </p:spPr>
        <p:txBody>
          <a:bodyPr wrap="square" lIns="0" tIns="0" rIns="0" bIns="0" rtlCol="0" anchor="ctr"/>
          <a:lstStyle/>
          <a:p>
            <a:pPr algn="ctr" indent="0" marL="0">
              <a:buNone/>
            </a:pPr>
            <a:r>
              <a:rPr lang="en-US" sz="1100" b="1" u="sng" dirty="0">
                <a:solidFill>
                  <a:srgbClr val="C20E3F"/>
                </a:solidFill>
                <a:latin typeface="Arial" pitchFamily="34" charset="0"/>
                <a:ea typeface="Arial" pitchFamily="34" charset="-122"/>
                <a:cs typeface="Arial" pitchFamily="34" charset="-120"/>
                <a:hlinkClick r:id="rId5" action="ppaction://hlinksldjump" tooltip="TikTok">
                  <a:extLst>
                    <a:ext uri="{A12FA001-AC4F-418D-AE19-62706E023703}">
                      <ahyp:hlinkClr xmlns:ahyp="http://schemas.microsoft.com/office/drawing/2018/hyperlinkcolor" val="tx"/>
                    </a:ext>
                  </a:extLst>
                </a:hlinkClick>
              </a:rPr>
              <a:t>TikTok</a:t>
            </a:r>
            <a:endParaRPr lang="en-US" sz="1100" dirty="0"/>
          </a:p>
        </p:txBody>
      </p:sp>
      <p:sp>
        <p:nvSpPr>
          <p:cNvPr id="9" name="nav-461">
            <a:hlinkClick r:id="rId6" tooltip="Instagram" action="ppaction://hlinksldjump"/>
          </p:cNvPr>
          <p:cNvSpPr/>
          <p:nvPr/>
        </p:nvSpPr>
        <p:spPr>
          <a:xfrm>
            <a:off x="7784287" y="365760"/>
            <a:ext cx="1033272" cy="310896"/>
          </a:xfrm>
          <a:prstGeom prst="roundRect">
            <a:avLst>
              <a:gd name="adj" fmla="val 50000"/>
            </a:avLst>
          </a:prstGeom>
          <a:solidFill>
            <a:srgbClr val="FFFFFF"/>
          </a:solidFill>
          <a:ln w="12700">
            <a:solidFill>
              <a:srgbClr val="DB94B0"/>
            </a:solidFill>
          </a:ln>
        </p:spPr>
        <p:txBody>
          <a:bodyPr wrap="square" lIns="0" tIns="0" rIns="0" bIns="0" rtlCol="0" anchor="ctr"/>
          <a:lstStyle/>
          <a:p>
            <a:pPr algn="ctr" indent="0" marL="0">
              <a:buNone/>
            </a:pPr>
            <a:r>
              <a:rPr lang="en-US" sz="1100" b="1" u="sng" dirty="0">
                <a:solidFill>
                  <a:srgbClr val="B0124F"/>
                </a:solidFill>
                <a:latin typeface="Arial" pitchFamily="34" charset="0"/>
                <a:ea typeface="Arial" pitchFamily="34" charset="-122"/>
                <a:cs typeface="Arial" pitchFamily="34" charset="-120"/>
                <a:hlinkClick r:id="rId6" action="ppaction://hlinksldjump" tooltip="Instagram">
                  <a:extLst>
                    <a:ext uri="{A12FA001-AC4F-418D-AE19-62706E023703}">
                      <ahyp:hlinkClr xmlns:ahyp="http://schemas.microsoft.com/office/drawing/2018/hyperlinkcolor" val="tx"/>
                    </a:ext>
                  </a:extLst>
                </a:hlinkClick>
              </a:rPr>
              <a:t>Instagram</a:t>
            </a:r>
            <a:endParaRPr lang="en-US" sz="1100" dirty="0"/>
          </a:p>
        </p:txBody>
      </p:sp>
      <p:sp>
        <p:nvSpPr>
          <p:cNvPr id="10" name="nav-462">
            <a:hlinkClick r:id="rId7" tooltip="Facebook" action="ppaction://hlinksldjump"/>
          </p:cNvPr>
          <p:cNvSpPr/>
          <p:nvPr/>
        </p:nvSpPr>
        <p:spPr>
          <a:xfrm>
            <a:off x="6760159" y="365760"/>
            <a:ext cx="950976" cy="310896"/>
          </a:xfrm>
          <a:prstGeom prst="roundRect">
            <a:avLst>
              <a:gd name="adj" fmla="val 50000"/>
            </a:avLst>
          </a:prstGeom>
          <a:solidFill>
            <a:srgbClr val="FFFFFF"/>
          </a:solidFill>
          <a:ln w="12700">
            <a:solidFill>
              <a:srgbClr val="96BAED"/>
            </a:solidFill>
          </a:ln>
        </p:spPr>
        <p:txBody>
          <a:bodyPr wrap="square" lIns="0" tIns="0" rIns="0" bIns="0" rtlCol="0" anchor="ctr"/>
          <a:lstStyle/>
          <a:p>
            <a:pPr algn="ctr" indent="0" marL="0">
              <a:buNone/>
            </a:pPr>
            <a:r>
              <a:rPr lang="en-US" sz="1100" b="1" u="sng" dirty="0">
                <a:solidFill>
                  <a:srgbClr val="1565D8"/>
                </a:solidFill>
                <a:latin typeface="Arial" pitchFamily="34" charset="0"/>
                <a:ea typeface="Arial" pitchFamily="34" charset="-122"/>
                <a:cs typeface="Arial" pitchFamily="34" charset="-120"/>
                <a:hlinkClick r:id="rId7" action="ppaction://hlinksldjump" tooltip="Facebook">
                  <a:extLst>
                    <a:ext uri="{A12FA001-AC4F-418D-AE19-62706E023703}">
                      <ahyp:hlinkClr xmlns:ahyp="http://schemas.microsoft.com/office/drawing/2018/hyperlinkcolor" val="tx"/>
                    </a:ext>
                  </a:extLst>
                </a:hlinkClick>
              </a:rPr>
              <a:t>Facebook</a:t>
            </a:r>
            <a:endParaRPr lang="en-US" sz="1100" dirty="0"/>
          </a:p>
        </p:txBody>
      </p:sp>
      <p:sp>
        <p:nvSpPr>
          <p:cNvPr id="11" name="nav-463">
            <a:hlinkClick r:id="rId8" tooltip="Cum începem" action="ppaction://hlinksldjump"/>
          </p:cNvPr>
          <p:cNvSpPr/>
          <p:nvPr/>
        </p:nvSpPr>
        <p:spPr>
          <a:xfrm>
            <a:off x="5489143" y="365760"/>
            <a:ext cx="1197864" cy="310896"/>
          </a:xfrm>
          <a:prstGeom prst="roundRect">
            <a:avLst>
              <a:gd name="adj" fmla="val 50000"/>
            </a:avLst>
          </a:prstGeom>
          <a:solidFill>
            <a:srgbClr val="FFFFFF"/>
          </a:solidFill>
          <a:ln w="12700">
            <a:solidFill>
              <a:srgbClr val="E4AA92"/>
            </a:solidFill>
          </a:ln>
        </p:spPr>
        <p:txBody>
          <a:bodyPr wrap="square" lIns="0" tIns="0" rIns="0" bIns="0" rtlCol="0" anchor="ctr"/>
          <a:lstStyle/>
          <a:p>
            <a:pPr algn="ctr" indent="0" marL="0">
              <a:buNone/>
            </a:pPr>
            <a:r>
              <a:rPr lang="en-US" sz="1100" b="1" u="sng" dirty="0">
                <a:solidFill>
                  <a:srgbClr val="C2410C"/>
                </a:solidFill>
                <a:latin typeface="Arial" pitchFamily="34" charset="0"/>
                <a:ea typeface="Arial" pitchFamily="34" charset="-122"/>
                <a:cs typeface="Arial" pitchFamily="34" charset="-120"/>
                <a:hlinkClick r:id="rId8" action="ppaction://hlinksldjump" tooltip="Cum începem">
                  <a:extLst>
                    <a:ext uri="{A12FA001-AC4F-418D-AE19-62706E023703}">
                      <ahyp:hlinkClr xmlns:ahyp="http://schemas.microsoft.com/office/drawing/2018/hyperlinkcolor" val="tx"/>
                    </a:ext>
                  </a:extLst>
                </a:hlinkClick>
              </a:rPr>
              <a:t>Cum începem</a:t>
            </a:r>
            <a:endParaRPr lang="en-US" sz="1100" dirty="0"/>
          </a:p>
        </p:txBody>
      </p:sp>
      <p:sp>
        <p:nvSpPr>
          <p:cNvPr id="12" name="text-464"/>
          <p:cNvSpPr txBox="1"/>
          <p:nvPr/>
        </p:nvSpPr>
        <p:spPr>
          <a:xfrm>
            <a:off x="548640" y="6446520"/>
            <a:ext cx="3657600" cy="228600"/>
          </a:xfrm>
          <a:prstGeom prst="rect">
            <a:avLst/>
          </a:prstGeom>
          <a:noFill/>
          <a:ln/>
        </p:spPr>
        <p:txBody>
          <a:bodyPr wrap="square" lIns="0" tIns="0" rIns="0" bIns="0" rtlCol="0" anchor="t"/>
          <a:lstStyle/>
          <a:p>
            <a:pPr indent="0" marL="0">
              <a:buNone/>
            </a:pPr>
            <a:r>
              <a:rPr lang="en-US" sz="1000" b="1" dirty="0">
                <a:solidFill>
                  <a:srgbClr val="6B6B6B"/>
                </a:solidFill>
                <a:latin typeface="Arial" pitchFamily="34" charset="0"/>
                <a:ea typeface="Arial" pitchFamily="34" charset="-122"/>
                <a:cs typeface="Arial" pitchFamily="34" charset="-120"/>
              </a:rPr>
              <a:t>SOCIAL MEDIA PREZENTARE</a:t>
            </a:r>
            <a:endParaRPr lang="en-US" sz="1000" dirty="0"/>
          </a:p>
        </p:txBody>
      </p:sp>
      <p:sp>
        <p:nvSpPr>
          <p:cNvPr id="13" name="home-465"/>
          <p:cNvSpPr txBox="1"/>
          <p:nvPr/>
        </p:nvSpPr>
        <p:spPr>
          <a:xfrm>
            <a:off x="5394960" y="6446520"/>
            <a:ext cx="1371600" cy="228600"/>
          </a:xfrm>
          <a:prstGeom prst="rect">
            <a:avLst/>
          </a:prstGeom>
          <a:noFill/>
          <a:ln/>
        </p:spPr>
        <p:txBody>
          <a:bodyPr wrap="square" lIns="0" tIns="0" rIns="0" bIns="0" rtlCol="0" anchor="ctr"/>
          <a:lstStyle/>
          <a:p>
            <a:pPr algn="ctr" indent="0" marL="0">
              <a:buNone/>
            </a:pPr>
            <a:r>
              <a:rPr lang="en-US" sz="1000" b="1" u="sng" dirty="0">
                <a:solidFill>
                  <a:srgbClr val="C2410C"/>
                </a:solidFill>
                <a:latin typeface="Arial" pitchFamily="34" charset="0"/>
                <a:ea typeface="Arial" pitchFamily="34" charset="-122"/>
                <a:cs typeface="Arial" pitchFamily="34" charset="-120"/>
                <a:hlinkClick r:id="rId9" action="ppaction://hlinksldjump" tooltip="Înapoi la cuprins">
                  <a:extLst>
                    <a:ext uri="{A12FA001-AC4F-418D-AE19-62706E023703}">
                      <ahyp:hlinkClr xmlns:ahyp="http://schemas.microsoft.com/office/drawing/2018/hyperlinkcolor" val="tx"/>
                    </a:ext>
                  </a:extLst>
                </a:hlinkClick>
              </a:rPr>
              <a:t>Cuprins</a:t>
            </a:r>
            <a:endParaRPr lang="en-US" sz="1000" dirty="0"/>
          </a:p>
        </p:txBody>
      </p:sp>
      <p:sp>
        <p:nvSpPr>
          <p:cNvPr id="14" name="text-466"/>
          <p:cNvSpPr txBox="1"/>
          <p:nvPr/>
        </p:nvSpPr>
        <p:spPr>
          <a:xfrm>
            <a:off x="11094415" y="6446520"/>
            <a:ext cx="548640" cy="228600"/>
          </a:xfrm>
          <a:prstGeom prst="rect">
            <a:avLst/>
          </a:prstGeom>
          <a:noFill/>
          <a:ln/>
        </p:spPr>
        <p:txBody>
          <a:bodyPr wrap="square" lIns="0" tIns="0" rIns="0" bIns="0" rtlCol="0" anchor="t"/>
          <a:lstStyle/>
          <a:p>
            <a:pPr algn="r" indent="0" marL="0">
              <a:buNone/>
            </a:pPr>
            <a:r>
              <a:rPr lang="en-US" sz="1000" b="1" dirty="0">
                <a:solidFill>
                  <a:srgbClr val="6B6B6B"/>
                </a:solidFill>
                <a:latin typeface="Arial" pitchFamily="34" charset="0"/>
                <a:ea typeface="Arial" pitchFamily="34" charset="-122"/>
                <a:cs typeface="Arial" pitchFamily="34" charset="-120"/>
              </a:rPr>
              <a:t>17</a:t>
            </a:r>
            <a:endParaRPr lang="en-US" sz="1000" dirty="0"/>
          </a:p>
        </p:txBody>
      </p:sp>
      <p:sp>
        <p:nvSpPr>
          <p:cNvPr id="15" name="text-467"/>
          <p:cNvSpPr txBox="1"/>
          <p:nvPr/>
        </p:nvSpPr>
        <p:spPr>
          <a:xfrm>
            <a:off x="548640" y="1572768"/>
            <a:ext cx="11094415" cy="502920"/>
          </a:xfrm>
          <a:prstGeom prst="rect">
            <a:avLst/>
          </a:prstGeom>
          <a:noFill/>
          <a:ln/>
        </p:spPr>
        <p:txBody>
          <a:bodyPr wrap="square" lIns="0" tIns="0" rIns="0" bIns="0" rtlCol="0" anchor="ctr"/>
          <a:lstStyle/>
          <a:p>
            <a:pPr indent="0" marL="0">
              <a:buNone/>
            </a:pPr>
            <a:r>
              <a:rPr lang="en-US" sz="2600" b="1" dirty="0">
                <a:solidFill>
                  <a:srgbClr val="C2410C"/>
                </a:solidFill>
                <a:latin typeface="Arial" pitchFamily="34" charset="0"/>
                <a:ea typeface="Arial" pitchFamily="34" charset="-122"/>
                <a:cs typeface="Arial" pitchFamily="34" charset="-120"/>
              </a:rPr>
              <a:t>Trebuie doar să începi să o arăți.</a:t>
            </a:r>
            <a:endParaRPr lang="en-US" sz="2600" dirty="0"/>
          </a:p>
        </p:txBody>
      </p:sp>
      <p:sp>
        <p:nvSpPr>
          <p:cNvPr id="16" name="card-468"/>
          <p:cNvSpPr/>
          <p:nvPr/>
        </p:nvSpPr>
        <p:spPr>
          <a:xfrm>
            <a:off x="548640" y="2258568"/>
            <a:ext cx="11094415" cy="2399538"/>
          </a:xfrm>
          <a:prstGeom prst="roundRect">
            <a:avLst>
              <a:gd name="adj" fmla="val 3811"/>
            </a:avLst>
          </a:prstGeom>
          <a:solidFill>
            <a:srgbClr val="FBF2EE"/>
          </a:solidFill>
          <a:ln w="12700">
            <a:solidFill>
              <a:srgbClr val="F2D5CA"/>
            </a:solidFill>
            <a:prstDash val="solid"/>
          </a:ln>
        </p:spPr>
      </p:sp>
      <p:sp>
        <p:nvSpPr>
          <p:cNvPr id="17" name="iconbg-469"/>
          <p:cNvSpPr/>
          <p:nvPr/>
        </p:nvSpPr>
        <p:spPr>
          <a:xfrm>
            <a:off x="694944" y="2404872"/>
            <a:ext cx="457200" cy="457200"/>
          </a:xfrm>
          <a:prstGeom prst="ellipse">
            <a:avLst/>
          </a:prstGeom>
          <a:solidFill>
            <a:srgbClr val="C2410C"/>
          </a:solidFill>
          <a:ln w="12700">
            <a:solidFill>
              <a:srgbClr val="C2410C"/>
            </a:solidFill>
            <a:prstDash val="solid"/>
          </a:ln>
        </p:spPr>
      </p:sp>
      <p:pic>
        <p:nvPicPr>
          <p:cNvPr id="18" name="icon-470" descr="preencoded.png">    </p:cNvPr>
          <p:cNvPicPr>
            <a:picLocks noChangeAspect="1"/>
          </p:cNvPicPr>
          <p:nvPr/>
        </p:nvPicPr>
        <p:blipFill>
          <a:blip r:embed="rId10"/>
          <a:stretch>
            <a:fillRect/>
          </a:stretch>
        </p:blipFill>
        <p:spPr>
          <a:xfrm>
            <a:off x="795528" y="2505456"/>
            <a:ext cx="256032" cy="256032"/>
          </a:xfrm>
          <a:prstGeom prst="rect">
            <a:avLst/>
          </a:prstGeom>
        </p:spPr>
      </p:pic>
      <p:sp>
        <p:nvSpPr>
          <p:cNvPr id="19" name="text-471"/>
          <p:cNvSpPr txBox="1"/>
          <p:nvPr/>
        </p:nvSpPr>
        <p:spPr>
          <a:xfrm>
            <a:off x="1316736" y="2386584"/>
            <a:ext cx="10180015" cy="2143506"/>
          </a:xfrm>
          <a:prstGeom prst="rect">
            <a:avLst/>
          </a:prstGeom>
          <a:noFill/>
          <a:ln/>
        </p:spPr>
        <p:txBody>
          <a:bodyPr wrap="square" lIns="0" tIns="0" rIns="0" bIns="0" rtlCol="0" anchor="t"/>
          <a:lstStyle/>
          <a:p>
            <a:pPr indent="0" marL="0">
              <a:spcAft>
                <a:spcPts val="200"/>
              </a:spcAft>
              <a:buNone/>
            </a:pPr>
            <a:r>
              <a:rPr lang="en-US" sz="2400" b="1" dirty="0">
                <a:solidFill>
                  <a:srgbClr val="C2410C"/>
                </a:solidFill>
                <a:latin typeface="Arial" pitchFamily="34" charset="0"/>
                <a:ea typeface="Arial" pitchFamily="34" charset="-122"/>
                <a:cs typeface="Arial" pitchFamily="34" charset="-120"/>
              </a:rPr>
              <a:t>Planul tău de acțiune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1. Filmează o transformare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2. Editează un clip scurt</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3. Publică pe platforma potrivită</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4. Analizează reacțiile</a:t>
            </a:r>
            <a:endParaRPr lang="en-US" sz="1600" dirty="0"/>
          </a:p>
          <a:p>
            <a:pPr indent="0" marL="0">
              <a:spcAft>
                <a:spcPts val="200"/>
              </a:spcAft>
              <a:buNone/>
            </a:pPr>
            <a:r>
              <a:rPr lang="en-US" sz="2100" dirty="0">
                <a:solidFill>
                  <a:srgbClr val="3D3D3D"/>
                </a:solidFill>
                <a:latin typeface="Arial" pitchFamily="34" charset="0"/>
                <a:ea typeface="Arial" pitchFamily="34" charset="-122"/>
                <a:cs typeface="Arial" pitchFamily="34" charset="-120"/>
              </a:rPr>
              <a:t>5. Repetă și îmbunătățește</a:t>
            </a:r>
            <a:endParaRPr lang="en-US" sz="1600" dirty="0"/>
          </a:p>
        </p:txBody>
      </p:sp>
      <p:sp>
        <p:nvSpPr>
          <p:cNvPr id="20" name="note-472"/>
          <p:cNvSpPr/>
          <p:nvPr/>
        </p:nvSpPr>
        <p:spPr>
          <a:xfrm>
            <a:off x="548640" y="4786122"/>
            <a:ext cx="11094415" cy="589026"/>
          </a:xfrm>
          <a:prstGeom prst="roundRect">
            <a:avLst>
              <a:gd name="adj" fmla="val 15524"/>
            </a:avLst>
          </a:prstGeom>
          <a:solidFill>
            <a:srgbClr val="FFFFFF"/>
          </a:solidFill>
          <a:ln w="19050">
            <a:solidFill>
              <a:srgbClr val="C2410C"/>
            </a:solidFill>
            <a:prstDash val="dash"/>
          </a:ln>
        </p:spPr>
      </p:sp>
      <p:pic>
        <p:nvPicPr>
          <p:cNvPr id="21" name="noteicon-473" descr="preencoded.png">    </p:cNvPr>
          <p:cNvPicPr>
            <a:picLocks noChangeAspect="1"/>
          </p:cNvPicPr>
          <p:nvPr/>
        </p:nvPicPr>
        <p:blipFill>
          <a:blip r:embed="rId11"/>
          <a:stretch>
            <a:fillRect/>
          </a:stretch>
        </p:blipFill>
        <p:spPr>
          <a:xfrm>
            <a:off x="685800" y="4906899"/>
            <a:ext cx="347472" cy="347472"/>
          </a:xfrm>
          <a:prstGeom prst="rect">
            <a:avLst/>
          </a:prstGeom>
        </p:spPr>
      </p:pic>
      <p:sp>
        <p:nvSpPr>
          <p:cNvPr id="22" name="text-474"/>
          <p:cNvSpPr txBox="1"/>
          <p:nvPr/>
        </p:nvSpPr>
        <p:spPr>
          <a:xfrm>
            <a:off x="1143000" y="4877562"/>
            <a:ext cx="10362895" cy="406146"/>
          </a:xfrm>
          <a:prstGeom prst="rect">
            <a:avLst/>
          </a:prstGeom>
          <a:noFill/>
          <a:ln/>
        </p:spPr>
        <p:txBody>
          <a:bodyPr wrap="square" lIns="0" tIns="0" rIns="0" bIns="0" rtlCol="0" anchor="ctr"/>
          <a:lstStyle/>
          <a:p>
            <a:pPr indent="0" marL="0">
              <a:buNone/>
            </a:pPr>
            <a:r>
              <a:rPr lang="en-US" sz="2100" b="1" dirty="0">
                <a:solidFill>
                  <a:srgbClr val="111111"/>
                </a:solidFill>
                <a:latin typeface="Arial" pitchFamily="34" charset="0"/>
                <a:ea typeface="Arial" pitchFamily="34" charset="-122"/>
                <a:cs typeface="Arial" pitchFamily="34" charset="-120"/>
              </a:rPr>
              <a:t>Începe mâine, cu prima clientă care îți spune „Wow!”.</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PREZENTARE</dc:title>
  <dc:subject>PptxGenJS Presentation</dc:subject>
  <dc:creator>PptxGenJS</dc:creator>
  <cp:lastModifiedBy>PptxGenJS</cp:lastModifiedBy>
  <cp:revision>1</cp:revision>
  <dcterms:created xsi:type="dcterms:W3CDTF">2026-11-01T11:03:57Z</dcterms:created>
  <dcterms:modified xsi:type="dcterms:W3CDTF">2026-11-01T11:03:57Z</dcterms:modified>
</cp:coreProperties>
</file>