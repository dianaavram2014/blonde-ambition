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Art of Placement" id="{ff9fcbd5-84ea-e59c-18b4-76da3c387664}">
          <p14:sldIdLst/>
        </p14:section>
        <p14:section name="Default-1" id="{825629e6-99ba-498b-03ac-1e7bae533a6c}">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1A18"/>
                </a:solidFill>
                <a:latin typeface="Arial"/>
              </a:defRPr>
            </a:pPr>
            <a:r>
              <a:rPr sz="1200" b="0" i="0" u="none" strike="noStrike">
                <a:solidFill>
                  <a:srgbClr val="1E1A18"/>
                </a:solidFill>
                <a:latin typeface="Arial"/>
              </a:rPr>
              <a:t>% din suprafață blondă, pe zone</a:t>
            </a:r>
          </a:p>
        </c:rich>
      </c:tx>
      <c:layout/>
      <c:overlay val="0"/>
    </c:title>
    <c:autoTitleDeleted val="0"/>
    <c:plotArea>
      <c:layout/>
      <c:barChart>
        <c:barDir val="bar"/>
        <c:grouping val="clustered"/>
        <c:varyColors val="0"/>
        <c:ser>
          <c:idx val="0"/>
          <c:order val="0"/>
          <c:tx>
            <c:strRef>
              <c:f>Sheet1!$B$1</c:f>
              <c:strCache>
                <c:ptCount val="1"/>
                <c:pt idx="0">
                  <c:v>Șuvițare dimensională</c:v>
                </c:pt>
              </c:strCache>
            </c:strRef>
          </c:tx>
          <c:spPr>
            <a:solidFill>
              <a:srgbClr val="7A5A42"/>
            </a:solidFill>
            <a:effectLst/>
          </c:spPr>
          <c:invertIfNegative val="0"/>
          <c:dLbls>
            <c:numFmt formatCode="0&quot;%&quot;" sourceLinked="0"/>
            <c:txPr>
              <a:bodyPr/>
              <a:lstStyle/>
              <a:p>
                <a:pPr>
                  <a:defRPr b="0" i="0" strike="noStrike" sz="1100" u="none">
                    <a:solidFill>
                      <a:srgbClr val="1E1A18"/>
                    </a:solidFill>
                    <a:latin typeface="Arial"/>
                  </a:defRPr>
                </a:pPr>
              </a:p>
            </c:txPr>
            <c:showLegendKey val="0"/>
            <c:showVal val="1"/>
            <c:showCatName val="0"/>
            <c:showSerName val="0"/>
            <c:showPercent val="0"/>
            <c:showBubbleSize val="0"/>
            <c:showLeaderLines val="0"/>
          </c:dLbls>
          <c:cat>
            <c:multiLvlStrRef>
              <c:f>Sheet1!$A$2:$A$4</c:f>
              <c:multiLvlStrCache>
                <c:ptCount val="3"/>
                <c:lvl>
                  <c:pt idx="0">
                    <c:v>Rădăcină</c:v>
                  </c:pt>
                  <c:pt idx="1">
                    <c:v>Mijloc</c:v>
                  </c:pt>
                  <c:pt idx="2">
                    <c:v>Vârfuri</c:v>
                  </c:pt>
                </c:lvl>
              </c:multiLvlStrCache>
            </c:multiLvlStrRef>
          </c:cat>
          <c:val>
            <c:numRef>
              <c:f>Sheet1!$B$2:$B$4</c:f>
              <c:numCache>
                <c:formatCode>General</c:formatCode>
                <c:ptCount val="3"/>
                <c:pt idx="0">
                  <c:v>21</c:v>
                </c:pt>
                <c:pt idx="1">
                  <c:v>27</c:v>
                </c:pt>
                <c:pt idx="2">
                  <c:v>27</c:v>
                </c:pt>
              </c:numCache>
            </c:numRef>
          </c:val>
        </c:ser>
        <c:ser>
          <c:idx val="1"/>
          <c:order val="1"/>
          <c:tx>
            <c:strRef>
              <c:f>Sheet1!$C$1</c:f>
              <c:strCache>
                <c:ptCount val="1"/>
                <c:pt idx="0">
                  <c:v>AirTouch + slice</c:v>
                </c:pt>
              </c:strCache>
            </c:strRef>
          </c:tx>
          <c:spPr>
            <a:solidFill>
              <a:srgbClr val="D9B77E"/>
            </a:solidFill>
            <a:effectLst/>
          </c:spPr>
          <c:invertIfNegative val="0"/>
          <c:dLbls>
            <c:numFmt formatCode="0&quot;%&quot;" sourceLinked="0"/>
            <c:txPr>
              <a:bodyPr/>
              <a:lstStyle/>
              <a:p>
                <a:pPr>
                  <a:defRPr b="0" i="0" strike="noStrike" sz="1100" u="none">
                    <a:solidFill>
                      <a:srgbClr val="1E1A18"/>
                    </a:solidFill>
                    <a:latin typeface="Arial"/>
                  </a:defRPr>
                </a:pPr>
              </a:p>
            </c:txPr>
            <c:showLegendKey val="0"/>
            <c:showVal val="1"/>
            <c:showCatName val="0"/>
            <c:showSerName val="0"/>
            <c:showPercent val="0"/>
            <c:showBubbleSize val="0"/>
            <c:showLeaderLines val="0"/>
          </c:dLbls>
          <c:cat>
            <c:multiLvlStrRef>
              <c:f>Sheet1!$A$2:$A$4</c:f>
              <c:multiLvlStrCache>
                <c:ptCount val="3"/>
                <c:lvl>
                  <c:pt idx="0">
                    <c:v>Rădăcină</c:v>
                  </c:pt>
                  <c:pt idx="1">
                    <c:v>Mijloc</c:v>
                  </c:pt>
                  <c:pt idx="2">
                    <c:v>Vârfuri</c:v>
                  </c:pt>
                </c:lvl>
              </c:multiLvlStrCache>
            </c:multiLvlStrRef>
          </c:cat>
          <c:val>
            <c:numRef>
              <c:f>Sheet1!$C$2:$C$4</c:f>
              <c:numCache>
                <c:formatCode>General</c:formatCode>
                <c:ptCount val="3"/>
                <c:pt idx="0">
                  <c:v>1</c:v>
                </c:pt>
                <c:pt idx="1">
                  <c:v>63</c:v>
                </c:pt>
                <c:pt idx="2">
                  <c:v>93</c:v>
                </c:pt>
              </c:numCache>
            </c:numRef>
          </c:val>
        </c:ser>
        <c:dLbls>
          <c:numFmt formatCode="0&quot;%&quot;" sourceLinked="0"/>
          <c:txPr>
            <a:bodyPr/>
            <a:lstStyle/>
            <a:p>
              <a:pPr>
                <a:defRPr b="0" i="0" strike="noStrike" sz="1100" u="none">
                  <a:solidFill>
                    <a:srgbClr val="1E1A1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1A18"/>
                </a:solidFill>
                <a:latin typeface="Arial"/>
              </a:defRPr>
            </a:pPr>
            <a:endParaRPr lang="en-US"/>
          </a:p>
        </c:txPr>
        <c:crossAx val="2094734552"/>
        <c:crosses val="autoZero"/>
        <c:auto val="1"/>
        <c:lblAlgn val="ctr"/>
        <c:noMultiLvlLbl val="1"/>
      </c:catAx>
      <c:valAx>
        <c:axId val="2094734552"/>
        <c:scaling>
          <c:orientation val="minMax"/>
          <c:max val="1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E1A18"/>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IDEEA CENTRALĂ: nu alegem tehnica pentru că este la modă. O alegem pentru rezultatul vizual pe care vrem să îl construim.
Cele trei capete au ACEEAȘI bază naturală (nivel ~5), ACEEAȘI lungime și ACELAȘI blond final (nivel 9–10 bej). Singura diferență este modul în care am distribuit blondul:
1. Dimensional – șuvițe clasice croșetate, cu păr natural între folii: lumină și umbră alternează.
2. Contrastant – secțiuni late (chunky), cu spații mari: separare puternică, efect statement.
3. Blond foarte dens – microbabylights așezate back-to-back: aproape nu mai rămâne păr natural între ele, iar ochiul vede un blond aproape uniform.
CINCI NOȚIUNI PE CARE LE FOLOSIM TOT CURSUL
• Luminozitate – cât de deschis pare părul în ansamblu.
• Dimensiune – relieful creat de alternanța lumină–umbră.
• Contrast – diferența de nivel dintre zonele deschise și cele închise.
• Densitate vizuală a blondului – ce proporție din suprafață pare blondă.
• Tranziția rădăcină–lungimi – cât de brusc sau de difuz trece baza naturală în blond.
Întrebare pentru cursanți: „Care dintre cele trei capete are cel mai mult blond? Care pare cel mai luminos? Care are cea mai multă dimensiune?" – răspunsurile nu coincid întotdeauna.
Notă: imaginile sunt simulări digitale realizate fir cu fir, pentru ca diferențele să vină strict din tehnică. În salon, rezultatul depinde și de grosimea secțiunilor, de nivelul de deschidere, de toner și de execuție.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ȘUVIȚE CLASICE (classic highlights, de regulă croșetate – weave)
• Ce creează: un rezultat echilibrat, luminos și dimensional; păr decolorat alternează cu păr natural.
• Când: când clienta vrea luminozitate distribuită și contrast controlat.
• Impact: dimensiune vizibilă, fără separare agresivă.
• La creștere: linia de creștere există, dar este „fragmentată" de părul natural rămas între șuvițe, deci se vede mai puțin decât la un blond compact. Cu cât șuvițele sunt mai dese și mai aproape de scalp, cu atât linia devine mai evidentă.
CHUNKY HIGHLIGHTS (secțiuni late, adesea slice-uri groase)
• Ce creează: panouri late de blond, contrast pronunțat, separare vizibilă.
• Când: look-uri îndrăznețe, accente statement, clientele care vor ca blondul să se vadă ca element de stil.
• Impact: puternic, grafic.
• La creștere: fiecare panou lat lasă o demarcație clară la rădăcină, deci creșterea se vede mai repede.
DIAGRAMA DE SUB CAPETE: arată o porțiune de păr pieptănată plat – la clasic, fire decolorate amestecate cu fire naturale; la chunky, blocuri compacte de blond și blocuri compacte de natural.
Nu există o grosime „corectă": grosimea secțiunii și spațiul dintre ele se aleg după rezultatul dorit.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BABYLIGHTS
• Șuvițe foarte fine, croșetate sau tăiate subțire, de obicei aproape de rădăcină.
• Creează: un rezultat delicat, luminos, bine integrat; tranziții subtile, dimensiune fină.
• Când: blond natural, „sun-kissed", pentru clientele care nu vor dungi vizibile.
MICROBABYLIGHTS
• Selecții extrem de fine – doar câteva fire în fiecare șuviță.
• Creează: o distribuție foarte delicată a luminii.
• Când sunt executate în număr mare și foarte apropiate, pot crea un blond aproape uniform și dens vizual, fără dungi.
• Necesită timp mult de execuție și, la retuș, aceeași minuțiozitate.
FINEȚEA ≠ DENSITATEA
• Finețea = cât de puține fire iei într-o șuviță.
• Densitatea totală = câte folii pui și cât de aproape sunt una de alta.
• Aceleași microbabylights dau un efect discret dacă sunt rare și un blond foarte dens dacă sunt multe și back-to-back.
DETALIUL MĂRIT: arată aceeași zonă din cap, mărită de 2,6 ori – se vede cât de fin este selectat părul în fiecare tehnică.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SLICE
• O secțiune continuă, subțire, de păr, luată în întregime (fără croșetare) și pusă în folie.
• Creează un panou de lumină mai compact decât o șuviță croșetată de grosime comparabilă, pentru că nu rămân fire naturale în interiorul secțiunii.
• Impactul depinde de grosimea slice-ului, de poziționare și de orientare (orizontal, diagonal).
BACK-TO-BACK
• Nu este o metodă de selecție, ci un mod de AMPLASARE a foliilor: foliile se pun una după alta, fără secțiuni de păr natural lăsate între ele.
• Se poate folosi cu slice-uri sau cu șuvițe croșetate.
• Reduce spațiile naturale și crește densitatea vizuală a blondului.
DE CE NU SUNT PERFECT COMPARABILE
• Slice răspunde la întrebarea „CUM selectez părul?".
• Back-to-back răspunde la întrebarea „CUM așez foliile una față de alta?".
• Le putem combina: slice-uri back-to-back = blond foarte dens; slice-uri cu spații = panouri de lumină cu profunzime între ele; croșetat back-to-back = blond dens, dar mai fin și mai difuz.
DIAGRAMELE: stânga – folii cu secțiuni naturale lăsate între ele; dreapta – folii consecutive. Imaginile de lângă arată rezultatul aceleiași selecții (slice subțire) în cele două amplasări.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TEASING / TAPARE LA RĂDĂCINĂ
• Părul din secțiune se tapează spre rădăcină; firele tapate formează o „pernă" care rămâne nedecolorată, iar decolorantul se aplică pe părul rămas.
• Creează o tranziție difuză la rădăcină.
• Rezultatul depinde de cât păr tapezi, de poziția aplicării și de selecție (slice sau croșetat).
• Atenție: descurcarea după procesare și reaplicările ulterioare cer grijă, ca să nu rupi firul.
AIRTOUCH
• Secțiunea este ținută întinsă, iar fluxul de aer al foehnului suflă afară firele mai scurte (care nu ajung la lungimea secțiunii).
• Firele suflate rămân naturale; se decolorează părul rămas, de obicei în slice-uri.
• Creează o tranziție foarte difuză și permite controlul densității blondului: cu cât rămân mai multe fire în secțiune, cu atât blondul este mai dens.
• Rezultatul depinde de grosimea secțiunii, de procentul de păr suflat, de poziționare și de selecția inițială.
COMPARAȚIA TRANZIȚIEI
• Rădăcină: ambele metode creează o trecere difuză, fără linie.
• Lungimi: la tapare, secțiunile rămân mai ușor de distins; la AirTouch, densitatea blondului crește progresiv spre vârfuri, unde blondul poate deveni aproape total.
DIAGRAMELE: o secțiune de păr ținută de la scalp (sus). Stânga – perna de păr tapat la rădăcină. Dreapta – săgețile arată fluxul de aer care suflă firele scurte în afara secțiunii.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ȘUVIȚARE CLASICĂ DIMENSIONALĂ
• Alternanță de lumină și umbră de la rădăcină până la vârfuri.
• Contrast și profunzime pe lungimi; separare vizibilă între șuvițe – rezultat dinamic.
• Proporția de blond rămâne relativ constantă pe toată lungimea (în simularea noastră, aproximativ un sfert din suprafață în fiecare zonă).
AIRTOUCH REALIZAT PRIN SLICE-URI
• Păstrează mai multă profunzime la rădăcină, pentru că firele scurte suflate rămân naturale.
• Creează o tranziție difuză.
• Cu suficiente secțiuni și o aplicare corespunzătoare, poate produce o luminozitate foarte densă spre vârfuri (în simulare: aproape tot părul e blond la vârfuri).
• Poate reduce semnificativ contrastul dintre șuvițe pe lungimi – blondul de la vârfuri pare aproape continuu.
GRAFICUL: procentul de suprafață blondă în trei zone (rădăcină, mijloc, vârfuri), măsurat pe cele două simulări. Valorile ilustrează configurațiile prezentate; în salon, procentele depind de grosimea secțiunilor, de câte fire sunt suflate și de execuție.
IMPORTANT: acestea sunt rezultate POSIBILE ale configurațiilor prezentate, nu efecte garantate ale oricărei execuții.
Întrebare pentru cursanți: „Clienta spune «vreau blond, dar nu vreau să se vadă rădăcina». Care dintre cele două configurații o servește mai bine? Dar dacă spune «vreau să se vadă dimensiunea»?"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CE ANTICIPĂM MENTENANȚA DE LA PRIMA VIZITĂ
• Tehnica aleasă azi decide cât de ușor identificăm, la următoarea vizită, părul deja decolorat și părul natural crescut.
PUNCTE PRINCIPALE
• AirTouch poate oferi un avantaj practic la ridicarea balayage-ului când păstrăm o schemă coerentă de secționare și selecție de la o vizită la alta.
• Suflarea firelor mai scurte poate facilita separarea unei părți din părul deja lucrat de părul care urmează să fie deschis.
• Combinarea multor tehnici diferite în același cap poate îngreuna identificarea zonelor decolorate anterior.
• Obiectivul: reducem suprapunerea decolorantului pe părul deja sensibilizat și păstrăm integritatea fibrei.
LIMITE
• AirTouch NU elimină automat riscul de suprapunere.
• Firele suflate nu sunt neapărat toate decolorate anterior – printre ele pot fi și fire naturale scurte sau fire crescute.
• Verifică întotdeauna vizual și la atingere, pe fiecare secțiune; folosește produse de protecție a legăturilor (de exemplu Bond Rebuilder) și ajustează volumul oxidantului pe zone.
DIAGRAMA: aceeași clientă, la prima vizită și după câteva luni. Sus – creșterea naturală; la mijloc – zona în care lucrăm la ridicare; jos – părul deja decolorat, pe care evităm să suprapunem decolorantul.
Nu indicăm un număr fix de luni: ritmul depinde de creșterea părului, de contrastul cu baza și de dorința clientei.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 CITIM TABELUL
Coloana „Tip" este cheia: nu toate denumirile sunt tehnici de același fel.
• SELECȚIE – cum iei părul în folie: highlights clasice (croșetat), chunky, babylights, microbabylights, slice.
• AMPLASARE – cum așezi foliile una față de alta: back-to-back.
• SEPARARE – cum scoți o parte din fire din secțiune înainte de decolorare: teasing, AirTouch.
De aceea se pot combina: de exemplu slice + back-to-back, sau AirTouch realizat prin slice-uri, sau babylights croșetate back-to-back.
Valorile din tabel sunt tendințe generale pentru execuții tipice, nu reguli universale: grosimea secțiunilor, distanța dintre ele, nivelul de deschidere și tonerul schimbă rezultatul.
MESAJ FINAL: „Un colorist bun cunoaște tehnicile. Un colorist smart știe ce rezultat creează fiecare."
Exercițiu de final: dați cursanților trei fotografii-obiectiv de la cliente și cereți-le să aleagă combinația minimă de tehnici care construiește fiecare rezultat.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6-1.jpg"/><Relationship Id="rId2" Type="http://schemas.openxmlformats.org/officeDocument/2006/relationships/image" Target="../media/image-6-2.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1"/>
          <p:cNvSpPr txBox="1"/>
          <p:nvPr/>
        </p:nvSpPr>
        <p:spPr>
          <a:xfrm>
            <a:off x="457200" y="201168"/>
            <a:ext cx="8229600" cy="256032"/>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THE ART OF PLACEMENT</a:t>
            </a:r>
            <a:endParaRPr lang="en-US" sz="1200" dirty="0"/>
          </a:p>
        </p:txBody>
      </p:sp>
      <p:sp>
        <p:nvSpPr>
          <p:cNvPr id="3" name="text-2"/>
          <p:cNvSpPr txBox="1"/>
          <p:nvPr/>
        </p:nvSpPr>
        <p:spPr>
          <a:xfrm>
            <a:off x="457200" y="457200"/>
            <a:ext cx="8229600" cy="685800"/>
          </a:xfrm>
          <a:prstGeom prst="rect">
            <a:avLst/>
          </a:prstGeom>
          <a:noFill/>
          <a:ln/>
        </p:spPr>
        <p:txBody>
          <a:bodyPr wrap="square" lIns="0" tIns="0" rIns="0" bIns="0" rtlCol="0" anchor="ctr"/>
          <a:lstStyle/>
          <a:p>
            <a:pPr indent="0" marL="0">
              <a:buNone/>
            </a:pPr>
            <a:r>
              <a:rPr lang="en-US" sz="2200" b="1" dirty="0">
                <a:solidFill>
                  <a:srgbClr val="1E1A18"/>
                </a:solidFill>
                <a:latin typeface="Arial" pitchFamily="34" charset="0"/>
                <a:ea typeface="Arial" pitchFamily="34" charset="-122"/>
                <a:cs typeface="Arial" pitchFamily="34" charset="-120"/>
              </a:rPr>
              <a:t>Aceeași culoare. Tehnici diferite. Rezultate complet diferite.</a:t>
            </a:r>
            <a:endParaRPr lang="en-US" sz="2200" dirty="0"/>
          </a:p>
        </p:txBody>
      </p:sp>
      <p:sp>
        <p:nvSpPr>
          <p:cNvPr id="4" name="text-3"/>
          <p:cNvSpPr txBox="1"/>
          <p:nvPr/>
        </p:nvSpPr>
        <p:spPr>
          <a:xfrm>
            <a:off x="457200" y="4846320"/>
            <a:ext cx="6400800" cy="201168"/>
          </a:xfrm>
          <a:prstGeom prst="rect">
            <a:avLst/>
          </a:prstGeom>
          <a:noFill/>
          <a:ln/>
        </p:spPr>
        <p:txBody>
          <a:bodyPr wrap="square" lIns="0" tIns="0" rIns="0" bIns="0" rtlCol="0" anchor="t"/>
          <a:lstStyle/>
          <a:p>
            <a:pPr indent="0" marL="0">
              <a:buNone/>
            </a:pPr>
            <a:r>
              <a:rPr lang="en-US" sz="900" dirty="0">
                <a:solidFill>
                  <a:srgbClr val="4A3F3A"/>
                </a:solidFill>
                <a:latin typeface="Arial" pitchFamily="34" charset="0"/>
                <a:ea typeface="Arial" pitchFamily="34" charset="-122"/>
                <a:cs typeface="Arial" pitchFamily="34" charset="-120"/>
              </a:rPr>
              <a:t>BLONDE AMBITION by Diana Avram · Alfaparf Milano Professional</a:t>
            </a:r>
            <a:endParaRPr lang="en-US" sz="900" dirty="0"/>
          </a:p>
        </p:txBody>
      </p:sp>
      <p:pic>
        <p:nvPicPr>
          <p:cNvPr id="6" name="image-4" descr="Dimensional">    </p:cNvPr>
          <p:cNvPicPr>
            <a:picLocks noChangeAspect="1"/>
          </p:cNvPicPr>
          <p:nvPr/>
        </p:nvPicPr>
        <p:blipFill>
          <a:blip r:embed="rId1"/>
          <a:stretch>
            <a:fillRect/>
          </a:stretch>
        </p:blipFill>
        <p:spPr>
          <a:xfrm>
            <a:off x="457200" y="1234440"/>
            <a:ext cx="1664208" cy="2377440"/>
          </a:xfrm>
          <a:prstGeom prst="rect">
            <a:avLst/>
          </a:prstGeom>
        </p:spPr>
      </p:pic>
      <p:sp>
        <p:nvSpPr>
          <p:cNvPr id="7" name="text-5"/>
          <p:cNvSpPr txBox="1"/>
          <p:nvPr/>
        </p:nvSpPr>
        <p:spPr>
          <a:xfrm>
            <a:off x="365760" y="3657600"/>
            <a:ext cx="1847088" cy="502920"/>
          </a:xfrm>
          <a:prstGeom prst="rect">
            <a:avLst/>
          </a:prstGeom>
          <a:noFill/>
          <a:ln/>
        </p:spPr>
        <p:txBody>
          <a:bodyPr wrap="square" lIns="0" tIns="0" rIns="0" bIns="0" rtlCol="0" anchor="t"/>
          <a:lstStyle/>
          <a:p>
            <a:pPr algn="ctr" indent="0" marL="0">
              <a:buNone/>
            </a:pPr>
            <a:r>
              <a:rPr lang="en-US" sz="1300" b="1" dirty="0">
                <a:solidFill>
                  <a:srgbClr val="1E1A18"/>
                </a:solidFill>
                <a:latin typeface="Arial" pitchFamily="34" charset="0"/>
                <a:ea typeface="Arial" pitchFamily="34" charset="-122"/>
                <a:cs typeface="Arial" pitchFamily="34" charset="-120"/>
              </a:rPr>
              <a:t>Dimensional</a:t>
            </a:r>
            <a:endParaRPr lang="en-US" sz="1300" dirty="0"/>
          </a:p>
          <a:p>
            <a:pPr algn="ctr" indent="0" marL="0">
              <a:buNone/>
            </a:pPr>
            <a:r>
              <a:rPr lang="en-US" sz="1100" dirty="0">
                <a:solidFill>
                  <a:srgbClr val="4A3F3A"/>
                </a:solidFill>
                <a:latin typeface="Arial" pitchFamily="34" charset="0"/>
                <a:ea typeface="Arial" pitchFamily="34" charset="-122"/>
                <a:cs typeface="Arial" pitchFamily="34" charset="-120"/>
              </a:rPr>
              <a:t>șuvițe clasice</a:t>
            </a:r>
            <a:endParaRPr lang="en-US" sz="1300" dirty="0"/>
          </a:p>
        </p:txBody>
      </p:sp>
      <p:pic>
        <p:nvPicPr>
          <p:cNvPr id="8" name="image-6" descr="Contrastant">    </p:cNvPr>
          <p:cNvPicPr>
            <a:picLocks noChangeAspect="1"/>
          </p:cNvPicPr>
          <p:nvPr/>
        </p:nvPicPr>
        <p:blipFill>
          <a:blip r:embed="rId2"/>
          <a:stretch>
            <a:fillRect/>
          </a:stretch>
        </p:blipFill>
        <p:spPr>
          <a:xfrm>
            <a:off x="2267712" y="1234440"/>
            <a:ext cx="1664208" cy="2377440"/>
          </a:xfrm>
          <a:prstGeom prst="rect">
            <a:avLst/>
          </a:prstGeom>
        </p:spPr>
      </p:pic>
      <p:sp>
        <p:nvSpPr>
          <p:cNvPr id="9" name="text-7"/>
          <p:cNvSpPr txBox="1"/>
          <p:nvPr/>
        </p:nvSpPr>
        <p:spPr>
          <a:xfrm>
            <a:off x="2176272" y="3657600"/>
            <a:ext cx="1847088" cy="502920"/>
          </a:xfrm>
          <a:prstGeom prst="rect">
            <a:avLst/>
          </a:prstGeom>
          <a:noFill/>
          <a:ln/>
        </p:spPr>
        <p:txBody>
          <a:bodyPr wrap="square" lIns="0" tIns="0" rIns="0" bIns="0" rtlCol="0" anchor="t"/>
          <a:lstStyle/>
          <a:p>
            <a:pPr algn="ctr" indent="0" marL="0">
              <a:buNone/>
            </a:pPr>
            <a:r>
              <a:rPr lang="en-US" sz="1300" b="1" dirty="0">
                <a:solidFill>
                  <a:srgbClr val="1E1A18"/>
                </a:solidFill>
                <a:latin typeface="Arial" pitchFamily="34" charset="0"/>
                <a:ea typeface="Arial" pitchFamily="34" charset="-122"/>
                <a:cs typeface="Arial" pitchFamily="34" charset="-120"/>
              </a:rPr>
              <a:t>Contrastant</a:t>
            </a:r>
            <a:endParaRPr lang="en-US" sz="1300" dirty="0"/>
          </a:p>
          <a:p>
            <a:pPr algn="ctr" indent="0" marL="0">
              <a:buNone/>
            </a:pPr>
            <a:r>
              <a:rPr lang="en-US" sz="1100" dirty="0">
                <a:solidFill>
                  <a:srgbClr val="4A3F3A"/>
                </a:solidFill>
                <a:latin typeface="Arial" pitchFamily="34" charset="0"/>
                <a:ea typeface="Arial" pitchFamily="34" charset="-122"/>
                <a:cs typeface="Arial" pitchFamily="34" charset="-120"/>
              </a:rPr>
              <a:t>chunky highlights</a:t>
            </a:r>
            <a:endParaRPr lang="en-US" sz="1300" dirty="0"/>
          </a:p>
        </p:txBody>
      </p:sp>
      <p:pic>
        <p:nvPicPr>
          <p:cNvPr id="10" name="image-8" descr="Blond foarte dens">    </p:cNvPr>
          <p:cNvPicPr>
            <a:picLocks noChangeAspect="1"/>
          </p:cNvPicPr>
          <p:nvPr/>
        </p:nvPicPr>
        <p:blipFill>
          <a:blip r:embed="rId3"/>
          <a:stretch>
            <a:fillRect/>
          </a:stretch>
        </p:blipFill>
        <p:spPr>
          <a:xfrm>
            <a:off x="4078224" y="1234440"/>
            <a:ext cx="1664208" cy="2377440"/>
          </a:xfrm>
          <a:prstGeom prst="rect">
            <a:avLst/>
          </a:prstGeom>
        </p:spPr>
      </p:pic>
      <p:sp>
        <p:nvSpPr>
          <p:cNvPr id="11" name="text-9"/>
          <p:cNvSpPr txBox="1"/>
          <p:nvPr/>
        </p:nvSpPr>
        <p:spPr>
          <a:xfrm>
            <a:off x="3986784" y="3657600"/>
            <a:ext cx="1847088" cy="502920"/>
          </a:xfrm>
          <a:prstGeom prst="rect">
            <a:avLst/>
          </a:prstGeom>
          <a:noFill/>
          <a:ln/>
        </p:spPr>
        <p:txBody>
          <a:bodyPr wrap="square" lIns="0" tIns="0" rIns="0" bIns="0" rtlCol="0" anchor="t"/>
          <a:lstStyle/>
          <a:p>
            <a:pPr algn="ctr" indent="0" marL="0">
              <a:buNone/>
            </a:pPr>
            <a:r>
              <a:rPr lang="en-US" sz="1300" b="1" dirty="0">
                <a:solidFill>
                  <a:srgbClr val="1E1A18"/>
                </a:solidFill>
                <a:latin typeface="Arial" pitchFamily="34" charset="0"/>
                <a:ea typeface="Arial" pitchFamily="34" charset="-122"/>
                <a:cs typeface="Arial" pitchFamily="34" charset="-120"/>
              </a:rPr>
              <a:t>Blond foarte dens</a:t>
            </a:r>
            <a:endParaRPr lang="en-US" sz="1300" dirty="0"/>
          </a:p>
          <a:p>
            <a:pPr algn="ctr" indent="0" marL="0">
              <a:buNone/>
            </a:pPr>
            <a:r>
              <a:rPr lang="en-US" sz="1100" dirty="0">
                <a:solidFill>
                  <a:srgbClr val="4A3F3A"/>
                </a:solidFill>
                <a:latin typeface="Arial" pitchFamily="34" charset="0"/>
                <a:ea typeface="Arial" pitchFamily="34" charset="-122"/>
                <a:cs typeface="Arial" pitchFamily="34" charset="-120"/>
              </a:rPr>
              <a:t>microbabylights back-to-back</a:t>
            </a:r>
            <a:endParaRPr lang="en-US" sz="1300" dirty="0"/>
          </a:p>
        </p:txBody>
      </p:sp>
      <p:sp>
        <p:nvSpPr>
          <p:cNvPr id="12" name="card-10"/>
          <p:cNvSpPr/>
          <p:nvPr/>
        </p:nvSpPr>
        <p:spPr>
          <a:xfrm>
            <a:off x="5897880" y="1234440"/>
            <a:ext cx="2788920" cy="2926080"/>
          </a:xfrm>
          <a:prstGeom prst="roundRect">
            <a:avLst>
              <a:gd name="adj" fmla="val 2623"/>
            </a:avLst>
          </a:prstGeom>
          <a:solidFill>
            <a:srgbClr val="F6EEE9"/>
          </a:solidFill>
          <a:ln w="12700">
            <a:solidFill>
              <a:srgbClr val="F6EEE9"/>
            </a:solidFill>
            <a:prstDash val="solid"/>
          </a:ln>
        </p:spPr>
      </p:sp>
      <p:sp>
        <p:nvSpPr>
          <p:cNvPr id="13" name="text-11"/>
          <p:cNvSpPr txBox="1"/>
          <p:nvPr/>
        </p:nvSpPr>
        <p:spPr>
          <a:xfrm>
            <a:off x="6053328" y="1353312"/>
            <a:ext cx="2514600" cy="2743200"/>
          </a:xfrm>
          <a:prstGeom prst="rect">
            <a:avLst/>
          </a:prstGeom>
          <a:noFill/>
          <a:ln/>
        </p:spPr>
        <p:txBody>
          <a:bodyPr wrap="square" lIns="0" tIns="0" rIns="0" bIns="0" rtlCol="0" anchor="t"/>
          <a:lstStyle/>
          <a:p>
            <a:pPr indent="0" marL="0">
              <a:spcAft>
                <a:spcPts val="800"/>
              </a:spcAft>
              <a:buNone/>
            </a:pPr>
            <a:r>
              <a:rPr lang="en-US" sz="1250" b="1" dirty="0">
                <a:solidFill>
                  <a:srgbClr val="1E1A18"/>
                </a:solidFill>
                <a:latin typeface="Arial" pitchFamily="34" charset="0"/>
                <a:ea typeface="Arial" pitchFamily="34" charset="-122"/>
                <a:cs typeface="Arial" pitchFamily="34" charset="-120"/>
              </a:rPr>
              <a:t>Luminozitate:</a:t>
            </a:r>
            <a:r>
              <a:rPr lang="en-US" sz="1250" dirty="0">
                <a:solidFill>
                  <a:srgbClr val="1E1A18"/>
                </a:solidFill>
                <a:latin typeface="Arial" pitchFamily="34" charset="0"/>
                <a:ea typeface="Arial" pitchFamily="34" charset="-122"/>
                <a:cs typeface="Arial" pitchFamily="34" charset="-120"/>
              </a:rPr>
              <a:t> cât de deschis pare părul</a:t>
            </a:r>
            <a:endParaRPr lang="en-US" sz="1400" dirty="0"/>
          </a:p>
          <a:p>
            <a:pPr indent="0" marL="0">
              <a:spcAft>
                <a:spcPts val="800"/>
              </a:spcAft>
              <a:buNone/>
            </a:pPr>
            <a:r>
              <a:rPr lang="en-US" sz="1250" b="1" dirty="0">
                <a:solidFill>
                  <a:srgbClr val="1E1A18"/>
                </a:solidFill>
                <a:latin typeface="Arial" pitchFamily="34" charset="0"/>
                <a:ea typeface="Arial" pitchFamily="34" charset="-122"/>
                <a:cs typeface="Arial" pitchFamily="34" charset="-120"/>
              </a:rPr>
              <a:t>Dimensiune:</a:t>
            </a:r>
            <a:r>
              <a:rPr lang="en-US" sz="1250" dirty="0">
                <a:solidFill>
                  <a:srgbClr val="1E1A18"/>
                </a:solidFill>
                <a:latin typeface="Arial" pitchFamily="34" charset="0"/>
                <a:ea typeface="Arial" pitchFamily="34" charset="-122"/>
                <a:cs typeface="Arial" pitchFamily="34" charset="-120"/>
              </a:rPr>
              <a:t> relief prin lumină–umbră</a:t>
            </a:r>
            <a:endParaRPr lang="en-US" sz="1400" dirty="0"/>
          </a:p>
          <a:p>
            <a:pPr indent="0" marL="0">
              <a:spcAft>
                <a:spcPts val="800"/>
              </a:spcAft>
              <a:buNone/>
            </a:pPr>
            <a:r>
              <a:rPr lang="en-US" sz="1250" b="1" dirty="0">
                <a:solidFill>
                  <a:srgbClr val="1E1A18"/>
                </a:solidFill>
                <a:latin typeface="Arial" pitchFamily="34" charset="0"/>
                <a:ea typeface="Arial" pitchFamily="34" charset="-122"/>
                <a:cs typeface="Arial" pitchFamily="34" charset="-120"/>
              </a:rPr>
              <a:t>Contrast:</a:t>
            </a:r>
            <a:r>
              <a:rPr lang="en-US" sz="1250" dirty="0">
                <a:solidFill>
                  <a:srgbClr val="1E1A18"/>
                </a:solidFill>
                <a:latin typeface="Arial" pitchFamily="34" charset="0"/>
                <a:ea typeface="Arial" pitchFamily="34" charset="-122"/>
                <a:cs typeface="Arial" pitchFamily="34" charset="-120"/>
              </a:rPr>
              <a:t> diferența deschis–închis</a:t>
            </a:r>
            <a:endParaRPr lang="en-US" sz="1400" dirty="0"/>
          </a:p>
          <a:p>
            <a:pPr indent="0" marL="0">
              <a:spcAft>
                <a:spcPts val="800"/>
              </a:spcAft>
              <a:buNone/>
            </a:pPr>
            <a:r>
              <a:rPr lang="en-US" sz="1250" b="1" dirty="0">
                <a:solidFill>
                  <a:srgbClr val="1E1A18"/>
                </a:solidFill>
                <a:latin typeface="Arial" pitchFamily="34" charset="0"/>
                <a:ea typeface="Arial" pitchFamily="34" charset="-122"/>
                <a:cs typeface="Arial" pitchFamily="34" charset="-120"/>
              </a:rPr>
              <a:t>Densitate vizuală:</a:t>
            </a:r>
            <a:r>
              <a:rPr lang="en-US" sz="1250" dirty="0">
                <a:solidFill>
                  <a:srgbClr val="1E1A18"/>
                </a:solidFill>
                <a:latin typeface="Arial" pitchFamily="34" charset="0"/>
                <a:ea typeface="Arial" pitchFamily="34" charset="-122"/>
                <a:cs typeface="Arial" pitchFamily="34" charset="-120"/>
              </a:rPr>
              <a:t> cât din suprafață e blond</a:t>
            </a:r>
            <a:endParaRPr lang="en-US" sz="1400" dirty="0"/>
          </a:p>
          <a:p>
            <a:pPr indent="0" marL="0">
              <a:spcAft>
                <a:spcPts val="800"/>
              </a:spcAft>
              <a:buNone/>
            </a:pPr>
            <a:r>
              <a:rPr lang="en-US" sz="1250" b="1" dirty="0">
                <a:solidFill>
                  <a:srgbClr val="1E1A18"/>
                </a:solidFill>
                <a:latin typeface="Arial" pitchFamily="34" charset="0"/>
                <a:ea typeface="Arial" pitchFamily="34" charset="-122"/>
                <a:cs typeface="Arial" pitchFamily="34" charset="-120"/>
              </a:rPr>
              <a:t>Tranziție:</a:t>
            </a:r>
            <a:r>
              <a:rPr lang="en-US" sz="1250" dirty="0">
                <a:solidFill>
                  <a:srgbClr val="1E1A18"/>
                </a:solidFill>
                <a:latin typeface="Arial" pitchFamily="34" charset="0"/>
                <a:ea typeface="Arial" pitchFamily="34" charset="-122"/>
                <a:cs typeface="Arial" pitchFamily="34" charset="-120"/>
              </a:rPr>
              <a:t> cum trece rădăcina în lungimi</a:t>
            </a:r>
            <a:endParaRPr lang="en-US" sz="1400" dirty="0"/>
          </a:p>
        </p:txBody>
      </p:sp>
      <p:sp>
        <p:nvSpPr>
          <p:cNvPr id="14" name="text-12"/>
          <p:cNvSpPr txBox="1"/>
          <p:nvPr/>
        </p:nvSpPr>
        <p:spPr>
          <a:xfrm>
            <a:off x="457200" y="4343400"/>
            <a:ext cx="8229600" cy="320040"/>
          </a:xfrm>
          <a:prstGeom prst="rect">
            <a:avLst/>
          </a:prstGeom>
          <a:noFill/>
          <a:ln/>
        </p:spPr>
        <p:txBody>
          <a:bodyPr wrap="square" lIns="0" tIns="0" rIns="0" bIns="0" rtlCol="0" anchor="t"/>
          <a:lstStyle/>
          <a:p>
            <a:pPr indent="0" marL="0">
              <a:buNone/>
            </a:pPr>
            <a:r>
              <a:rPr lang="en-US" sz="1100" i="1" dirty="0">
                <a:solidFill>
                  <a:srgbClr val="4A3F3A"/>
                </a:solidFill>
                <a:latin typeface="Arial" pitchFamily="34" charset="0"/>
                <a:ea typeface="Arial" pitchFamily="34" charset="-122"/>
                <a:cs typeface="Arial" pitchFamily="34" charset="-120"/>
              </a:rPr>
              <a:t>Simulări digitale: același cap, aceeași bază naturală, aceeași lungime. Diferă doar tehnica.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13"/>
          <p:cNvSpPr txBox="1"/>
          <p:nvPr/>
        </p:nvSpPr>
        <p:spPr>
          <a:xfrm>
            <a:off x="457200" y="201168"/>
            <a:ext cx="8229600" cy="256032"/>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SELECȚIA PĂRULUI</a:t>
            </a:r>
            <a:endParaRPr lang="en-US" sz="1200" dirty="0"/>
          </a:p>
        </p:txBody>
      </p:sp>
      <p:sp>
        <p:nvSpPr>
          <p:cNvPr id="3" name="text-14"/>
          <p:cNvSpPr txBox="1"/>
          <p:nvPr/>
        </p:nvSpPr>
        <p:spPr>
          <a:xfrm>
            <a:off x="457200" y="457200"/>
            <a:ext cx="8229600" cy="685800"/>
          </a:xfrm>
          <a:prstGeom prst="rect">
            <a:avLst/>
          </a:prstGeom>
          <a:noFill/>
          <a:ln/>
        </p:spPr>
        <p:txBody>
          <a:bodyPr wrap="square" lIns="0" tIns="0" rIns="0" bIns="0" rtlCol="0" anchor="ctr"/>
          <a:lstStyle/>
          <a:p>
            <a:pPr indent="0" marL="0">
              <a:buNone/>
            </a:pPr>
            <a:r>
              <a:rPr lang="en-US" sz="2200" b="1" dirty="0">
                <a:solidFill>
                  <a:srgbClr val="1E1A18"/>
                </a:solidFill>
                <a:latin typeface="Arial" pitchFamily="34" charset="0"/>
                <a:ea typeface="Arial" pitchFamily="34" charset="-122"/>
                <a:cs typeface="Arial" pitchFamily="34" charset="-120"/>
              </a:rPr>
              <a:t>Șuvițe clasice vs. chunky highlights</a:t>
            </a:r>
            <a:endParaRPr lang="en-US" sz="2200" dirty="0"/>
          </a:p>
        </p:txBody>
      </p:sp>
      <p:sp>
        <p:nvSpPr>
          <p:cNvPr id="4" name="text-15"/>
          <p:cNvSpPr txBox="1"/>
          <p:nvPr/>
        </p:nvSpPr>
        <p:spPr>
          <a:xfrm>
            <a:off x="457200" y="4846320"/>
            <a:ext cx="6400800" cy="201168"/>
          </a:xfrm>
          <a:prstGeom prst="rect">
            <a:avLst/>
          </a:prstGeom>
          <a:noFill/>
          <a:ln/>
        </p:spPr>
        <p:txBody>
          <a:bodyPr wrap="square" lIns="0" tIns="0" rIns="0" bIns="0" rtlCol="0" anchor="t"/>
          <a:lstStyle/>
          <a:p>
            <a:pPr indent="0" marL="0">
              <a:buNone/>
            </a:pPr>
            <a:r>
              <a:rPr lang="en-US" sz="900" dirty="0">
                <a:solidFill>
                  <a:srgbClr val="4A3F3A"/>
                </a:solidFill>
                <a:latin typeface="Arial" pitchFamily="34" charset="0"/>
                <a:ea typeface="Arial" pitchFamily="34" charset="-122"/>
                <a:cs typeface="Arial" pitchFamily="34" charset="-120"/>
              </a:rPr>
              <a:t>BLONDE AMBITION by Diana Avram · Alfaparf Milano Professional</a:t>
            </a:r>
            <a:endParaRPr lang="en-US" sz="900" dirty="0"/>
          </a:p>
        </p:txBody>
      </p:sp>
      <p:pic>
        <p:nvPicPr>
          <p:cNvPr id="6" name="image-16" descr="Șuvițe clasice">    </p:cNvPr>
          <p:cNvPicPr>
            <a:picLocks noChangeAspect="1"/>
          </p:cNvPicPr>
          <p:nvPr/>
        </p:nvPicPr>
        <p:blipFill>
          <a:blip r:embed="rId1"/>
          <a:stretch>
            <a:fillRect/>
          </a:stretch>
        </p:blipFill>
        <p:spPr>
          <a:xfrm>
            <a:off x="457200" y="1234440"/>
            <a:ext cx="1504188" cy="2148840"/>
          </a:xfrm>
          <a:prstGeom prst="rect">
            <a:avLst/>
          </a:prstGeom>
        </p:spPr>
      </p:pic>
      <p:sp>
        <p:nvSpPr>
          <p:cNvPr id="7" name="text-17"/>
          <p:cNvSpPr txBox="1"/>
          <p:nvPr/>
        </p:nvSpPr>
        <p:spPr>
          <a:xfrm>
            <a:off x="2103120" y="1234440"/>
            <a:ext cx="2423160" cy="292608"/>
          </a:xfrm>
          <a:prstGeom prst="rect">
            <a:avLst/>
          </a:prstGeom>
          <a:noFill/>
          <a:ln/>
        </p:spPr>
        <p:txBody>
          <a:bodyPr wrap="square" lIns="0" tIns="0" rIns="0" bIns="0" rtlCol="0" anchor="t"/>
          <a:lstStyle/>
          <a:p>
            <a:pPr indent="0" marL="0">
              <a:buNone/>
            </a:pPr>
            <a:r>
              <a:rPr lang="en-US" sz="1600" b="1" dirty="0">
                <a:solidFill>
                  <a:srgbClr val="9A4F5C"/>
                </a:solidFill>
                <a:latin typeface="Arial" pitchFamily="34" charset="0"/>
                <a:ea typeface="Arial" pitchFamily="34" charset="-122"/>
                <a:cs typeface="Arial" pitchFamily="34" charset="-120"/>
              </a:rPr>
              <a:t>Șuvițe clasice</a:t>
            </a:r>
            <a:endParaRPr lang="en-US" sz="1600" dirty="0"/>
          </a:p>
        </p:txBody>
      </p:sp>
      <p:sp>
        <p:nvSpPr>
          <p:cNvPr id="8" name="text-18"/>
          <p:cNvSpPr txBox="1"/>
          <p:nvPr/>
        </p:nvSpPr>
        <p:spPr>
          <a:xfrm>
            <a:off x="2103120" y="1563624"/>
            <a:ext cx="2423160" cy="1143000"/>
          </a:xfrm>
          <a:prstGeom prst="rect">
            <a:avLst/>
          </a:prstGeom>
          <a:noFill/>
          <a:ln/>
        </p:spPr>
        <p:txBody>
          <a:bodyPr wrap="square" lIns="0" tIns="0" rIns="0" bIns="0" rtlCol="0" anchor="t"/>
          <a:lstStyle/>
          <a:p>
            <a:pPr indent="0" marL="0">
              <a:spcAft>
                <a:spcPts val="500"/>
              </a:spcAft>
              <a:buNone/>
            </a:pPr>
            <a:r>
              <a:rPr lang="en-US" sz="1250" b="1" dirty="0">
                <a:solidFill>
                  <a:srgbClr val="1E1A18"/>
                </a:solidFill>
                <a:latin typeface="Arial" pitchFamily="34" charset="0"/>
                <a:ea typeface="Arial" pitchFamily="34" charset="-122"/>
                <a:cs typeface="Arial" pitchFamily="34" charset="-120"/>
              </a:rPr>
              <a:t>Creează:</a:t>
            </a:r>
            <a:r>
              <a:rPr lang="en-US" sz="1250" dirty="0">
                <a:solidFill>
                  <a:srgbClr val="1E1A18"/>
                </a:solidFill>
                <a:latin typeface="Arial" pitchFamily="34" charset="0"/>
                <a:ea typeface="Arial" pitchFamily="34" charset="-122"/>
                <a:cs typeface="Arial" pitchFamily="34" charset="-120"/>
              </a:rPr>
              <a:t> lumină distribuită, dimensiune</a:t>
            </a:r>
            <a:endParaRPr lang="en-US" sz="1400" dirty="0"/>
          </a:p>
          <a:p>
            <a:pPr indent="0" marL="0">
              <a:spcAft>
                <a:spcPts val="500"/>
              </a:spcAft>
              <a:buNone/>
            </a:pPr>
            <a:r>
              <a:rPr lang="en-US" sz="1250" b="1" dirty="0">
                <a:solidFill>
                  <a:srgbClr val="1E1A18"/>
                </a:solidFill>
                <a:latin typeface="Arial" pitchFamily="34" charset="0"/>
                <a:ea typeface="Arial" pitchFamily="34" charset="-122"/>
                <a:cs typeface="Arial" pitchFamily="34" charset="-120"/>
              </a:rPr>
              <a:t>Când:</a:t>
            </a:r>
            <a:r>
              <a:rPr lang="en-US" sz="1250" dirty="0">
                <a:solidFill>
                  <a:srgbClr val="1E1A18"/>
                </a:solidFill>
                <a:latin typeface="Arial" pitchFamily="34" charset="0"/>
                <a:ea typeface="Arial" pitchFamily="34" charset="-122"/>
                <a:cs typeface="Arial" pitchFamily="34" charset="-120"/>
              </a:rPr>
              <a:t> luminozitate cu contrast controlat</a:t>
            </a:r>
            <a:endParaRPr lang="en-US" sz="1400" dirty="0"/>
          </a:p>
          <a:p>
            <a:pPr indent="0" marL="0">
              <a:spcAft>
                <a:spcPts val="500"/>
              </a:spcAft>
              <a:buNone/>
            </a:pPr>
            <a:r>
              <a:rPr lang="en-US" sz="1250" b="1" dirty="0">
                <a:solidFill>
                  <a:srgbClr val="1E1A18"/>
                </a:solidFill>
                <a:latin typeface="Arial" pitchFamily="34" charset="0"/>
                <a:ea typeface="Arial" pitchFamily="34" charset="-122"/>
                <a:cs typeface="Arial" pitchFamily="34" charset="-120"/>
              </a:rPr>
              <a:t>Impact:</a:t>
            </a:r>
            <a:r>
              <a:rPr lang="en-US" sz="1250" dirty="0">
                <a:solidFill>
                  <a:srgbClr val="1E1A18"/>
                </a:solidFill>
                <a:latin typeface="Arial" pitchFamily="34" charset="0"/>
                <a:ea typeface="Arial" pitchFamily="34" charset="-122"/>
                <a:cs typeface="Arial" pitchFamily="34" charset="-120"/>
              </a:rPr>
              <a:t> echilibrat, natural</a:t>
            </a:r>
            <a:endParaRPr lang="en-US" sz="1400" dirty="0"/>
          </a:p>
        </p:txBody>
      </p:sp>
      <p:pic>
        <p:nvPicPr>
          <p:cNvPr id="9" name="image-19" descr="Selecție: fire croșetate, cu păr natural între ele">    </p:cNvPr>
          <p:cNvPicPr>
            <a:picLocks noChangeAspect="1"/>
          </p:cNvPicPr>
          <p:nvPr/>
        </p:nvPicPr>
        <p:blipFill>
          <a:blip r:embed="rId2"/>
          <a:stretch>
            <a:fillRect/>
          </a:stretch>
        </p:blipFill>
        <p:spPr>
          <a:xfrm>
            <a:off x="457200" y="3474720"/>
            <a:ext cx="4023360" cy="384048"/>
          </a:xfrm>
          <a:prstGeom prst="rect">
            <a:avLst/>
          </a:prstGeom>
        </p:spPr>
      </p:pic>
      <p:sp>
        <p:nvSpPr>
          <p:cNvPr id="10" name="text-20"/>
          <p:cNvSpPr txBox="1"/>
          <p:nvPr/>
        </p:nvSpPr>
        <p:spPr>
          <a:xfrm>
            <a:off x="457200" y="3877056"/>
            <a:ext cx="4023360" cy="228600"/>
          </a:xfrm>
          <a:prstGeom prst="rect">
            <a:avLst/>
          </a:prstGeom>
          <a:noFill/>
          <a:ln/>
        </p:spPr>
        <p:txBody>
          <a:bodyPr wrap="square" lIns="0" tIns="0" rIns="0" bIns="0" rtlCol="0" anchor="t"/>
          <a:lstStyle/>
          <a:p>
            <a:pPr indent="0" marL="0">
              <a:buNone/>
            </a:pPr>
            <a:r>
              <a:rPr lang="en-US" sz="1050" i="1" dirty="0">
                <a:solidFill>
                  <a:srgbClr val="4A3F3A"/>
                </a:solidFill>
                <a:latin typeface="Arial" pitchFamily="34" charset="0"/>
                <a:ea typeface="Arial" pitchFamily="34" charset="-122"/>
                <a:cs typeface="Arial" pitchFamily="34" charset="-120"/>
              </a:rPr>
              <a:t>Selecție: fire croșetate, cu păr natural între ele</a:t>
            </a:r>
            <a:endParaRPr lang="en-US" sz="1050" dirty="0"/>
          </a:p>
        </p:txBody>
      </p:sp>
      <p:sp>
        <p:nvSpPr>
          <p:cNvPr id="11" name="text-21"/>
          <p:cNvSpPr txBox="1"/>
          <p:nvPr/>
        </p:nvSpPr>
        <p:spPr>
          <a:xfrm>
            <a:off x="457200" y="4160520"/>
            <a:ext cx="4023360" cy="548640"/>
          </a:xfrm>
          <a:prstGeom prst="rect">
            <a:avLst/>
          </a:prstGeom>
          <a:noFill/>
          <a:ln/>
        </p:spPr>
        <p:txBody>
          <a:bodyPr wrap="square" lIns="0" tIns="0" rIns="0" bIns="0" rtlCol="0" anchor="t"/>
          <a:lstStyle/>
          <a:p>
            <a:pPr indent="0" marL="0">
              <a:buNone/>
            </a:pPr>
            <a:r>
              <a:rPr lang="en-US" sz="1200" b="1" dirty="0">
                <a:solidFill>
                  <a:srgbClr val="1E1A18"/>
                </a:solidFill>
                <a:latin typeface="Arial" pitchFamily="34" charset="0"/>
                <a:ea typeface="Arial" pitchFamily="34" charset="-122"/>
                <a:cs typeface="Arial" pitchFamily="34" charset="-120"/>
              </a:rPr>
              <a:t>La creștere:</a:t>
            </a:r>
            <a:r>
              <a:rPr lang="en-US" sz="1200" dirty="0">
                <a:solidFill>
                  <a:srgbClr val="1E1A18"/>
                </a:solidFill>
                <a:latin typeface="Arial" pitchFamily="34" charset="0"/>
                <a:ea typeface="Arial" pitchFamily="34" charset="-122"/>
                <a:cs typeface="Arial" pitchFamily="34" charset="-120"/>
              </a:rPr>
              <a:t> linie fragmentată de părul natural.</a:t>
            </a:r>
            <a:endParaRPr lang="en-US" sz="1200" dirty="0"/>
          </a:p>
        </p:txBody>
      </p:sp>
      <p:pic>
        <p:nvPicPr>
          <p:cNvPr id="12" name="image-22" descr="Chunky highlights">    </p:cNvPr>
          <p:cNvPicPr>
            <a:picLocks noChangeAspect="1"/>
          </p:cNvPicPr>
          <p:nvPr/>
        </p:nvPicPr>
        <p:blipFill>
          <a:blip r:embed="rId3"/>
          <a:stretch>
            <a:fillRect/>
          </a:stretch>
        </p:blipFill>
        <p:spPr>
          <a:xfrm>
            <a:off x="4663440" y="1234440"/>
            <a:ext cx="1504188" cy="2148840"/>
          </a:xfrm>
          <a:prstGeom prst="rect">
            <a:avLst/>
          </a:prstGeom>
        </p:spPr>
      </p:pic>
      <p:sp>
        <p:nvSpPr>
          <p:cNvPr id="13" name="text-23"/>
          <p:cNvSpPr txBox="1"/>
          <p:nvPr/>
        </p:nvSpPr>
        <p:spPr>
          <a:xfrm>
            <a:off x="6309360" y="1234440"/>
            <a:ext cx="2423160" cy="292608"/>
          </a:xfrm>
          <a:prstGeom prst="rect">
            <a:avLst/>
          </a:prstGeom>
          <a:noFill/>
          <a:ln/>
        </p:spPr>
        <p:txBody>
          <a:bodyPr wrap="square" lIns="0" tIns="0" rIns="0" bIns="0" rtlCol="0" anchor="t"/>
          <a:lstStyle/>
          <a:p>
            <a:pPr indent="0" marL="0">
              <a:buNone/>
            </a:pPr>
            <a:r>
              <a:rPr lang="en-US" sz="1600" b="1" dirty="0">
                <a:solidFill>
                  <a:srgbClr val="9A4F5C"/>
                </a:solidFill>
                <a:latin typeface="Arial" pitchFamily="34" charset="0"/>
                <a:ea typeface="Arial" pitchFamily="34" charset="-122"/>
                <a:cs typeface="Arial" pitchFamily="34" charset="-120"/>
              </a:rPr>
              <a:t>Chunky highlights</a:t>
            </a:r>
            <a:endParaRPr lang="en-US" sz="1600" dirty="0"/>
          </a:p>
        </p:txBody>
      </p:sp>
      <p:sp>
        <p:nvSpPr>
          <p:cNvPr id="14" name="text-24"/>
          <p:cNvSpPr txBox="1"/>
          <p:nvPr/>
        </p:nvSpPr>
        <p:spPr>
          <a:xfrm>
            <a:off x="6309360" y="1563624"/>
            <a:ext cx="2423160" cy="1143000"/>
          </a:xfrm>
          <a:prstGeom prst="rect">
            <a:avLst/>
          </a:prstGeom>
          <a:noFill/>
          <a:ln/>
        </p:spPr>
        <p:txBody>
          <a:bodyPr wrap="square" lIns="0" tIns="0" rIns="0" bIns="0" rtlCol="0" anchor="t"/>
          <a:lstStyle/>
          <a:p>
            <a:pPr indent="0" marL="0">
              <a:spcAft>
                <a:spcPts val="500"/>
              </a:spcAft>
              <a:buNone/>
            </a:pPr>
            <a:r>
              <a:rPr lang="en-US" sz="1250" b="1" dirty="0">
                <a:solidFill>
                  <a:srgbClr val="1E1A18"/>
                </a:solidFill>
                <a:latin typeface="Arial" pitchFamily="34" charset="0"/>
                <a:ea typeface="Arial" pitchFamily="34" charset="-122"/>
                <a:cs typeface="Arial" pitchFamily="34" charset="-120"/>
              </a:rPr>
              <a:t>Creează:</a:t>
            </a:r>
            <a:r>
              <a:rPr lang="en-US" sz="1250" dirty="0">
                <a:solidFill>
                  <a:srgbClr val="1E1A18"/>
                </a:solidFill>
                <a:latin typeface="Arial" pitchFamily="34" charset="0"/>
                <a:ea typeface="Arial" pitchFamily="34" charset="-122"/>
                <a:cs typeface="Arial" pitchFamily="34" charset="-120"/>
              </a:rPr>
              <a:t> panouri late, contrast puternic</a:t>
            </a:r>
            <a:endParaRPr lang="en-US" sz="1400" dirty="0"/>
          </a:p>
          <a:p>
            <a:pPr indent="0" marL="0">
              <a:spcAft>
                <a:spcPts val="500"/>
              </a:spcAft>
              <a:buNone/>
            </a:pPr>
            <a:r>
              <a:rPr lang="en-US" sz="1250" b="1" dirty="0">
                <a:solidFill>
                  <a:srgbClr val="1E1A18"/>
                </a:solidFill>
                <a:latin typeface="Arial" pitchFamily="34" charset="0"/>
                <a:ea typeface="Arial" pitchFamily="34" charset="-122"/>
                <a:cs typeface="Arial" pitchFamily="34" charset="-120"/>
              </a:rPr>
              <a:t>Când:</a:t>
            </a:r>
            <a:r>
              <a:rPr lang="en-US" sz="1250" dirty="0">
                <a:solidFill>
                  <a:srgbClr val="1E1A18"/>
                </a:solidFill>
                <a:latin typeface="Arial" pitchFamily="34" charset="0"/>
                <a:ea typeface="Arial" pitchFamily="34" charset="-122"/>
                <a:cs typeface="Arial" pitchFamily="34" charset="-120"/>
              </a:rPr>
              <a:t> look îndrăzneț, accente statement</a:t>
            </a:r>
            <a:endParaRPr lang="en-US" sz="1400" dirty="0"/>
          </a:p>
          <a:p>
            <a:pPr indent="0" marL="0">
              <a:spcAft>
                <a:spcPts val="500"/>
              </a:spcAft>
              <a:buNone/>
            </a:pPr>
            <a:r>
              <a:rPr lang="en-US" sz="1250" b="1" dirty="0">
                <a:solidFill>
                  <a:srgbClr val="1E1A18"/>
                </a:solidFill>
                <a:latin typeface="Arial" pitchFamily="34" charset="0"/>
                <a:ea typeface="Arial" pitchFamily="34" charset="-122"/>
                <a:cs typeface="Arial" pitchFamily="34" charset="-120"/>
              </a:rPr>
              <a:t>Impact:</a:t>
            </a:r>
            <a:r>
              <a:rPr lang="en-US" sz="1250" dirty="0">
                <a:solidFill>
                  <a:srgbClr val="1E1A18"/>
                </a:solidFill>
                <a:latin typeface="Arial" pitchFamily="34" charset="0"/>
                <a:ea typeface="Arial" pitchFamily="34" charset="-122"/>
                <a:cs typeface="Arial" pitchFamily="34" charset="-120"/>
              </a:rPr>
              <a:t> separare vizibilă</a:t>
            </a:r>
            <a:endParaRPr lang="en-US" sz="1400" dirty="0"/>
          </a:p>
        </p:txBody>
      </p:sp>
      <p:pic>
        <p:nvPicPr>
          <p:cNvPr id="15" name="image-25" descr="Selecție: secțiuni late, spații mari">    </p:cNvPr>
          <p:cNvPicPr>
            <a:picLocks noChangeAspect="1"/>
          </p:cNvPicPr>
          <p:nvPr/>
        </p:nvPicPr>
        <p:blipFill>
          <a:blip r:embed="rId4"/>
          <a:stretch>
            <a:fillRect/>
          </a:stretch>
        </p:blipFill>
        <p:spPr>
          <a:xfrm>
            <a:off x="4663440" y="3474720"/>
            <a:ext cx="4023360" cy="384048"/>
          </a:xfrm>
          <a:prstGeom prst="rect">
            <a:avLst/>
          </a:prstGeom>
        </p:spPr>
      </p:pic>
      <p:sp>
        <p:nvSpPr>
          <p:cNvPr id="16" name="text-26"/>
          <p:cNvSpPr txBox="1"/>
          <p:nvPr/>
        </p:nvSpPr>
        <p:spPr>
          <a:xfrm>
            <a:off x="4663440" y="3877056"/>
            <a:ext cx="4023360" cy="228600"/>
          </a:xfrm>
          <a:prstGeom prst="rect">
            <a:avLst/>
          </a:prstGeom>
          <a:noFill/>
          <a:ln/>
        </p:spPr>
        <p:txBody>
          <a:bodyPr wrap="square" lIns="0" tIns="0" rIns="0" bIns="0" rtlCol="0" anchor="t"/>
          <a:lstStyle/>
          <a:p>
            <a:pPr indent="0" marL="0">
              <a:buNone/>
            </a:pPr>
            <a:r>
              <a:rPr lang="en-US" sz="1050" i="1" dirty="0">
                <a:solidFill>
                  <a:srgbClr val="4A3F3A"/>
                </a:solidFill>
                <a:latin typeface="Arial" pitchFamily="34" charset="0"/>
                <a:ea typeface="Arial" pitchFamily="34" charset="-122"/>
                <a:cs typeface="Arial" pitchFamily="34" charset="-120"/>
              </a:rPr>
              <a:t>Selecție: secțiuni late, spații mari</a:t>
            </a:r>
            <a:endParaRPr lang="en-US" sz="1050" dirty="0"/>
          </a:p>
        </p:txBody>
      </p:sp>
      <p:sp>
        <p:nvSpPr>
          <p:cNvPr id="17" name="text-27"/>
          <p:cNvSpPr txBox="1"/>
          <p:nvPr/>
        </p:nvSpPr>
        <p:spPr>
          <a:xfrm>
            <a:off x="4663440" y="4160520"/>
            <a:ext cx="4023360" cy="548640"/>
          </a:xfrm>
          <a:prstGeom prst="rect">
            <a:avLst/>
          </a:prstGeom>
          <a:noFill/>
          <a:ln/>
        </p:spPr>
        <p:txBody>
          <a:bodyPr wrap="square" lIns="0" tIns="0" rIns="0" bIns="0" rtlCol="0" anchor="t"/>
          <a:lstStyle/>
          <a:p>
            <a:pPr indent="0" marL="0">
              <a:buNone/>
            </a:pPr>
            <a:r>
              <a:rPr lang="en-US" sz="1200" b="1" dirty="0">
                <a:solidFill>
                  <a:srgbClr val="1E1A18"/>
                </a:solidFill>
                <a:latin typeface="Arial" pitchFamily="34" charset="0"/>
                <a:ea typeface="Arial" pitchFamily="34" charset="-122"/>
                <a:cs typeface="Arial" pitchFamily="34" charset="-120"/>
              </a:rPr>
              <a:t>La creștere:</a:t>
            </a:r>
            <a:r>
              <a:rPr lang="en-US" sz="1200" dirty="0">
                <a:solidFill>
                  <a:srgbClr val="1E1A18"/>
                </a:solidFill>
                <a:latin typeface="Arial" pitchFamily="34" charset="0"/>
                <a:ea typeface="Arial" pitchFamily="34" charset="-122"/>
                <a:cs typeface="Arial" pitchFamily="34" charset="-120"/>
              </a:rPr>
              <a:t> demarcație clară sub fiecare panou.</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28"/>
          <p:cNvSpPr txBox="1"/>
          <p:nvPr/>
        </p:nvSpPr>
        <p:spPr>
          <a:xfrm>
            <a:off x="457200" y="201168"/>
            <a:ext cx="8229600" cy="256032"/>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FINEȚE VS. DENSITATE</a:t>
            </a:r>
            <a:endParaRPr lang="en-US" sz="1200" dirty="0"/>
          </a:p>
        </p:txBody>
      </p:sp>
      <p:sp>
        <p:nvSpPr>
          <p:cNvPr id="3" name="text-29"/>
          <p:cNvSpPr txBox="1"/>
          <p:nvPr/>
        </p:nvSpPr>
        <p:spPr>
          <a:xfrm>
            <a:off x="457200" y="457200"/>
            <a:ext cx="8229600" cy="685800"/>
          </a:xfrm>
          <a:prstGeom prst="rect">
            <a:avLst/>
          </a:prstGeom>
          <a:noFill/>
          <a:ln/>
        </p:spPr>
        <p:txBody>
          <a:bodyPr wrap="square" lIns="0" tIns="0" rIns="0" bIns="0" rtlCol="0" anchor="ctr"/>
          <a:lstStyle/>
          <a:p>
            <a:pPr indent="0" marL="0">
              <a:buNone/>
            </a:pPr>
            <a:r>
              <a:rPr lang="en-US" sz="2200" b="1" dirty="0">
                <a:solidFill>
                  <a:srgbClr val="1E1A18"/>
                </a:solidFill>
                <a:latin typeface="Arial" pitchFamily="34" charset="0"/>
                <a:ea typeface="Arial" pitchFamily="34" charset="-122"/>
                <a:cs typeface="Arial" pitchFamily="34" charset="-120"/>
              </a:rPr>
              <a:t>Babylights vs. microbabylights</a:t>
            </a:r>
            <a:endParaRPr lang="en-US" sz="2200" dirty="0"/>
          </a:p>
        </p:txBody>
      </p:sp>
      <p:sp>
        <p:nvSpPr>
          <p:cNvPr id="4" name="text-30"/>
          <p:cNvSpPr txBox="1"/>
          <p:nvPr/>
        </p:nvSpPr>
        <p:spPr>
          <a:xfrm>
            <a:off x="457200" y="4846320"/>
            <a:ext cx="6400800" cy="201168"/>
          </a:xfrm>
          <a:prstGeom prst="rect">
            <a:avLst/>
          </a:prstGeom>
          <a:noFill/>
          <a:ln/>
        </p:spPr>
        <p:txBody>
          <a:bodyPr wrap="square" lIns="0" tIns="0" rIns="0" bIns="0" rtlCol="0" anchor="t"/>
          <a:lstStyle/>
          <a:p>
            <a:pPr indent="0" marL="0">
              <a:buNone/>
            </a:pPr>
            <a:r>
              <a:rPr lang="en-US" sz="900" dirty="0">
                <a:solidFill>
                  <a:srgbClr val="4A3F3A"/>
                </a:solidFill>
                <a:latin typeface="Arial" pitchFamily="34" charset="0"/>
                <a:ea typeface="Arial" pitchFamily="34" charset="-122"/>
                <a:cs typeface="Arial" pitchFamily="34" charset="-120"/>
              </a:rPr>
              <a:t>BLONDE AMBITION by Diana Avram · Alfaparf Milano Professional</a:t>
            </a:r>
            <a:endParaRPr lang="en-US" sz="900" dirty="0"/>
          </a:p>
        </p:txBody>
      </p:sp>
      <p:pic>
        <p:nvPicPr>
          <p:cNvPr id="6" name="image-31" descr="Babylights">    </p:cNvPr>
          <p:cNvPicPr>
            <a:picLocks noChangeAspect="1"/>
          </p:cNvPicPr>
          <p:nvPr/>
        </p:nvPicPr>
        <p:blipFill>
          <a:blip r:embed="rId1"/>
          <a:stretch>
            <a:fillRect/>
          </a:stretch>
        </p:blipFill>
        <p:spPr>
          <a:xfrm>
            <a:off x="457200" y="1234440"/>
            <a:ext cx="1408176" cy="2011680"/>
          </a:xfrm>
          <a:prstGeom prst="rect">
            <a:avLst/>
          </a:prstGeom>
        </p:spPr>
      </p:pic>
      <p:pic>
        <p:nvPicPr>
          <p:cNvPr id="7" name="image-32" descr="Detaliu mărit: Babylights">    </p:cNvPr>
          <p:cNvPicPr>
            <a:picLocks noChangeAspect="1"/>
          </p:cNvPicPr>
          <p:nvPr/>
        </p:nvPicPr>
        <p:blipFill>
          <a:blip r:embed="rId2"/>
          <a:stretch>
            <a:fillRect/>
          </a:stretch>
        </p:blipFill>
        <p:spPr>
          <a:xfrm>
            <a:off x="1920240" y="1234440"/>
            <a:ext cx="1325880" cy="1325880"/>
          </a:xfrm>
          <a:prstGeom prst="rect">
            <a:avLst/>
          </a:prstGeom>
        </p:spPr>
      </p:pic>
      <p:sp>
        <p:nvSpPr>
          <p:cNvPr id="8" name="text-33"/>
          <p:cNvSpPr txBox="1"/>
          <p:nvPr/>
        </p:nvSpPr>
        <p:spPr>
          <a:xfrm>
            <a:off x="1920240" y="2587752"/>
            <a:ext cx="1325880" cy="228600"/>
          </a:xfrm>
          <a:prstGeom prst="rect">
            <a:avLst/>
          </a:prstGeom>
          <a:noFill/>
          <a:ln/>
        </p:spPr>
        <p:txBody>
          <a:bodyPr wrap="square" lIns="0" tIns="0" rIns="0" bIns="0" rtlCol="0" anchor="t"/>
          <a:lstStyle/>
          <a:p>
            <a:pPr algn="ctr" indent="0" marL="0">
              <a:buNone/>
            </a:pPr>
            <a:r>
              <a:rPr lang="en-US" sz="1050" i="1" dirty="0">
                <a:solidFill>
                  <a:srgbClr val="4A3F3A"/>
                </a:solidFill>
                <a:latin typeface="Arial" pitchFamily="34" charset="0"/>
                <a:ea typeface="Arial" pitchFamily="34" charset="-122"/>
                <a:cs typeface="Arial" pitchFamily="34" charset="-120"/>
              </a:rPr>
              <a:t>detaliu mărit</a:t>
            </a:r>
            <a:endParaRPr lang="en-US" sz="1050" dirty="0"/>
          </a:p>
        </p:txBody>
      </p:sp>
      <p:sp>
        <p:nvSpPr>
          <p:cNvPr id="9" name="text-34"/>
          <p:cNvSpPr txBox="1"/>
          <p:nvPr/>
        </p:nvSpPr>
        <p:spPr>
          <a:xfrm>
            <a:off x="457200" y="3310128"/>
            <a:ext cx="4023360" cy="292608"/>
          </a:xfrm>
          <a:prstGeom prst="rect">
            <a:avLst/>
          </a:prstGeom>
          <a:noFill/>
          <a:ln/>
        </p:spPr>
        <p:txBody>
          <a:bodyPr wrap="square" lIns="0" tIns="0" rIns="0" bIns="0" rtlCol="0" anchor="t"/>
          <a:lstStyle/>
          <a:p>
            <a:pPr indent="0" marL="0">
              <a:buNone/>
            </a:pPr>
            <a:r>
              <a:rPr lang="en-US" sz="1600" b="1" dirty="0">
                <a:solidFill>
                  <a:srgbClr val="9A4F5C"/>
                </a:solidFill>
                <a:latin typeface="Arial" pitchFamily="34" charset="0"/>
                <a:ea typeface="Arial" pitchFamily="34" charset="-122"/>
                <a:cs typeface="Arial" pitchFamily="34" charset="-120"/>
              </a:rPr>
              <a:t>Babylights</a:t>
            </a:r>
            <a:endParaRPr lang="en-US" sz="1600" dirty="0"/>
          </a:p>
        </p:txBody>
      </p:sp>
      <p:sp>
        <p:nvSpPr>
          <p:cNvPr id="10" name="text-35"/>
          <p:cNvSpPr txBox="1"/>
          <p:nvPr/>
        </p:nvSpPr>
        <p:spPr>
          <a:xfrm>
            <a:off x="457200" y="3639312"/>
            <a:ext cx="4023360" cy="868680"/>
          </a:xfrm>
          <a:prstGeom prst="rect">
            <a:avLst/>
          </a:prstGeom>
          <a:noFill/>
          <a:ln/>
        </p:spPr>
        <p:txBody>
          <a:bodyPr wrap="square" lIns="0" tIns="0" rIns="0" bIns="0" rtlCol="0" anchor="t"/>
          <a:lstStyle/>
          <a:p>
            <a:pPr indent="0" marL="0">
              <a:spcAft>
                <a:spcPts val="500"/>
              </a:spcAft>
              <a:buNone/>
            </a:pPr>
            <a:r>
              <a:rPr lang="en-US" sz="1250" b="1" dirty="0">
                <a:solidFill>
                  <a:srgbClr val="1E1A18"/>
                </a:solidFill>
                <a:latin typeface="Arial" pitchFamily="34" charset="0"/>
                <a:ea typeface="Arial" pitchFamily="34" charset="-122"/>
                <a:cs typeface="Arial" pitchFamily="34" charset="-120"/>
              </a:rPr>
              <a:t>Creează:</a:t>
            </a:r>
            <a:r>
              <a:rPr lang="en-US" sz="1250" dirty="0">
                <a:solidFill>
                  <a:srgbClr val="1E1A18"/>
                </a:solidFill>
                <a:latin typeface="Arial" pitchFamily="34" charset="0"/>
                <a:ea typeface="Arial" pitchFamily="34" charset="-122"/>
                <a:cs typeface="Arial" pitchFamily="34" charset="-120"/>
              </a:rPr>
              <a:t> lumină fină, bine integrată</a:t>
            </a:r>
            <a:endParaRPr lang="en-US" sz="1400" dirty="0"/>
          </a:p>
          <a:p>
            <a:pPr indent="0" marL="0">
              <a:spcAft>
                <a:spcPts val="500"/>
              </a:spcAft>
              <a:buNone/>
            </a:pPr>
            <a:r>
              <a:rPr lang="en-US" sz="1250" b="1" dirty="0">
                <a:solidFill>
                  <a:srgbClr val="1E1A18"/>
                </a:solidFill>
                <a:latin typeface="Arial" pitchFamily="34" charset="0"/>
                <a:ea typeface="Arial" pitchFamily="34" charset="-122"/>
                <a:cs typeface="Arial" pitchFamily="34" charset="-120"/>
              </a:rPr>
              <a:t>Când:</a:t>
            </a:r>
            <a:r>
              <a:rPr lang="en-US" sz="1250" dirty="0">
                <a:solidFill>
                  <a:srgbClr val="1E1A18"/>
                </a:solidFill>
                <a:latin typeface="Arial" pitchFamily="34" charset="0"/>
                <a:ea typeface="Arial" pitchFamily="34" charset="-122"/>
                <a:cs typeface="Arial" pitchFamily="34" charset="-120"/>
              </a:rPr>
              <a:t> blond natural, tranziții subtile</a:t>
            </a:r>
            <a:endParaRPr lang="en-US" sz="1400" dirty="0"/>
          </a:p>
          <a:p>
            <a:pPr indent="0" marL="0">
              <a:spcAft>
                <a:spcPts val="500"/>
              </a:spcAft>
              <a:buNone/>
            </a:pPr>
            <a:r>
              <a:rPr lang="en-US" sz="1250" b="1" dirty="0">
                <a:solidFill>
                  <a:srgbClr val="1E1A18"/>
                </a:solidFill>
                <a:latin typeface="Arial" pitchFamily="34" charset="0"/>
                <a:ea typeface="Arial" pitchFamily="34" charset="-122"/>
                <a:cs typeface="Arial" pitchFamily="34" charset="-120"/>
              </a:rPr>
              <a:t>Impact:</a:t>
            </a:r>
            <a:r>
              <a:rPr lang="en-US" sz="1250" dirty="0">
                <a:solidFill>
                  <a:srgbClr val="1E1A18"/>
                </a:solidFill>
                <a:latin typeface="Arial" pitchFamily="34" charset="0"/>
                <a:ea typeface="Arial" pitchFamily="34" charset="-122"/>
                <a:cs typeface="Arial" pitchFamily="34" charset="-120"/>
              </a:rPr>
              <a:t> delicat, dimensiune fină</a:t>
            </a:r>
            <a:endParaRPr lang="en-US" sz="1400" dirty="0"/>
          </a:p>
        </p:txBody>
      </p:sp>
      <p:pic>
        <p:nvPicPr>
          <p:cNvPr id="11" name="image-36" descr="Microbabylights">    </p:cNvPr>
          <p:cNvPicPr>
            <a:picLocks noChangeAspect="1"/>
          </p:cNvPicPr>
          <p:nvPr/>
        </p:nvPicPr>
        <p:blipFill>
          <a:blip r:embed="rId3"/>
          <a:stretch>
            <a:fillRect/>
          </a:stretch>
        </p:blipFill>
        <p:spPr>
          <a:xfrm>
            <a:off x="4663440" y="1234440"/>
            <a:ext cx="1408176" cy="2011680"/>
          </a:xfrm>
          <a:prstGeom prst="rect">
            <a:avLst/>
          </a:prstGeom>
        </p:spPr>
      </p:pic>
      <p:pic>
        <p:nvPicPr>
          <p:cNvPr id="12" name="image-37" descr="Detaliu mărit: Microbabylights">    </p:cNvPr>
          <p:cNvPicPr>
            <a:picLocks noChangeAspect="1"/>
          </p:cNvPicPr>
          <p:nvPr/>
        </p:nvPicPr>
        <p:blipFill>
          <a:blip r:embed="rId4"/>
          <a:stretch>
            <a:fillRect/>
          </a:stretch>
        </p:blipFill>
        <p:spPr>
          <a:xfrm>
            <a:off x="6126480" y="1234440"/>
            <a:ext cx="1325880" cy="1325880"/>
          </a:xfrm>
          <a:prstGeom prst="rect">
            <a:avLst/>
          </a:prstGeom>
        </p:spPr>
      </p:pic>
      <p:sp>
        <p:nvSpPr>
          <p:cNvPr id="13" name="text-38"/>
          <p:cNvSpPr txBox="1"/>
          <p:nvPr/>
        </p:nvSpPr>
        <p:spPr>
          <a:xfrm>
            <a:off x="6126480" y="2587752"/>
            <a:ext cx="1325880" cy="228600"/>
          </a:xfrm>
          <a:prstGeom prst="rect">
            <a:avLst/>
          </a:prstGeom>
          <a:noFill/>
          <a:ln/>
        </p:spPr>
        <p:txBody>
          <a:bodyPr wrap="square" lIns="0" tIns="0" rIns="0" bIns="0" rtlCol="0" anchor="t"/>
          <a:lstStyle/>
          <a:p>
            <a:pPr algn="ctr" indent="0" marL="0">
              <a:buNone/>
            </a:pPr>
            <a:r>
              <a:rPr lang="en-US" sz="1050" i="1" dirty="0">
                <a:solidFill>
                  <a:srgbClr val="4A3F3A"/>
                </a:solidFill>
                <a:latin typeface="Arial" pitchFamily="34" charset="0"/>
                <a:ea typeface="Arial" pitchFamily="34" charset="-122"/>
                <a:cs typeface="Arial" pitchFamily="34" charset="-120"/>
              </a:rPr>
              <a:t>detaliu mărit</a:t>
            </a:r>
            <a:endParaRPr lang="en-US" sz="1050" dirty="0"/>
          </a:p>
        </p:txBody>
      </p:sp>
      <p:sp>
        <p:nvSpPr>
          <p:cNvPr id="14" name="text-39"/>
          <p:cNvSpPr txBox="1"/>
          <p:nvPr/>
        </p:nvSpPr>
        <p:spPr>
          <a:xfrm>
            <a:off x="4663440" y="3310128"/>
            <a:ext cx="4023360" cy="292608"/>
          </a:xfrm>
          <a:prstGeom prst="rect">
            <a:avLst/>
          </a:prstGeom>
          <a:noFill/>
          <a:ln/>
        </p:spPr>
        <p:txBody>
          <a:bodyPr wrap="square" lIns="0" tIns="0" rIns="0" bIns="0" rtlCol="0" anchor="t"/>
          <a:lstStyle/>
          <a:p>
            <a:pPr indent="0" marL="0">
              <a:buNone/>
            </a:pPr>
            <a:r>
              <a:rPr lang="en-US" sz="1600" b="1" dirty="0">
                <a:solidFill>
                  <a:srgbClr val="9A4F5C"/>
                </a:solidFill>
                <a:latin typeface="Arial" pitchFamily="34" charset="0"/>
                <a:ea typeface="Arial" pitchFamily="34" charset="-122"/>
                <a:cs typeface="Arial" pitchFamily="34" charset="-120"/>
              </a:rPr>
              <a:t>Microbabylights</a:t>
            </a:r>
            <a:endParaRPr lang="en-US" sz="1600" dirty="0"/>
          </a:p>
        </p:txBody>
      </p:sp>
      <p:sp>
        <p:nvSpPr>
          <p:cNvPr id="15" name="text-40"/>
          <p:cNvSpPr txBox="1"/>
          <p:nvPr/>
        </p:nvSpPr>
        <p:spPr>
          <a:xfrm>
            <a:off x="4663440" y="3639312"/>
            <a:ext cx="4023360" cy="868680"/>
          </a:xfrm>
          <a:prstGeom prst="rect">
            <a:avLst/>
          </a:prstGeom>
          <a:noFill/>
          <a:ln/>
        </p:spPr>
        <p:txBody>
          <a:bodyPr wrap="square" lIns="0" tIns="0" rIns="0" bIns="0" rtlCol="0" anchor="t"/>
          <a:lstStyle/>
          <a:p>
            <a:pPr indent="0" marL="0">
              <a:spcAft>
                <a:spcPts val="500"/>
              </a:spcAft>
              <a:buNone/>
            </a:pPr>
            <a:r>
              <a:rPr lang="en-US" sz="1250" b="1" dirty="0">
                <a:solidFill>
                  <a:srgbClr val="1E1A18"/>
                </a:solidFill>
                <a:latin typeface="Arial" pitchFamily="34" charset="0"/>
                <a:ea typeface="Arial" pitchFamily="34" charset="-122"/>
                <a:cs typeface="Arial" pitchFamily="34" charset="-120"/>
              </a:rPr>
              <a:t>Creează:</a:t>
            </a:r>
            <a:r>
              <a:rPr lang="en-US" sz="1250" dirty="0">
                <a:solidFill>
                  <a:srgbClr val="1E1A18"/>
                </a:solidFill>
                <a:latin typeface="Arial" pitchFamily="34" charset="0"/>
                <a:ea typeface="Arial" pitchFamily="34" charset="-122"/>
                <a:cs typeface="Arial" pitchFamily="34" charset="-120"/>
              </a:rPr>
              <a:t> lumină foarte fină, distribuită</a:t>
            </a:r>
            <a:endParaRPr lang="en-US" sz="1400" dirty="0"/>
          </a:p>
          <a:p>
            <a:pPr indent="0" marL="0">
              <a:spcAft>
                <a:spcPts val="500"/>
              </a:spcAft>
              <a:buNone/>
            </a:pPr>
            <a:r>
              <a:rPr lang="en-US" sz="1250" b="1" dirty="0">
                <a:solidFill>
                  <a:srgbClr val="1E1A18"/>
                </a:solidFill>
                <a:latin typeface="Arial" pitchFamily="34" charset="0"/>
                <a:ea typeface="Arial" pitchFamily="34" charset="-122"/>
                <a:cs typeface="Arial" pitchFamily="34" charset="-120"/>
              </a:rPr>
              <a:t>Când:</a:t>
            </a:r>
            <a:r>
              <a:rPr lang="en-US" sz="1250" dirty="0">
                <a:solidFill>
                  <a:srgbClr val="1E1A18"/>
                </a:solidFill>
                <a:latin typeface="Arial" pitchFamily="34" charset="0"/>
                <a:ea typeface="Arial" pitchFamily="34" charset="-122"/>
                <a:cs typeface="Arial" pitchFamily="34" charset="-120"/>
              </a:rPr>
              <a:t> blond dens, fără dungi vizibile</a:t>
            </a:r>
            <a:endParaRPr lang="en-US" sz="1400" dirty="0"/>
          </a:p>
          <a:p>
            <a:pPr indent="0" marL="0">
              <a:spcAft>
                <a:spcPts val="500"/>
              </a:spcAft>
              <a:buNone/>
            </a:pPr>
            <a:r>
              <a:rPr lang="en-US" sz="1250" b="1" dirty="0">
                <a:solidFill>
                  <a:srgbClr val="1E1A18"/>
                </a:solidFill>
                <a:latin typeface="Arial" pitchFamily="34" charset="0"/>
                <a:ea typeface="Arial" pitchFamily="34" charset="-122"/>
                <a:cs typeface="Arial" pitchFamily="34" charset="-120"/>
              </a:rPr>
              <a:t>Impact:</a:t>
            </a:r>
            <a:r>
              <a:rPr lang="en-US" sz="1250" dirty="0">
                <a:solidFill>
                  <a:srgbClr val="1E1A18"/>
                </a:solidFill>
                <a:latin typeface="Arial" pitchFamily="34" charset="0"/>
                <a:ea typeface="Arial" pitchFamily="34" charset="-122"/>
                <a:cs typeface="Arial" pitchFamily="34" charset="-120"/>
              </a:rPr>
              <a:t> aproape uniform dacă sunt multe</a:t>
            </a:r>
            <a:endParaRPr lang="en-US" sz="1400" dirty="0"/>
          </a:p>
        </p:txBody>
      </p:sp>
      <p:sp>
        <p:nvSpPr>
          <p:cNvPr id="16" name="card-41"/>
          <p:cNvSpPr/>
          <p:nvPr/>
        </p:nvSpPr>
        <p:spPr>
          <a:xfrm>
            <a:off x="3364992" y="1234440"/>
            <a:ext cx="1161288" cy="1600200"/>
          </a:xfrm>
          <a:prstGeom prst="roundRect">
            <a:avLst>
              <a:gd name="adj" fmla="val 6299"/>
            </a:avLst>
          </a:prstGeom>
          <a:solidFill>
            <a:srgbClr val="F6EEE9"/>
          </a:solidFill>
          <a:ln w="12700">
            <a:solidFill>
              <a:srgbClr val="F6EEE9"/>
            </a:solidFill>
            <a:prstDash val="solid"/>
          </a:ln>
        </p:spPr>
      </p:sp>
      <p:sp>
        <p:nvSpPr>
          <p:cNvPr id="17" name="text-42"/>
          <p:cNvSpPr txBox="1"/>
          <p:nvPr/>
        </p:nvSpPr>
        <p:spPr>
          <a:xfrm>
            <a:off x="3438144" y="1325880"/>
            <a:ext cx="1024128" cy="1463040"/>
          </a:xfrm>
          <a:prstGeom prst="rect">
            <a:avLst/>
          </a:prstGeom>
          <a:noFill/>
          <a:ln/>
        </p:spPr>
        <p:txBody>
          <a:bodyPr wrap="square" lIns="0" tIns="0" rIns="0" bIns="0" rtlCol="0" anchor="ctr"/>
          <a:lstStyle/>
          <a:p>
            <a:pPr indent="0" marL="0">
              <a:spcAft>
                <a:spcPts val="800"/>
              </a:spcAft>
              <a:buNone/>
            </a:pPr>
            <a:r>
              <a:rPr lang="en-US" sz="1150" b="1" dirty="0">
                <a:solidFill>
                  <a:srgbClr val="1E1A18"/>
                </a:solidFill>
                <a:latin typeface="Arial" pitchFamily="34" charset="0"/>
                <a:ea typeface="Arial" pitchFamily="34" charset="-122"/>
                <a:cs typeface="Arial" pitchFamily="34" charset="-120"/>
              </a:rPr>
              <a:t>Finețe</a:t>
            </a:r>
            <a:r>
              <a:rPr lang="en-US" sz="1150" dirty="0">
                <a:solidFill>
                  <a:srgbClr val="1E1A18"/>
                </a:solidFill>
                <a:latin typeface="Arial" pitchFamily="34" charset="0"/>
                <a:ea typeface="Arial" pitchFamily="34" charset="-122"/>
                <a:cs typeface="Arial" pitchFamily="34" charset="-120"/>
              </a:rPr>
              <a:t> = câte fire iei</a:t>
            </a:r>
            <a:endParaRPr lang="en-US" sz="1400" dirty="0"/>
          </a:p>
          <a:p>
            <a:pPr indent="0" marL="0">
              <a:spcAft>
                <a:spcPts val="800"/>
              </a:spcAft>
              <a:buNone/>
            </a:pPr>
            <a:r>
              <a:rPr lang="en-US" sz="1150" b="1" dirty="0">
                <a:solidFill>
                  <a:srgbClr val="1E1A18"/>
                </a:solidFill>
                <a:latin typeface="Arial" pitchFamily="34" charset="0"/>
                <a:ea typeface="Arial" pitchFamily="34" charset="-122"/>
                <a:cs typeface="Arial" pitchFamily="34" charset="-120"/>
              </a:rPr>
              <a:t>Densitate</a:t>
            </a:r>
            <a:r>
              <a:rPr lang="en-US" sz="1150" dirty="0">
                <a:solidFill>
                  <a:srgbClr val="1E1A18"/>
                </a:solidFill>
                <a:latin typeface="Arial" pitchFamily="34" charset="0"/>
                <a:ea typeface="Arial" pitchFamily="34" charset="-122"/>
                <a:cs typeface="Arial" pitchFamily="34" charset="-120"/>
              </a:rPr>
              <a:t> = câte folii și cât de apropiate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43"/>
          <p:cNvSpPr txBox="1"/>
          <p:nvPr/>
        </p:nvSpPr>
        <p:spPr>
          <a:xfrm>
            <a:off x="457200" y="201168"/>
            <a:ext cx="8229600" cy="256032"/>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SELECȚIE VS. AMPLASARE</a:t>
            </a:r>
            <a:endParaRPr lang="en-US" sz="1200" dirty="0"/>
          </a:p>
        </p:txBody>
      </p:sp>
      <p:sp>
        <p:nvSpPr>
          <p:cNvPr id="3" name="text-44"/>
          <p:cNvSpPr txBox="1"/>
          <p:nvPr/>
        </p:nvSpPr>
        <p:spPr>
          <a:xfrm>
            <a:off x="457200" y="457200"/>
            <a:ext cx="8229600" cy="685800"/>
          </a:xfrm>
          <a:prstGeom prst="rect">
            <a:avLst/>
          </a:prstGeom>
          <a:noFill/>
          <a:ln/>
        </p:spPr>
        <p:txBody>
          <a:bodyPr wrap="square" lIns="0" tIns="0" rIns="0" bIns="0" rtlCol="0" anchor="ctr"/>
          <a:lstStyle/>
          <a:p>
            <a:pPr indent="0" marL="0">
              <a:buNone/>
            </a:pPr>
            <a:r>
              <a:rPr lang="en-US" sz="2200" b="1" dirty="0">
                <a:solidFill>
                  <a:srgbClr val="1E1A18"/>
                </a:solidFill>
                <a:latin typeface="Arial" pitchFamily="34" charset="0"/>
                <a:ea typeface="Arial" pitchFamily="34" charset="-122"/>
                <a:cs typeface="Arial" pitchFamily="34" charset="-120"/>
              </a:rPr>
              <a:t>Slice vs. back-to-back</a:t>
            </a:r>
            <a:endParaRPr lang="en-US" sz="2200" dirty="0"/>
          </a:p>
        </p:txBody>
      </p:sp>
      <p:sp>
        <p:nvSpPr>
          <p:cNvPr id="4" name="text-45"/>
          <p:cNvSpPr txBox="1"/>
          <p:nvPr/>
        </p:nvSpPr>
        <p:spPr>
          <a:xfrm>
            <a:off x="457200" y="4846320"/>
            <a:ext cx="6400800" cy="201168"/>
          </a:xfrm>
          <a:prstGeom prst="rect">
            <a:avLst/>
          </a:prstGeom>
          <a:noFill/>
          <a:ln/>
        </p:spPr>
        <p:txBody>
          <a:bodyPr wrap="square" lIns="0" tIns="0" rIns="0" bIns="0" rtlCol="0" anchor="t"/>
          <a:lstStyle/>
          <a:p>
            <a:pPr indent="0" marL="0">
              <a:buNone/>
            </a:pPr>
            <a:r>
              <a:rPr lang="en-US" sz="900" dirty="0">
                <a:solidFill>
                  <a:srgbClr val="4A3F3A"/>
                </a:solidFill>
                <a:latin typeface="Arial" pitchFamily="34" charset="0"/>
                <a:ea typeface="Arial" pitchFamily="34" charset="-122"/>
                <a:cs typeface="Arial" pitchFamily="34" charset="-120"/>
              </a:rPr>
              <a:t>BLONDE AMBITION by Diana Avram · Alfaparf Milano Professional</a:t>
            </a:r>
            <a:endParaRPr lang="en-US" sz="900" dirty="0"/>
          </a:p>
        </p:txBody>
      </p:sp>
      <p:pic>
        <p:nvPicPr>
          <p:cNvPr id="6" name="image-46" descr="Diagramă folii: Slice (cu spații)">    </p:cNvPr>
          <p:cNvPicPr>
            <a:picLocks noChangeAspect="1"/>
          </p:cNvPicPr>
          <p:nvPr/>
        </p:nvPicPr>
        <p:blipFill>
          <a:blip r:embed="rId1"/>
          <a:stretch>
            <a:fillRect/>
          </a:stretch>
        </p:blipFill>
        <p:spPr>
          <a:xfrm>
            <a:off x="457200" y="1234440"/>
            <a:ext cx="1783080" cy="1901952"/>
          </a:xfrm>
          <a:prstGeom prst="rect">
            <a:avLst/>
          </a:prstGeom>
        </p:spPr>
      </p:pic>
      <p:pic>
        <p:nvPicPr>
          <p:cNvPr id="7" name="image-47" descr="Rezultat: Slice (cu spații)">    </p:cNvPr>
          <p:cNvPicPr>
            <a:picLocks noChangeAspect="1"/>
          </p:cNvPicPr>
          <p:nvPr/>
        </p:nvPicPr>
        <p:blipFill>
          <a:blip r:embed="rId2"/>
          <a:stretch>
            <a:fillRect/>
          </a:stretch>
        </p:blipFill>
        <p:spPr>
          <a:xfrm>
            <a:off x="2331720" y="1234440"/>
            <a:ext cx="1331366" cy="1901952"/>
          </a:xfrm>
          <a:prstGeom prst="rect">
            <a:avLst/>
          </a:prstGeom>
        </p:spPr>
      </p:pic>
      <p:sp>
        <p:nvSpPr>
          <p:cNvPr id="8" name="text-48"/>
          <p:cNvSpPr txBox="1"/>
          <p:nvPr/>
        </p:nvSpPr>
        <p:spPr>
          <a:xfrm>
            <a:off x="457200" y="3154680"/>
            <a:ext cx="1783080" cy="201168"/>
          </a:xfrm>
          <a:prstGeom prst="rect">
            <a:avLst/>
          </a:prstGeom>
          <a:noFill/>
          <a:ln/>
        </p:spPr>
        <p:txBody>
          <a:bodyPr wrap="square" lIns="0" tIns="0" rIns="0" bIns="0" rtlCol="0" anchor="t"/>
          <a:lstStyle/>
          <a:p>
            <a:pPr algn="ctr" indent="0" marL="0">
              <a:buNone/>
            </a:pPr>
            <a:r>
              <a:rPr lang="en-US" sz="1050" i="1" dirty="0">
                <a:solidFill>
                  <a:srgbClr val="4A3F3A"/>
                </a:solidFill>
                <a:latin typeface="Arial" pitchFamily="34" charset="0"/>
                <a:ea typeface="Arial" pitchFamily="34" charset="-122"/>
                <a:cs typeface="Arial" pitchFamily="34" charset="-120"/>
              </a:rPr>
              <a:t>folii</a:t>
            </a:r>
            <a:endParaRPr lang="en-US" sz="1050" dirty="0"/>
          </a:p>
        </p:txBody>
      </p:sp>
      <p:sp>
        <p:nvSpPr>
          <p:cNvPr id="9" name="text-49"/>
          <p:cNvSpPr txBox="1"/>
          <p:nvPr/>
        </p:nvSpPr>
        <p:spPr>
          <a:xfrm>
            <a:off x="2331720" y="3154680"/>
            <a:ext cx="1335024" cy="201168"/>
          </a:xfrm>
          <a:prstGeom prst="rect">
            <a:avLst/>
          </a:prstGeom>
          <a:noFill/>
          <a:ln/>
        </p:spPr>
        <p:txBody>
          <a:bodyPr wrap="square" lIns="0" tIns="0" rIns="0" bIns="0" rtlCol="0" anchor="t"/>
          <a:lstStyle/>
          <a:p>
            <a:pPr algn="ctr" indent="0" marL="0">
              <a:buNone/>
            </a:pPr>
            <a:r>
              <a:rPr lang="en-US" sz="1050" i="1" dirty="0">
                <a:solidFill>
                  <a:srgbClr val="4A3F3A"/>
                </a:solidFill>
                <a:latin typeface="Arial" pitchFamily="34" charset="0"/>
                <a:ea typeface="Arial" pitchFamily="34" charset="-122"/>
                <a:cs typeface="Arial" pitchFamily="34" charset="-120"/>
              </a:rPr>
              <a:t>rezultat</a:t>
            </a:r>
            <a:endParaRPr lang="en-US" sz="1050" dirty="0"/>
          </a:p>
        </p:txBody>
      </p:sp>
      <p:sp>
        <p:nvSpPr>
          <p:cNvPr id="10" name="text-50"/>
          <p:cNvSpPr txBox="1"/>
          <p:nvPr/>
        </p:nvSpPr>
        <p:spPr>
          <a:xfrm>
            <a:off x="457200" y="3364992"/>
            <a:ext cx="4023360" cy="292608"/>
          </a:xfrm>
          <a:prstGeom prst="rect">
            <a:avLst/>
          </a:prstGeom>
          <a:noFill/>
          <a:ln/>
        </p:spPr>
        <p:txBody>
          <a:bodyPr wrap="square" lIns="0" tIns="0" rIns="0" bIns="0" rtlCol="0" anchor="t"/>
          <a:lstStyle/>
          <a:p>
            <a:pPr indent="0" marL="0">
              <a:buNone/>
            </a:pPr>
            <a:r>
              <a:rPr lang="en-US" sz="1600" b="1" dirty="0">
                <a:solidFill>
                  <a:srgbClr val="9A4F5C"/>
                </a:solidFill>
                <a:latin typeface="Arial" pitchFamily="34" charset="0"/>
                <a:ea typeface="Arial" pitchFamily="34" charset="-122"/>
                <a:cs typeface="Arial" pitchFamily="34" charset="-120"/>
              </a:rPr>
              <a:t>Slice (cu spații)</a:t>
            </a:r>
            <a:endParaRPr lang="en-US" sz="1600" dirty="0"/>
          </a:p>
        </p:txBody>
      </p:sp>
      <p:sp>
        <p:nvSpPr>
          <p:cNvPr id="11" name="text-51"/>
          <p:cNvSpPr txBox="1"/>
          <p:nvPr/>
        </p:nvSpPr>
        <p:spPr>
          <a:xfrm>
            <a:off x="457200" y="3694176"/>
            <a:ext cx="4023360" cy="822960"/>
          </a:xfrm>
          <a:prstGeom prst="rect">
            <a:avLst/>
          </a:prstGeom>
          <a:noFill/>
          <a:ln/>
        </p:spPr>
        <p:txBody>
          <a:bodyPr wrap="square" lIns="0" tIns="0" rIns="0" bIns="0" rtlCol="0" anchor="t"/>
          <a:lstStyle/>
          <a:p>
            <a:pPr indent="0" marL="0">
              <a:spcAft>
                <a:spcPts val="500"/>
              </a:spcAft>
              <a:buNone/>
            </a:pPr>
            <a:r>
              <a:rPr lang="en-US" sz="1250" b="1" dirty="0">
                <a:solidFill>
                  <a:srgbClr val="1E1A18"/>
                </a:solidFill>
                <a:latin typeface="Arial" pitchFamily="34" charset="0"/>
                <a:ea typeface="Arial" pitchFamily="34" charset="-122"/>
                <a:cs typeface="Arial" pitchFamily="34" charset="-120"/>
              </a:rPr>
              <a:t>Creează:</a:t>
            </a:r>
            <a:r>
              <a:rPr lang="en-US" sz="1250" dirty="0">
                <a:solidFill>
                  <a:srgbClr val="1E1A18"/>
                </a:solidFill>
                <a:latin typeface="Arial" pitchFamily="34" charset="0"/>
                <a:ea typeface="Arial" pitchFamily="34" charset="-122"/>
                <a:cs typeface="Arial" pitchFamily="34" charset="-120"/>
              </a:rPr>
              <a:t> panouri compacte de lumină</a:t>
            </a:r>
            <a:endParaRPr lang="en-US" sz="1400" dirty="0"/>
          </a:p>
          <a:p>
            <a:pPr indent="0" marL="0">
              <a:spcAft>
                <a:spcPts val="500"/>
              </a:spcAft>
              <a:buNone/>
            </a:pPr>
            <a:r>
              <a:rPr lang="en-US" sz="1250" b="1" dirty="0">
                <a:solidFill>
                  <a:srgbClr val="1E1A18"/>
                </a:solidFill>
                <a:latin typeface="Arial" pitchFamily="34" charset="0"/>
                <a:ea typeface="Arial" pitchFamily="34" charset="-122"/>
                <a:cs typeface="Arial" pitchFamily="34" charset="-120"/>
              </a:rPr>
              <a:t>Când:</a:t>
            </a:r>
            <a:r>
              <a:rPr lang="en-US" sz="1250" dirty="0">
                <a:solidFill>
                  <a:srgbClr val="1E1A18"/>
                </a:solidFill>
                <a:latin typeface="Arial" pitchFamily="34" charset="0"/>
                <a:ea typeface="Arial" pitchFamily="34" charset="-122"/>
                <a:cs typeface="Arial" pitchFamily="34" charset="-120"/>
              </a:rPr>
              <a:t> accente, contur, contrast clar</a:t>
            </a:r>
            <a:endParaRPr lang="en-US" sz="1400" dirty="0"/>
          </a:p>
          <a:p>
            <a:pPr indent="0" marL="0">
              <a:spcAft>
                <a:spcPts val="500"/>
              </a:spcAft>
              <a:buNone/>
            </a:pPr>
            <a:r>
              <a:rPr lang="en-US" sz="1250" b="1" dirty="0">
                <a:solidFill>
                  <a:srgbClr val="1E1A18"/>
                </a:solidFill>
                <a:latin typeface="Arial" pitchFamily="34" charset="0"/>
                <a:ea typeface="Arial" pitchFamily="34" charset="-122"/>
                <a:cs typeface="Arial" pitchFamily="34" charset="-120"/>
              </a:rPr>
              <a:t>Impact:</a:t>
            </a:r>
            <a:r>
              <a:rPr lang="en-US" sz="1250" dirty="0">
                <a:solidFill>
                  <a:srgbClr val="1E1A18"/>
                </a:solidFill>
                <a:latin typeface="Arial" pitchFamily="34" charset="0"/>
                <a:ea typeface="Arial" pitchFamily="34" charset="-122"/>
                <a:cs typeface="Arial" pitchFamily="34" charset="-120"/>
              </a:rPr>
              <a:t> depinde de grosime și orientare</a:t>
            </a:r>
            <a:endParaRPr lang="en-US" sz="1400" dirty="0"/>
          </a:p>
        </p:txBody>
      </p:sp>
      <p:pic>
        <p:nvPicPr>
          <p:cNvPr id="12" name="image-52" descr="Diagramă folii: Back-to-back">    </p:cNvPr>
          <p:cNvPicPr>
            <a:picLocks noChangeAspect="1"/>
          </p:cNvPicPr>
          <p:nvPr/>
        </p:nvPicPr>
        <p:blipFill>
          <a:blip r:embed="rId3"/>
          <a:stretch>
            <a:fillRect/>
          </a:stretch>
        </p:blipFill>
        <p:spPr>
          <a:xfrm>
            <a:off x="4663440" y="1234440"/>
            <a:ext cx="1783080" cy="1901952"/>
          </a:xfrm>
          <a:prstGeom prst="rect">
            <a:avLst/>
          </a:prstGeom>
        </p:spPr>
      </p:pic>
      <p:pic>
        <p:nvPicPr>
          <p:cNvPr id="13" name="image-53" descr="Rezultat: Back-to-back">    </p:cNvPr>
          <p:cNvPicPr>
            <a:picLocks noChangeAspect="1"/>
          </p:cNvPicPr>
          <p:nvPr/>
        </p:nvPicPr>
        <p:blipFill>
          <a:blip r:embed="rId4"/>
          <a:stretch>
            <a:fillRect/>
          </a:stretch>
        </p:blipFill>
        <p:spPr>
          <a:xfrm>
            <a:off x="6537960" y="1234440"/>
            <a:ext cx="1331366" cy="1901952"/>
          </a:xfrm>
          <a:prstGeom prst="rect">
            <a:avLst/>
          </a:prstGeom>
        </p:spPr>
      </p:pic>
      <p:sp>
        <p:nvSpPr>
          <p:cNvPr id="14" name="text-54"/>
          <p:cNvSpPr txBox="1"/>
          <p:nvPr/>
        </p:nvSpPr>
        <p:spPr>
          <a:xfrm>
            <a:off x="4663440" y="3154680"/>
            <a:ext cx="1783080" cy="201168"/>
          </a:xfrm>
          <a:prstGeom prst="rect">
            <a:avLst/>
          </a:prstGeom>
          <a:noFill/>
          <a:ln/>
        </p:spPr>
        <p:txBody>
          <a:bodyPr wrap="square" lIns="0" tIns="0" rIns="0" bIns="0" rtlCol="0" anchor="t"/>
          <a:lstStyle/>
          <a:p>
            <a:pPr algn="ctr" indent="0" marL="0">
              <a:buNone/>
            </a:pPr>
            <a:r>
              <a:rPr lang="en-US" sz="1050" i="1" dirty="0">
                <a:solidFill>
                  <a:srgbClr val="4A3F3A"/>
                </a:solidFill>
                <a:latin typeface="Arial" pitchFamily="34" charset="0"/>
                <a:ea typeface="Arial" pitchFamily="34" charset="-122"/>
                <a:cs typeface="Arial" pitchFamily="34" charset="-120"/>
              </a:rPr>
              <a:t>folii</a:t>
            </a:r>
            <a:endParaRPr lang="en-US" sz="1050" dirty="0"/>
          </a:p>
        </p:txBody>
      </p:sp>
      <p:sp>
        <p:nvSpPr>
          <p:cNvPr id="15" name="text-55"/>
          <p:cNvSpPr txBox="1"/>
          <p:nvPr/>
        </p:nvSpPr>
        <p:spPr>
          <a:xfrm>
            <a:off x="6537960" y="3154680"/>
            <a:ext cx="1335024" cy="201168"/>
          </a:xfrm>
          <a:prstGeom prst="rect">
            <a:avLst/>
          </a:prstGeom>
          <a:noFill/>
          <a:ln/>
        </p:spPr>
        <p:txBody>
          <a:bodyPr wrap="square" lIns="0" tIns="0" rIns="0" bIns="0" rtlCol="0" anchor="t"/>
          <a:lstStyle/>
          <a:p>
            <a:pPr algn="ctr" indent="0" marL="0">
              <a:buNone/>
            </a:pPr>
            <a:r>
              <a:rPr lang="en-US" sz="1050" i="1" dirty="0">
                <a:solidFill>
                  <a:srgbClr val="4A3F3A"/>
                </a:solidFill>
                <a:latin typeface="Arial" pitchFamily="34" charset="0"/>
                <a:ea typeface="Arial" pitchFamily="34" charset="-122"/>
                <a:cs typeface="Arial" pitchFamily="34" charset="-120"/>
              </a:rPr>
              <a:t>rezultat</a:t>
            </a:r>
            <a:endParaRPr lang="en-US" sz="1050" dirty="0"/>
          </a:p>
        </p:txBody>
      </p:sp>
      <p:sp>
        <p:nvSpPr>
          <p:cNvPr id="16" name="text-56"/>
          <p:cNvSpPr txBox="1"/>
          <p:nvPr/>
        </p:nvSpPr>
        <p:spPr>
          <a:xfrm>
            <a:off x="4663440" y="3364992"/>
            <a:ext cx="4023360" cy="292608"/>
          </a:xfrm>
          <a:prstGeom prst="rect">
            <a:avLst/>
          </a:prstGeom>
          <a:noFill/>
          <a:ln/>
        </p:spPr>
        <p:txBody>
          <a:bodyPr wrap="square" lIns="0" tIns="0" rIns="0" bIns="0" rtlCol="0" anchor="t"/>
          <a:lstStyle/>
          <a:p>
            <a:pPr indent="0" marL="0">
              <a:buNone/>
            </a:pPr>
            <a:r>
              <a:rPr lang="en-US" sz="1600" b="1" dirty="0">
                <a:solidFill>
                  <a:srgbClr val="9A4F5C"/>
                </a:solidFill>
                <a:latin typeface="Arial" pitchFamily="34" charset="0"/>
                <a:ea typeface="Arial" pitchFamily="34" charset="-122"/>
                <a:cs typeface="Arial" pitchFamily="34" charset="-120"/>
              </a:rPr>
              <a:t>Back-to-back</a:t>
            </a:r>
            <a:endParaRPr lang="en-US" sz="1600" dirty="0"/>
          </a:p>
        </p:txBody>
      </p:sp>
      <p:sp>
        <p:nvSpPr>
          <p:cNvPr id="17" name="text-57"/>
          <p:cNvSpPr txBox="1"/>
          <p:nvPr/>
        </p:nvSpPr>
        <p:spPr>
          <a:xfrm>
            <a:off x="4663440" y="3694176"/>
            <a:ext cx="4023360" cy="822960"/>
          </a:xfrm>
          <a:prstGeom prst="rect">
            <a:avLst/>
          </a:prstGeom>
          <a:noFill/>
          <a:ln/>
        </p:spPr>
        <p:txBody>
          <a:bodyPr wrap="square" lIns="0" tIns="0" rIns="0" bIns="0" rtlCol="0" anchor="t"/>
          <a:lstStyle/>
          <a:p>
            <a:pPr indent="0" marL="0">
              <a:spcAft>
                <a:spcPts val="500"/>
              </a:spcAft>
              <a:buNone/>
            </a:pPr>
            <a:r>
              <a:rPr lang="en-US" sz="1250" b="1" dirty="0">
                <a:solidFill>
                  <a:srgbClr val="1E1A18"/>
                </a:solidFill>
                <a:latin typeface="Arial" pitchFamily="34" charset="0"/>
                <a:ea typeface="Arial" pitchFamily="34" charset="-122"/>
                <a:cs typeface="Arial" pitchFamily="34" charset="-120"/>
              </a:rPr>
              <a:t>Este:</a:t>
            </a:r>
            <a:r>
              <a:rPr lang="en-US" sz="1250" dirty="0">
                <a:solidFill>
                  <a:srgbClr val="1E1A18"/>
                </a:solidFill>
                <a:latin typeface="Arial" pitchFamily="34" charset="0"/>
                <a:ea typeface="Arial" pitchFamily="34" charset="-122"/>
                <a:cs typeface="Arial" pitchFamily="34" charset="-120"/>
              </a:rPr>
              <a:t> mod de amplasare, nu de selecție</a:t>
            </a:r>
            <a:endParaRPr lang="en-US" sz="1400" dirty="0"/>
          </a:p>
          <a:p>
            <a:pPr indent="0" marL="0">
              <a:spcAft>
                <a:spcPts val="500"/>
              </a:spcAft>
              <a:buNone/>
            </a:pPr>
            <a:r>
              <a:rPr lang="en-US" sz="1250" b="1" dirty="0">
                <a:solidFill>
                  <a:srgbClr val="1E1A18"/>
                </a:solidFill>
                <a:latin typeface="Arial" pitchFamily="34" charset="0"/>
                <a:ea typeface="Arial" pitchFamily="34" charset="-122"/>
                <a:cs typeface="Arial" pitchFamily="34" charset="-120"/>
              </a:rPr>
              <a:t>Când:</a:t>
            </a:r>
            <a:r>
              <a:rPr lang="en-US" sz="1250" dirty="0">
                <a:solidFill>
                  <a:srgbClr val="1E1A18"/>
                </a:solidFill>
                <a:latin typeface="Arial" pitchFamily="34" charset="0"/>
                <a:ea typeface="Arial" pitchFamily="34" charset="-122"/>
                <a:cs typeface="Arial" pitchFamily="34" charset="-120"/>
              </a:rPr>
              <a:t> mai mult blond, mai puțin natural</a:t>
            </a:r>
            <a:endParaRPr lang="en-US" sz="1400" dirty="0"/>
          </a:p>
          <a:p>
            <a:pPr indent="0" marL="0">
              <a:spcAft>
                <a:spcPts val="500"/>
              </a:spcAft>
              <a:buNone/>
            </a:pPr>
            <a:r>
              <a:rPr lang="en-US" sz="1250" b="1" dirty="0">
                <a:solidFill>
                  <a:srgbClr val="1E1A18"/>
                </a:solidFill>
                <a:latin typeface="Arial" pitchFamily="34" charset="0"/>
                <a:ea typeface="Arial" pitchFamily="34" charset="-122"/>
                <a:cs typeface="Arial" pitchFamily="34" charset="-120"/>
              </a:rPr>
              <a:t>Impact:</a:t>
            </a:r>
            <a:r>
              <a:rPr lang="en-US" sz="1250" dirty="0">
                <a:solidFill>
                  <a:srgbClr val="1E1A18"/>
                </a:solidFill>
                <a:latin typeface="Arial" pitchFamily="34" charset="0"/>
                <a:ea typeface="Arial" pitchFamily="34" charset="-122"/>
                <a:cs typeface="Arial" pitchFamily="34" charset="-120"/>
              </a:rPr>
              <a:t> densitate vizuală mare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58"/>
          <p:cNvSpPr txBox="1"/>
          <p:nvPr/>
        </p:nvSpPr>
        <p:spPr>
          <a:xfrm>
            <a:off x="457200" y="201168"/>
            <a:ext cx="8229600" cy="256032"/>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SEPARAREA FIRELOR</a:t>
            </a:r>
            <a:endParaRPr lang="en-US" sz="1200" dirty="0"/>
          </a:p>
        </p:txBody>
      </p:sp>
      <p:sp>
        <p:nvSpPr>
          <p:cNvPr id="3" name="text-59"/>
          <p:cNvSpPr txBox="1"/>
          <p:nvPr/>
        </p:nvSpPr>
        <p:spPr>
          <a:xfrm>
            <a:off x="457200" y="457200"/>
            <a:ext cx="8229600" cy="685800"/>
          </a:xfrm>
          <a:prstGeom prst="rect">
            <a:avLst/>
          </a:prstGeom>
          <a:noFill/>
          <a:ln/>
        </p:spPr>
        <p:txBody>
          <a:bodyPr wrap="square" lIns="0" tIns="0" rIns="0" bIns="0" rtlCol="0" anchor="ctr"/>
          <a:lstStyle/>
          <a:p>
            <a:pPr indent="0" marL="0">
              <a:buNone/>
            </a:pPr>
            <a:r>
              <a:rPr lang="en-US" sz="2200" b="1" dirty="0">
                <a:solidFill>
                  <a:srgbClr val="1E1A18"/>
                </a:solidFill>
                <a:latin typeface="Arial" pitchFamily="34" charset="0"/>
                <a:ea typeface="Arial" pitchFamily="34" charset="-122"/>
                <a:cs typeface="Arial" pitchFamily="34" charset="-120"/>
              </a:rPr>
              <a:t>Două metode de separare. Două moduri de a construi tranziția.</a:t>
            </a:r>
            <a:endParaRPr lang="en-US" sz="2200" dirty="0"/>
          </a:p>
        </p:txBody>
      </p:sp>
      <p:sp>
        <p:nvSpPr>
          <p:cNvPr id="4" name="text-60"/>
          <p:cNvSpPr txBox="1"/>
          <p:nvPr/>
        </p:nvSpPr>
        <p:spPr>
          <a:xfrm>
            <a:off x="457200" y="4846320"/>
            <a:ext cx="6400800" cy="201168"/>
          </a:xfrm>
          <a:prstGeom prst="rect">
            <a:avLst/>
          </a:prstGeom>
          <a:noFill/>
          <a:ln/>
        </p:spPr>
        <p:txBody>
          <a:bodyPr wrap="square" lIns="0" tIns="0" rIns="0" bIns="0" rtlCol="0" anchor="t"/>
          <a:lstStyle/>
          <a:p>
            <a:pPr indent="0" marL="0">
              <a:buNone/>
            </a:pPr>
            <a:r>
              <a:rPr lang="en-US" sz="900" dirty="0">
                <a:solidFill>
                  <a:srgbClr val="4A3F3A"/>
                </a:solidFill>
                <a:latin typeface="Arial" pitchFamily="34" charset="0"/>
                <a:ea typeface="Arial" pitchFamily="34" charset="-122"/>
                <a:cs typeface="Arial" pitchFamily="34" charset="-120"/>
              </a:rPr>
              <a:t>BLONDE AMBITION by Diana Avram · Alfaparf Milano Professional</a:t>
            </a:r>
            <a:endParaRPr lang="en-US" sz="900" dirty="0"/>
          </a:p>
        </p:txBody>
      </p:sp>
      <p:pic>
        <p:nvPicPr>
          <p:cNvPr id="6" name="image-61" descr="Diagramă separare: Teasing / tapare">    </p:cNvPr>
          <p:cNvPicPr>
            <a:picLocks noChangeAspect="1"/>
          </p:cNvPicPr>
          <p:nvPr/>
        </p:nvPicPr>
        <p:blipFill>
          <a:blip r:embed="rId1"/>
          <a:stretch>
            <a:fillRect/>
          </a:stretch>
        </p:blipFill>
        <p:spPr>
          <a:xfrm>
            <a:off x="457200" y="1280160"/>
            <a:ext cx="1399032" cy="1901952"/>
          </a:xfrm>
          <a:prstGeom prst="rect">
            <a:avLst/>
          </a:prstGeom>
        </p:spPr>
      </p:pic>
      <p:pic>
        <p:nvPicPr>
          <p:cNvPr id="7" name="image-62" descr="Rezultat: Teasing / tapare">    </p:cNvPr>
          <p:cNvPicPr>
            <a:picLocks noChangeAspect="1"/>
          </p:cNvPicPr>
          <p:nvPr/>
        </p:nvPicPr>
        <p:blipFill>
          <a:blip r:embed="rId2"/>
          <a:stretch>
            <a:fillRect/>
          </a:stretch>
        </p:blipFill>
        <p:spPr>
          <a:xfrm>
            <a:off x="1965960" y="1280160"/>
            <a:ext cx="1331366" cy="1901952"/>
          </a:xfrm>
          <a:prstGeom prst="rect">
            <a:avLst/>
          </a:prstGeom>
        </p:spPr>
      </p:pic>
      <p:sp>
        <p:nvSpPr>
          <p:cNvPr id="8" name="text-63"/>
          <p:cNvSpPr txBox="1"/>
          <p:nvPr/>
        </p:nvSpPr>
        <p:spPr>
          <a:xfrm>
            <a:off x="457200" y="3200400"/>
            <a:ext cx="1399032" cy="201168"/>
          </a:xfrm>
          <a:prstGeom prst="rect">
            <a:avLst/>
          </a:prstGeom>
          <a:noFill/>
          <a:ln/>
        </p:spPr>
        <p:txBody>
          <a:bodyPr wrap="square" lIns="0" tIns="0" rIns="0" bIns="0" rtlCol="0" anchor="t"/>
          <a:lstStyle/>
          <a:p>
            <a:pPr algn="ctr" indent="0" marL="0">
              <a:buNone/>
            </a:pPr>
            <a:r>
              <a:rPr lang="en-US" sz="1050" i="1" dirty="0">
                <a:solidFill>
                  <a:srgbClr val="4A3F3A"/>
                </a:solidFill>
                <a:latin typeface="Arial" pitchFamily="34" charset="0"/>
                <a:ea typeface="Arial" pitchFamily="34" charset="-122"/>
                <a:cs typeface="Arial" pitchFamily="34" charset="-120"/>
              </a:rPr>
              <a:t>separare</a:t>
            </a:r>
            <a:endParaRPr lang="en-US" sz="1050" dirty="0"/>
          </a:p>
        </p:txBody>
      </p:sp>
      <p:sp>
        <p:nvSpPr>
          <p:cNvPr id="9" name="text-64"/>
          <p:cNvSpPr txBox="1"/>
          <p:nvPr/>
        </p:nvSpPr>
        <p:spPr>
          <a:xfrm>
            <a:off x="1965960" y="3200400"/>
            <a:ext cx="1335024" cy="201168"/>
          </a:xfrm>
          <a:prstGeom prst="rect">
            <a:avLst/>
          </a:prstGeom>
          <a:noFill/>
          <a:ln/>
        </p:spPr>
        <p:txBody>
          <a:bodyPr wrap="square" lIns="0" tIns="0" rIns="0" bIns="0" rtlCol="0" anchor="t"/>
          <a:lstStyle/>
          <a:p>
            <a:pPr algn="ctr" indent="0" marL="0">
              <a:buNone/>
            </a:pPr>
            <a:r>
              <a:rPr lang="en-US" sz="1050" i="1" dirty="0">
                <a:solidFill>
                  <a:srgbClr val="4A3F3A"/>
                </a:solidFill>
                <a:latin typeface="Arial" pitchFamily="34" charset="0"/>
                <a:ea typeface="Arial" pitchFamily="34" charset="-122"/>
                <a:cs typeface="Arial" pitchFamily="34" charset="-120"/>
              </a:rPr>
              <a:t>rezultat</a:t>
            </a:r>
            <a:endParaRPr lang="en-US" sz="1050" dirty="0"/>
          </a:p>
        </p:txBody>
      </p:sp>
      <p:sp>
        <p:nvSpPr>
          <p:cNvPr id="10" name="text-65"/>
          <p:cNvSpPr txBox="1"/>
          <p:nvPr/>
        </p:nvSpPr>
        <p:spPr>
          <a:xfrm>
            <a:off x="457200" y="3401568"/>
            <a:ext cx="4023360" cy="292608"/>
          </a:xfrm>
          <a:prstGeom prst="rect">
            <a:avLst/>
          </a:prstGeom>
          <a:noFill/>
          <a:ln/>
        </p:spPr>
        <p:txBody>
          <a:bodyPr wrap="square" lIns="0" tIns="0" rIns="0" bIns="0" rtlCol="0" anchor="t"/>
          <a:lstStyle/>
          <a:p>
            <a:pPr indent="0" marL="0">
              <a:buNone/>
            </a:pPr>
            <a:r>
              <a:rPr lang="en-US" sz="1600" b="1" dirty="0">
                <a:solidFill>
                  <a:srgbClr val="9A4F5C"/>
                </a:solidFill>
                <a:latin typeface="Arial" pitchFamily="34" charset="0"/>
                <a:ea typeface="Arial" pitchFamily="34" charset="-122"/>
                <a:cs typeface="Arial" pitchFamily="34" charset="-120"/>
              </a:rPr>
              <a:t>Teasing / tapare</a:t>
            </a:r>
            <a:endParaRPr lang="en-US" sz="1600" dirty="0"/>
          </a:p>
        </p:txBody>
      </p:sp>
      <p:sp>
        <p:nvSpPr>
          <p:cNvPr id="11" name="text-66"/>
          <p:cNvSpPr txBox="1"/>
          <p:nvPr/>
        </p:nvSpPr>
        <p:spPr>
          <a:xfrm>
            <a:off x="457200" y="3730752"/>
            <a:ext cx="4023360" cy="822960"/>
          </a:xfrm>
          <a:prstGeom prst="rect">
            <a:avLst/>
          </a:prstGeom>
          <a:noFill/>
          <a:ln/>
        </p:spPr>
        <p:txBody>
          <a:bodyPr wrap="square" lIns="0" tIns="0" rIns="0" bIns="0" rtlCol="0" anchor="t"/>
          <a:lstStyle/>
          <a:p>
            <a:pPr indent="0" marL="0">
              <a:spcAft>
                <a:spcPts val="500"/>
              </a:spcAft>
              <a:buNone/>
            </a:pPr>
            <a:r>
              <a:rPr lang="en-US" sz="1250" b="1" dirty="0">
                <a:solidFill>
                  <a:srgbClr val="1E1A18"/>
                </a:solidFill>
                <a:latin typeface="Arial" pitchFamily="34" charset="0"/>
                <a:ea typeface="Arial" pitchFamily="34" charset="-122"/>
                <a:cs typeface="Arial" pitchFamily="34" charset="-120"/>
              </a:rPr>
              <a:t>Creează:</a:t>
            </a:r>
            <a:r>
              <a:rPr lang="en-US" sz="1250" dirty="0">
                <a:solidFill>
                  <a:srgbClr val="1E1A18"/>
                </a:solidFill>
                <a:latin typeface="Arial" pitchFamily="34" charset="0"/>
                <a:ea typeface="Arial" pitchFamily="34" charset="-122"/>
                <a:cs typeface="Arial" pitchFamily="34" charset="-120"/>
              </a:rPr>
              <a:t> rădăcină difuză, secțiuni vizibile</a:t>
            </a:r>
            <a:endParaRPr lang="en-US" sz="1400" dirty="0"/>
          </a:p>
          <a:p>
            <a:pPr indent="0" marL="0">
              <a:spcAft>
                <a:spcPts val="500"/>
              </a:spcAft>
              <a:buNone/>
            </a:pPr>
            <a:r>
              <a:rPr lang="en-US" sz="1250" b="1" dirty="0">
                <a:solidFill>
                  <a:srgbClr val="1E1A18"/>
                </a:solidFill>
                <a:latin typeface="Arial" pitchFamily="34" charset="0"/>
                <a:ea typeface="Arial" pitchFamily="34" charset="-122"/>
                <a:cs typeface="Arial" pitchFamily="34" charset="-120"/>
              </a:rPr>
              <a:t>Când:</a:t>
            </a:r>
            <a:r>
              <a:rPr lang="en-US" sz="1250" dirty="0">
                <a:solidFill>
                  <a:srgbClr val="1E1A18"/>
                </a:solidFill>
                <a:latin typeface="Arial" pitchFamily="34" charset="0"/>
                <a:ea typeface="Arial" pitchFamily="34" charset="-122"/>
                <a:cs typeface="Arial" pitchFamily="34" charset="-120"/>
              </a:rPr>
              <a:t> balayage, lived-in, contrast pe lungimi</a:t>
            </a:r>
            <a:endParaRPr lang="en-US" sz="1400" dirty="0"/>
          </a:p>
          <a:p>
            <a:pPr indent="0" marL="0">
              <a:spcAft>
                <a:spcPts val="500"/>
              </a:spcAft>
              <a:buNone/>
            </a:pPr>
            <a:r>
              <a:rPr lang="en-US" sz="1250" b="1" dirty="0">
                <a:solidFill>
                  <a:srgbClr val="1E1A18"/>
                </a:solidFill>
                <a:latin typeface="Arial" pitchFamily="34" charset="0"/>
                <a:ea typeface="Arial" pitchFamily="34" charset="-122"/>
                <a:cs typeface="Arial" pitchFamily="34" charset="-120"/>
              </a:rPr>
              <a:t>Atenție:</a:t>
            </a:r>
            <a:r>
              <a:rPr lang="en-US" sz="1250" dirty="0">
                <a:solidFill>
                  <a:srgbClr val="1E1A18"/>
                </a:solidFill>
                <a:latin typeface="Arial" pitchFamily="34" charset="0"/>
                <a:ea typeface="Arial" pitchFamily="34" charset="-122"/>
                <a:cs typeface="Arial" pitchFamily="34" charset="-120"/>
              </a:rPr>
              <a:t> descurcare și reaplicări</a:t>
            </a:r>
            <a:endParaRPr lang="en-US" sz="1400" dirty="0"/>
          </a:p>
        </p:txBody>
      </p:sp>
      <p:pic>
        <p:nvPicPr>
          <p:cNvPr id="12" name="image-67" descr="Diagramă separare: AirTouch">    </p:cNvPr>
          <p:cNvPicPr>
            <a:picLocks noChangeAspect="1"/>
          </p:cNvPicPr>
          <p:nvPr/>
        </p:nvPicPr>
        <p:blipFill>
          <a:blip r:embed="rId3"/>
          <a:stretch>
            <a:fillRect/>
          </a:stretch>
        </p:blipFill>
        <p:spPr>
          <a:xfrm>
            <a:off x="4663440" y="1280160"/>
            <a:ext cx="1399032" cy="1901952"/>
          </a:xfrm>
          <a:prstGeom prst="rect">
            <a:avLst/>
          </a:prstGeom>
        </p:spPr>
      </p:pic>
      <p:pic>
        <p:nvPicPr>
          <p:cNvPr id="13" name="image-68" descr="Rezultat: AirTouch">    </p:cNvPr>
          <p:cNvPicPr>
            <a:picLocks noChangeAspect="1"/>
          </p:cNvPicPr>
          <p:nvPr/>
        </p:nvPicPr>
        <p:blipFill>
          <a:blip r:embed="rId4"/>
          <a:stretch>
            <a:fillRect/>
          </a:stretch>
        </p:blipFill>
        <p:spPr>
          <a:xfrm>
            <a:off x="6172200" y="1280160"/>
            <a:ext cx="1331366" cy="1901952"/>
          </a:xfrm>
          <a:prstGeom prst="rect">
            <a:avLst/>
          </a:prstGeom>
        </p:spPr>
      </p:pic>
      <p:sp>
        <p:nvSpPr>
          <p:cNvPr id="14" name="text-69"/>
          <p:cNvSpPr txBox="1"/>
          <p:nvPr/>
        </p:nvSpPr>
        <p:spPr>
          <a:xfrm>
            <a:off x="4663440" y="3200400"/>
            <a:ext cx="1399032" cy="201168"/>
          </a:xfrm>
          <a:prstGeom prst="rect">
            <a:avLst/>
          </a:prstGeom>
          <a:noFill/>
          <a:ln/>
        </p:spPr>
        <p:txBody>
          <a:bodyPr wrap="square" lIns="0" tIns="0" rIns="0" bIns="0" rtlCol="0" anchor="t"/>
          <a:lstStyle/>
          <a:p>
            <a:pPr algn="ctr" indent="0" marL="0">
              <a:buNone/>
            </a:pPr>
            <a:r>
              <a:rPr lang="en-US" sz="1050" i="1" dirty="0">
                <a:solidFill>
                  <a:srgbClr val="4A3F3A"/>
                </a:solidFill>
                <a:latin typeface="Arial" pitchFamily="34" charset="0"/>
                <a:ea typeface="Arial" pitchFamily="34" charset="-122"/>
                <a:cs typeface="Arial" pitchFamily="34" charset="-120"/>
              </a:rPr>
              <a:t>separare</a:t>
            </a:r>
            <a:endParaRPr lang="en-US" sz="1050" dirty="0"/>
          </a:p>
        </p:txBody>
      </p:sp>
      <p:sp>
        <p:nvSpPr>
          <p:cNvPr id="15" name="text-70"/>
          <p:cNvSpPr txBox="1"/>
          <p:nvPr/>
        </p:nvSpPr>
        <p:spPr>
          <a:xfrm>
            <a:off x="6172200" y="3200400"/>
            <a:ext cx="1335024" cy="201168"/>
          </a:xfrm>
          <a:prstGeom prst="rect">
            <a:avLst/>
          </a:prstGeom>
          <a:noFill/>
          <a:ln/>
        </p:spPr>
        <p:txBody>
          <a:bodyPr wrap="square" lIns="0" tIns="0" rIns="0" bIns="0" rtlCol="0" anchor="t"/>
          <a:lstStyle/>
          <a:p>
            <a:pPr algn="ctr" indent="0" marL="0">
              <a:buNone/>
            </a:pPr>
            <a:r>
              <a:rPr lang="en-US" sz="1050" i="1" dirty="0">
                <a:solidFill>
                  <a:srgbClr val="4A3F3A"/>
                </a:solidFill>
                <a:latin typeface="Arial" pitchFamily="34" charset="0"/>
                <a:ea typeface="Arial" pitchFamily="34" charset="-122"/>
                <a:cs typeface="Arial" pitchFamily="34" charset="-120"/>
              </a:rPr>
              <a:t>rezultat</a:t>
            </a:r>
            <a:endParaRPr lang="en-US" sz="1050" dirty="0"/>
          </a:p>
        </p:txBody>
      </p:sp>
      <p:sp>
        <p:nvSpPr>
          <p:cNvPr id="16" name="text-71"/>
          <p:cNvSpPr txBox="1"/>
          <p:nvPr/>
        </p:nvSpPr>
        <p:spPr>
          <a:xfrm>
            <a:off x="4663440" y="3401568"/>
            <a:ext cx="4023360" cy="292608"/>
          </a:xfrm>
          <a:prstGeom prst="rect">
            <a:avLst/>
          </a:prstGeom>
          <a:noFill/>
          <a:ln/>
        </p:spPr>
        <p:txBody>
          <a:bodyPr wrap="square" lIns="0" tIns="0" rIns="0" bIns="0" rtlCol="0" anchor="t"/>
          <a:lstStyle/>
          <a:p>
            <a:pPr indent="0" marL="0">
              <a:buNone/>
            </a:pPr>
            <a:r>
              <a:rPr lang="en-US" sz="1600" b="1" dirty="0">
                <a:solidFill>
                  <a:srgbClr val="9A4F5C"/>
                </a:solidFill>
                <a:latin typeface="Arial" pitchFamily="34" charset="0"/>
                <a:ea typeface="Arial" pitchFamily="34" charset="-122"/>
                <a:cs typeface="Arial" pitchFamily="34" charset="-120"/>
              </a:rPr>
              <a:t>AirTouch</a:t>
            </a:r>
            <a:endParaRPr lang="en-US" sz="1600" dirty="0"/>
          </a:p>
        </p:txBody>
      </p:sp>
      <p:sp>
        <p:nvSpPr>
          <p:cNvPr id="17" name="text-72"/>
          <p:cNvSpPr txBox="1"/>
          <p:nvPr/>
        </p:nvSpPr>
        <p:spPr>
          <a:xfrm>
            <a:off x="4663440" y="3730752"/>
            <a:ext cx="4023360" cy="822960"/>
          </a:xfrm>
          <a:prstGeom prst="rect">
            <a:avLst/>
          </a:prstGeom>
          <a:noFill/>
          <a:ln/>
        </p:spPr>
        <p:txBody>
          <a:bodyPr wrap="square" lIns="0" tIns="0" rIns="0" bIns="0" rtlCol="0" anchor="t"/>
          <a:lstStyle/>
          <a:p>
            <a:pPr indent="0" marL="0">
              <a:spcAft>
                <a:spcPts val="500"/>
              </a:spcAft>
              <a:buNone/>
            </a:pPr>
            <a:r>
              <a:rPr lang="en-US" sz="1250" b="1" dirty="0">
                <a:solidFill>
                  <a:srgbClr val="1E1A18"/>
                </a:solidFill>
                <a:latin typeface="Arial" pitchFamily="34" charset="0"/>
                <a:ea typeface="Arial" pitchFamily="34" charset="-122"/>
                <a:cs typeface="Arial" pitchFamily="34" charset="-120"/>
              </a:rPr>
              <a:t>Creează:</a:t>
            </a:r>
            <a:r>
              <a:rPr lang="en-US" sz="1250" dirty="0">
                <a:solidFill>
                  <a:srgbClr val="1E1A18"/>
                </a:solidFill>
                <a:latin typeface="Arial" pitchFamily="34" charset="0"/>
                <a:ea typeface="Arial" pitchFamily="34" charset="-122"/>
                <a:cs typeface="Arial" pitchFamily="34" charset="-120"/>
              </a:rPr>
              <a:t> tranziție foarte difuză</a:t>
            </a:r>
            <a:endParaRPr lang="en-US" sz="1400" dirty="0"/>
          </a:p>
          <a:p>
            <a:pPr indent="0" marL="0">
              <a:spcAft>
                <a:spcPts val="500"/>
              </a:spcAft>
              <a:buNone/>
            </a:pPr>
            <a:r>
              <a:rPr lang="en-US" sz="1250" b="1" dirty="0">
                <a:solidFill>
                  <a:srgbClr val="1E1A18"/>
                </a:solidFill>
                <a:latin typeface="Arial" pitchFamily="34" charset="0"/>
                <a:ea typeface="Arial" pitchFamily="34" charset="-122"/>
                <a:cs typeface="Arial" pitchFamily="34" charset="-120"/>
              </a:rPr>
              <a:t>Când:</a:t>
            </a:r>
            <a:r>
              <a:rPr lang="en-US" sz="1250" dirty="0">
                <a:solidFill>
                  <a:srgbClr val="1E1A18"/>
                </a:solidFill>
                <a:latin typeface="Arial" pitchFamily="34" charset="0"/>
                <a:ea typeface="Arial" pitchFamily="34" charset="-122"/>
                <a:cs typeface="Arial" pitchFamily="34" charset="-120"/>
              </a:rPr>
              <a:t> blond care se densifică spre vârfuri</a:t>
            </a:r>
            <a:endParaRPr lang="en-US" sz="1400" dirty="0"/>
          </a:p>
          <a:p>
            <a:pPr indent="0" marL="0">
              <a:spcAft>
                <a:spcPts val="500"/>
              </a:spcAft>
              <a:buNone/>
            </a:pPr>
            <a:r>
              <a:rPr lang="en-US" sz="1250" b="1" dirty="0">
                <a:solidFill>
                  <a:srgbClr val="1E1A18"/>
                </a:solidFill>
                <a:latin typeface="Arial" pitchFamily="34" charset="0"/>
                <a:ea typeface="Arial" pitchFamily="34" charset="-122"/>
                <a:cs typeface="Arial" pitchFamily="34" charset="-120"/>
              </a:rPr>
              <a:t>Control:</a:t>
            </a:r>
            <a:r>
              <a:rPr lang="en-US" sz="1250" dirty="0">
                <a:solidFill>
                  <a:srgbClr val="1E1A18"/>
                </a:solidFill>
                <a:latin typeface="Arial" pitchFamily="34" charset="0"/>
                <a:ea typeface="Arial" pitchFamily="34" charset="-122"/>
                <a:cs typeface="Arial" pitchFamily="34" charset="-120"/>
              </a:rPr>
              <a:t> câte fire rămân în secțiune</a:t>
            </a:r>
            <a:endParaRPr lang="en-US" sz="1400" dirty="0"/>
          </a:p>
        </p:txBody>
      </p:sp>
      <p:sp>
        <p:nvSpPr>
          <p:cNvPr id="18" name="card-73"/>
          <p:cNvSpPr/>
          <p:nvPr/>
        </p:nvSpPr>
        <p:spPr>
          <a:xfrm>
            <a:off x="3429000" y="1280160"/>
            <a:ext cx="1097280" cy="1901952"/>
          </a:xfrm>
          <a:prstGeom prst="roundRect">
            <a:avLst>
              <a:gd name="adj" fmla="val 6667"/>
            </a:avLst>
          </a:prstGeom>
          <a:solidFill>
            <a:srgbClr val="F6EEE9"/>
          </a:solidFill>
          <a:ln w="12700">
            <a:solidFill>
              <a:srgbClr val="F6EEE9"/>
            </a:solidFill>
            <a:prstDash val="solid"/>
          </a:ln>
        </p:spPr>
      </p:sp>
      <p:sp>
        <p:nvSpPr>
          <p:cNvPr id="19" name="card-74"/>
          <p:cNvSpPr/>
          <p:nvPr/>
        </p:nvSpPr>
        <p:spPr>
          <a:xfrm>
            <a:off x="7635240" y="1280160"/>
            <a:ext cx="1051560" cy="1901952"/>
          </a:xfrm>
          <a:prstGeom prst="roundRect">
            <a:avLst>
              <a:gd name="adj" fmla="val 6957"/>
            </a:avLst>
          </a:prstGeom>
          <a:solidFill>
            <a:srgbClr val="F6EEE9"/>
          </a:solidFill>
          <a:ln w="12700">
            <a:solidFill>
              <a:srgbClr val="F6EEE9"/>
            </a:solidFill>
            <a:prstDash val="solid"/>
          </a:ln>
        </p:spPr>
      </p:sp>
      <p:sp>
        <p:nvSpPr>
          <p:cNvPr id="20" name="text-75"/>
          <p:cNvSpPr txBox="1"/>
          <p:nvPr/>
        </p:nvSpPr>
        <p:spPr>
          <a:xfrm>
            <a:off x="3502152" y="1371600"/>
            <a:ext cx="960120" cy="1737360"/>
          </a:xfrm>
          <a:prstGeom prst="rect">
            <a:avLst/>
          </a:prstGeom>
          <a:noFill/>
          <a:ln/>
        </p:spPr>
        <p:txBody>
          <a:bodyPr wrap="square" lIns="0" tIns="0" rIns="0" bIns="0" rtlCol="0" anchor="ctr"/>
          <a:lstStyle/>
          <a:p>
            <a:pPr indent="0" marL="0">
              <a:spcAft>
                <a:spcPts val="800"/>
              </a:spcAft>
              <a:buNone/>
            </a:pPr>
            <a:r>
              <a:rPr lang="en-US" sz="1100" b="1" dirty="0">
                <a:solidFill>
                  <a:srgbClr val="1E1A18"/>
                </a:solidFill>
                <a:latin typeface="Arial" pitchFamily="34" charset="0"/>
                <a:ea typeface="Arial" pitchFamily="34" charset="-122"/>
                <a:cs typeface="Arial" pitchFamily="34" charset="-120"/>
              </a:rPr>
              <a:t>Rădăcină:</a:t>
            </a:r>
            <a:r>
              <a:rPr lang="en-US" sz="1100" dirty="0">
                <a:solidFill>
                  <a:srgbClr val="1E1A18"/>
                </a:solidFill>
                <a:latin typeface="Arial" pitchFamily="34" charset="0"/>
                <a:ea typeface="Arial" pitchFamily="34" charset="-122"/>
                <a:cs typeface="Arial" pitchFamily="34" charset="-120"/>
              </a:rPr>
              <a:t> difuză</a:t>
            </a:r>
            <a:endParaRPr lang="en-US" sz="1400" dirty="0"/>
          </a:p>
          <a:p>
            <a:pPr indent="0" marL="0">
              <a:spcAft>
                <a:spcPts val="800"/>
              </a:spcAft>
              <a:buNone/>
            </a:pPr>
            <a:r>
              <a:rPr lang="en-US" sz="1100" b="1" dirty="0">
                <a:solidFill>
                  <a:srgbClr val="1E1A18"/>
                </a:solidFill>
                <a:latin typeface="Arial" pitchFamily="34" charset="0"/>
                <a:ea typeface="Arial" pitchFamily="34" charset="-122"/>
                <a:cs typeface="Arial" pitchFamily="34" charset="-120"/>
              </a:rPr>
              <a:t>Lungimi:</a:t>
            </a:r>
            <a:r>
              <a:rPr lang="en-US" sz="1100" dirty="0">
                <a:solidFill>
                  <a:srgbClr val="1E1A18"/>
                </a:solidFill>
                <a:latin typeface="Arial" pitchFamily="34" charset="0"/>
                <a:ea typeface="Arial" pitchFamily="34" charset="-122"/>
                <a:cs typeface="Arial" pitchFamily="34" charset="-120"/>
              </a:rPr>
              <a:t> secțiuni distincte</a:t>
            </a:r>
            <a:endParaRPr lang="en-US" sz="1400" dirty="0"/>
          </a:p>
        </p:txBody>
      </p:sp>
      <p:sp>
        <p:nvSpPr>
          <p:cNvPr id="21" name="text-76"/>
          <p:cNvSpPr txBox="1"/>
          <p:nvPr/>
        </p:nvSpPr>
        <p:spPr>
          <a:xfrm>
            <a:off x="7708392" y="1371600"/>
            <a:ext cx="914400" cy="1737360"/>
          </a:xfrm>
          <a:prstGeom prst="rect">
            <a:avLst/>
          </a:prstGeom>
          <a:noFill/>
          <a:ln/>
        </p:spPr>
        <p:txBody>
          <a:bodyPr wrap="square" lIns="0" tIns="0" rIns="0" bIns="0" rtlCol="0" anchor="ctr"/>
          <a:lstStyle/>
          <a:p>
            <a:pPr indent="0" marL="0">
              <a:spcAft>
                <a:spcPts val="800"/>
              </a:spcAft>
              <a:buNone/>
            </a:pPr>
            <a:r>
              <a:rPr lang="en-US" sz="1100" b="1" dirty="0">
                <a:solidFill>
                  <a:srgbClr val="1E1A18"/>
                </a:solidFill>
                <a:latin typeface="Arial" pitchFamily="34" charset="0"/>
                <a:ea typeface="Arial" pitchFamily="34" charset="-122"/>
                <a:cs typeface="Arial" pitchFamily="34" charset="-120"/>
              </a:rPr>
              <a:t>Rădăcină:</a:t>
            </a:r>
            <a:r>
              <a:rPr lang="en-US" sz="1100" dirty="0">
                <a:solidFill>
                  <a:srgbClr val="1E1A18"/>
                </a:solidFill>
                <a:latin typeface="Arial" pitchFamily="34" charset="0"/>
                <a:ea typeface="Arial" pitchFamily="34" charset="-122"/>
                <a:cs typeface="Arial" pitchFamily="34" charset="-120"/>
              </a:rPr>
              <a:t> foarte difuză</a:t>
            </a:r>
            <a:endParaRPr lang="en-US" sz="1400" dirty="0"/>
          </a:p>
          <a:p>
            <a:pPr indent="0" marL="0">
              <a:spcAft>
                <a:spcPts val="800"/>
              </a:spcAft>
              <a:buNone/>
            </a:pPr>
            <a:r>
              <a:rPr lang="en-US" sz="1100" b="1" dirty="0">
                <a:solidFill>
                  <a:srgbClr val="1E1A18"/>
                </a:solidFill>
                <a:latin typeface="Arial" pitchFamily="34" charset="0"/>
                <a:ea typeface="Arial" pitchFamily="34" charset="-122"/>
                <a:cs typeface="Arial" pitchFamily="34" charset="-120"/>
              </a:rPr>
              <a:t>Lungimi:</a:t>
            </a:r>
            <a:r>
              <a:rPr lang="en-US" sz="1100" dirty="0">
                <a:solidFill>
                  <a:srgbClr val="1E1A18"/>
                </a:solidFill>
                <a:latin typeface="Arial" pitchFamily="34" charset="0"/>
                <a:ea typeface="Arial" pitchFamily="34" charset="-122"/>
                <a:cs typeface="Arial" pitchFamily="34" charset="-120"/>
              </a:rPr>
              <a:t> blond tot mai dens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77"/>
          <p:cNvSpPr txBox="1"/>
          <p:nvPr/>
        </p:nvSpPr>
        <p:spPr>
          <a:xfrm>
            <a:off x="457200" y="201168"/>
            <a:ext cx="8229600" cy="256032"/>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UNUL DINTRE CELE MAI IMPORTANTE SLIDE-URI</a:t>
            </a:r>
            <a:endParaRPr lang="en-US" sz="1200" dirty="0"/>
          </a:p>
        </p:txBody>
      </p:sp>
      <p:sp>
        <p:nvSpPr>
          <p:cNvPr id="3" name="text-78"/>
          <p:cNvSpPr txBox="1"/>
          <p:nvPr/>
        </p:nvSpPr>
        <p:spPr>
          <a:xfrm>
            <a:off x="457200" y="457200"/>
            <a:ext cx="8229600" cy="685800"/>
          </a:xfrm>
          <a:prstGeom prst="rect">
            <a:avLst/>
          </a:prstGeom>
          <a:noFill/>
          <a:ln/>
        </p:spPr>
        <p:txBody>
          <a:bodyPr wrap="square" lIns="0" tIns="0" rIns="0" bIns="0" rtlCol="0" anchor="ctr"/>
          <a:lstStyle/>
          <a:p>
            <a:pPr indent="0" marL="0">
              <a:buNone/>
            </a:pPr>
            <a:r>
              <a:rPr lang="en-US" sz="2200" b="1" dirty="0">
                <a:solidFill>
                  <a:srgbClr val="1E1A18"/>
                </a:solidFill>
                <a:latin typeface="Arial" pitchFamily="34" charset="0"/>
                <a:ea typeface="Arial" pitchFamily="34" charset="-122"/>
                <a:cs typeface="Arial" pitchFamily="34" charset="-120"/>
              </a:rPr>
              <a:t>Șuvițare dimensională vs. AirTouch cu slice-uri</a:t>
            </a:r>
            <a:endParaRPr lang="en-US" sz="2200" dirty="0"/>
          </a:p>
        </p:txBody>
      </p:sp>
      <p:sp>
        <p:nvSpPr>
          <p:cNvPr id="4" name="text-79"/>
          <p:cNvSpPr txBox="1"/>
          <p:nvPr/>
        </p:nvSpPr>
        <p:spPr>
          <a:xfrm>
            <a:off x="457200" y="4846320"/>
            <a:ext cx="6400800" cy="201168"/>
          </a:xfrm>
          <a:prstGeom prst="rect">
            <a:avLst/>
          </a:prstGeom>
          <a:noFill/>
          <a:ln/>
        </p:spPr>
        <p:txBody>
          <a:bodyPr wrap="square" lIns="0" tIns="0" rIns="0" bIns="0" rtlCol="0" anchor="t"/>
          <a:lstStyle/>
          <a:p>
            <a:pPr indent="0" marL="0">
              <a:buNone/>
            </a:pPr>
            <a:r>
              <a:rPr lang="en-US" sz="900" dirty="0">
                <a:solidFill>
                  <a:srgbClr val="4A3F3A"/>
                </a:solidFill>
                <a:latin typeface="Arial" pitchFamily="34" charset="0"/>
                <a:ea typeface="Arial" pitchFamily="34" charset="-122"/>
                <a:cs typeface="Arial" pitchFamily="34" charset="-120"/>
              </a:rPr>
              <a:t>BLONDE AMBITION by Diana Avram · Alfaparf Milano Professional</a:t>
            </a:r>
            <a:endParaRPr lang="en-US" sz="900" dirty="0"/>
          </a:p>
        </p:txBody>
      </p:sp>
      <p:pic>
        <p:nvPicPr>
          <p:cNvPr id="6" name="image-80" descr="Șuvițare dimensională">    </p:cNvPr>
          <p:cNvPicPr>
            <a:picLocks noChangeAspect="1"/>
          </p:cNvPicPr>
          <p:nvPr/>
        </p:nvPicPr>
        <p:blipFill>
          <a:blip r:embed="rId1"/>
          <a:stretch>
            <a:fillRect/>
          </a:stretch>
        </p:blipFill>
        <p:spPr>
          <a:xfrm>
            <a:off x="457200" y="1280160"/>
            <a:ext cx="1600200" cy="2286000"/>
          </a:xfrm>
          <a:prstGeom prst="rect">
            <a:avLst/>
          </a:prstGeom>
        </p:spPr>
      </p:pic>
      <p:pic>
        <p:nvPicPr>
          <p:cNvPr id="7" name="image-81" descr="AirTouch cu slice-uri">    </p:cNvPr>
          <p:cNvPicPr>
            <a:picLocks noChangeAspect="1"/>
          </p:cNvPicPr>
          <p:nvPr/>
        </p:nvPicPr>
        <p:blipFill>
          <a:blip r:embed="rId2"/>
          <a:stretch>
            <a:fillRect/>
          </a:stretch>
        </p:blipFill>
        <p:spPr>
          <a:xfrm>
            <a:off x="2194560" y="1280160"/>
            <a:ext cx="1600200" cy="2286000"/>
          </a:xfrm>
          <a:prstGeom prst="rect">
            <a:avLst/>
          </a:prstGeom>
        </p:spPr>
      </p:pic>
      <p:sp>
        <p:nvSpPr>
          <p:cNvPr id="8" name="text-82"/>
          <p:cNvSpPr txBox="1"/>
          <p:nvPr/>
        </p:nvSpPr>
        <p:spPr>
          <a:xfrm>
            <a:off x="365760" y="3593592"/>
            <a:ext cx="1783080" cy="274320"/>
          </a:xfrm>
          <a:prstGeom prst="rect">
            <a:avLst/>
          </a:prstGeom>
          <a:noFill/>
          <a:ln/>
        </p:spPr>
        <p:txBody>
          <a:bodyPr wrap="square" lIns="0" tIns="0" rIns="0" bIns="0" rtlCol="0" anchor="t"/>
          <a:lstStyle/>
          <a:p>
            <a:pPr algn="ctr" indent="0" marL="0">
              <a:buNone/>
            </a:pPr>
            <a:r>
              <a:rPr lang="en-US" sz="1300" b="1" dirty="0">
                <a:solidFill>
                  <a:srgbClr val="1E1A18"/>
                </a:solidFill>
                <a:latin typeface="Arial" pitchFamily="34" charset="0"/>
                <a:ea typeface="Arial" pitchFamily="34" charset="-122"/>
                <a:cs typeface="Arial" pitchFamily="34" charset="-120"/>
              </a:rPr>
              <a:t>Dimensional</a:t>
            </a:r>
            <a:endParaRPr lang="en-US" sz="1300" dirty="0"/>
          </a:p>
        </p:txBody>
      </p:sp>
      <p:sp>
        <p:nvSpPr>
          <p:cNvPr id="9" name="text-83"/>
          <p:cNvSpPr txBox="1"/>
          <p:nvPr/>
        </p:nvSpPr>
        <p:spPr>
          <a:xfrm>
            <a:off x="2103120" y="3593592"/>
            <a:ext cx="1783080" cy="274320"/>
          </a:xfrm>
          <a:prstGeom prst="rect">
            <a:avLst/>
          </a:prstGeom>
          <a:noFill/>
          <a:ln/>
        </p:spPr>
        <p:txBody>
          <a:bodyPr wrap="square" lIns="0" tIns="0" rIns="0" bIns="0" rtlCol="0" anchor="t"/>
          <a:lstStyle/>
          <a:p>
            <a:pPr algn="ctr" indent="0" marL="0">
              <a:buNone/>
            </a:pPr>
            <a:r>
              <a:rPr lang="en-US" sz="1300" b="1" dirty="0">
                <a:solidFill>
                  <a:srgbClr val="1E1A18"/>
                </a:solidFill>
                <a:latin typeface="Arial" pitchFamily="34" charset="0"/>
                <a:ea typeface="Arial" pitchFamily="34" charset="-122"/>
                <a:cs typeface="Arial" pitchFamily="34" charset="-120"/>
              </a:rPr>
              <a:t>AirTouch + slice</a:t>
            </a:r>
            <a:endParaRPr lang="en-US" sz="1300" dirty="0"/>
          </a:p>
        </p:txBody>
      </p:sp>
      <p:graphicFrame>
        <p:nvGraphicFramePr>
          <p:cNvPr id="10" name="chart-84" descr=""/>
          <p:cNvGraphicFramePr/>
          <p:nvPr/>
        </p:nvGraphicFramePr>
        <p:xfrm>
          <a:off x="4160520" y="1188720"/>
          <a:ext cx="4526280" cy="2331720"/>
        </p:xfrm>
        <a:graphic xmlns:a="http://schemas.openxmlformats.org/drawingml/2006/main">
          <a:graphicData uri="http://schemas.openxmlformats.org/drawingml/2006/chart">
            <c:chart xmlns:c="http://schemas.openxmlformats.org/drawingml/2006/chart" r:id="rId3"/>
          </a:graphicData>
        </a:graphic>
      </p:graphicFrame>
      <p:sp>
        <p:nvSpPr>
          <p:cNvPr id="11" name="text-85"/>
          <p:cNvSpPr txBox="1"/>
          <p:nvPr/>
        </p:nvSpPr>
        <p:spPr>
          <a:xfrm>
            <a:off x="4206240" y="3584448"/>
            <a:ext cx="4480560" cy="731520"/>
          </a:xfrm>
          <a:prstGeom prst="rect">
            <a:avLst/>
          </a:prstGeom>
          <a:noFill/>
          <a:ln/>
        </p:spPr>
        <p:txBody>
          <a:bodyPr wrap="square" lIns="0" tIns="0" rIns="0" bIns="0" rtlCol="0" anchor="t"/>
          <a:lstStyle/>
          <a:p>
            <a:pPr indent="0" marL="0">
              <a:spcAft>
                <a:spcPts val="400"/>
              </a:spcAft>
              <a:buNone/>
            </a:pPr>
            <a:r>
              <a:rPr lang="en-US" sz="1250" b="1" dirty="0">
                <a:solidFill>
                  <a:srgbClr val="1E1A18"/>
                </a:solidFill>
                <a:latin typeface="Arial" pitchFamily="34" charset="0"/>
                <a:ea typeface="Arial" pitchFamily="34" charset="-122"/>
                <a:cs typeface="Arial" pitchFamily="34" charset="-120"/>
              </a:rPr>
              <a:t>Dimensional:</a:t>
            </a:r>
            <a:r>
              <a:rPr lang="en-US" sz="1250" dirty="0">
                <a:solidFill>
                  <a:srgbClr val="1E1A18"/>
                </a:solidFill>
                <a:latin typeface="Arial" pitchFamily="34" charset="0"/>
                <a:ea typeface="Arial" pitchFamily="34" charset="-122"/>
                <a:cs typeface="Arial" pitchFamily="34" charset="-120"/>
              </a:rPr>
              <a:t> lumină și umbră constante, contrast pe lungimi</a:t>
            </a:r>
            <a:endParaRPr lang="en-US" sz="1400" dirty="0"/>
          </a:p>
          <a:p>
            <a:pPr indent="0" marL="0">
              <a:spcAft>
                <a:spcPts val="400"/>
              </a:spcAft>
              <a:buNone/>
            </a:pPr>
            <a:r>
              <a:rPr lang="en-US" sz="1250" b="1" dirty="0">
                <a:solidFill>
                  <a:srgbClr val="1E1A18"/>
                </a:solidFill>
                <a:latin typeface="Arial" pitchFamily="34" charset="0"/>
                <a:ea typeface="Arial" pitchFamily="34" charset="-122"/>
                <a:cs typeface="Arial" pitchFamily="34" charset="-120"/>
              </a:rPr>
              <a:t>AirTouch + slice:</a:t>
            </a:r>
            <a:r>
              <a:rPr lang="en-US" sz="1250" dirty="0">
                <a:solidFill>
                  <a:srgbClr val="1E1A18"/>
                </a:solidFill>
                <a:latin typeface="Arial" pitchFamily="34" charset="0"/>
                <a:ea typeface="Arial" pitchFamily="34" charset="-122"/>
                <a:cs typeface="Arial" pitchFamily="34" charset="-120"/>
              </a:rPr>
              <a:t> rădăcină profundă, blond aproape total la vârfuri</a:t>
            </a:r>
            <a:endParaRPr lang="en-US" sz="1400" dirty="0"/>
          </a:p>
        </p:txBody>
      </p:sp>
      <p:sp>
        <p:nvSpPr>
          <p:cNvPr id="12" name="text-86"/>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100" i="1" dirty="0">
                <a:solidFill>
                  <a:srgbClr val="4A3F3A"/>
                </a:solidFill>
                <a:latin typeface="Arial" pitchFamily="34" charset="0"/>
                <a:ea typeface="Arial" pitchFamily="34" charset="-122"/>
                <a:cs typeface="Arial" pitchFamily="34" charset="-120"/>
              </a:rPr>
              <a:t>Rezultate posibile ale configurațiilor prezentate, nu efecte garantate ale oricărei execuții.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87"/>
          <p:cNvSpPr txBox="1"/>
          <p:nvPr/>
        </p:nvSpPr>
        <p:spPr>
          <a:xfrm>
            <a:off x="457200" y="201168"/>
            <a:ext cx="8229600" cy="256032"/>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SMART MAINTENANCE · RIDICAREA BALAYAGE-ULUI</a:t>
            </a:r>
            <a:endParaRPr lang="en-US" sz="1200" dirty="0"/>
          </a:p>
        </p:txBody>
      </p:sp>
      <p:sp>
        <p:nvSpPr>
          <p:cNvPr id="3" name="text-88"/>
          <p:cNvSpPr txBox="1"/>
          <p:nvPr/>
        </p:nvSpPr>
        <p:spPr>
          <a:xfrm>
            <a:off x="457200" y="457200"/>
            <a:ext cx="8229600" cy="685800"/>
          </a:xfrm>
          <a:prstGeom prst="rect">
            <a:avLst/>
          </a:prstGeom>
          <a:noFill/>
          <a:ln/>
        </p:spPr>
        <p:txBody>
          <a:bodyPr wrap="square" lIns="0" tIns="0" rIns="0" bIns="0" rtlCol="0" anchor="ctr"/>
          <a:lstStyle/>
          <a:p>
            <a:pPr indent="0" marL="0">
              <a:buNone/>
            </a:pPr>
            <a:r>
              <a:rPr lang="en-US" sz="2200" b="1" dirty="0">
                <a:solidFill>
                  <a:srgbClr val="1E1A18"/>
                </a:solidFill>
                <a:latin typeface="Arial" pitchFamily="34" charset="0"/>
                <a:ea typeface="Arial" pitchFamily="34" charset="-122"/>
                <a:cs typeface="Arial" pitchFamily="34" charset="-120"/>
              </a:rPr>
              <a:t>Gândește tehnica de astăzi pentru vizita de mâine.</a:t>
            </a:r>
            <a:endParaRPr lang="en-US" sz="2200" dirty="0"/>
          </a:p>
        </p:txBody>
      </p:sp>
      <p:sp>
        <p:nvSpPr>
          <p:cNvPr id="4" name="text-89"/>
          <p:cNvSpPr txBox="1"/>
          <p:nvPr/>
        </p:nvSpPr>
        <p:spPr>
          <a:xfrm>
            <a:off x="457200" y="4846320"/>
            <a:ext cx="6400800" cy="201168"/>
          </a:xfrm>
          <a:prstGeom prst="rect">
            <a:avLst/>
          </a:prstGeom>
          <a:noFill/>
          <a:ln/>
        </p:spPr>
        <p:txBody>
          <a:bodyPr wrap="square" lIns="0" tIns="0" rIns="0" bIns="0" rtlCol="0" anchor="t"/>
          <a:lstStyle/>
          <a:p>
            <a:pPr indent="0" marL="0">
              <a:buNone/>
            </a:pPr>
            <a:r>
              <a:rPr lang="en-US" sz="900" dirty="0">
                <a:solidFill>
                  <a:srgbClr val="4A3F3A"/>
                </a:solidFill>
                <a:latin typeface="Arial" pitchFamily="34" charset="0"/>
                <a:ea typeface="Arial" pitchFamily="34" charset="-122"/>
                <a:cs typeface="Arial" pitchFamily="34" charset="-120"/>
              </a:rPr>
              <a:t>BLONDE AMBITION by Diana Avram · Alfaparf Milano Professional</a:t>
            </a:r>
            <a:endParaRPr lang="en-US" sz="900" dirty="0"/>
          </a:p>
        </p:txBody>
      </p:sp>
      <p:pic>
        <p:nvPicPr>
          <p:cNvPr id="6" name="image-90" descr="Prima vizită">    </p:cNvPr>
          <p:cNvPicPr>
            <a:picLocks noChangeAspect="1"/>
          </p:cNvPicPr>
          <p:nvPr/>
        </p:nvPicPr>
        <p:blipFill>
          <a:blip r:embed="rId1"/>
          <a:stretch>
            <a:fillRect/>
          </a:stretch>
        </p:blipFill>
        <p:spPr>
          <a:xfrm>
            <a:off x="457200" y="1234440"/>
            <a:ext cx="1760220" cy="2514600"/>
          </a:xfrm>
          <a:prstGeom prst="rect">
            <a:avLst/>
          </a:prstGeom>
        </p:spPr>
      </p:pic>
      <p:pic>
        <p:nvPicPr>
          <p:cNvPr id="7" name="image-91" descr="După câteva luni">    </p:cNvPr>
          <p:cNvPicPr>
            <a:picLocks noChangeAspect="1"/>
          </p:cNvPicPr>
          <p:nvPr/>
        </p:nvPicPr>
        <p:blipFill>
          <a:blip r:embed="rId2"/>
          <a:stretch>
            <a:fillRect/>
          </a:stretch>
        </p:blipFill>
        <p:spPr>
          <a:xfrm>
            <a:off x="2423160" y="1234440"/>
            <a:ext cx="1760220" cy="2514600"/>
          </a:xfrm>
          <a:prstGeom prst="rect">
            <a:avLst/>
          </a:prstGeom>
        </p:spPr>
      </p:pic>
      <p:sp>
        <p:nvSpPr>
          <p:cNvPr id="8" name="text-92"/>
          <p:cNvSpPr txBox="1"/>
          <p:nvPr/>
        </p:nvSpPr>
        <p:spPr>
          <a:xfrm>
            <a:off x="274320" y="3767328"/>
            <a:ext cx="2130552" cy="256032"/>
          </a:xfrm>
          <a:prstGeom prst="rect">
            <a:avLst/>
          </a:prstGeom>
          <a:noFill/>
          <a:ln/>
        </p:spPr>
        <p:txBody>
          <a:bodyPr wrap="square" lIns="0" tIns="0" rIns="0" bIns="0" rtlCol="0" anchor="t"/>
          <a:lstStyle/>
          <a:p>
            <a:pPr algn="ctr" indent="0" marL="0">
              <a:buNone/>
            </a:pPr>
            <a:r>
              <a:rPr lang="en-US" sz="1200" b="1" dirty="0">
                <a:solidFill>
                  <a:srgbClr val="1E1A18"/>
                </a:solidFill>
                <a:latin typeface="Arial" pitchFamily="34" charset="0"/>
                <a:ea typeface="Arial" pitchFamily="34" charset="-122"/>
                <a:cs typeface="Arial" pitchFamily="34" charset="-120"/>
              </a:rPr>
              <a:t>BEFORE · prima vizită</a:t>
            </a:r>
            <a:endParaRPr lang="en-US" sz="1200" dirty="0"/>
          </a:p>
        </p:txBody>
      </p:sp>
      <p:sp>
        <p:nvSpPr>
          <p:cNvPr id="9" name="text-93"/>
          <p:cNvSpPr txBox="1"/>
          <p:nvPr/>
        </p:nvSpPr>
        <p:spPr>
          <a:xfrm>
            <a:off x="2240280" y="3767328"/>
            <a:ext cx="2130552" cy="256032"/>
          </a:xfrm>
          <a:prstGeom prst="rect">
            <a:avLst/>
          </a:prstGeom>
          <a:noFill/>
          <a:ln/>
        </p:spPr>
        <p:txBody>
          <a:bodyPr wrap="square" lIns="0" tIns="0" rIns="0" bIns="0" rtlCol="0" anchor="t"/>
          <a:lstStyle/>
          <a:p>
            <a:pPr algn="ctr" indent="0" marL="0">
              <a:buNone/>
            </a:pPr>
            <a:r>
              <a:rPr lang="en-US" sz="1200" b="1" dirty="0">
                <a:solidFill>
                  <a:srgbClr val="1E1A18"/>
                </a:solidFill>
                <a:latin typeface="Arial" pitchFamily="34" charset="0"/>
                <a:ea typeface="Arial" pitchFamily="34" charset="-122"/>
                <a:cs typeface="Arial" pitchFamily="34" charset="-120"/>
              </a:rPr>
              <a:t>MAINTENANCE · după luni</a:t>
            </a:r>
            <a:endParaRPr lang="en-US" sz="1200" dirty="0"/>
          </a:p>
        </p:txBody>
      </p:sp>
      <p:sp>
        <p:nvSpPr>
          <p:cNvPr id="10" name="zone-94"/>
          <p:cNvSpPr/>
          <p:nvPr/>
        </p:nvSpPr>
        <p:spPr>
          <a:xfrm>
            <a:off x="4256532" y="1473327"/>
            <a:ext cx="0" cy="364617"/>
          </a:xfrm>
          <a:prstGeom prst="line">
            <a:avLst/>
          </a:prstGeom>
          <a:noFill/>
          <a:ln w="38100">
            <a:solidFill>
              <a:srgbClr val="6B4E37"/>
            </a:solidFill>
            <a:prstDash val="solid"/>
          </a:ln>
        </p:spPr>
      </p:sp>
      <p:sp>
        <p:nvSpPr>
          <p:cNvPr id="11" name="text-95"/>
          <p:cNvSpPr txBox="1"/>
          <p:nvPr/>
        </p:nvSpPr>
        <p:spPr>
          <a:xfrm>
            <a:off x="4347972" y="1472756"/>
            <a:ext cx="1051560" cy="384048"/>
          </a:xfrm>
          <a:prstGeom prst="rect">
            <a:avLst/>
          </a:prstGeom>
          <a:noFill/>
          <a:ln/>
        </p:spPr>
        <p:txBody>
          <a:bodyPr wrap="square" lIns="0" tIns="0" rIns="0" bIns="0" rtlCol="0" anchor="ctr"/>
          <a:lstStyle/>
          <a:p>
            <a:pPr indent="0" marL="0">
              <a:buNone/>
            </a:pPr>
            <a:r>
              <a:rPr lang="en-US" sz="1050" b="1" dirty="0">
                <a:solidFill>
                  <a:srgbClr val="6B4E37"/>
                </a:solidFill>
                <a:latin typeface="Arial" pitchFamily="34" charset="0"/>
                <a:ea typeface="Arial" pitchFamily="34" charset="-122"/>
                <a:cs typeface="Arial" pitchFamily="34" charset="-120"/>
              </a:rPr>
              <a:t>Creștere naturală</a:t>
            </a:r>
            <a:endParaRPr lang="en-US" sz="1050" dirty="0"/>
          </a:p>
        </p:txBody>
      </p:sp>
      <p:sp>
        <p:nvSpPr>
          <p:cNvPr id="12" name="zone-96"/>
          <p:cNvSpPr/>
          <p:nvPr/>
        </p:nvSpPr>
        <p:spPr>
          <a:xfrm>
            <a:off x="4256532" y="1863090"/>
            <a:ext cx="0" cy="502920"/>
          </a:xfrm>
          <a:prstGeom prst="line">
            <a:avLst/>
          </a:prstGeom>
          <a:noFill/>
          <a:ln w="38100">
            <a:solidFill>
              <a:srgbClr val="9A4F5C"/>
            </a:solidFill>
            <a:prstDash val="solid"/>
          </a:ln>
        </p:spPr>
      </p:sp>
      <p:sp>
        <p:nvSpPr>
          <p:cNvPr id="13" name="text-97"/>
          <p:cNvSpPr txBox="1"/>
          <p:nvPr/>
        </p:nvSpPr>
        <p:spPr>
          <a:xfrm>
            <a:off x="4347972" y="1931670"/>
            <a:ext cx="1051560" cy="384048"/>
          </a:xfrm>
          <a:prstGeom prst="rect">
            <a:avLst/>
          </a:prstGeom>
          <a:noFill/>
          <a:ln/>
        </p:spPr>
        <p:txBody>
          <a:bodyPr wrap="square" lIns="0" tIns="0" rIns="0" bIns="0" rtlCol="0" anchor="ctr"/>
          <a:lstStyle/>
          <a:p>
            <a:pPr indent="0" marL="0">
              <a:buNone/>
            </a:pPr>
            <a:r>
              <a:rPr lang="en-US" sz="1050" b="1" dirty="0">
                <a:solidFill>
                  <a:srgbClr val="9A4F5C"/>
                </a:solidFill>
                <a:latin typeface="Arial" pitchFamily="34" charset="0"/>
                <a:ea typeface="Arial" pitchFamily="34" charset="-122"/>
                <a:cs typeface="Arial" pitchFamily="34" charset="-120"/>
              </a:rPr>
              <a:t>Zona de lucru la ridicare</a:t>
            </a:r>
            <a:endParaRPr lang="en-US" sz="1050" dirty="0"/>
          </a:p>
        </p:txBody>
      </p:sp>
      <p:sp>
        <p:nvSpPr>
          <p:cNvPr id="14" name="zone-98"/>
          <p:cNvSpPr/>
          <p:nvPr/>
        </p:nvSpPr>
        <p:spPr>
          <a:xfrm>
            <a:off x="4256532" y="2391156"/>
            <a:ext cx="0" cy="1106424"/>
          </a:xfrm>
          <a:prstGeom prst="line">
            <a:avLst/>
          </a:prstGeom>
          <a:noFill/>
          <a:ln w="38100">
            <a:solidFill>
              <a:srgbClr val="8A6A2F"/>
            </a:solidFill>
            <a:prstDash val="solid"/>
          </a:ln>
        </p:spPr>
      </p:sp>
      <p:sp>
        <p:nvSpPr>
          <p:cNvPr id="15" name="text-99"/>
          <p:cNvSpPr txBox="1"/>
          <p:nvPr/>
        </p:nvSpPr>
        <p:spPr>
          <a:xfrm>
            <a:off x="4347972" y="2761488"/>
            <a:ext cx="1051560" cy="384048"/>
          </a:xfrm>
          <a:prstGeom prst="rect">
            <a:avLst/>
          </a:prstGeom>
          <a:noFill/>
          <a:ln/>
        </p:spPr>
        <p:txBody>
          <a:bodyPr wrap="square" lIns="0" tIns="0" rIns="0" bIns="0" rtlCol="0" anchor="ctr"/>
          <a:lstStyle/>
          <a:p>
            <a:pPr indent="0" marL="0">
              <a:buNone/>
            </a:pPr>
            <a:r>
              <a:rPr lang="en-US" sz="1050" b="1" dirty="0">
                <a:solidFill>
                  <a:srgbClr val="8A6A2F"/>
                </a:solidFill>
                <a:latin typeface="Arial" pitchFamily="34" charset="0"/>
                <a:ea typeface="Arial" pitchFamily="34" charset="-122"/>
                <a:cs typeface="Arial" pitchFamily="34" charset="-120"/>
              </a:rPr>
              <a:t>Păr deja decolorat</a:t>
            </a:r>
            <a:endParaRPr lang="en-US" sz="1050" dirty="0"/>
          </a:p>
        </p:txBody>
      </p:sp>
      <p:sp>
        <p:nvSpPr>
          <p:cNvPr id="16" name="card-100"/>
          <p:cNvSpPr/>
          <p:nvPr/>
        </p:nvSpPr>
        <p:spPr>
          <a:xfrm>
            <a:off x="5532120" y="1234440"/>
            <a:ext cx="3154680" cy="2103120"/>
          </a:xfrm>
          <a:prstGeom prst="roundRect">
            <a:avLst>
              <a:gd name="adj" fmla="val 3478"/>
            </a:avLst>
          </a:prstGeom>
          <a:solidFill>
            <a:srgbClr val="F6EEE9"/>
          </a:solidFill>
          <a:ln w="12700">
            <a:solidFill>
              <a:srgbClr val="F6EEE9"/>
            </a:solidFill>
            <a:prstDash val="solid"/>
          </a:ln>
        </p:spPr>
      </p:sp>
      <p:sp>
        <p:nvSpPr>
          <p:cNvPr id="17" name="text-101"/>
          <p:cNvSpPr txBox="1"/>
          <p:nvPr/>
        </p:nvSpPr>
        <p:spPr>
          <a:xfrm>
            <a:off x="5669280" y="1325880"/>
            <a:ext cx="2926080" cy="1965960"/>
          </a:xfrm>
          <a:prstGeom prst="rect">
            <a:avLst/>
          </a:prstGeom>
          <a:noFill/>
          <a:ln/>
        </p:spPr>
        <p:txBody>
          <a:bodyPr wrap="square" lIns="0" tIns="0" rIns="0" bIns="0" rtlCol="0" anchor="t"/>
          <a:lstStyle/>
          <a:p>
            <a:pPr indent="0" marL="0">
              <a:spcAft>
                <a:spcPts val="600"/>
              </a:spcAft>
              <a:buNone/>
            </a:pPr>
            <a:r>
              <a:rPr lang="en-US" sz="1200" b="1" dirty="0">
                <a:solidFill>
                  <a:srgbClr val="1E1A18"/>
                </a:solidFill>
                <a:latin typeface="Arial" pitchFamily="34" charset="0"/>
                <a:ea typeface="Arial" pitchFamily="34" charset="-122"/>
                <a:cs typeface="Arial" pitchFamily="34" charset="-120"/>
              </a:rPr>
              <a:t>Schemă coerentă</a:t>
            </a:r>
            <a:r>
              <a:rPr lang="en-US" sz="1200" dirty="0">
                <a:solidFill>
                  <a:srgbClr val="1E1A18"/>
                </a:solidFill>
                <a:latin typeface="Arial" pitchFamily="34" charset="0"/>
                <a:ea typeface="Arial" pitchFamily="34" charset="-122"/>
                <a:cs typeface="Arial" pitchFamily="34" charset="-120"/>
              </a:rPr>
              <a:t> de secționare = ridicare mai ușoară</a:t>
            </a:r>
            <a:endParaRPr lang="en-US" sz="1400" dirty="0"/>
          </a:p>
          <a:p>
            <a:pPr indent="0" marL="0">
              <a:spcAft>
                <a:spcPts val="600"/>
              </a:spcAft>
              <a:buNone/>
            </a:pPr>
            <a:r>
              <a:rPr lang="en-US" sz="1200" dirty="0">
                <a:solidFill>
                  <a:srgbClr val="1E1A18"/>
                </a:solidFill>
                <a:latin typeface="Arial" pitchFamily="34" charset="0"/>
                <a:ea typeface="Arial" pitchFamily="34" charset="-122"/>
                <a:cs typeface="Arial" pitchFamily="34" charset="-120"/>
              </a:rPr>
              <a:t>Firele suflate </a:t>
            </a:r>
            <a:r>
              <a:rPr lang="en-US" sz="1200" b="1" dirty="0">
                <a:solidFill>
                  <a:srgbClr val="1E1A18"/>
                </a:solidFill>
                <a:latin typeface="Arial" pitchFamily="34" charset="0"/>
                <a:ea typeface="Arial" pitchFamily="34" charset="-122"/>
                <a:cs typeface="Arial" pitchFamily="34" charset="-120"/>
              </a:rPr>
              <a:t>separă</a:t>
            </a:r>
            <a:r>
              <a:rPr lang="en-US" sz="1200" dirty="0">
                <a:solidFill>
                  <a:srgbClr val="1E1A18"/>
                </a:solidFill>
                <a:latin typeface="Arial" pitchFamily="34" charset="0"/>
                <a:ea typeface="Arial" pitchFamily="34" charset="-122"/>
                <a:cs typeface="Arial" pitchFamily="34" charset="-120"/>
              </a:rPr>
              <a:t> o parte din părul deja lucrat</a:t>
            </a:r>
            <a:endParaRPr lang="en-US" sz="1400" dirty="0"/>
          </a:p>
          <a:p>
            <a:pPr indent="0" marL="0">
              <a:spcAft>
                <a:spcPts val="600"/>
              </a:spcAft>
              <a:buNone/>
            </a:pPr>
            <a:r>
              <a:rPr lang="en-US" sz="1200" dirty="0">
                <a:solidFill>
                  <a:srgbClr val="1E1A18"/>
                </a:solidFill>
                <a:latin typeface="Arial" pitchFamily="34" charset="0"/>
                <a:ea typeface="Arial" pitchFamily="34" charset="-122"/>
                <a:cs typeface="Arial" pitchFamily="34" charset="-120"/>
              </a:rPr>
              <a:t>Prea multe tehnici combinate = zone </a:t>
            </a:r>
            <a:r>
              <a:rPr lang="en-US" sz="1200" b="1" dirty="0">
                <a:solidFill>
                  <a:srgbClr val="1E1A18"/>
                </a:solidFill>
                <a:latin typeface="Arial" pitchFamily="34" charset="0"/>
                <a:ea typeface="Arial" pitchFamily="34" charset="-122"/>
                <a:cs typeface="Arial" pitchFamily="34" charset="-120"/>
              </a:rPr>
              <a:t>greu de identificat</a:t>
            </a:r>
            <a:endParaRPr lang="en-US" sz="1400" dirty="0"/>
          </a:p>
          <a:p>
            <a:pPr indent="0" marL="0">
              <a:spcAft>
                <a:spcPts val="600"/>
              </a:spcAft>
              <a:buNone/>
            </a:pPr>
            <a:r>
              <a:rPr lang="en-US" sz="1200" dirty="0">
                <a:solidFill>
                  <a:srgbClr val="1E1A18"/>
                </a:solidFill>
                <a:latin typeface="Arial" pitchFamily="34" charset="0"/>
                <a:ea typeface="Arial" pitchFamily="34" charset="-122"/>
                <a:cs typeface="Arial" pitchFamily="34" charset="-120"/>
              </a:rPr>
              <a:t>Scop: </a:t>
            </a:r>
            <a:r>
              <a:rPr lang="en-US" sz="1200" b="1" dirty="0">
                <a:solidFill>
                  <a:srgbClr val="1E1A18"/>
                </a:solidFill>
                <a:latin typeface="Arial" pitchFamily="34" charset="0"/>
                <a:ea typeface="Arial" pitchFamily="34" charset="-122"/>
                <a:cs typeface="Arial" pitchFamily="34" charset="-120"/>
              </a:rPr>
              <a:t>fără suprapunere</a:t>
            </a:r>
            <a:r>
              <a:rPr lang="en-US" sz="1200" dirty="0">
                <a:solidFill>
                  <a:srgbClr val="1E1A18"/>
                </a:solidFill>
                <a:latin typeface="Arial" pitchFamily="34" charset="0"/>
                <a:ea typeface="Arial" pitchFamily="34" charset="-122"/>
                <a:cs typeface="Arial" pitchFamily="34" charset="-120"/>
              </a:rPr>
              <a:t> pe părul sensibilizat</a:t>
            </a:r>
            <a:endParaRPr lang="en-US" sz="1400" dirty="0"/>
          </a:p>
        </p:txBody>
      </p:sp>
      <p:sp>
        <p:nvSpPr>
          <p:cNvPr id="18" name="card-102"/>
          <p:cNvSpPr/>
          <p:nvPr/>
        </p:nvSpPr>
        <p:spPr>
          <a:xfrm>
            <a:off x="5532120" y="3456432"/>
            <a:ext cx="3154680" cy="1234440"/>
          </a:xfrm>
          <a:prstGeom prst="roundRect">
            <a:avLst>
              <a:gd name="adj" fmla="val 5926"/>
            </a:avLst>
          </a:prstGeom>
          <a:solidFill>
            <a:srgbClr val="FFFFFF"/>
          </a:solidFill>
          <a:ln w="12700">
            <a:solidFill>
              <a:srgbClr val="9A4F5C"/>
            </a:solidFill>
            <a:prstDash val="solid"/>
          </a:ln>
        </p:spPr>
      </p:sp>
      <p:sp>
        <p:nvSpPr>
          <p:cNvPr id="19" name="text-103"/>
          <p:cNvSpPr txBox="1"/>
          <p:nvPr/>
        </p:nvSpPr>
        <p:spPr>
          <a:xfrm>
            <a:off x="5669280" y="3520440"/>
            <a:ext cx="2926080" cy="1115568"/>
          </a:xfrm>
          <a:prstGeom prst="rect">
            <a:avLst/>
          </a:prstGeom>
          <a:noFill/>
          <a:ln/>
        </p:spPr>
        <p:txBody>
          <a:bodyPr wrap="square" lIns="0" tIns="0" rIns="0" bIns="0" rtlCol="0" anchor="ctr"/>
          <a:lstStyle/>
          <a:p>
            <a:pPr indent="0" marL="0">
              <a:spcAft>
                <a:spcPts val="400"/>
              </a:spcAft>
              <a:buNone/>
            </a:pPr>
            <a:r>
              <a:rPr lang="en-US" sz="1150" b="1" dirty="0">
                <a:solidFill>
                  <a:srgbClr val="1E1A18"/>
                </a:solidFill>
                <a:latin typeface="Arial" pitchFamily="34" charset="0"/>
                <a:ea typeface="Arial" pitchFamily="34" charset="-122"/>
                <a:cs typeface="Arial" pitchFamily="34" charset="-120"/>
              </a:rPr>
              <a:t>Limite:</a:t>
            </a:r>
            <a:r>
              <a:rPr lang="en-US" sz="1150" dirty="0">
                <a:solidFill>
                  <a:srgbClr val="1E1A18"/>
                </a:solidFill>
                <a:latin typeface="Arial" pitchFamily="34" charset="0"/>
                <a:ea typeface="Arial" pitchFamily="34" charset="-122"/>
                <a:cs typeface="Arial" pitchFamily="34" charset="-120"/>
              </a:rPr>
              <a:t> AirTouch nu elimină automat riscul de suprapunere.</a:t>
            </a:r>
            <a:endParaRPr lang="en-US" sz="1400" dirty="0"/>
          </a:p>
          <a:p>
            <a:pPr indent="0" marL="0">
              <a:spcAft>
                <a:spcPts val="400"/>
              </a:spcAft>
              <a:buNone/>
            </a:pPr>
            <a:r>
              <a:rPr lang="en-US" sz="1150" dirty="0">
                <a:solidFill>
                  <a:srgbClr val="1E1A18"/>
                </a:solidFill>
                <a:latin typeface="Arial" pitchFamily="34" charset="0"/>
                <a:ea typeface="Arial" pitchFamily="34" charset="-122"/>
                <a:cs typeface="Arial" pitchFamily="34" charset="-120"/>
              </a:rPr>
              <a:t>Firele suflate nu sunt neapărat toate decolorate anterior.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104"/>
          <p:cNvSpPr txBox="1"/>
          <p:nvPr/>
        </p:nvSpPr>
        <p:spPr>
          <a:xfrm>
            <a:off x="457200" y="201168"/>
            <a:ext cx="8229600" cy="256032"/>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THE SMART COLORIST</a:t>
            </a:r>
            <a:endParaRPr lang="en-US" sz="1200" dirty="0"/>
          </a:p>
        </p:txBody>
      </p:sp>
      <p:sp>
        <p:nvSpPr>
          <p:cNvPr id="3" name="text-105"/>
          <p:cNvSpPr txBox="1"/>
          <p:nvPr/>
        </p:nvSpPr>
        <p:spPr>
          <a:xfrm>
            <a:off x="457200" y="457200"/>
            <a:ext cx="8229600" cy="685800"/>
          </a:xfrm>
          <a:prstGeom prst="rect">
            <a:avLst/>
          </a:prstGeom>
          <a:noFill/>
          <a:ln/>
        </p:spPr>
        <p:txBody>
          <a:bodyPr wrap="square" lIns="0" tIns="0" rIns="0" bIns="0" rtlCol="0" anchor="ctr"/>
          <a:lstStyle/>
          <a:p>
            <a:pPr indent="0" marL="0">
              <a:buNone/>
            </a:pPr>
            <a:r>
              <a:rPr lang="en-US" sz="2200" b="1" dirty="0">
                <a:solidFill>
                  <a:srgbClr val="1E1A18"/>
                </a:solidFill>
                <a:latin typeface="Arial" pitchFamily="34" charset="0"/>
                <a:ea typeface="Arial" pitchFamily="34" charset="-122"/>
                <a:cs typeface="Arial" pitchFamily="34" charset="-120"/>
              </a:rPr>
              <a:t>Nu trebuie să folosești toate tehnicile. Trebuie să știi când să le folosești.</a:t>
            </a:r>
            <a:endParaRPr lang="en-US" sz="2200" dirty="0"/>
          </a:p>
        </p:txBody>
      </p:sp>
      <p:sp>
        <p:nvSpPr>
          <p:cNvPr id="4" name="text-106"/>
          <p:cNvSpPr txBox="1"/>
          <p:nvPr/>
        </p:nvSpPr>
        <p:spPr>
          <a:xfrm>
            <a:off x="457200" y="4846320"/>
            <a:ext cx="6400800" cy="201168"/>
          </a:xfrm>
          <a:prstGeom prst="rect">
            <a:avLst/>
          </a:prstGeom>
          <a:noFill/>
          <a:ln/>
        </p:spPr>
        <p:txBody>
          <a:bodyPr wrap="square" lIns="0" tIns="0" rIns="0" bIns="0" rtlCol="0" anchor="t"/>
          <a:lstStyle/>
          <a:p>
            <a:pPr indent="0" marL="0">
              <a:buNone/>
            </a:pPr>
            <a:r>
              <a:rPr lang="en-US" sz="900" dirty="0">
                <a:solidFill>
                  <a:srgbClr val="4A3F3A"/>
                </a:solidFill>
                <a:latin typeface="Arial" pitchFamily="34" charset="0"/>
                <a:ea typeface="Arial" pitchFamily="34" charset="-122"/>
                <a:cs typeface="Arial" pitchFamily="34" charset="-120"/>
              </a:rPr>
              <a:t>BLONDE AMBITION by Diana Avram · Alfaparf Milano Professional</a:t>
            </a:r>
            <a:endParaRPr lang="en-US" sz="900" dirty="0"/>
          </a:p>
        </p:txBody>
      </p:sp>
      <p:graphicFrame>
        <p:nvGraphicFramePr>
          <p:cNvPr id="9" name="table-107"/>
          <p:cNvGraphicFramePr>
            <a:graphicFrameLocks noGrp="1"/>
          </p:cNvGraphicFramePr>
          <p:nvPr>
            <p:extLst>
              <p:ext uri="{D42A27DB-BD31-4B8C-83A1-F6EECF244321}">
                <p14:modId xmlns:p14="http://schemas.microsoft.com/office/powerpoint/2010/main" val="1579011935"/>
              </p:ext>
            </p:extLst>
          </p:nvPr>
        </p:nvGraphicFramePr>
        <p:xfrm>
          <a:off x="274320" y="1298448"/>
          <a:ext cx="8595360" cy="914400"/>
        </p:xfrm>
        <a:graphic>
          <a:graphicData uri="http://schemas.openxmlformats.org/drawingml/2006/table">
            <a:tbl>
              <a:tblPr/>
              <a:tblGrid>
                <a:gridCol w="1280160"/>
                <a:gridCol w="822960"/>
                <a:gridCol w="1463040"/>
                <a:gridCol w="960120"/>
                <a:gridCol w="1417320"/>
                <a:gridCol w="1234440"/>
                <a:gridCol w="1417320"/>
              </a:tblGrid>
              <a:tr h="32004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Tehnică</a:t>
                      </a:r>
                      <a:endParaRPr lang="en-US" sz="110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9A4F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Tip</a:t>
                      </a:r>
                      <a:endParaRPr lang="en-US" sz="110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9A4F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Efect vizual</a:t>
                      </a:r>
                      <a:endParaRPr lang="en-US" sz="110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9A4F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Contrast</a:t>
                      </a:r>
                      <a:endParaRPr lang="en-US" sz="110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9A4F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Distribuția luminii</a:t>
                      </a:r>
                      <a:endParaRPr lang="en-US" sz="110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9A4F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Ideal pentru</a:t>
                      </a:r>
                      <a:endParaRPr lang="en-US" sz="110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9A4F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Mentenanță</a:t>
                      </a:r>
                      <a:endParaRPr lang="en-US" sz="110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9A4F5C"/>
                    </a:solidFill>
                  </a:tcPr>
                </a:tc>
              </a:tr>
              <a:tr h="320040">
                <a:tc>
                  <a:txBody>
                    <a:bodyPr/>
                    <a:lstStyle/>
                    <a:p>
                      <a:pPr algn="l" indent="0" marL="0">
                        <a:buNone/>
                      </a:pPr>
                      <a:r>
                        <a:rPr lang="en-US" sz="1050" b="1" dirty="0">
                          <a:solidFill>
                            <a:srgbClr val="1E1A18"/>
                          </a:solidFill>
                          <a:latin typeface="Arial" pitchFamily="34" charset="0"/>
                          <a:ea typeface="Arial" pitchFamily="34" charset="-122"/>
                          <a:cs typeface="Arial" pitchFamily="34" charset="-120"/>
                        </a:rPr>
                        <a:t>Highlights clasice</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8A6A2F"/>
                          </a:solidFill>
                          <a:latin typeface="Arial" pitchFamily="34" charset="0"/>
                          <a:ea typeface="Arial" pitchFamily="34" charset="-122"/>
                          <a:cs typeface="Arial" pitchFamily="34" charset="-120"/>
                        </a:rPr>
                        <a:t>Selecție</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Dimensional, echilibrat</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Mediu</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Constantă, rădăcină–vârfuri</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Lumină cu dimensiune</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Creștere fragmentată</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r>
              <a:tr h="320040">
                <a:tc>
                  <a:txBody>
                    <a:bodyPr/>
                    <a:lstStyle/>
                    <a:p>
                      <a:pPr algn="l" indent="0" marL="0">
                        <a:buNone/>
                      </a:pPr>
                      <a:r>
                        <a:rPr lang="en-US" sz="1050" b="1" dirty="0">
                          <a:solidFill>
                            <a:srgbClr val="1E1A18"/>
                          </a:solidFill>
                          <a:latin typeface="Arial" pitchFamily="34" charset="0"/>
                          <a:ea typeface="Arial" pitchFamily="34" charset="-122"/>
                          <a:cs typeface="Arial" pitchFamily="34" charset="-120"/>
                        </a:rPr>
                        <a:t>Chunky</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l" indent="0" marL="0">
                        <a:buNone/>
                      </a:pPr>
                      <a:r>
                        <a:rPr lang="en-US" sz="1050" dirty="0">
                          <a:solidFill>
                            <a:srgbClr val="8A6A2F"/>
                          </a:solidFill>
                          <a:latin typeface="Arial" pitchFamily="34" charset="0"/>
                          <a:ea typeface="Arial" pitchFamily="34" charset="-122"/>
                          <a:cs typeface="Arial" pitchFamily="34" charset="-120"/>
                        </a:rPr>
                        <a:t>Selecție</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Statement, separat</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Ridicat</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Panouri late</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Look îndrăzneț</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Linie clară la creștere</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r>
              <a:tr h="320040">
                <a:tc>
                  <a:txBody>
                    <a:bodyPr/>
                    <a:lstStyle/>
                    <a:p>
                      <a:pPr algn="l" indent="0" marL="0">
                        <a:buNone/>
                      </a:pPr>
                      <a:r>
                        <a:rPr lang="en-US" sz="1050" b="1" dirty="0">
                          <a:solidFill>
                            <a:srgbClr val="1E1A18"/>
                          </a:solidFill>
                          <a:latin typeface="Arial" pitchFamily="34" charset="0"/>
                          <a:ea typeface="Arial" pitchFamily="34" charset="-122"/>
                          <a:cs typeface="Arial" pitchFamily="34" charset="-120"/>
                        </a:rPr>
                        <a:t>Babylights</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8A6A2F"/>
                          </a:solidFill>
                          <a:latin typeface="Arial" pitchFamily="34" charset="0"/>
                          <a:ea typeface="Arial" pitchFamily="34" charset="-122"/>
                          <a:cs typeface="Arial" pitchFamily="34" charset="-120"/>
                        </a:rPr>
                        <a:t>Selecție</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Delicat, integrat</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Scăzut</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Fină, difuză</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Blond natural</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Creștere discretă</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r>
              <a:tr h="320040">
                <a:tc>
                  <a:txBody>
                    <a:bodyPr/>
                    <a:lstStyle/>
                    <a:p>
                      <a:pPr algn="l" indent="0" marL="0">
                        <a:buNone/>
                      </a:pPr>
                      <a:r>
                        <a:rPr lang="en-US" sz="1050" b="1" dirty="0">
                          <a:solidFill>
                            <a:srgbClr val="1E1A18"/>
                          </a:solidFill>
                          <a:latin typeface="Arial" pitchFamily="34" charset="0"/>
                          <a:ea typeface="Arial" pitchFamily="34" charset="-122"/>
                          <a:cs typeface="Arial" pitchFamily="34" charset="-120"/>
                        </a:rPr>
                        <a:t>Microbabylights</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l" indent="0" marL="0">
                        <a:buNone/>
                      </a:pPr>
                      <a:r>
                        <a:rPr lang="en-US" sz="1050" dirty="0">
                          <a:solidFill>
                            <a:srgbClr val="8A6A2F"/>
                          </a:solidFill>
                          <a:latin typeface="Arial" pitchFamily="34" charset="0"/>
                          <a:ea typeface="Arial" pitchFamily="34" charset="-122"/>
                          <a:cs typeface="Arial" pitchFamily="34" charset="-120"/>
                        </a:rPr>
                        <a:t>Selecție</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Foarte fin; dens dacă sunt multe</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Foarte scăzut</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Foarte fină, aproape uniformă</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Blond dens, fără dungi</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Retuș lung, minuțios</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r>
              <a:tr h="320040">
                <a:tc>
                  <a:txBody>
                    <a:bodyPr/>
                    <a:lstStyle/>
                    <a:p>
                      <a:pPr algn="l" indent="0" marL="0">
                        <a:buNone/>
                      </a:pPr>
                      <a:r>
                        <a:rPr lang="en-US" sz="1050" b="1" dirty="0">
                          <a:solidFill>
                            <a:srgbClr val="1E1A18"/>
                          </a:solidFill>
                          <a:latin typeface="Arial" pitchFamily="34" charset="0"/>
                          <a:ea typeface="Arial" pitchFamily="34" charset="-122"/>
                          <a:cs typeface="Arial" pitchFamily="34" charset="-120"/>
                        </a:rPr>
                        <a:t>Slice</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8A6A2F"/>
                          </a:solidFill>
                          <a:latin typeface="Arial" pitchFamily="34" charset="0"/>
                          <a:ea typeface="Arial" pitchFamily="34" charset="-122"/>
                          <a:cs typeface="Arial" pitchFamily="34" charset="-120"/>
                        </a:rPr>
                        <a:t>Selecție</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Panou compact de lumină</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Mediu–ridicat</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Concentrată pe secțiune</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Accente, contur</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Linie vizibilă la rădăcină</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r>
              <a:tr h="320040">
                <a:tc>
                  <a:txBody>
                    <a:bodyPr/>
                    <a:lstStyle/>
                    <a:p>
                      <a:pPr algn="l" indent="0" marL="0">
                        <a:buNone/>
                      </a:pPr>
                      <a:r>
                        <a:rPr lang="en-US" sz="1050" b="1" dirty="0">
                          <a:solidFill>
                            <a:srgbClr val="1E1A18"/>
                          </a:solidFill>
                          <a:latin typeface="Arial" pitchFamily="34" charset="0"/>
                          <a:ea typeface="Arial" pitchFamily="34" charset="-122"/>
                          <a:cs typeface="Arial" pitchFamily="34" charset="-120"/>
                        </a:rPr>
                        <a:t>Back-to-back</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l" indent="0" marL="0">
                        <a:buNone/>
                      </a:pPr>
                      <a:r>
                        <a:rPr lang="en-US" sz="1050" dirty="0">
                          <a:solidFill>
                            <a:srgbClr val="8A6A2F"/>
                          </a:solidFill>
                          <a:latin typeface="Arial" pitchFamily="34" charset="0"/>
                          <a:ea typeface="Arial" pitchFamily="34" charset="-122"/>
                          <a:cs typeface="Arial" pitchFamily="34" charset="-120"/>
                        </a:rPr>
                        <a:t>Amplasare</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Mai mult blond, mai puțin natural</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Scade</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Densă, continuă</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Blond intens</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Mult păr de reluat</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r>
              <a:tr h="320040">
                <a:tc>
                  <a:txBody>
                    <a:bodyPr/>
                    <a:lstStyle/>
                    <a:p>
                      <a:pPr algn="l" indent="0" marL="0">
                        <a:buNone/>
                      </a:pPr>
                      <a:r>
                        <a:rPr lang="en-US" sz="1050" b="1" dirty="0">
                          <a:solidFill>
                            <a:srgbClr val="1E1A18"/>
                          </a:solidFill>
                          <a:latin typeface="Arial" pitchFamily="34" charset="0"/>
                          <a:ea typeface="Arial" pitchFamily="34" charset="-122"/>
                          <a:cs typeface="Arial" pitchFamily="34" charset="-120"/>
                        </a:rPr>
                        <a:t>Teasing</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8A6A2F"/>
                          </a:solidFill>
                          <a:latin typeface="Arial" pitchFamily="34" charset="0"/>
                          <a:ea typeface="Arial" pitchFamily="34" charset="-122"/>
                          <a:cs typeface="Arial" pitchFamily="34" charset="-120"/>
                        </a:rPr>
                        <a:t>Separare</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Rădăcină difuză</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Mediu</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Secțiuni pe lungimi</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Balayage, lived-in</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Grijă la descurcare</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r>
              <a:tr h="320040">
                <a:tc>
                  <a:txBody>
                    <a:bodyPr/>
                    <a:lstStyle/>
                    <a:p>
                      <a:pPr algn="l" indent="0" marL="0">
                        <a:buNone/>
                      </a:pPr>
                      <a:r>
                        <a:rPr lang="en-US" sz="1050" b="1" dirty="0">
                          <a:solidFill>
                            <a:srgbClr val="1E1A18"/>
                          </a:solidFill>
                          <a:latin typeface="Arial" pitchFamily="34" charset="0"/>
                          <a:ea typeface="Arial" pitchFamily="34" charset="-122"/>
                          <a:cs typeface="Arial" pitchFamily="34" charset="-120"/>
                        </a:rPr>
                        <a:t>AirTouch</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l" indent="0" marL="0">
                        <a:buNone/>
                      </a:pPr>
                      <a:r>
                        <a:rPr lang="en-US" sz="1050" dirty="0">
                          <a:solidFill>
                            <a:srgbClr val="8A6A2F"/>
                          </a:solidFill>
                          <a:latin typeface="Arial" pitchFamily="34" charset="0"/>
                          <a:ea typeface="Arial" pitchFamily="34" charset="-122"/>
                          <a:cs typeface="Arial" pitchFamily="34" charset="-120"/>
                        </a:rPr>
                        <a:t>Separare</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Tranziție difuză, vârfuri dense</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Scăzut pe lungimi</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Crește spre vârfuri</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Blond difuz</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050" dirty="0">
                          <a:solidFill>
                            <a:srgbClr val="1E1A18"/>
                          </a:solidFill>
                          <a:latin typeface="Arial" pitchFamily="34" charset="0"/>
                          <a:ea typeface="Arial" pitchFamily="34" charset="-122"/>
                          <a:cs typeface="Arial" pitchFamily="34" charset="-120"/>
                        </a:rPr>
                        <a:t>Poate ușura ridicarea</a:t>
                      </a:r>
                      <a:endParaRPr lang="en-US" sz="1050" dirty="0">
                        <a:latin typeface="Arial" charset="0"/>
                        <a:ea typeface="Arial" charset="0"/>
                        <a:cs typeface="Arial" charset="0"/>
                      </a:endParaRPr>
                    </a:p>
                  </a:txBody>
                  <a:tcPr marL="45720" marR="45720" marT="18288" marB="18288"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r>
            </a:tbl>
          </a:graphicData>
        </a:graphic>
      </p:graphicFrame>
      <p:sp>
        <p:nvSpPr>
          <p:cNvPr id="7" name="text-108"/>
          <p:cNvSpPr txBox="1"/>
          <p:nvPr/>
        </p:nvSpPr>
        <p:spPr>
          <a:xfrm>
            <a:off x="274320" y="4407408"/>
            <a:ext cx="8595360" cy="384048"/>
          </a:xfrm>
          <a:prstGeom prst="rect">
            <a:avLst/>
          </a:prstGeom>
          <a:noFill/>
          <a:ln/>
        </p:spPr>
        <p:txBody>
          <a:bodyPr wrap="square" lIns="0" tIns="0" rIns="0" bIns="0" rtlCol="0" anchor="ctr"/>
          <a:lstStyle/>
          <a:p>
            <a:pPr algn="ctr" indent="0" marL="0">
              <a:buNone/>
            </a:pPr>
            <a:r>
              <a:rPr lang="en-US" sz="1500" b="1" i="1" dirty="0">
                <a:solidFill>
                  <a:srgbClr val="9A4F5C"/>
                </a:solidFill>
                <a:latin typeface="Arial" pitchFamily="34" charset="0"/>
                <a:ea typeface="Arial" pitchFamily="34" charset="-122"/>
                <a:cs typeface="Arial" pitchFamily="34" charset="-120"/>
              </a:rPr>
              <a:t>„Un colorist bun cunoaște tehnicile. Un colorist smart știe ce rezultat creează fiecare.”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Art of Placement – BLONDE AMBITION</dc:title>
  <dc:subject>PptxGenJS Presentation</dc:subject>
  <dc:creator>Diana Avram</dc:creator>
  <cp:lastModifiedBy>Diana Avram</cp:lastModifiedBy>
  <cp:revision>1</cp:revision>
  <dcterms:created xsi:type="dcterms:W3CDTF">2026-11-01T07:52:30Z</dcterms:created>
  <dcterms:modified xsi:type="dcterms:W3CDTF">2026-11-01T07:52:30Z</dcterms:modified>
</cp:coreProperties>
</file>