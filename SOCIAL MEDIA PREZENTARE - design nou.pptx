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Deschidere. Spune-le de la început: nu plecăm de aici influencerițe, plecăm cu un plan simplu, aplicabil mâine în salon, cu telefonul pe care îl avem deja. Structura: I. Cum începem, II. Facebook, III. Instagram, IV. TikTok, V. Editare video cu CapCut, VI. Planul de acțiune. Pe slide-uri: (Oficial) = spus de platformă; (Practică) = experiența creatorilor, nu regulă garantată.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ce o prezență profesională online: clientele noi te caută înainte să sune, iar postările sunt singura dovadă pe care o văd. Exemplu: un platinat perfect, filmat seara sub becul galben, orizontal, cu «Bună, sunt...» în primele 5 secunde: cine derulează vede un blond gălbui și trece mai departe. Același blond, filmat la fereastră, vertical, cu rezultatul din prima secundă și un text scurt, arată exact ce știi. Întrebare pentru sală: «Câte ați verificat Instagramul unui restaurant înainte să mergeți acolo?»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Nișa = subiectul pentru care vrei să fii cunoscută: beauty, hairstyling, transformări de culoare. Începi cu înainte și după, pentru că rezultatul vorbește în locul tău. Te concentrezi pe ce știi cel mai bine: dacă balayage-ul e punctul tău forte, cu el începi. Identitatea vizuală înseamnă repetiție: același colț de filmare, aceeași lumină, același font și aceleași 2 culori în text. Exemplu bun: «blonduri reci, fără galben, Cluj». Exemplu slab: «coafor, manichiură, gene, tot ce vreți».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Evoluția în trei etape e o scară: fiecare treaptă e un pas mic. Etapa 1: doar înainte și după, fără tine în cadru. Etapa 2: vocea ta peste video, explici ce ai făcut (în CapCut: Audio → înregistrare). Etapa 3: apari în cadru, la început doar mâinile sau profilul, apoi fața, și îți arăți personalitatea. Fiecare etapă poate dura câteva săptămâni; nu există o grabă.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Sfaturi pentru emoții: post-it cu 3 cuvinte-cheie lângă cameră, nu un text citit; prima dublă e de încălzire; filmezi cu o colegă care e regizor, nu juriu; îți spui «sunt entuziasmată», nu «calmează-te» (cercetarea lui Alison Wood Brooks, 2014). Clipuri foarte simple, unul pentru fiecare etapă.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Profilul personal e pentru oameni (prieteni, familie; limită de 5.000 de prieteni). Pagina profesională, cunoscută ca «pagina de like-uri», e pentru afacere: urmăritori nelimitați, statistici, buton de acțiune (programare, mesaj, apel), adresă, program, recenzii.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Pagina se creează din contul personal: în meniu → Pagini → Creează pagină (denumirile pot varia ușor după versiunea aplicației). Alegi numele (numele salonului + nișa, ex. «Studio Ana · Blonduri»), categoria «Salon de coafură», apoi completezi: adresa, programul, telefonul, WhatsApp, link-ul de programare, poza de profil și coperta (cea mai bună lucrare).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Butonul principal al paginii trimite direct la programare (link spre aplicația de programări, WhatsApp sau Messenger). Un comentariu «vreau și eu» primește răspuns public și un mesaj privat în aceeași zi, cu link-ul de programare sau două variante de oră. Răspunsurile salvate există în Meta Business Suite. Un mesaj citit după 3 zile e o clientă pierdută.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 multe fotografii într-o postare spun povestea: înainte, procesul, după, detaliul de luciu. Înainte și după: aceeași lumină, același unghi. Reels de pe Instagram se pot distribui și pe Facebook din setările Instagram. Interacțiuni: răspunde la fiecare comentariu, pune o întrebare în text («Rece sau cald?»).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Scrie orașul și cartierul și adaugă locația. 2. Postează în grupurile locale, doar unde regulile permit reclame. 3. Cere clientelor mulțumite o recomandare pe pagină. 4. Etichetează clienta (cu acordul ei). Bonus: ofertă pentru evenimente locale postată cu 3–4 săptămâni înainte.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vizibil de obicei 24 de ore, dacă nu îl salvezi la Evidențiate; îl văd mai ales urmăritorii. Reels: video vertical care rămâne pe profil și poate fi recomandat celor care nu te urmăresc. Postarea: o fotografie sau un carusel de până la 20 de imagini/clipuri (limita a crescut în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Profilul profesional (gratuit): poză clară, nume cu nișa și orașul (numele apare în căutare), bio cine/pentru cine/unde, link de programare, Evidențiate cu întrebările frecvente. Fără citate motivaționale în bio.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Urmăritorii interesați vin din: conținut specific nișei, căutare (cuvinte-cheie + oraș), etichetarea clientelor, răspunsuri la comentarii. Ritmul de mai jos e un punct de pornire, nu o regulă a platformei; nicio frecvență nu garantează creșterea.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Îndemn la acțiune (call to action) = ce vrei să facă omul după ce a văzut clipul. Unul singur pe postare: comentarii, salvări, distribuiri sau programări. Fără «dați like, vă rog».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Același loc (bandă pe podea), aceeași lumină, același unghi (telefon pe suport), fără filtru. Cu lumini diferite pare trucat. În Reels: înainte 1–2 secunde, apoi tranziția și după.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Pași: anunți premiul și termenul; condiții simple; extragere filmată; anunți public câștigătoarea. Premiul potrivit atrage clientele tale reale. Bonus: câștigătoarea vine în salon = o transformare nouă de filmat.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Regulile Instagram pentru promoții: tu ești responsabilă de concurs; precizezi că Instagram nu sponsorizează, nu susține, nu administrează concursul și nu e asociat cu el; nu ceri etichetări false. Se aplică și legislația locală și GDPR. Regulament scurt în descriere sau la Evidențiate.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Reels de probă (Trial Reels, lansat în decembrie 2024): clipul e arătat întâi doar celor care nu te urmăresc; verifică dacă opțiunea apare pe contul tău.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Oficial (TikTok Newsroom): recomandarea se bazează pe interacțiuni (aprecieri, distribuiri, comentarii, vizionare până la final), informații despre clip (descriere, sunet, hashtaguri) și, cu pondere mică, setări. Vizionarea completă a unui clip mai lung e un semnal puternic. Numărul de urmăritori și succesul clipurilor anterioare nu sunt factori direcți.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Primele SECUNDE ale clipului decid dacă omul rămâne. Primele MINUTE după publicare arată primele reacții: din experiența creatorilor, clipul e testat întâi pe un public mic. Nu e un verdict definitiv; nu există o regulă oficială despre «primele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 = un format folosit de mulți în aceeași perioadă. Îl găsești pe «Pentru tine», în căutare și în TikTok Creative Center. Relevant = se potrivește cu meseria și publicul tău. Un trend nepotrivit aduce vizualizări, dar nu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sunet popular și potrivit poate ajuta la descoperire (are pagina lui), dar nu garantează nimic. Conturile de afaceri au acces doar la Biblioteca de muzică comercială. Creator Rewards cere cont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Filmezi înainte cu telefonul fix pe suport; pui mâna peste cameră și oprești; faci transformarea; pornești cu mâna peste cameră și o iei. În editare tai exact când mâna acoperă tot ecranul.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Creator Rewards (anunț oficial TikTok): 18 ani, 10.000 urmăritori, 100.000 vizualizări în 30 de zile, cont personal, clipuri originale de peste 1 minut; ghidurile din 2026 nu includ România. Abonamente (sept. 2024): aceleași praguri, lansat în 10 țări, nu în România. Cadouri în LIVE: 18+, acces la LIVE, funcția disponibilă în țara ta; nu există o listă oficială publică de țări: verificați în aplicație. Reverificați cu o săptămână înainte de 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 transmisiune în direct. Condiții: 18 ani (oficial); pragul de urmăritori variază, frecvent 1.000. Cum verifici: apeși «+»; dacă apare LIVE, ai acces. Pentru culise cu clienta, cereți acordul 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Controversele generează comentarii, dar contează și semnalele negative, iar un public atras prin scandal nu se programează la tine. Nu provocăm intenționat conflicte și nu folosim hate-ul ca strategie.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Trucuri din experiența creatorilor (practică, nu reguli oficiale). Răspunsul video la comentarii e funcție oficială TikTok. Exercițiu: fiecare scrie un început pentru o lucrare de-a ei; votăm top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Videoclipul demonstrativ (Demo_editare_8_pasi.mp4, 27 de secunde) e un fișier separat: deschide-l înainte de acest slide. E o schemă animată simplificată, NU interfața reală CapCut. Apoi repetați live, cu ecranul telefonului proiectat (iPhone: Oglindire ecran). Centrul de ajutor oficial: capcut.com/help.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Pasul 1: Proiect nou, selectezi clipurile în ordinea filmării, Adaugă. Pasul 2: tragi de marginile albe sau Împarte (Split), apoi Șterge. Regula: dacă eziți, taie. Pasul 3: ții apăsat pe clip și îl tragi. Tutoriale oficiale: https://www.capcut.com/resource/stitch-videos și https://www.capcut.com/resource/split-video-into-parts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Pasul 4: procesul la 3x–5x, reveal-ul încetinit. Pasul 5: Audio → Sunete; volumul muzicii mic; pe conturi de afaceri, muzică cu licență comercială. Pasul 6: pătrățelul dintre două clipuri; puține tranziții. Tutoriale oficiale: https://www.capcut.com/resource/how-to-speed-up-a-video · https://www.capcut.com/resource/how-to-add-music-to-a-video-on-android · https://www.capcut.com/help/transitions-in-capcut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Pasul 7: textul departe de marginile de jos și din dreapta. Pasul 8: conform ghidului oficial CapCut (sept. 2026), generatorul automat de subtitrări este în CapCut Pro; în varianta gratuită le scrii manual sau folosești subtitrările din Instagram/TikTok. Pasul 9: Audio → înregistrare, într-un loc liniștit. Tutoriale oficiale: https://www.capcut.com/help/auto-captions · https://www.capcut.com/resource/capcut-voice-over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Pasul 10: duplicați un proiect reușit și schimbați doar clipurile. Pasul 11: verificați dacă șablonul e marcat Pro. Pasul 12: 1080p, 30 fps, vertical 9:16. Tutoriale oficiale: https://www.capcut.com/help/use-template · https://www.capcut.com/resource/instagram-reel-ratio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Sursa: ghidul oficial CapCut «CapCut Standard vs Pro» (septembrie 2026), https://www.capcut.com/resource/capcut-standard-vs-pro. Funcțiile și prețurile diferă după versiune, dispozitiv și țară: verificați pe telefonul vostru înainte de 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Blondul final primul; procesul accelerat; la balayage tai pe mișcare; proiect-model duplicat; verifici subtitrările; fără filtre peste un blond tonifiat.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Mesajul final, spus rar. Planul de acțiune: filmezi o transformare (cu acordul clientei), editezi un clip scurt în CapCut, îl publici pe platforma potrivită, te uiți la reacții după câteva zile, repeți și îmbunătățești un singur lucru data viitoare. Provocare: prima postare în maximum 7 zile după 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 Target="slide2.xml"/><Relationship Id="rId8" Type="http://schemas.openxmlformats.org/officeDocument/2006/relationships/slide" Target="slide6.xml"/><Relationship Id="rId10" Type="http://schemas.openxmlformats.org/officeDocument/2006/relationships/slide" Target="slide11.xml"/><Relationship Id="rId12" Type="http://schemas.openxmlformats.org/officeDocument/2006/relationships/slide" Target="slide19.xml"/><Relationship Id="rId14" Type="http://schemas.openxmlformats.org/officeDocument/2006/relationships/slide" Target="slide28.xml"/><Relationship Id="rId16" Type="http://schemas.openxmlformats.org/officeDocument/2006/relationships/slide" Target="slide35.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7" Type="http://schemas.openxmlformats.org/officeDocument/2006/relationships/image" Target="../media/image-1-6.png"/><Relationship Id="rId9" Type="http://schemas.openxmlformats.org/officeDocument/2006/relationships/image" Target="../media/image-1-7.png"/><Relationship Id="rId11" Type="http://schemas.openxmlformats.org/officeDocument/2006/relationships/image" Target="../media/image-1-8.png"/><Relationship Id="rId13" Type="http://schemas.openxmlformats.org/officeDocument/2006/relationships/image" Target="../media/image-1-9.png"/><Relationship Id="rId15" Type="http://schemas.openxmlformats.org/officeDocument/2006/relationships/image" Target="../media/image-1-10.png"/><Relationship Id="rId17" Type="http://schemas.openxmlformats.org/officeDocument/2006/relationships/slideLayout" Target="../slideLayouts/slideLayout1.xml"/><Relationship Id="rId1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2-1.png"/><Relationship Id="rId2"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slideLayout" Target="../slideLayouts/slideLayout1.xml"/><Relationship Id="rId1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3-1.png"/><Relationship Id="rId2" Type="http://schemas.openxmlformats.org/officeDocument/2006/relationships/image" Target="../media/image-3-2.png"/><Relationship Id="rId10" Type="http://schemas.openxmlformats.org/officeDocument/2006/relationships/image" Target="../media/image-3-3.png"/><Relationship Id="rId11" Type="http://schemas.openxmlformats.org/officeDocument/2006/relationships/image" Target="../media/image-3-4.png"/><Relationship Id="rId12" Type="http://schemas.openxmlformats.org/officeDocument/2006/relationships/image" Target="../media/image-3-5.png"/><Relationship Id="rId13" Type="http://schemas.openxmlformats.org/officeDocument/2006/relationships/image" Target="../media/image-3-6.png"/><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4-1.png"/><Relationship Id="rId2" Type="http://schemas.openxmlformats.org/officeDocument/2006/relationships/image" Target="../media/image-4-2.png"/><Relationship Id="rId10" Type="http://schemas.openxmlformats.org/officeDocument/2006/relationships/image" Target="../media/image-4-3.png"/><Relationship Id="rId11" Type="http://schemas.openxmlformats.org/officeDocument/2006/relationships/image" Target="../media/image-4-4.png"/><Relationship Id="rId12" Type="http://schemas.openxmlformats.org/officeDocument/2006/relationships/image" Target="../media/image-4-5.png"/><Relationship Id="rId13" Type="http://schemas.openxmlformats.org/officeDocument/2006/relationships/slideLayout" Target="../slideLayouts/slideLayout1.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5-1.png"/><Relationship Id="rId2" Type="http://schemas.openxmlformats.org/officeDocument/2006/relationships/image" Target="../media/image-5-2.png"/><Relationship Id="rId10" Type="http://schemas.openxmlformats.org/officeDocument/2006/relationships/image" Target="../media/image-5-3.png"/><Relationship Id="rId11" Type="http://schemas.openxmlformats.org/officeDocument/2006/relationships/image" Target="../media/image-5-4.png"/><Relationship Id="rId12" Type="http://schemas.openxmlformats.org/officeDocument/2006/relationships/image" Target="../media/image-5-5.png"/><Relationship Id="rId13" Type="http://schemas.openxmlformats.org/officeDocument/2006/relationships/image" Target="../media/image-5-6.png"/><Relationship Id="rId14" Type="http://schemas.openxmlformats.org/officeDocument/2006/relationships/image" Target="../media/image-5-7.png"/><Relationship Id="rId15" Type="http://schemas.openxmlformats.org/officeDocument/2006/relationships/image" Target="../media/image-5-8.png"/><Relationship Id="rId16" Type="http://schemas.openxmlformats.org/officeDocument/2006/relationships/image" Target="../media/image-5-9.png"/><Relationship Id="rId17" Type="http://schemas.openxmlformats.org/officeDocument/2006/relationships/slideLayout" Target="../slideLayouts/slideLayout1.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6-1.png"/><Relationship Id="rId2" Type="http://schemas.openxmlformats.org/officeDocument/2006/relationships/image" Target="../media/image-6-2.png"/><Relationship Id="rId10" Type="http://schemas.openxmlformats.org/officeDocument/2006/relationships/image" Target="../media/image-6-3.png"/><Relationship Id="rId11" Type="http://schemas.openxmlformats.org/officeDocument/2006/relationships/image" Target="../media/image-6-4.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7-1.png"/><Relationship Id="rId2" Type="http://schemas.openxmlformats.org/officeDocument/2006/relationships/image" Target="../media/image-7-2.png"/><Relationship Id="rId10" Type="http://schemas.openxmlformats.org/officeDocument/2006/relationships/image" Target="../media/image-7-3.png"/><Relationship Id="rId11" Type="http://schemas.openxmlformats.org/officeDocument/2006/relationships/image" Target="../media/image-7-4.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8-1.png"/><Relationship Id="rId2" Type="http://schemas.openxmlformats.org/officeDocument/2006/relationships/image" Target="../media/image-8-2.png"/><Relationship Id="rId10" Type="http://schemas.openxmlformats.org/officeDocument/2006/relationships/image" Target="../media/image-8-3.png"/><Relationship Id="rId11" Type="http://schemas.openxmlformats.org/officeDocument/2006/relationships/image" Target="../media/image-8-4.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9-1.png"/><Relationship Id="rId2" Type="http://schemas.openxmlformats.org/officeDocument/2006/relationships/image" Target="../media/image-9-2.png"/><Relationship Id="rId10" Type="http://schemas.openxmlformats.org/officeDocument/2006/relationships/image" Target="../media/image-9-3.png"/><Relationship Id="rId11" Type="http://schemas.openxmlformats.org/officeDocument/2006/relationships/image" Target="../media/image-9-4.png"/><Relationship Id="rId12" Type="http://schemas.openxmlformats.org/officeDocument/2006/relationships/image" Target="../media/image-9-5.png"/><Relationship Id="rId13" Type="http://schemas.openxmlformats.org/officeDocument/2006/relationships/image" Target="../media/image-9-6.png"/><Relationship Id="rId14" Type="http://schemas.openxmlformats.org/officeDocument/2006/relationships/slideLayout" Target="../slideLayouts/slideLayout1.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0-1.png"/><Relationship Id="rId2" Type="http://schemas.openxmlformats.org/officeDocument/2006/relationships/image" Target="../media/image-10-2.png"/><Relationship Id="rId10" Type="http://schemas.openxmlformats.org/officeDocument/2006/relationships/image" Target="../media/image-10-3.png"/><Relationship Id="rId11" Type="http://schemas.openxmlformats.org/officeDocument/2006/relationships/image" Target="../media/image-10-4.png"/><Relationship Id="rId12" Type="http://schemas.openxmlformats.org/officeDocument/2006/relationships/image" Target="../media/image-10-5.png"/><Relationship Id="rId13" Type="http://schemas.openxmlformats.org/officeDocument/2006/relationships/image" Target="../media/image-10-6.png"/><Relationship Id="rId14" Type="http://schemas.openxmlformats.org/officeDocument/2006/relationships/slideLayout" Target="../slideLayouts/slideLayout1.xml"/><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1-1.png"/><Relationship Id="rId2" Type="http://schemas.openxmlformats.org/officeDocument/2006/relationships/image" Target="../media/image-11-2.png"/><Relationship Id="rId10" Type="http://schemas.openxmlformats.org/officeDocument/2006/relationships/image" Target="../media/image-11-3.png"/><Relationship Id="rId11" Type="http://schemas.openxmlformats.org/officeDocument/2006/relationships/image" Target="../media/image-11-4.png"/><Relationship Id="rId12" Type="http://schemas.openxmlformats.org/officeDocument/2006/relationships/image" Target="../media/image-11-5.png"/><Relationship Id="rId13" Type="http://schemas.openxmlformats.org/officeDocument/2006/relationships/image" Target="../media/image-11-6.png"/><Relationship Id="rId14" Type="http://schemas.openxmlformats.org/officeDocument/2006/relationships/slideLayout" Target="../slideLayouts/slideLayout1.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2-1.png"/><Relationship Id="rId2" Type="http://schemas.openxmlformats.org/officeDocument/2006/relationships/image" Target="../media/image-12-2.png"/><Relationship Id="rId10" Type="http://schemas.openxmlformats.org/officeDocument/2006/relationships/image" Target="../media/image-12-3.png"/><Relationship Id="rId11" Type="http://schemas.openxmlformats.org/officeDocument/2006/relationships/image" Target="../media/image-12-4.png"/><Relationship Id="rId12" Type="http://schemas.openxmlformats.org/officeDocument/2006/relationships/image" Target="../media/image-12-5.png"/><Relationship Id="rId13" Type="http://schemas.openxmlformats.org/officeDocument/2006/relationships/image" Target="../media/image-12-6.png"/><Relationship Id="rId14" Type="http://schemas.openxmlformats.org/officeDocument/2006/relationships/image" Target="../media/image-12-7.png"/><Relationship Id="rId15" Type="http://schemas.openxmlformats.org/officeDocument/2006/relationships/slideLayout" Target="../slideLayouts/slideLayout1.xml"/><Relationship Id="rId1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3-1.png"/><Relationship Id="rId2" Type="http://schemas.openxmlformats.org/officeDocument/2006/relationships/image" Target="../media/image-13-2.png"/><Relationship Id="rId10" Type="http://schemas.openxmlformats.org/officeDocument/2006/relationships/image" Target="../media/image-13-3.png"/><Relationship Id="rId11" Type="http://schemas.openxmlformats.org/officeDocument/2006/relationships/image" Target="../media/image-13-4.png"/><Relationship Id="rId12" Type="http://schemas.openxmlformats.org/officeDocument/2006/relationships/image" Target="../media/image-13-5.png"/><Relationship Id="rId13" Type="http://schemas.openxmlformats.org/officeDocument/2006/relationships/image" Target="../media/image-13-6.png"/><Relationship Id="rId14" Type="http://schemas.openxmlformats.org/officeDocument/2006/relationships/image" Target="../media/image-13-7.png"/><Relationship Id="rId15" Type="http://schemas.openxmlformats.org/officeDocument/2006/relationships/image" Target="../media/image-13-8.png"/><Relationship Id="rId16" Type="http://schemas.openxmlformats.org/officeDocument/2006/relationships/image" Target="../media/image-13-9.png"/><Relationship Id="rId17" Type="http://schemas.openxmlformats.org/officeDocument/2006/relationships/slideLayout" Target="../slideLayouts/slideLayout1.xml"/><Relationship Id="rId1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4-1.png"/><Relationship Id="rId2" Type="http://schemas.openxmlformats.org/officeDocument/2006/relationships/image" Target="../media/image-14-2.png"/><Relationship Id="rId10" Type="http://schemas.openxmlformats.org/officeDocument/2006/relationships/image" Target="../media/image-14-3.png"/><Relationship Id="rId11" Type="http://schemas.openxmlformats.org/officeDocument/2006/relationships/image" Target="../media/image-14-4.png"/><Relationship Id="rId12" Type="http://schemas.openxmlformats.org/officeDocument/2006/relationships/image" Target="../media/image-14-5.png"/><Relationship Id="rId13" Type="http://schemas.openxmlformats.org/officeDocument/2006/relationships/image" Target="../media/image-14-6.png"/><Relationship Id="rId14" Type="http://schemas.openxmlformats.org/officeDocument/2006/relationships/image" Target="../media/image-14-7.png"/><Relationship Id="rId15" Type="http://schemas.openxmlformats.org/officeDocument/2006/relationships/slideLayout" Target="../slideLayouts/slideLayout1.xml"/><Relationship Id="rId1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5-1.png"/><Relationship Id="rId2" Type="http://schemas.openxmlformats.org/officeDocument/2006/relationships/image" Target="../media/image-15-2.png"/><Relationship Id="rId10" Type="http://schemas.openxmlformats.org/officeDocument/2006/relationships/image" Target="../media/image-15-3.png"/><Relationship Id="rId11" Type="http://schemas.openxmlformats.org/officeDocument/2006/relationships/image" Target="../media/image-15-4.png"/><Relationship Id="rId12" Type="http://schemas.openxmlformats.org/officeDocument/2006/relationships/image" Target="../media/image-15-5.png"/><Relationship Id="rId13" Type="http://schemas.openxmlformats.org/officeDocument/2006/relationships/image" Target="../media/image-15-6.png"/><Relationship Id="rId14" Type="http://schemas.openxmlformats.org/officeDocument/2006/relationships/slideLayout" Target="../slideLayouts/slideLayout1.xml"/><Relationship Id="rId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6-1.png"/><Relationship Id="rId2" Type="http://schemas.openxmlformats.org/officeDocument/2006/relationships/image" Target="../media/image-16-2.png"/><Relationship Id="rId10" Type="http://schemas.openxmlformats.org/officeDocument/2006/relationships/image" Target="../media/image-16-3.png"/><Relationship Id="rId11" Type="http://schemas.openxmlformats.org/officeDocument/2006/relationships/image" Target="../media/image-16-4.png"/><Relationship Id="rId12" Type="http://schemas.openxmlformats.org/officeDocument/2006/relationships/image" Target="../media/image-16-5.png"/><Relationship Id="rId13" Type="http://schemas.openxmlformats.org/officeDocument/2006/relationships/image" Target="../media/image-16-6.png"/><Relationship Id="rId14" Type="http://schemas.openxmlformats.org/officeDocument/2006/relationships/slideLayout" Target="../slideLayouts/slideLayout1.xml"/><Relationship Id="rId1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7-1.png"/><Relationship Id="rId2" Type="http://schemas.openxmlformats.org/officeDocument/2006/relationships/image" Target="../media/image-17-2.png"/><Relationship Id="rId10" Type="http://schemas.openxmlformats.org/officeDocument/2006/relationships/image" Target="../media/image-17-3.png"/><Relationship Id="rId11" Type="http://schemas.openxmlformats.org/officeDocument/2006/relationships/image" Target="../media/image-17-4.png"/><Relationship Id="rId12" Type="http://schemas.openxmlformats.org/officeDocument/2006/relationships/image" Target="../media/image-17-5.png"/><Relationship Id="rId13" Type="http://schemas.openxmlformats.org/officeDocument/2006/relationships/image" Target="../media/image-17-6.png"/><Relationship Id="rId14" Type="http://schemas.openxmlformats.org/officeDocument/2006/relationships/slideLayout" Target="../slideLayouts/slideLayout1.xml"/><Relationship Id="rId1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8-1.png"/><Relationship Id="rId2" Type="http://schemas.openxmlformats.org/officeDocument/2006/relationships/image" Target="../media/image-18-2.png"/><Relationship Id="rId10" Type="http://schemas.openxmlformats.org/officeDocument/2006/relationships/image" Target="../media/image-18-3.png"/><Relationship Id="rId11" Type="http://schemas.openxmlformats.org/officeDocument/2006/relationships/image" Target="../media/image-18-4.png"/><Relationship Id="rId12" Type="http://schemas.openxmlformats.org/officeDocument/2006/relationships/image" Target="../media/image-18-5.png"/><Relationship Id="rId13" Type="http://schemas.openxmlformats.org/officeDocument/2006/relationships/slideLayout" Target="../slideLayouts/slideLayout1.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9-1.png"/><Relationship Id="rId2" Type="http://schemas.openxmlformats.org/officeDocument/2006/relationships/image" Target="../media/image-19-2.png"/><Relationship Id="rId10" Type="http://schemas.openxmlformats.org/officeDocument/2006/relationships/image" Target="../media/image-19-3.png"/><Relationship Id="rId11" Type="http://schemas.openxmlformats.org/officeDocument/2006/relationships/image" Target="../media/image-19-4.png"/><Relationship Id="rId12" Type="http://schemas.openxmlformats.org/officeDocument/2006/relationships/image" Target="../media/image-19-5.png"/><Relationship Id="rId13" Type="http://schemas.openxmlformats.org/officeDocument/2006/relationships/image" Target="../media/image-19-6.png"/><Relationship Id="rId14" Type="http://schemas.openxmlformats.org/officeDocument/2006/relationships/image" Target="../media/image-19-7.png"/><Relationship Id="rId15" Type="http://schemas.openxmlformats.org/officeDocument/2006/relationships/image" Target="../media/image-19-8.png"/><Relationship Id="rId16" Type="http://schemas.openxmlformats.org/officeDocument/2006/relationships/slideLayout" Target="../slideLayouts/slideLayout1.xml"/><Relationship Id="rId1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20-1.png"/><Relationship Id="rId2" Type="http://schemas.openxmlformats.org/officeDocument/2006/relationships/image" Target="../media/image-20-2.png"/><Relationship Id="rId10" Type="http://schemas.openxmlformats.org/officeDocument/2006/relationships/image" Target="../media/image-20-3.png"/><Relationship Id="rId11" Type="http://schemas.openxmlformats.org/officeDocument/2006/relationships/image" Target="../media/image-20-4.png"/><Relationship Id="rId12" Type="http://schemas.openxmlformats.org/officeDocument/2006/relationships/slideLayout" Target="../slideLayouts/slideLayout1.xml"/><Relationship Id="rId1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21-1.png"/><Relationship Id="rId2" Type="http://schemas.openxmlformats.org/officeDocument/2006/relationships/image" Target="../media/image-21-2.png"/><Relationship Id="rId10" Type="http://schemas.openxmlformats.org/officeDocument/2006/relationships/image" Target="../media/image-21-3.png"/><Relationship Id="rId11" Type="http://schemas.openxmlformats.org/officeDocument/2006/relationships/image" Target="../media/image-21-4.png"/><Relationship Id="rId12" Type="http://schemas.openxmlformats.org/officeDocument/2006/relationships/image" Target="../media/image-21-5.png"/><Relationship Id="rId13" Type="http://schemas.openxmlformats.org/officeDocument/2006/relationships/image" Target="../media/image-21-6.png"/><Relationship Id="rId14" Type="http://schemas.openxmlformats.org/officeDocument/2006/relationships/image" Target="../media/image-21-7.png"/><Relationship Id="rId15" Type="http://schemas.openxmlformats.org/officeDocument/2006/relationships/slideLayout" Target="../slideLayouts/slideLayout1.xml"/><Relationship Id="rId1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22-1.png"/><Relationship Id="rId2" Type="http://schemas.openxmlformats.org/officeDocument/2006/relationships/image" Target="../media/image-22-2.png"/><Relationship Id="rId10" Type="http://schemas.openxmlformats.org/officeDocument/2006/relationships/image" Target="../media/image-22-3.png"/><Relationship Id="rId11" Type="http://schemas.openxmlformats.org/officeDocument/2006/relationships/image" Target="../media/image-22-4.png"/><Relationship Id="rId12" Type="http://schemas.openxmlformats.org/officeDocument/2006/relationships/image" Target="../media/image-22-5.png"/><Relationship Id="rId13" Type="http://schemas.openxmlformats.org/officeDocument/2006/relationships/image" Target="../media/image-22-6.png"/><Relationship Id="rId14" Type="http://schemas.openxmlformats.org/officeDocument/2006/relationships/slideLayout" Target="../slideLayouts/slideLayout1.xml"/><Relationship Id="rId1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23-1.png"/><Relationship Id="rId2" Type="http://schemas.openxmlformats.org/officeDocument/2006/relationships/image" Target="../media/image-23-2.png"/><Relationship Id="rId10" Type="http://schemas.openxmlformats.org/officeDocument/2006/relationships/image" Target="../media/image-23-3.png"/><Relationship Id="rId11" Type="http://schemas.openxmlformats.org/officeDocument/2006/relationships/image" Target="../media/image-23-4.png"/><Relationship Id="rId12" Type="http://schemas.openxmlformats.org/officeDocument/2006/relationships/slideLayout" Target="../slideLayouts/slideLayout1.xml"/><Relationship Id="rId1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24-1.png"/><Relationship Id="rId2" Type="http://schemas.openxmlformats.org/officeDocument/2006/relationships/image" Target="../media/image-24-2.png"/><Relationship Id="rId10" Type="http://schemas.openxmlformats.org/officeDocument/2006/relationships/image" Target="../media/image-24-3.png"/><Relationship Id="rId11" Type="http://schemas.openxmlformats.org/officeDocument/2006/relationships/image" Target="../media/image-24-4.png"/><Relationship Id="rId12" Type="http://schemas.openxmlformats.org/officeDocument/2006/relationships/image" Target="../media/image-24-5.png"/><Relationship Id="rId13" Type="http://schemas.openxmlformats.org/officeDocument/2006/relationships/image" Target="../media/image-24-6.png"/><Relationship Id="rId14" Type="http://schemas.openxmlformats.org/officeDocument/2006/relationships/image" Target="../media/image-24-7.png"/><Relationship Id="rId15" Type="http://schemas.openxmlformats.org/officeDocument/2006/relationships/slideLayout" Target="../slideLayouts/slideLayout1.xml"/><Relationship Id="rId1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25-1.png"/><Relationship Id="rId2" Type="http://schemas.openxmlformats.org/officeDocument/2006/relationships/image" Target="../media/image-25-2.png"/><Relationship Id="rId10" Type="http://schemas.openxmlformats.org/officeDocument/2006/relationships/image" Target="../media/image-25-3.png"/><Relationship Id="rId11" Type="http://schemas.openxmlformats.org/officeDocument/2006/relationships/image" Target="../media/image-25-4.png"/><Relationship Id="rId12" Type="http://schemas.openxmlformats.org/officeDocument/2006/relationships/image" Target="../media/image-25-5.png"/><Relationship Id="rId13" Type="http://schemas.openxmlformats.org/officeDocument/2006/relationships/image" Target="../media/image-25-6.png"/><Relationship Id="rId14" Type="http://schemas.openxmlformats.org/officeDocument/2006/relationships/image" Target="../media/image-25-7.png"/><Relationship Id="rId15" Type="http://schemas.openxmlformats.org/officeDocument/2006/relationships/slideLayout" Target="../slideLayouts/slideLayout1.xml"/><Relationship Id="rId1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26-1.png"/><Relationship Id="rId2" Type="http://schemas.openxmlformats.org/officeDocument/2006/relationships/image" Target="../media/image-26-2.png"/><Relationship Id="rId10" Type="http://schemas.openxmlformats.org/officeDocument/2006/relationships/image" Target="../media/image-26-3.png"/><Relationship Id="rId11" Type="http://schemas.openxmlformats.org/officeDocument/2006/relationships/image" Target="../media/image-26-4.png"/><Relationship Id="rId12" Type="http://schemas.openxmlformats.org/officeDocument/2006/relationships/image" Target="../media/image-26-5.png"/><Relationship Id="rId13" Type="http://schemas.openxmlformats.org/officeDocument/2006/relationships/image" Target="../media/image-26-6.png"/><Relationship Id="rId14" Type="http://schemas.openxmlformats.org/officeDocument/2006/relationships/image" Target="../media/image-26-7.png"/><Relationship Id="rId15" Type="http://schemas.openxmlformats.org/officeDocument/2006/relationships/image" Target="../media/image-26-8.png"/><Relationship Id="rId16" Type="http://schemas.openxmlformats.org/officeDocument/2006/relationships/image" Target="../media/image-26-9.png"/><Relationship Id="rId17" Type="http://schemas.openxmlformats.org/officeDocument/2006/relationships/slideLayout" Target="../slideLayouts/slideLayout1.xml"/><Relationship Id="rId1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27-1.png"/><Relationship Id="rId2" Type="http://schemas.openxmlformats.org/officeDocument/2006/relationships/image" Target="../media/image-27-2.png"/><Relationship Id="rId10" Type="http://schemas.openxmlformats.org/officeDocument/2006/relationships/image" Target="../media/image-27-3.png"/><Relationship Id="rId11" Type="http://schemas.openxmlformats.org/officeDocument/2006/relationships/image" Target="../media/image-27-4.png"/><Relationship Id="rId12" Type="http://schemas.openxmlformats.org/officeDocument/2006/relationships/image" Target="../media/image-27-5.png"/><Relationship Id="rId13" Type="http://schemas.openxmlformats.org/officeDocument/2006/relationships/slideLayout" Target="../slideLayouts/slideLayout1.xml"/><Relationship Id="rId1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28-1.png"/><Relationship Id="rId2" Type="http://schemas.openxmlformats.org/officeDocument/2006/relationships/image" Target="../media/image-28-2.png"/><Relationship Id="rId10" Type="http://schemas.openxmlformats.org/officeDocument/2006/relationships/image" Target="../media/image-28-3.png"/><Relationship Id="rId11" Type="http://schemas.openxmlformats.org/officeDocument/2006/relationships/image" Target="../media/image-28-4.png"/><Relationship Id="rId12" Type="http://schemas.openxmlformats.org/officeDocument/2006/relationships/image" Target="../media/image-28-5.png"/><Relationship Id="rId13" Type="http://schemas.openxmlformats.org/officeDocument/2006/relationships/slideLayout" Target="../slideLayouts/slideLayout1.xml"/><Relationship Id="rId1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29-1.png"/><Relationship Id="rId2" Type="http://schemas.openxmlformats.org/officeDocument/2006/relationships/image" Target="../media/image-29-2.png"/><Relationship Id="rId10" Type="http://schemas.openxmlformats.org/officeDocument/2006/relationships/image" Target="../media/image-29-3.png"/><Relationship Id="rId11" Type="http://schemas.openxmlformats.org/officeDocument/2006/relationships/image" Target="../media/image-29-4.png"/><Relationship Id="rId12" Type="http://schemas.openxmlformats.org/officeDocument/2006/relationships/image" Target="../media/image-29-5.png"/><Relationship Id="rId13" Type="http://schemas.openxmlformats.org/officeDocument/2006/relationships/image" Target="../media/image-29-6.png"/><Relationship Id="rId14" Type="http://schemas.openxmlformats.org/officeDocument/2006/relationships/slideLayout" Target="../slideLayouts/slideLayout1.xml"/><Relationship Id="rId1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30-1.png"/><Relationship Id="rId2" Type="http://schemas.openxmlformats.org/officeDocument/2006/relationships/image" Target="../media/image-30-2.png"/><Relationship Id="rId10" Type="http://schemas.openxmlformats.org/officeDocument/2006/relationships/image" Target="../media/image-30-3.png"/><Relationship Id="rId11" Type="http://schemas.openxmlformats.org/officeDocument/2006/relationships/image" Target="../media/image-30-4.png"/><Relationship Id="rId12" Type="http://schemas.openxmlformats.org/officeDocument/2006/relationships/image" Target="../media/image-30-5.png"/><Relationship Id="rId13" Type="http://schemas.openxmlformats.org/officeDocument/2006/relationships/image" Target="../media/image-30-6.png"/><Relationship Id="rId14" Type="http://schemas.openxmlformats.org/officeDocument/2006/relationships/slideLayout" Target="../slideLayouts/slideLayout1.xml"/><Relationship Id="rId1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31-1.png"/><Relationship Id="rId2" Type="http://schemas.openxmlformats.org/officeDocument/2006/relationships/image" Target="../media/image-31-2.png"/><Relationship Id="rId10" Type="http://schemas.openxmlformats.org/officeDocument/2006/relationships/image" Target="../media/image-31-3.png"/><Relationship Id="rId11" Type="http://schemas.openxmlformats.org/officeDocument/2006/relationships/image" Target="../media/image-31-4.png"/><Relationship Id="rId12" Type="http://schemas.openxmlformats.org/officeDocument/2006/relationships/image" Target="../media/image-31-5.png"/><Relationship Id="rId13" Type="http://schemas.openxmlformats.org/officeDocument/2006/relationships/image" Target="../media/image-31-6.png"/><Relationship Id="rId14" Type="http://schemas.openxmlformats.org/officeDocument/2006/relationships/slideLayout" Target="../slideLayouts/slideLayout1.xml"/><Relationship Id="rId1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32-1.png"/><Relationship Id="rId2" Type="http://schemas.openxmlformats.org/officeDocument/2006/relationships/image" Target="../media/image-32-2.png"/><Relationship Id="rId10" Type="http://schemas.openxmlformats.org/officeDocument/2006/relationships/image" Target="../media/image-32-3.png"/><Relationship Id="rId11" Type="http://schemas.openxmlformats.org/officeDocument/2006/relationships/image" Target="../media/image-32-4.png"/><Relationship Id="rId12" Type="http://schemas.openxmlformats.org/officeDocument/2006/relationships/image" Target="../media/image-32-5.png"/><Relationship Id="rId13" Type="http://schemas.openxmlformats.org/officeDocument/2006/relationships/image" Target="../media/image-32-6.png"/><Relationship Id="rId14" Type="http://schemas.openxmlformats.org/officeDocument/2006/relationships/slideLayout" Target="../slideLayouts/slideLayout1.xml"/><Relationship Id="rId1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33-1.png"/><Relationship Id="rId2" Type="http://schemas.openxmlformats.org/officeDocument/2006/relationships/image" Target="../media/image-33-2.png"/><Relationship Id="rId10" Type="http://schemas.openxmlformats.org/officeDocument/2006/relationships/image" Target="../media/image-33-3.png"/><Relationship Id="rId11" Type="http://schemas.openxmlformats.org/officeDocument/2006/relationships/image" Target="../media/image-33-4.png"/><Relationship Id="rId12" Type="http://schemas.openxmlformats.org/officeDocument/2006/relationships/image" Target="../media/image-33-5.png"/><Relationship Id="rId13" Type="http://schemas.openxmlformats.org/officeDocument/2006/relationships/image" Target="../media/image-33-6.png"/><Relationship Id="rId14" Type="http://schemas.openxmlformats.org/officeDocument/2006/relationships/image" Target="../media/image-33-7.png"/><Relationship Id="rId15" Type="http://schemas.openxmlformats.org/officeDocument/2006/relationships/slideLayout" Target="../slideLayouts/slideLayout1.xml"/><Relationship Id="rId1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34-1.png"/><Relationship Id="rId2" Type="http://schemas.openxmlformats.org/officeDocument/2006/relationships/image" Target="../media/image-34-2.png"/><Relationship Id="rId10" Type="http://schemas.openxmlformats.org/officeDocument/2006/relationships/image" Target="../media/image-34-3.png"/><Relationship Id="rId11" Type="http://schemas.openxmlformats.org/officeDocument/2006/relationships/image" Target="../media/image-34-4.png"/><Relationship Id="rId12" Type="http://schemas.openxmlformats.org/officeDocument/2006/relationships/image" Target="../media/image-34-5.png"/><Relationship Id="rId13" Type="http://schemas.openxmlformats.org/officeDocument/2006/relationships/image" Target="../media/image-34-6.png"/><Relationship Id="rId14" Type="http://schemas.openxmlformats.org/officeDocument/2006/relationships/image" Target="../media/image-34-7.png"/><Relationship Id="rId15" Type="http://schemas.openxmlformats.org/officeDocument/2006/relationships/image" Target="../media/image-34-8.png"/><Relationship Id="rId16" Type="http://schemas.openxmlformats.org/officeDocument/2006/relationships/slideLayout" Target="../slideLayouts/slideLayout1.xml"/><Relationship Id="rId1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 Target="slide35.xml"/><Relationship Id="rId4" Type="http://schemas.openxmlformats.org/officeDocument/2006/relationships/slide" Target="slide28.xml"/><Relationship Id="rId5" Type="http://schemas.openxmlformats.org/officeDocument/2006/relationships/slide" Target="slide19.xml"/><Relationship Id="rId6" Type="http://schemas.openxmlformats.org/officeDocument/2006/relationships/slide" Target="slide11.xml"/><Relationship Id="rId7" Type="http://schemas.openxmlformats.org/officeDocument/2006/relationships/slide" Target="slide6.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35-1.png"/><Relationship Id="rId2" Type="http://schemas.openxmlformats.org/officeDocument/2006/relationships/image" Target="../media/image-35-2.png"/><Relationship Id="rId10" Type="http://schemas.openxmlformats.org/officeDocument/2006/relationships/image" Target="../media/image-35-3.png"/><Relationship Id="rId11" Type="http://schemas.openxmlformats.org/officeDocument/2006/relationships/image" Target="../media/image-35-4.png"/><Relationship Id="rId12" Type="http://schemas.openxmlformats.org/officeDocument/2006/relationships/slideLayout" Target="../slideLayouts/slideLayout1.xml"/><Relationship Id="rId1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1"/>
          <p:cNvSpPr txBox="1"/>
          <p:nvPr/>
        </p:nvSpPr>
        <p:spPr>
          <a:xfrm>
            <a:off x="731520" y="1097280"/>
            <a:ext cx="5852160" cy="2194560"/>
          </a:xfrm>
          <a:prstGeom prst="rect">
            <a:avLst/>
          </a:prstGeom>
          <a:noFill/>
          <a:ln/>
        </p:spPr>
        <p:txBody>
          <a:bodyPr wrap="square" lIns="0" tIns="0" rIns="0" bIns="0" rtlCol="0" anchor="ctr"/>
          <a:lstStyle/>
          <a:p>
            <a:pPr indent="0" marL="0">
              <a:buNone/>
            </a:pPr>
            <a:r>
              <a:rPr lang="en-US" sz="5000" b="1" dirty="0">
                <a:solidFill>
                  <a:srgbClr val="111111"/>
                </a:solidFill>
                <a:latin typeface="Arial" pitchFamily="34" charset="0"/>
                <a:ea typeface="Arial" pitchFamily="34" charset="-122"/>
                <a:cs typeface="Arial" pitchFamily="34" charset="-120"/>
              </a:rPr>
              <a:t>SOCIAL MEDIA PREZENTARE</a:t>
            </a:r>
            <a:endParaRPr lang="en-US" sz="5000" dirty="0"/>
          </a:p>
        </p:txBody>
      </p:sp>
      <p:pic>
        <p:nvPicPr>
          <p:cNvPr id="3" name="coverlogo-2" descr="preencoded.png">    </p:cNvPr>
          <p:cNvPicPr>
            <a:picLocks noChangeAspect="1"/>
          </p:cNvPicPr>
          <p:nvPr/>
        </p:nvPicPr>
        <p:blipFill>
          <a:blip r:embed="rId1"/>
          <a:stretch>
            <a:fillRect/>
          </a:stretch>
        </p:blipFill>
        <p:spPr>
          <a:xfrm>
            <a:off x="731520" y="3520440"/>
            <a:ext cx="658368" cy="658368"/>
          </a:xfrm>
          <a:prstGeom prst="rect">
            <a:avLst/>
          </a:prstGeom>
        </p:spPr>
      </p:pic>
      <p:pic>
        <p:nvPicPr>
          <p:cNvPr id="4" name="coverlogo-3" descr="preencoded.png">    </p:cNvPr>
          <p:cNvPicPr>
            <a:picLocks noChangeAspect="1"/>
          </p:cNvPicPr>
          <p:nvPr/>
        </p:nvPicPr>
        <p:blipFill>
          <a:blip r:embed="rId2"/>
          <a:stretch>
            <a:fillRect/>
          </a:stretch>
        </p:blipFill>
        <p:spPr>
          <a:xfrm>
            <a:off x="1600200" y="3520440"/>
            <a:ext cx="658368" cy="658368"/>
          </a:xfrm>
          <a:prstGeom prst="rect">
            <a:avLst/>
          </a:prstGeom>
        </p:spPr>
      </p:pic>
      <p:pic>
        <p:nvPicPr>
          <p:cNvPr id="5" name="coverlogo-4" descr="preencoded.png">    </p:cNvPr>
          <p:cNvPicPr>
            <a:picLocks noChangeAspect="1"/>
          </p:cNvPicPr>
          <p:nvPr/>
        </p:nvPicPr>
        <p:blipFill>
          <a:blip r:embed="rId3"/>
          <a:stretch>
            <a:fillRect/>
          </a:stretch>
        </p:blipFill>
        <p:spPr>
          <a:xfrm>
            <a:off x="2468880" y="3520440"/>
            <a:ext cx="658368" cy="658368"/>
          </a:xfrm>
          <a:prstGeom prst="rect">
            <a:avLst/>
          </a:prstGeom>
        </p:spPr>
      </p:pic>
      <p:pic>
        <p:nvPicPr>
          <p:cNvPr id="6" name="coverlogo-5" descr="preencoded.png">    </p:cNvPr>
          <p:cNvPicPr>
            <a:picLocks noChangeAspect="1"/>
          </p:cNvPicPr>
          <p:nvPr/>
        </p:nvPicPr>
        <p:blipFill>
          <a:blip r:embed="rId4"/>
          <a:stretch>
            <a:fillRect/>
          </a:stretch>
        </p:blipFill>
        <p:spPr>
          <a:xfrm>
            <a:off x="3337560" y="3520440"/>
            <a:ext cx="658368" cy="658368"/>
          </a:xfrm>
          <a:prstGeom prst="rect">
            <a:avLst/>
          </a:prstGeom>
        </p:spPr>
      </p:pic>
      <p:sp>
        <p:nvSpPr>
          <p:cNvPr id="7" name="toc-6"/>
          <p:cNvSpPr/>
          <p:nvPr/>
        </p:nvSpPr>
        <p:spPr>
          <a:xfrm>
            <a:off x="6949440" y="1188720"/>
            <a:ext cx="2148840" cy="1234440"/>
          </a:xfrm>
          <a:prstGeom prst="roundRect">
            <a:avLst>
              <a:gd name="adj" fmla="val 8889"/>
            </a:avLst>
          </a:prstGeom>
          <a:solidFill>
            <a:srgbClr val="FAF0EC"/>
          </a:solidFill>
          <a:ln w="12700">
            <a:solidFill>
              <a:srgbClr val="EABDAA"/>
            </a:solidFill>
            <a:prstDash val="solid"/>
          </a:ln>
        </p:spPr>
      </p:sp>
      <p:pic>
        <p:nvPicPr>
          <p:cNvPr id="8" name="toclogo-7" descr="preencoded.png">    </p:cNvPr>
          <p:cNvPicPr>
            <a:picLocks noChangeAspect="1"/>
          </p:cNvPicPr>
          <p:nvPr/>
        </p:nvPicPr>
        <p:blipFill>
          <a:blip r:embed="rId5"/>
          <a:stretch>
            <a:fillRect/>
          </a:stretch>
        </p:blipFill>
        <p:spPr>
          <a:xfrm>
            <a:off x="7132320" y="1371600"/>
            <a:ext cx="457200" cy="457200"/>
          </a:xfrm>
          <a:prstGeom prst="rect">
            <a:avLst/>
          </a:prstGeom>
        </p:spPr>
      </p:pic>
      <p:sp>
        <p:nvSpPr>
          <p:cNvPr id="9" name="toclink-8"/>
          <p:cNvSpPr txBox="1"/>
          <p:nvPr/>
        </p:nvSpPr>
        <p:spPr>
          <a:xfrm>
            <a:off x="7132320" y="1901952"/>
            <a:ext cx="1828800" cy="365760"/>
          </a:xfrm>
          <a:prstGeom prst="rect">
            <a:avLst/>
          </a:prstGeom>
          <a:noFill/>
          <a:ln/>
        </p:spPr>
        <p:txBody>
          <a:bodyPr wrap="square" lIns="0" tIns="0" rIns="0" bIns="0" rtlCol="0" anchor="ctr"/>
          <a:lstStyle/>
          <a:p>
            <a:pPr indent="0" marL="0">
              <a:buNone/>
            </a:pPr>
            <a:r>
              <a:rPr lang="en-US" sz="1600" b="1" u="sng" dirty="0">
                <a:solidFill>
                  <a:srgbClr val="C2410C"/>
                </a:solidFill>
                <a:latin typeface="Arial" pitchFamily="34" charset="0"/>
                <a:ea typeface="Arial" pitchFamily="34" charset="-122"/>
                <a:cs typeface="Arial" pitchFamily="34" charset="-120"/>
                <a:hlinkClick r:id="rId6" action="ppaction://hlinksldjump" tooltip="Cum începem">
                  <a:extLst>
                    <a:ext uri="{A12FA001-AC4F-418D-AE19-62706E023703}">
                      <ahyp:hlinkClr xmlns:ahyp="http://schemas.microsoft.com/office/drawing/2018/hyperlinkcolor" val="tx"/>
                    </a:ext>
                  </a:extLst>
                </a:hlinkClick>
              </a:rPr>
              <a:t>Cum începem</a:t>
            </a:r>
            <a:endParaRPr lang="en-US" sz="1600" dirty="0"/>
          </a:p>
        </p:txBody>
      </p:sp>
      <p:sp>
        <p:nvSpPr>
          <p:cNvPr id="10" name="text-9"/>
          <p:cNvSpPr txBox="1"/>
          <p:nvPr/>
        </p:nvSpPr>
        <p:spPr>
          <a:xfrm>
            <a:off x="8458200" y="1389888"/>
            <a:ext cx="457200" cy="365760"/>
          </a:xfrm>
          <a:prstGeom prst="rect">
            <a:avLst/>
          </a:prstGeom>
          <a:noFill/>
          <a:ln/>
        </p:spPr>
        <p:txBody>
          <a:bodyPr wrap="square" lIns="0" tIns="0" rIns="0" bIns="0" rtlCol="0" anchor="t"/>
          <a:lstStyle/>
          <a:p>
            <a:pPr algn="r" indent="0" marL="0">
              <a:buNone/>
            </a:pPr>
            <a:r>
              <a:rPr lang="en-US" sz="1200" b="1" dirty="0">
                <a:solidFill>
                  <a:srgbClr val="6B6B6B"/>
                </a:solidFill>
                <a:latin typeface="Arial" pitchFamily="34" charset="0"/>
                <a:ea typeface="Arial" pitchFamily="34" charset="-122"/>
                <a:cs typeface="Arial" pitchFamily="34" charset="-120"/>
              </a:rPr>
              <a:t>2</a:t>
            </a:r>
            <a:endParaRPr lang="en-US" sz="1200" dirty="0"/>
          </a:p>
        </p:txBody>
      </p:sp>
      <p:sp>
        <p:nvSpPr>
          <p:cNvPr id="11" name="toc-10"/>
          <p:cNvSpPr/>
          <p:nvPr/>
        </p:nvSpPr>
        <p:spPr>
          <a:xfrm>
            <a:off x="9281160" y="1188720"/>
            <a:ext cx="2148840" cy="1234440"/>
          </a:xfrm>
          <a:prstGeom prst="roundRect">
            <a:avLst>
              <a:gd name="adj" fmla="val 8889"/>
            </a:avLst>
          </a:prstGeom>
          <a:solidFill>
            <a:srgbClr val="ECF3FC"/>
          </a:solidFill>
          <a:ln w="12700">
            <a:solidFill>
              <a:srgbClr val="ADC9F1"/>
            </a:solidFill>
            <a:prstDash val="solid"/>
          </a:ln>
        </p:spPr>
      </p:sp>
      <p:pic>
        <p:nvPicPr>
          <p:cNvPr id="12" name="toclogo-11" descr="preencoded.png">    </p:cNvPr>
          <p:cNvPicPr>
            <a:picLocks noChangeAspect="1"/>
          </p:cNvPicPr>
          <p:nvPr/>
        </p:nvPicPr>
        <p:blipFill>
          <a:blip r:embed="rId7"/>
          <a:stretch>
            <a:fillRect/>
          </a:stretch>
        </p:blipFill>
        <p:spPr>
          <a:xfrm>
            <a:off x="9464040" y="1371600"/>
            <a:ext cx="457200" cy="457200"/>
          </a:xfrm>
          <a:prstGeom prst="rect">
            <a:avLst/>
          </a:prstGeom>
        </p:spPr>
      </p:pic>
      <p:sp>
        <p:nvSpPr>
          <p:cNvPr id="13" name="toclink-12"/>
          <p:cNvSpPr txBox="1"/>
          <p:nvPr/>
        </p:nvSpPr>
        <p:spPr>
          <a:xfrm>
            <a:off x="9464040" y="1901952"/>
            <a:ext cx="1828800" cy="365760"/>
          </a:xfrm>
          <a:prstGeom prst="rect">
            <a:avLst/>
          </a:prstGeom>
          <a:noFill/>
          <a:ln/>
        </p:spPr>
        <p:txBody>
          <a:bodyPr wrap="square" lIns="0" tIns="0" rIns="0" bIns="0" rtlCol="0" anchor="ctr"/>
          <a:lstStyle/>
          <a:p>
            <a:pPr indent="0" marL="0">
              <a:buNone/>
            </a:pPr>
            <a:r>
              <a:rPr lang="en-US" sz="1600" b="1" u="sng" dirty="0">
                <a:solidFill>
                  <a:srgbClr val="1565D8"/>
                </a:solidFill>
                <a:latin typeface="Arial" pitchFamily="34" charset="0"/>
                <a:ea typeface="Arial" pitchFamily="34" charset="-122"/>
                <a:cs typeface="Arial" pitchFamily="34" charset="-120"/>
                <a:hlinkClick r:id="rId8" action="ppaction://hlinksldjump" tooltip="Facebook">
                  <a:extLst>
                    <a:ext uri="{A12FA001-AC4F-418D-AE19-62706E023703}">
                      <ahyp:hlinkClr xmlns:ahyp="http://schemas.microsoft.com/office/drawing/2018/hyperlinkcolor" val="tx"/>
                    </a:ext>
                  </a:extLst>
                </a:hlinkClick>
              </a:rPr>
              <a:t>Facebook</a:t>
            </a:r>
            <a:endParaRPr lang="en-US" sz="1600" dirty="0"/>
          </a:p>
        </p:txBody>
      </p:sp>
      <p:sp>
        <p:nvSpPr>
          <p:cNvPr id="14" name="text-13"/>
          <p:cNvSpPr txBox="1"/>
          <p:nvPr/>
        </p:nvSpPr>
        <p:spPr>
          <a:xfrm>
            <a:off x="10789920" y="1389888"/>
            <a:ext cx="457200" cy="365760"/>
          </a:xfrm>
          <a:prstGeom prst="rect">
            <a:avLst/>
          </a:prstGeom>
          <a:noFill/>
          <a:ln/>
        </p:spPr>
        <p:txBody>
          <a:bodyPr wrap="square" lIns="0" tIns="0" rIns="0" bIns="0" rtlCol="0" anchor="t"/>
          <a:lstStyle/>
          <a:p>
            <a:pPr algn="r" indent="0" marL="0">
              <a:buNone/>
            </a:pPr>
            <a:r>
              <a:rPr lang="en-US" sz="1200" b="1" dirty="0">
                <a:solidFill>
                  <a:srgbClr val="6B6B6B"/>
                </a:solidFill>
                <a:latin typeface="Arial" pitchFamily="34" charset="0"/>
                <a:ea typeface="Arial" pitchFamily="34" charset="-122"/>
                <a:cs typeface="Arial" pitchFamily="34" charset="-120"/>
              </a:rPr>
              <a:t>6</a:t>
            </a:r>
            <a:endParaRPr lang="en-US" sz="1200" dirty="0"/>
          </a:p>
        </p:txBody>
      </p:sp>
      <p:sp>
        <p:nvSpPr>
          <p:cNvPr id="15" name="toc-14"/>
          <p:cNvSpPr/>
          <p:nvPr/>
        </p:nvSpPr>
        <p:spPr>
          <a:xfrm>
            <a:off x="6949440" y="2606040"/>
            <a:ext cx="2148840" cy="1234440"/>
          </a:xfrm>
          <a:prstGeom prst="roundRect">
            <a:avLst>
              <a:gd name="adj" fmla="val 8889"/>
            </a:avLst>
          </a:prstGeom>
          <a:solidFill>
            <a:srgbClr val="F9ECF1"/>
          </a:solidFill>
          <a:ln w="12700">
            <a:solidFill>
              <a:srgbClr val="E3ACC1"/>
            </a:solidFill>
            <a:prstDash val="solid"/>
          </a:ln>
        </p:spPr>
      </p:sp>
      <p:pic>
        <p:nvPicPr>
          <p:cNvPr id="16" name="toclogo-15" descr="preencoded.png">    </p:cNvPr>
          <p:cNvPicPr>
            <a:picLocks noChangeAspect="1"/>
          </p:cNvPicPr>
          <p:nvPr/>
        </p:nvPicPr>
        <p:blipFill>
          <a:blip r:embed="rId9"/>
          <a:stretch>
            <a:fillRect/>
          </a:stretch>
        </p:blipFill>
        <p:spPr>
          <a:xfrm>
            <a:off x="7132320" y="2788920"/>
            <a:ext cx="457200" cy="457200"/>
          </a:xfrm>
          <a:prstGeom prst="rect">
            <a:avLst/>
          </a:prstGeom>
        </p:spPr>
      </p:pic>
      <p:sp>
        <p:nvSpPr>
          <p:cNvPr id="17" name="toclink-16"/>
          <p:cNvSpPr txBox="1"/>
          <p:nvPr/>
        </p:nvSpPr>
        <p:spPr>
          <a:xfrm>
            <a:off x="7132320" y="3319272"/>
            <a:ext cx="1828800" cy="365760"/>
          </a:xfrm>
          <a:prstGeom prst="rect">
            <a:avLst/>
          </a:prstGeom>
          <a:noFill/>
          <a:ln/>
        </p:spPr>
        <p:txBody>
          <a:bodyPr wrap="square" lIns="0" tIns="0" rIns="0" bIns="0" rtlCol="0" anchor="ctr"/>
          <a:lstStyle/>
          <a:p>
            <a:pPr indent="0" marL="0">
              <a:buNone/>
            </a:pPr>
            <a:r>
              <a:rPr lang="en-US" sz="1600" b="1" u="sng" dirty="0">
                <a:solidFill>
                  <a:srgbClr val="B0124F"/>
                </a:solidFill>
                <a:latin typeface="Arial" pitchFamily="34" charset="0"/>
                <a:ea typeface="Arial" pitchFamily="34" charset="-122"/>
                <a:cs typeface="Arial" pitchFamily="34" charset="-120"/>
                <a:hlinkClick r:id="rId10" action="ppaction://hlinksldjump" tooltip="Instagram">
                  <a:extLst>
                    <a:ext uri="{A12FA001-AC4F-418D-AE19-62706E023703}">
                      <ahyp:hlinkClr xmlns:ahyp="http://schemas.microsoft.com/office/drawing/2018/hyperlinkcolor" val="tx"/>
                    </a:ext>
                  </a:extLst>
                </a:hlinkClick>
              </a:rPr>
              <a:t>Instagram</a:t>
            </a:r>
            <a:endParaRPr lang="en-US" sz="1600" dirty="0"/>
          </a:p>
        </p:txBody>
      </p:sp>
      <p:sp>
        <p:nvSpPr>
          <p:cNvPr id="18" name="text-17"/>
          <p:cNvSpPr txBox="1"/>
          <p:nvPr/>
        </p:nvSpPr>
        <p:spPr>
          <a:xfrm>
            <a:off x="8458200" y="2807208"/>
            <a:ext cx="457200" cy="365760"/>
          </a:xfrm>
          <a:prstGeom prst="rect">
            <a:avLst/>
          </a:prstGeom>
          <a:noFill/>
          <a:ln/>
        </p:spPr>
        <p:txBody>
          <a:bodyPr wrap="square" lIns="0" tIns="0" rIns="0" bIns="0" rtlCol="0" anchor="t"/>
          <a:lstStyle/>
          <a:p>
            <a:pPr algn="r" indent="0" marL="0">
              <a:buNone/>
            </a:pPr>
            <a:r>
              <a:rPr lang="en-US" sz="1200" b="1" dirty="0">
                <a:solidFill>
                  <a:srgbClr val="6B6B6B"/>
                </a:solidFill>
                <a:latin typeface="Arial" pitchFamily="34" charset="0"/>
                <a:ea typeface="Arial" pitchFamily="34" charset="-122"/>
                <a:cs typeface="Arial" pitchFamily="34" charset="-120"/>
              </a:rPr>
              <a:t>11</a:t>
            </a:r>
            <a:endParaRPr lang="en-US" sz="1200" dirty="0"/>
          </a:p>
        </p:txBody>
      </p:sp>
      <p:sp>
        <p:nvSpPr>
          <p:cNvPr id="19" name="toc-18"/>
          <p:cNvSpPr/>
          <p:nvPr/>
        </p:nvSpPr>
        <p:spPr>
          <a:xfrm>
            <a:off x="9281160" y="2606040"/>
            <a:ext cx="2148840" cy="1234440"/>
          </a:xfrm>
          <a:prstGeom prst="roundRect">
            <a:avLst>
              <a:gd name="adj" fmla="val 8889"/>
            </a:avLst>
          </a:prstGeom>
          <a:solidFill>
            <a:srgbClr val="FAECF0"/>
          </a:solidFill>
          <a:ln w="12700">
            <a:solidFill>
              <a:srgbClr val="EAABBC"/>
            </a:solidFill>
            <a:prstDash val="solid"/>
          </a:ln>
        </p:spPr>
      </p:sp>
      <p:pic>
        <p:nvPicPr>
          <p:cNvPr id="20" name="toclogo-19" descr="preencoded.png">    </p:cNvPr>
          <p:cNvPicPr>
            <a:picLocks noChangeAspect="1"/>
          </p:cNvPicPr>
          <p:nvPr/>
        </p:nvPicPr>
        <p:blipFill>
          <a:blip r:embed="rId11"/>
          <a:stretch>
            <a:fillRect/>
          </a:stretch>
        </p:blipFill>
        <p:spPr>
          <a:xfrm>
            <a:off x="9464040" y="2788920"/>
            <a:ext cx="457200" cy="457200"/>
          </a:xfrm>
          <a:prstGeom prst="rect">
            <a:avLst/>
          </a:prstGeom>
        </p:spPr>
      </p:pic>
      <p:sp>
        <p:nvSpPr>
          <p:cNvPr id="21" name="toclink-20"/>
          <p:cNvSpPr txBox="1"/>
          <p:nvPr/>
        </p:nvSpPr>
        <p:spPr>
          <a:xfrm>
            <a:off x="9464040" y="3319272"/>
            <a:ext cx="1828800" cy="365760"/>
          </a:xfrm>
          <a:prstGeom prst="rect">
            <a:avLst/>
          </a:prstGeom>
          <a:noFill/>
          <a:ln/>
        </p:spPr>
        <p:txBody>
          <a:bodyPr wrap="square" lIns="0" tIns="0" rIns="0" bIns="0" rtlCol="0" anchor="ctr"/>
          <a:lstStyle/>
          <a:p>
            <a:pPr indent="0" marL="0">
              <a:buNone/>
            </a:pPr>
            <a:r>
              <a:rPr lang="en-US" sz="1600" b="1" u="sng" dirty="0">
                <a:solidFill>
                  <a:srgbClr val="C20E3F"/>
                </a:solidFill>
                <a:latin typeface="Arial" pitchFamily="34" charset="0"/>
                <a:ea typeface="Arial" pitchFamily="34" charset="-122"/>
                <a:cs typeface="Arial" pitchFamily="34" charset="-120"/>
                <a:hlinkClick r:id="rId12" action="ppaction://hlinksldjump" tooltip="TikTok">
                  <a:extLst>
                    <a:ext uri="{A12FA001-AC4F-418D-AE19-62706E023703}">
                      <ahyp:hlinkClr xmlns:ahyp="http://schemas.microsoft.com/office/drawing/2018/hyperlinkcolor" val="tx"/>
                    </a:ext>
                  </a:extLst>
                </a:hlinkClick>
              </a:rPr>
              <a:t>TikTok</a:t>
            </a:r>
            <a:endParaRPr lang="en-US" sz="1600" dirty="0"/>
          </a:p>
        </p:txBody>
      </p:sp>
      <p:sp>
        <p:nvSpPr>
          <p:cNvPr id="22" name="text-21"/>
          <p:cNvSpPr txBox="1"/>
          <p:nvPr/>
        </p:nvSpPr>
        <p:spPr>
          <a:xfrm>
            <a:off x="10789920" y="2807208"/>
            <a:ext cx="457200" cy="365760"/>
          </a:xfrm>
          <a:prstGeom prst="rect">
            <a:avLst/>
          </a:prstGeom>
          <a:noFill/>
          <a:ln/>
        </p:spPr>
        <p:txBody>
          <a:bodyPr wrap="square" lIns="0" tIns="0" rIns="0" bIns="0" rtlCol="0" anchor="t"/>
          <a:lstStyle/>
          <a:p>
            <a:pPr algn="r" indent="0" marL="0">
              <a:buNone/>
            </a:pPr>
            <a:r>
              <a:rPr lang="en-US" sz="1200" b="1" dirty="0">
                <a:solidFill>
                  <a:srgbClr val="6B6B6B"/>
                </a:solidFill>
                <a:latin typeface="Arial" pitchFamily="34" charset="0"/>
                <a:ea typeface="Arial" pitchFamily="34" charset="-122"/>
                <a:cs typeface="Arial" pitchFamily="34" charset="-120"/>
              </a:rPr>
              <a:t>19</a:t>
            </a:r>
            <a:endParaRPr lang="en-US" sz="1200" dirty="0"/>
          </a:p>
        </p:txBody>
      </p:sp>
      <p:sp>
        <p:nvSpPr>
          <p:cNvPr id="23" name="toc-22"/>
          <p:cNvSpPr/>
          <p:nvPr/>
        </p:nvSpPr>
        <p:spPr>
          <a:xfrm>
            <a:off x="6949440" y="4023360"/>
            <a:ext cx="2148840" cy="1234440"/>
          </a:xfrm>
          <a:prstGeom prst="roundRect">
            <a:avLst>
              <a:gd name="adj" fmla="val 8889"/>
            </a:avLst>
          </a:prstGeom>
          <a:solidFill>
            <a:srgbClr val="F2EDF9"/>
          </a:solidFill>
          <a:ln w="12700">
            <a:solidFill>
              <a:srgbClr val="C6AFE5"/>
            </a:solidFill>
            <a:prstDash val="solid"/>
          </a:ln>
        </p:spPr>
      </p:sp>
      <p:pic>
        <p:nvPicPr>
          <p:cNvPr id="24" name="toclogo-23" descr="preencoded.png">    </p:cNvPr>
          <p:cNvPicPr>
            <a:picLocks noChangeAspect="1"/>
          </p:cNvPicPr>
          <p:nvPr/>
        </p:nvPicPr>
        <p:blipFill>
          <a:blip r:embed="rId13"/>
          <a:stretch>
            <a:fillRect/>
          </a:stretch>
        </p:blipFill>
        <p:spPr>
          <a:xfrm>
            <a:off x="7132320" y="4206240"/>
            <a:ext cx="457200" cy="457200"/>
          </a:xfrm>
          <a:prstGeom prst="rect">
            <a:avLst/>
          </a:prstGeom>
        </p:spPr>
      </p:pic>
      <p:sp>
        <p:nvSpPr>
          <p:cNvPr id="25" name="toclink-24"/>
          <p:cNvSpPr txBox="1"/>
          <p:nvPr/>
        </p:nvSpPr>
        <p:spPr>
          <a:xfrm>
            <a:off x="7132320" y="4736592"/>
            <a:ext cx="1828800" cy="365760"/>
          </a:xfrm>
          <a:prstGeom prst="rect">
            <a:avLst/>
          </a:prstGeom>
          <a:noFill/>
          <a:ln/>
        </p:spPr>
        <p:txBody>
          <a:bodyPr wrap="square" lIns="0" tIns="0" rIns="0" bIns="0" rtlCol="0" anchor="ctr"/>
          <a:lstStyle/>
          <a:p>
            <a:pPr indent="0" marL="0">
              <a:buNone/>
            </a:pPr>
            <a:r>
              <a:rPr lang="en-US" sz="1600" b="1" u="sng" dirty="0">
                <a:solidFill>
                  <a:srgbClr val="5B1BB5"/>
                </a:solidFill>
                <a:latin typeface="Arial" pitchFamily="34" charset="0"/>
                <a:ea typeface="Arial" pitchFamily="34" charset="-122"/>
                <a:cs typeface="Arial" pitchFamily="34" charset="-120"/>
                <a:hlinkClick r:id="rId14" action="ppaction://hlinksldjump" tooltip="CapCut">
                  <a:extLst>
                    <a:ext uri="{A12FA001-AC4F-418D-AE19-62706E023703}">
                      <ahyp:hlinkClr xmlns:ahyp="http://schemas.microsoft.com/office/drawing/2018/hyperlinkcolor" val="tx"/>
                    </a:ext>
                  </a:extLst>
                </a:hlinkClick>
              </a:rPr>
              <a:t>CapCut</a:t>
            </a:r>
            <a:endParaRPr lang="en-US" sz="1600" dirty="0"/>
          </a:p>
        </p:txBody>
      </p:sp>
      <p:sp>
        <p:nvSpPr>
          <p:cNvPr id="26" name="text-25"/>
          <p:cNvSpPr txBox="1"/>
          <p:nvPr/>
        </p:nvSpPr>
        <p:spPr>
          <a:xfrm>
            <a:off x="8458200" y="4224528"/>
            <a:ext cx="457200" cy="365760"/>
          </a:xfrm>
          <a:prstGeom prst="rect">
            <a:avLst/>
          </a:prstGeom>
          <a:noFill/>
          <a:ln/>
        </p:spPr>
        <p:txBody>
          <a:bodyPr wrap="square" lIns="0" tIns="0" rIns="0" bIns="0" rtlCol="0" anchor="t"/>
          <a:lstStyle/>
          <a:p>
            <a:pPr algn="r" indent="0" marL="0">
              <a:buNone/>
            </a:pPr>
            <a:r>
              <a:rPr lang="en-US" sz="1200" b="1" dirty="0">
                <a:solidFill>
                  <a:srgbClr val="6B6B6B"/>
                </a:solidFill>
                <a:latin typeface="Arial" pitchFamily="34" charset="0"/>
                <a:ea typeface="Arial" pitchFamily="34" charset="-122"/>
                <a:cs typeface="Arial" pitchFamily="34" charset="-120"/>
              </a:rPr>
              <a:t>28</a:t>
            </a:r>
            <a:endParaRPr lang="en-US" sz="1200" dirty="0"/>
          </a:p>
        </p:txBody>
      </p:sp>
      <p:sp>
        <p:nvSpPr>
          <p:cNvPr id="27" name="toc-26"/>
          <p:cNvSpPr/>
          <p:nvPr/>
        </p:nvSpPr>
        <p:spPr>
          <a:xfrm>
            <a:off x="9281160" y="4023360"/>
            <a:ext cx="2148840" cy="1234440"/>
          </a:xfrm>
          <a:prstGeom prst="roundRect">
            <a:avLst>
              <a:gd name="adj" fmla="val 8889"/>
            </a:avLst>
          </a:prstGeom>
          <a:solidFill>
            <a:srgbClr val="FAF0EC"/>
          </a:solidFill>
          <a:ln w="12700">
            <a:solidFill>
              <a:srgbClr val="EABDAA"/>
            </a:solidFill>
            <a:prstDash val="solid"/>
          </a:ln>
        </p:spPr>
      </p:sp>
      <p:pic>
        <p:nvPicPr>
          <p:cNvPr id="28" name="toclogo-27" descr="preencoded.png">    </p:cNvPr>
          <p:cNvPicPr>
            <a:picLocks noChangeAspect="1"/>
          </p:cNvPicPr>
          <p:nvPr/>
        </p:nvPicPr>
        <p:blipFill>
          <a:blip r:embed="rId15"/>
          <a:stretch>
            <a:fillRect/>
          </a:stretch>
        </p:blipFill>
        <p:spPr>
          <a:xfrm>
            <a:off x="9464040" y="4206240"/>
            <a:ext cx="457200" cy="457200"/>
          </a:xfrm>
          <a:prstGeom prst="rect">
            <a:avLst/>
          </a:prstGeom>
        </p:spPr>
      </p:pic>
      <p:sp>
        <p:nvSpPr>
          <p:cNvPr id="29" name="toclink-28"/>
          <p:cNvSpPr txBox="1"/>
          <p:nvPr/>
        </p:nvSpPr>
        <p:spPr>
          <a:xfrm>
            <a:off x="9464040" y="4736592"/>
            <a:ext cx="1828800" cy="365760"/>
          </a:xfrm>
          <a:prstGeom prst="rect">
            <a:avLst/>
          </a:prstGeom>
          <a:noFill/>
          <a:ln/>
        </p:spPr>
        <p:txBody>
          <a:bodyPr wrap="square" lIns="0" tIns="0" rIns="0" bIns="0" rtlCol="0" anchor="ctr"/>
          <a:lstStyle/>
          <a:p>
            <a:pPr indent="0" marL="0">
              <a:buNone/>
            </a:pPr>
            <a:r>
              <a:rPr lang="en-US" sz="1600" b="1" u="sng" dirty="0">
                <a:solidFill>
                  <a:srgbClr val="C2410C"/>
                </a:solidFill>
                <a:latin typeface="Arial" pitchFamily="34" charset="0"/>
                <a:ea typeface="Arial" pitchFamily="34" charset="-122"/>
                <a:cs typeface="Arial" pitchFamily="34" charset="-120"/>
                <a:hlinkClick r:id="rId16" action="ppaction://hlinksldjump" tooltip="Concluzie">
                  <a:extLst>
                    <a:ext uri="{A12FA001-AC4F-418D-AE19-62706E023703}">
                      <ahyp:hlinkClr xmlns:ahyp="http://schemas.microsoft.com/office/drawing/2018/hyperlinkcolor" val="tx"/>
                    </a:ext>
                  </a:extLst>
                </a:hlinkClick>
              </a:rPr>
              <a:t>Concluzie</a:t>
            </a:r>
            <a:endParaRPr lang="en-US" sz="1600" dirty="0"/>
          </a:p>
        </p:txBody>
      </p:sp>
      <p:sp>
        <p:nvSpPr>
          <p:cNvPr id="30" name="text-29"/>
          <p:cNvSpPr txBox="1"/>
          <p:nvPr/>
        </p:nvSpPr>
        <p:spPr>
          <a:xfrm>
            <a:off x="10789920" y="4224528"/>
            <a:ext cx="457200" cy="365760"/>
          </a:xfrm>
          <a:prstGeom prst="rect">
            <a:avLst/>
          </a:prstGeom>
          <a:noFill/>
          <a:ln/>
        </p:spPr>
        <p:txBody>
          <a:bodyPr wrap="square" lIns="0" tIns="0" rIns="0" bIns="0" rtlCol="0" anchor="t"/>
          <a:lstStyle/>
          <a:p>
            <a:pPr algn="r" indent="0" marL="0">
              <a:buNone/>
            </a:pPr>
            <a:r>
              <a:rPr lang="en-US" sz="1200" b="1" dirty="0">
                <a:solidFill>
                  <a:srgbClr val="6B6B6B"/>
                </a:solidFill>
                <a:latin typeface="Arial" pitchFamily="34" charset="0"/>
                <a:ea typeface="Arial" pitchFamily="34" charset="-122"/>
                <a:cs typeface="Arial" pitchFamily="34" charset="-120"/>
              </a:rPr>
              <a:t>35</a:t>
            </a:r>
            <a:endParaRPr lang="en-US" sz="1200" dirty="0"/>
          </a:p>
        </p:txBody>
      </p:sp>
      <p:sp>
        <p:nvSpPr>
          <p:cNvPr id="31" name="text-30"/>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watermark-31"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32" descr="Cum începem">    </p:cNvPr>
          <p:cNvPicPr>
            <a:picLocks noChangeAspect="1"/>
          </p:cNvPicPr>
          <p:nvPr/>
        </p:nvPicPr>
        <p:blipFill>
          <a:blip r:embed="rId2"/>
          <a:stretch>
            <a:fillRect/>
          </a:stretch>
        </p:blipFill>
        <p:spPr>
          <a:xfrm>
            <a:off x="548640" y="329184"/>
            <a:ext cx="384048" cy="384048"/>
          </a:xfrm>
          <a:prstGeom prst="rect">
            <a:avLst/>
          </a:prstGeom>
        </p:spPr>
      </p:pic>
      <p:sp>
        <p:nvSpPr>
          <p:cNvPr id="4" name="text-33"/>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410C"/>
                </a:solidFill>
                <a:latin typeface="Arial" pitchFamily="34" charset="0"/>
                <a:ea typeface="Arial" pitchFamily="34" charset="-122"/>
                <a:cs typeface="Arial" pitchFamily="34" charset="-120"/>
              </a:rPr>
              <a:t>CUM ÎNCEPEM</a:t>
            </a:r>
            <a:endParaRPr lang="en-US" sz="1500" dirty="0"/>
          </a:p>
        </p:txBody>
      </p:sp>
      <p:sp>
        <p:nvSpPr>
          <p:cNvPr id="5" name="text-34"/>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Un blond nefilmat e un secret bine păstrat</a:t>
            </a:r>
            <a:endParaRPr lang="en-US" sz="3200" dirty="0"/>
          </a:p>
        </p:txBody>
      </p:sp>
      <p:sp>
        <p:nvSpPr>
          <p:cNvPr id="6" name="nav-35">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36">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37">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38">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39">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40">
            <a:hlinkClick r:id="rId8" tooltip="Cum începem" action="ppaction://hlinksldjump"/>
          </p:cNvPr>
          <p:cNvSpPr/>
          <p:nvPr/>
        </p:nvSpPr>
        <p:spPr>
          <a:xfrm>
            <a:off x="5489143" y="365760"/>
            <a:ext cx="1197864" cy="310896"/>
          </a:xfrm>
          <a:prstGeom prst="roundRect">
            <a:avLst>
              <a:gd name="adj" fmla="val 50000"/>
            </a:avLst>
          </a:prstGeom>
          <a:solidFill>
            <a:srgbClr val="C2410C"/>
          </a:solidFill>
          <a:ln w="12700">
            <a:solidFill>
              <a:srgbClr val="C2410C"/>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41"/>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42"/>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410C"/>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43"/>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2</a:t>
            </a:r>
            <a:endParaRPr lang="en-US" sz="1000" dirty="0"/>
          </a:p>
        </p:txBody>
      </p:sp>
      <p:sp>
        <p:nvSpPr>
          <p:cNvPr id="15" name="card-44"/>
          <p:cNvSpPr/>
          <p:nvPr/>
        </p:nvSpPr>
        <p:spPr>
          <a:xfrm>
            <a:off x="548640" y="1572768"/>
            <a:ext cx="5364328" cy="911098"/>
          </a:xfrm>
          <a:prstGeom prst="roundRect">
            <a:avLst>
              <a:gd name="adj" fmla="val 10036"/>
            </a:avLst>
          </a:prstGeom>
          <a:solidFill>
            <a:srgbClr val="FBF2EE"/>
          </a:solidFill>
          <a:ln w="12700">
            <a:solidFill>
              <a:srgbClr val="F2D5CA"/>
            </a:solidFill>
            <a:prstDash val="solid"/>
          </a:ln>
        </p:spPr>
      </p:sp>
      <p:sp>
        <p:nvSpPr>
          <p:cNvPr id="16" name="iconbg-45"/>
          <p:cNvSpPr/>
          <p:nvPr/>
        </p:nvSpPr>
        <p:spPr>
          <a:xfrm>
            <a:off x="694944" y="1719072"/>
            <a:ext cx="457200" cy="457200"/>
          </a:xfrm>
          <a:prstGeom prst="ellipse">
            <a:avLst/>
          </a:prstGeom>
          <a:solidFill>
            <a:srgbClr val="C2410C"/>
          </a:solidFill>
          <a:ln w="12700">
            <a:solidFill>
              <a:srgbClr val="C2410C"/>
            </a:solidFill>
            <a:prstDash val="solid"/>
          </a:ln>
        </p:spPr>
      </p:sp>
      <p:pic>
        <p:nvPicPr>
          <p:cNvPr id="17" name="icon-46"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47"/>
          <p:cNvSpPr txBox="1"/>
          <p:nvPr/>
        </p:nvSpPr>
        <p:spPr>
          <a:xfrm>
            <a:off x="1316736" y="1700784"/>
            <a:ext cx="4449928" cy="655066"/>
          </a:xfrm>
          <a:prstGeom prst="rect">
            <a:avLst/>
          </a:prstGeom>
          <a:noFill/>
          <a:ln/>
        </p:spPr>
        <p:txBody>
          <a:bodyPr wrap="square" lIns="0" tIns="0" rIns="0" bIns="0" rtlCol="0" anchor="t"/>
          <a:lstStyle/>
          <a:p>
            <a:pPr indent="0" marL="0">
              <a:spcAft>
                <a:spcPts val="200"/>
              </a:spcAft>
              <a:buNone/>
            </a:pPr>
            <a:r>
              <a:rPr lang="en-US" sz="2000" b="1" dirty="0">
                <a:solidFill>
                  <a:srgbClr val="C2410C"/>
                </a:solidFill>
                <a:latin typeface="Arial" pitchFamily="34" charset="0"/>
                <a:ea typeface="Arial" pitchFamily="34" charset="-122"/>
                <a:cs typeface="Arial" pitchFamily="34" charset="-120"/>
              </a:rPr>
              <a:t>Clientele te caută online</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Înainte să sune, îți deschid profilul.</a:t>
            </a:r>
            <a:endParaRPr lang="en-US" sz="1600" dirty="0"/>
          </a:p>
        </p:txBody>
      </p:sp>
      <p:sp>
        <p:nvSpPr>
          <p:cNvPr id="19" name="card-48"/>
          <p:cNvSpPr/>
          <p:nvPr/>
        </p:nvSpPr>
        <p:spPr>
          <a:xfrm>
            <a:off x="548640" y="2611882"/>
            <a:ext cx="5364328" cy="1165860"/>
          </a:xfrm>
          <a:prstGeom prst="roundRect">
            <a:avLst>
              <a:gd name="adj" fmla="val 7843"/>
            </a:avLst>
          </a:prstGeom>
          <a:solidFill>
            <a:srgbClr val="FBF2EE"/>
          </a:solidFill>
          <a:ln w="12700">
            <a:solidFill>
              <a:srgbClr val="F2D5CA"/>
            </a:solidFill>
            <a:prstDash val="solid"/>
          </a:ln>
        </p:spPr>
      </p:sp>
      <p:sp>
        <p:nvSpPr>
          <p:cNvPr id="20" name="iconbg-49"/>
          <p:cNvSpPr/>
          <p:nvPr/>
        </p:nvSpPr>
        <p:spPr>
          <a:xfrm>
            <a:off x="694944" y="2758186"/>
            <a:ext cx="457200" cy="457200"/>
          </a:xfrm>
          <a:prstGeom prst="ellipse">
            <a:avLst/>
          </a:prstGeom>
          <a:solidFill>
            <a:srgbClr val="C2410C"/>
          </a:solidFill>
          <a:ln w="12700">
            <a:solidFill>
              <a:srgbClr val="C2410C"/>
            </a:solidFill>
            <a:prstDash val="solid"/>
          </a:ln>
        </p:spPr>
      </p:sp>
      <p:pic>
        <p:nvPicPr>
          <p:cNvPr id="21" name="icon-50" descr="preencoded.png">    </p:cNvPr>
          <p:cNvPicPr>
            <a:picLocks noChangeAspect="1"/>
          </p:cNvPicPr>
          <p:nvPr/>
        </p:nvPicPr>
        <p:blipFill>
          <a:blip r:embed="rId11"/>
          <a:stretch>
            <a:fillRect/>
          </a:stretch>
        </p:blipFill>
        <p:spPr>
          <a:xfrm>
            <a:off x="795528" y="2858770"/>
            <a:ext cx="256032" cy="256032"/>
          </a:xfrm>
          <a:prstGeom prst="rect">
            <a:avLst/>
          </a:prstGeom>
        </p:spPr>
      </p:pic>
      <p:sp>
        <p:nvSpPr>
          <p:cNvPr id="22" name="text-51"/>
          <p:cNvSpPr txBox="1"/>
          <p:nvPr/>
        </p:nvSpPr>
        <p:spPr>
          <a:xfrm>
            <a:off x="1316736" y="2739898"/>
            <a:ext cx="4449928" cy="909828"/>
          </a:xfrm>
          <a:prstGeom prst="rect">
            <a:avLst/>
          </a:prstGeom>
          <a:noFill/>
          <a:ln/>
        </p:spPr>
        <p:txBody>
          <a:bodyPr wrap="square" lIns="0" tIns="0" rIns="0" bIns="0" rtlCol="0" anchor="t"/>
          <a:lstStyle/>
          <a:p>
            <a:pPr indent="0" marL="0">
              <a:spcAft>
                <a:spcPts val="200"/>
              </a:spcAft>
              <a:buNone/>
            </a:pPr>
            <a:r>
              <a:rPr lang="en-US" sz="2000" b="1" dirty="0">
                <a:solidFill>
                  <a:srgbClr val="C2410C"/>
                </a:solidFill>
                <a:latin typeface="Arial" pitchFamily="34" charset="0"/>
                <a:ea typeface="Arial" pitchFamily="34" charset="-122"/>
                <a:cs typeface="Arial" pitchFamily="34" charset="-120"/>
              </a:rPr>
              <a:t>Lumina greșită strică lucrarea</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Blondul rece, la bec galben, pare ratat.</a:t>
            </a:r>
            <a:endParaRPr lang="en-US" sz="1600" dirty="0"/>
          </a:p>
        </p:txBody>
      </p:sp>
      <p:sp>
        <p:nvSpPr>
          <p:cNvPr id="23" name="card-52"/>
          <p:cNvSpPr/>
          <p:nvPr/>
        </p:nvSpPr>
        <p:spPr>
          <a:xfrm>
            <a:off x="548640" y="3905758"/>
            <a:ext cx="5364328" cy="911098"/>
          </a:xfrm>
          <a:prstGeom prst="roundRect">
            <a:avLst>
              <a:gd name="adj" fmla="val 10036"/>
            </a:avLst>
          </a:prstGeom>
          <a:solidFill>
            <a:srgbClr val="FBF2EE"/>
          </a:solidFill>
          <a:ln w="12700">
            <a:solidFill>
              <a:srgbClr val="F2D5CA"/>
            </a:solidFill>
            <a:prstDash val="solid"/>
          </a:ln>
        </p:spPr>
      </p:sp>
      <p:sp>
        <p:nvSpPr>
          <p:cNvPr id="24" name="iconbg-53"/>
          <p:cNvSpPr/>
          <p:nvPr/>
        </p:nvSpPr>
        <p:spPr>
          <a:xfrm>
            <a:off x="694944" y="4052062"/>
            <a:ext cx="457200" cy="457200"/>
          </a:xfrm>
          <a:prstGeom prst="ellipse">
            <a:avLst/>
          </a:prstGeom>
          <a:solidFill>
            <a:srgbClr val="C2410C"/>
          </a:solidFill>
          <a:ln w="12700">
            <a:solidFill>
              <a:srgbClr val="C2410C"/>
            </a:solidFill>
            <a:prstDash val="solid"/>
          </a:ln>
        </p:spPr>
      </p:sp>
      <p:pic>
        <p:nvPicPr>
          <p:cNvPr id="25" name="icon-54" descr="preencoded.png">    </p:cNvPr>
          <p:cNvPicPr>
            <a:picLocks noChangeAspect="1"/>
          </p:cNvPicPr>
          <p:nvPr/>
        </p:nvPicPr>
        <p:blipFill>
          <a:blip r:embed="rId12"/>
          <a:stretch>
            <a:fillRect/>
          </a:stretch>
        </p:blipFill>
        <p:spPr>
          <a:xfrm>
            <a:off x="795528" y="4152646"/>
            <a:ext cx="256032" cy="256032"/>
          </a:xfrm>
          <a:prstGeom prst="rect">
            <a:avLst/>
          </a:prstGeom>
        </p:spPr>
      </p:pic>
      <p:sp>
        <p:nvSpPr>
          <p:cNvPr id="26" name="text-55"/>
          <p:cNvSpPr txBox="1"/>
          <p:nvPr/>
        </p:nvSpPr>
        <p:spPr>
          <a:xfrm>
            <a:off x="1316736" y="4033774"/>
            <a:ext cx="4449928" cy="655066"/>
          </a:xfrm>
          <a:prstGeom prst="rect">
            <a:avLst/>
          </a:prstGeom>
          <a:noFill/>
          <a:ln/>
        </p:spPr>
        <p:txBody>
          <a:bodyPr wrap="square" lIns="0" tIns="0" rIns="0" bIns="0" rtlCol="0" anchor="t"/>
          <a:lstStyle/>
          <a:p>
            <a:pPr indent="0" marL="0">
              <a:spcAft>
                <a:spcPts val="200"/>
              </a:spcAft>
              <a:buNone/>
            </a:pPr>
            <a:r>
              <a:rPr lang="en-US" sz="2000" b="1" dirty="0">
                <a:solidFill>
                  <a:srgbClr val="C2410C"/>
                </a:solidFill>
                <a:latin typeface="Arial" pitchFamily="34" charset="0"/>
                <a:ea typeface="Arial" pitchFamily="34" charset="-122"/>
                <a:cs typeface="Arial" pitchFamily="34" charset="-120"/>
              </a:rPr>
              <a:t>Primele secunde decid</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Arată rezultatul imediat, nu la final.</a:t>
            </a:r>
            <a:endParaRPr lang="en-US" sz="1600" dirty="0"/>
          </a:p>
        </p:txBody>
      </p:sp>
      <p:sp>
        <p:nvSpPr>
          <p:cNvPr id="27" name="card-56"/>
          <p:cNvSpPr/>
          <p:nvPr/>
        </p:nvSpPr>
        <p:spPr>
          <a:xfrm>
            <a:off x="548640" y="4944872"/>
            <a:ext cx="5364328" cy="911098"/>
          </a:xfrm>
          <a:prstGeom prst="roundRect">
            <a:avLst>
              <a:gd name="adj" fmla="val 10036"/>
            </a:avLst>
          </a:prstGeom>
          <a:solidFill>
            <a:srgbClr val="FBF2EE"/>
          </a:solidFill>
          <a:ln w="12700">
            <a:solidFill>
              <a:srgbClr val="F2D5CA"/>
            </a:solidFill>
            <a:prstDash val="solid"/>
          </a:ln>
        </p:spPr>
      </p:sp>
      <p:sp>
        <p:nvSpPr>
          <p:cNvPr id="28" name="iconbg-57"/>
          <p:cNvSpPr/>
          <p:nvPr/>
        </p:nvSpPr>
        <p:spPr>
          <a:xfrm>
            <a:off x="694944" y="5091176"/>
            <a:ext cx="457200" cy="457200"/>
          </a:xfrm>
          <a:prstGeom prst="ellipse">
            <a:avLst/>
          </a:prstGeom>
          <a:solidFill>
            <a:srgbClr val="C2410C"/>
          </a:solidFill>
          <a:ln w="12700">
            <a:solidFill>
              <a:srgbClr val="C2410C"/>
            </a:solidFill>
            <a:prstDash val="solid"/>
          </a:ln>
        </p:spPr>
      </p:sp>
      <p:pic>
        <p:nvPicPr>
          <p:cNvPr id="29" name="icon-58" descr="preencoded.png">    </p:cNvPr>
          <p:cNvPicPr>
            <a:picLocks noChangeAspect="1"/>
          </p:cNvPicPr>
          <p:nvPr/>
        </p:nvPicPr>
        <p:blipFill>
          <a:blip r:embed="rId13"/>
          <a:stretch>
            <a:fillRect/>
          </a:stretch>
        </p:blipFill>
        <p:spPr>
          <a:xfrm>
            <a:off x="795528" y="5191760"/>
            <a:ext cx="256032" cy="256032"/>
          </a:xfrm>
          <a:prstGeom prst="rect">
            <a:avLst/>
          </a:prstGeom>
        </p:spPr>
      </p:pic>
      <p:sp>
        <p:nvSpPr>
          <p:cNvPr id="30" name="text-59"/>
          <p:cNvSpPr txBox="1"/>
          <p:nvPr/>
        </p:nvSpPr>
        <p:spPr>
          <a:xfrm>
            <a:off x="1316736" y="5072888"/>
            <a:ext cx="4449928" cy="655066"/>
          </a:xfrm>
          <a:prstGeom prst="rect">
            <a:avLst/>
          </a:prstGeom>
          <a:noFill/>
          <a:ln/>
        </p:spPr>
        <p:txBody>
          <a:bodyPr wrap="square" lIns="0" tIns="0" rIns="0" bIns="0" rtlCol="0" anchor="t"/>
          <a:lstStyle/>
          <a:p>
            <a:pPr indent="0" marL="0">
              <a:spcAft>
                <a:spcPts val="200"/>
              </a:spcAft>
              <a:buNone/>
            </a:pPr>
            <a:r>
              <a:rPr lang="en-US" sz="2000" b="1" dirty="0">
                <a:solidFill>
                  <a:srgbClr val="C2410C"/>
                </a:solidFill>
                <a:latin typeface="Arial" pitchFamily="34" charset="0"/>
                <a:ea typeface="Arial" pitchFamily="34" charset="-122"/>
                <a:cs typeface="Arial" pitchFamily="34" charset="-120"/>
              </a:rPr>
              <a:t>Profilul = vitrina salonului</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Deschisă și duminica la 23:00.</a:t>
            </a:r>
            <a:endParaRPr lang="en-US" sz="1600" dirty="0"/>
          </a:p>
        </p:txBody>
      </p:sp>
      <p:sp>
        <p:nvSpPr>
          <p:cNvPr id="31" name="card-60"/>
          <p:cNvSpPr/>
          <p:nvPr/>
        </p:nvSpPr>
        <p:spPr>
          <a:xfrm>
            <a:off x="6278728" y="1572768"/>
            <a:ext cx="5364328" cy="1420622"/>
          </a:xfrm>
          <a:prstGeom prst="roundRect">
            <a:avLst>
              <a:gd name="adj" fmla="val 6437"/>
            </a:avLst>
          </a:prstGeom>
          <a:solidFill>
            <a:srgbClr val="FAF0EF"/>
          </a:solidFill>
          <a:ln w="12700">
            <a:solidFill>
              <a:srgbClr val="EFCFCC"/>
            </a:solidFill>
            <a:prstDash val="solid"/>
          </a:ln>
        </p:spPr>
      </p:sp>
      <p:sp>
        <p:nvSpPr>
          <p:cNvPr id="32" name="iconbg-61"/>
          <p:cNvSpPr/>
          <p:nvPr/>
        </p:nvSpPr>
        <p:spPr>
          <a:xfrm>
            <a:off x="6425032" y="1719072"/>
            <a:ext cx="457200" cy="457200"/>
          </a:xfrm>
          <a:prstGeom prst="ellipse">
            <a:avLst/>
          </a:prstGeom>
          <a:solidFill>
            <a:srgbClr val="B42318"/>
          </a:solidFill>
          <a:ln w="12700">
            <a:solidFill>
              <a:srgbClr val="B42318"/>
            </a:solidFill>
            <a:prstDash val="solid"/>
          </a:ln>
        </p:spPr>
      </p:sp>
      <p:pic>
        <p:nvPicPr>
          <p:cNvPr id="33" name="icon-62" descr="preencoded.png">    </p:cNvPr>
          <p:cNvPicPr>
            <a:picLocks noChangeAspect="1"/>
          </p:cNvPicPr>
          <p:nvPr/>
        </p:nvPicPr>
        <p:blipFill>
          <a:blip r:embed="rId14"/>
          <a:stretch>
            <a:fillRect/>
          </a:stretch>
        </p:blipFill>
        <p:spPr>
          <a:xfrm>
            <a:off x="6525616" y="1819656"/>
            <a:ext cx="256032" cy="256032"/>
          </a:xfrm>
          <a:prstGeom prst="rect">
            <a:avLst/>
          </a:prstGeom>
        </p:spPr>
      </p:pic>
      <p:sp>
        <p:nvSpPr>
          <p:cNvPr id="34" name="text-63"/>
          <p:cNvSpPr txBox="1"/>
          <p:nvPr/>
        </p:nvSpPr>
        <p:spPr>
          <a:xfrm>
            <a:off x="7046824" y="1700784"/>
            <a:ext cx="4449928" cy="1164590"/>
          </a:xfrm>
          <a:prstGeom prst="rect">
            <a:avLst/>
          </a:prstGeom>
          <a:noFill/>
          <a:ln/>
        </p:spPr>
        <p:txBody>
          <a:bodyPr wrap="square" lIns="0" tIns="0" rIns="0" bIns="0" rtlCol="0" anchor="t"/>
          <a:lstStyle/>
          <a:p>
            <a:pPr indent="0" marL="0">
              <a:spcAft>
                <a:spcPts val="200"/>
              </a:spcAft>
              <a:buNone/>
            </a:pPr>
            <a:r>
              <a:rPr lang="en-US" sz="2000" b="1" dirty="0">
                <a:solidFill>
                  <a:srgbClr val="B42318"/>
                </a:solidFill>
                <a:latin typeface="Arial" pitchFamily="34" charset="0"/>
                <a:ea typeface="Arial" pitchFamily="34" charset="-122"/>
                <a:cs typeface="Arial" pitchFamily="34" charset="-120"/>
              </a:rPr>
              <a:t>AȘA NU</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Video orizontal, bec galben, introducere lungă („Bună, sunt Ana și astăzi o să vă arăt…”).</a:t>
            </a:r>
            <a:endParaRPr lang="en-US" sz="1600" dirty="0"/>
          </a:p>
        </p:txBody>
      </p:sp>
      <p:sp>
        <p:nvSpPr>
          <p:cNvPr id="35" name="card-64"/>
          <p:cNvSpPr/>
          <p:nvPr/>
        </p:nvSpPr>
        <p:spPr>
          <a:xfrm>
            <a:off x="6278728" y="3121406"/>
            <a:ext cx="5364328" cy="1420622"/>
          </a:xfrm>
          <a:prstGeom prst="roundRect">
            <a:avLst>
              <a:gd name="adj" fmla="val 6437"/>
            </a:avLst>
          </a:prstGeom>
          <a:solidFill>
            <a:srgbClr val="EFF6F2"/>
          </a:solidFill>
          <a:ln w="12700">
            <a:solidFill>
              <a:srgbClr val="CEE2D7"/>
            </a:solidFill>
            <a:prstDash val="solid"/>
          </a:ln>
        </p:spPr>
      </p:sp>
      <p:sp>
        <p:nvSpPr>
          <p:cNvPr id="36" name="iconbg-65"/>
          <p:cNvSpPr/>
          <p:nvPr/>
        </p:nvSpPr>
        <p:spPr>
          <a:xfrm>
            <a:off x="6425032" y="3267710"/>
            <a:ext cx="457200" cy="457200"/>
          </a:xfrm>
          <a:prstGeom prst="ellipse">
            <a:avLst/>
          </a:prstGeom>
          <a:solidFill>
            <a:srgbClr val="1F7A4A"/>
          </a:solidFill>
          <a:ln w="12700">
            <a:solidFill>
              <a:srgbClr val="1F7A4A"/>
            </a:solidFill>
            <a:prstDash val="solid"/>
          </a:ln>
        </p:spPr>
      </p:sp>
      <p:pic>
        <p:nvPicPr>
          <p:cNvPr id="37" name="icon-66" descr="preencoded.png">    </p:cNvPr>
          <p:cNvPicPr>
            <a:picLocks noChangeAspect="1"/>
          </p:cNvPicPr>
          <p:nvPr/>
        </p:nvPicPr>
        <p:blipFill>
          <a:blip r:embed="rId15"/>
          <a:stretch>
            <a:fillRect/>
          </a:stretch>
        </p:blipFill>
        <p:spPr>
          <a:xfrm>
            <a:off x="6525616" y="3368294"/>
            <a:ext cx="256032" cy="256032"/>
          </a:xfrm>
          <a:prstGeom prst="rect">
            <a:avLst/>
          </a:prstGeom>
        </p:spPr>
      </p:pic>
      <p:sp>
        <p:nvSpPr>
          <p:cNvPr id="38" name="text-67"/>
          <p:cNvSpPr txBox="1"/>
          <p:nvPr/>
        </p:nvSpPr>
        <p:spPr>
          <a:xfrm>
            <a:off x="7046824" y="3249422"/>
            <a:ext cx="4449928" cy="1164590"/>
          </a:xfrm>
          <a:prstGeom prst="rect">
            <a:avLst/>
          </a:prstGeom>
          <a:noFill/>
          <a:ln/>
        </p:spPr>
        <p:txBody>
          <a:bodyPr wrap="square" lIns="0" tIns="0" rIns="0" bIns="0" rtlCol="0" anchor="t"/>
          <a:lstStyle/>
          <a:p>
            <a:pPr indent="0" marL="0">
              <a:spcAft>
                <a:spcPts val="200"/>
              </a:spcAft>
              <a:buNone/>
            </a:pPr>
            <a:r>
              <a:rPr lang="en-US" sz="2000" b="1" dirty="0">
                <a:solidFill>
                  <a:srgbClr val="1F7A4A"/>
                </a:solidFill>
                <a:latin typeface="Arial" pitchFamily="34" charset="0"/>
                <a:ea typeface="Arial" pitchFamily="34" charset="-122"/>
                <a:cs typeface="Arial" pitchFamily="34" charset="-120"/>
              </a:rPr>
              <a:t>AȘA DA</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Video vertical, lumină albă, rezultatul din prima secundă, text scurt pe ecran: „Blond rece, fără galben”.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watermark-68"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69" descr="Cum începem">    </p:cNvPr>
          <p:cNvPicPr>
            <a:picLocks noChangeAspect="1"/>
          </p:cNvPicPr>
          <p:nvPr/>
        </p:nvPicPr>
        <p:blipFill>
          <a:blip r:embed="rId2"/>
          <a:stretch>
            <a:fillRect/>
          </a:stretch>
        </p:blipFill>
        <p:spPr>
          <a:xfrm>
            <a:off x="548640" y="329184"/>
            <a:ext cx="384048" cy="384048"/>
          </a:xfrm>
          <a:prstGeom prst="rect">
            <a:avLst/>
          </a:prstGeom>
        </p:spPr>
      </p:pic>
      <p:sp>
        <p:nvSpPr>
          <p:cNvPr id="4" name="text-70"/>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410C"/>
                </a:solidFill>
                <a:latin typeface="Arial" pitchFamily="34" charset="0"/>
                <a:ea typeface="Arial" pitchFamily="34" charset="-122"/>
                <a:cs typeface="Arial" pitchFamily="34" charset="-120"/>
              </a:rPr>
              <a:t>CUM ÎNCEPEM</a:t>
            </a:r>
            <a:endParaRPr lang="en-US" sz="1500" dirty="0"/>
          </a:p>
        </p:txBody>
      </p:sp>
      <p:sp>
        <p:nvSpPr>
          <p:cNvPr id="5" name="text-71"/>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Alege o nișă clară</a:t>
            </a:r>
            <a:endParaRPr lang="en-US" sz="3200" dirty="0"/>
          </a:p>
        </p:txBody>
      </p:sp>
      <p:sp>
        <p:nvSpPr>
          <p:cNvPr id="6" name="nav-72">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73">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74">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75">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76">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77">
            <a:hlinkClick r:id="rId8" tooltip="Cum începem" action="ppaction://hlinksldjump"/>
          </p:cNvPr>
          <p:cNvSpPr/>
          <p:nvPr/>
        </p:nvSpPr>
        <p:spPr>
          <a:xfrm>
            <a:off x="5489143" y="365760"/>
            <a:ext cx="1197864" cy="310896"/>
          </a:xfrm>
          <a:prstGeom prst="roundRect">
            <a:avLst>
              <a:gd name="adj" fmla="val 50000"/>
            </a:avLst>
          </a:prstGeom>
          <a:solidFill>
            <a:srgbClr val="C2410C"/>
          </a:solidFill>
          <a:ln w="12700">
            <a:solidFill>
              <a:srgbClr val="C2410C"/>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78"/>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79"/>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410C"/>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80"/>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3</a:t>
            </a:r>
            <a:endParaRPr lang="en-US" sz="1000" dirty="0"/>
          </a:p>
        </p:txBody>
      </p:sp>
      <p:sp>
        <p:nvSpPr>
          <p:cNvPr id="15" name="card-81"/>
          <p:cNvSpPr/>
          <p:nvPr/>
        </p:nvSpPr>
        <p:spPr>
          <a:xfrm>
            <a:off x="548640" y="1572768"/>
            <a:ext cx="5410048" cy="1345692"/>
          </a:xfrm>
          <a:prstGeom prst="roundRect">
            <a:avLst>
              <a:gd name="adj" fmla="val 6795"/>
            </a:avLst>
          </a:prstGeom>
          <a:solidFill>
            <a:srgbClr val="FBF2EE"/>
          </a:solidFill>
          <a:ln w="12700">
            <a:solidFill>
              <a:srgbClr val="F2D5CA"/>
            </a:solidFill>
            <a:prstDash val="solid"/>
          </a:ln>
        </p:spPr>
      </p:sp>
      <p:sp>
        <p:nvSpPr>
          <p:cNvPr id="16" name="iconbg-82"/>
          <p:cNvSpPr/>
          <p:nvPr/>
        </p:nvSpPr>
        <p:spPr>
          <a:xfrm>
            <a:off x="694944" y="1719072"/>
            <a:ext cx="457200" cy="457200"/>
          </a:xfrm>
          <a:prstGeom prst="ellipse">
            <a:avLst/>
          </a:prstGeom>
          <a:solidFill>
            <a:srgbClr val="C2410C"/>
          </a:solidFill>
          <a:ln w="12700">
            <a:solidFill>
              <a:srgbClr val="C2410C"/>
            </a:solidFill>
            <a:prstDash val="solid"/>
          </a:ln>
        </p:spPr>
      </p:sp>
      <p:pic>
        <p:nvPicPr>
          <p:cNvPr id="17" name="icon-83"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84"/>
          <p:cNvSpPr txBox="1"/>
          <p:nvPr/>
        </p:nvSpPr>
        <p:spPr>
          <a:xfrm>
            <a:off x="1316736" y="1700784"/>
            <a:ext cx="4495648" cy="1089660"/>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O nișă clară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„Blonduri reci, fără galben”, nu „fac de toate”.</a:t>
            </a:r>
            <a:endParaRPr lang="en-US" sz="1600" dirty="0"/>
          </a:p>
        </p:txBody>
      </p:sp>
      <p:sp>
        <p:nvSpPr>
          <p:cNvPr id="19" name="card-85"/>
          <p:cNvSpPr/>
          <p:nvPr/>
        </p:nvSpPr>
        <p:spPr>
          <a:xfrm>
            <a:off x="6233008" y="1572768"/>
            <a:ext cx="5410048" cy="1345692"/>
          </a:xfrm>
          <a:prstGeom prst="roundRect">
            <a:avLst>
              <a:gd name="adj" fmla="val 6795"/>
            </a:avLst>
          </a:prstGeom>
          <a:solidFill>
            <a:srgbClr val="FBF2EE"/>
          </a:solidFill>
          <a:ln w="12700">
            <a:solidFill>
              <a:srgbClr val="F2D5CA"/>
            </a:solidFill>
            <a:prstDash val="solid"/>
          </a:ln>
        </p:spPr>
      </p:sp>
      <p:sp>
        <p:nvSpPr>
          <p:cNvPr id="20" name="iconbg-86"/>
          <p:cNvSpPr/>
          <p:nvPr/>
        </p:nvSpPr>
        <p:spPr>
          <a:xfrm>
            <a:off x="6379312" y="1719072"/>
            <a:ext cx="457200" cy="457200"/>
          </a:xfrm>
          <a:prstGeom prst="ellipse">
            <a:avLst/>
          </a:prstGeom>
          <a:solidFill>
            <a:srgbClr val="C2410C"/>
          </a:solidFill>
          <a:ln w="12700">
            <a:solidFill>
              <a:srgbClr val="C2410C"/>
            </a:solidFill>
            <a:prstDash val="solid"/>
          </a:ln>
        </p:spPr>
      </p:sp>
      <p:pic>
        <p:nvPicPr>
          <p:cNvPr id="21" name="icon-87" descr="preencoded.png">    </p:cNvPr>
          <p:cNvPicPr>
            <a:picLocks noChangeAspect="1"/>
          </p:cNvPicPr>
          <p:nvPr/>
        </p:nvPicPr>
        <p:blipFill>
          <a:blip r:embed="rId11"/>
          <a:stretch>
            <a:fillRect/>
          </a:stretch>
        </p:blipFill>
        <p:spPr>
          <a:xfrm>
            <a:off x="6479896" y="1819656"/>
            <a:ext cx="256032" cy="256032"/>
          </a:xfrm>
          <a:prstGeom prst="rect">
            <a:avLst/>
          </a:prstGeom>
        </p:spPr>
      </p:pic>
      <p:sp>
        <p:nvSpPr>
          <p:cNvPr id="22" name="text-88"/>
          <p:cNvSpPr txBox="1"/>
          <p:nvPr/>
        </p:nvSpPr>
        <p:spPr>
          <a:xfrm>
            <a:off x="7001104" y="1700784"/>
            <a:ext cx="4495648" cy="1089660"/>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Începe cu înainte și după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Rezultatul vorbește. Tu nu trebuie să apari.</a:t>
            </a:r>
            <a:endParaRPr lang="en-US" sz="1600" dirty="0"/>
          </a:p>
        </p:txBody>
      </p:sp>
      <p:sp>
        <p:nvSpPr>
          <p:cNvPr id="23" name="card-89"/>
          <p:cNvSpPr/>
          <p:nvPr/>
        </p:nvSpPr>
        <p:spPr>
          <a:xfrm>
            <a:off x="548640" y="3046476"/>
            <a:ext cx="5410048" cy="1660398"/>
          </a:xfrm>
          <a:prstGeom prst="roundRect">
            <a:avLst>
              <a:gd name="adj" fmla="val 5507"/>
            </a:avLst>
          </a:prstGeom>
          <a:solidFill>
            <a:srgbClr val="FBF2EE"/>
          </a:solidFill>
          <a:ln w="12700">
            <a:solidFill>
              <a:srgbClr val="F2D5CA"/>
            </a:solidFill>
            <a:prstDash val="solid"/>
          </a:ln>
        </p:spPr>
      </p:sp>
      <p:sp>
        <p:nvSpPr>
          <p:cNvPr id="24" name="iconbg-90"/>
          <p:cNvSpPr/>
          <p:nvPr/>
        </p:nvSpPr>
        <p:spPr>
          <a:xfrm>
            <a:off x="694944" y="3192780"/>
            <a:ext cx="457200" cy="457200"/>
          </a:xfrm>
          <a:prstGeom prst="ellipse">
            <a:avLst/>
          </a:prstGeom>
          <a:solidFill>
            <a:srgbClr val="C2410C"/>
          </a:solidFill>
          <a:ln w="12700">
            <a:solidFill>
              <a:srgbClr val="C2410C"/>
            </a:solidFill>
            <a:prstDash val="solid"/>
          </a:ln>
        </p:spPr>
      </p:sp>
      <p:pic>
        <p:nvPicPr>
          <p:cNvPr id="25" name="icon-91" descr="preencoded.png">    </p:cNvPr>
          <p:cNvPicPr>
            <a:picLocks noChangeAspect="1"/>
          </p:cNvPicPr>
          <p:nvPr/>
        </p:nvPicPr>
        <p:blipFill>
          <a:blip r:embed="rId12"/>
          <a:stretch>
            <a:fillRect/>
          </a:stretch>
        </p:blipFill>
        <p:spPr>
          <a:xfrm>
            <a:off x="795528" y="3293364"/>
            <a:ext cx="256032" cy="256032"/>
          </a:xfrm>
          <a:prstGeom prst="rect">
            <a:avLst/>
          </a:prstGeom>
        </p:spPr>
      </p:pic>
      <p:sp>
        <p:nvSpPr>
          <p:cNvPr id="26" name="text-92"/>
          <p:cNvSpPr txBox="1"/>
          <p:nvPr/>
        </p:nvSpPr>
        <p:spPr>
          <a:xfrm>
            <a:off x="1316736" y="3174492"/>
            <a:ext cx="4495648" cy="1404366"/>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Ce știi cel mai bine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Punctul tău forte e primul tău conținut.</a:t>
            </a:r>
            <a:endParaRPr lang="en-US" sz="1600" dirty="0"/>
          </a:p>
        </p:txBody>
      </p:sp>
      <p:sp>
        <p:nvSpPr>
          <p:cNvPr id="27" name="card-93"/>
          <p:cNvSpPr/>
          <p:nvPr/>
        </p:nvSpPr>
        <p:spPr>
          <a:xfrm>
            <a:off x="6233008" y="3046476"/>
            <a:ext cx="5410048" cy="1660398"/>
          </a:xfrm>
          <a:prstGeom prst="roundRect">
            <a:avLst>
              <a:gd name="adj" fmla="val 5507"/>
            </a:avLst>
          </a:prstGeom>
          <a:solidFill>
            <a:srgbClr val="FBF2EE"/>
          </a:solidFill>
          <a:ln w="12700">
            <a:solidFill>
              <a:srgbClr val="F2D5CA"/>
            </a:solidFill>
            <a:prstDash val="solid"/>
          </a:ln>
        </p:spPr>
      </p:sp>
      <p:sp>
        <p:nvSpPr>
          <p:cNvPr id="28" name="iconbg-94"/>
          <p:cNvSpPr/>
          <p:nvPr/>
        </p:nvSpPr>
        <p:spPr>
          <a:xfrm>
            <a:off x="6379312" y="3192780"/>
            <a:ext cx="457200" cy="457200"/>
          </a:xfrm>
          <a:prstGeom prst="ellipse">
            <a:avLst/>
          </a:prstGeom>
          <a:solidFill>
            <a:srgbClr val="C2410C"/>
          </a:solidFill>
          <a:ln w="12700">
            <a:solidFill>
              <a:srgbClr val="C2410C"/>
            </a:solidFill>
            <a:prstDash val="solid"/>
          </a:ln>
        </p:spPr>
      </p:sp>
      <p:pic>
        <p:nvPicPr>
          <p:cNvPr id="29" name="icon-95" descr="preencoded.png">    </p:cNvPr>
          <p:cNvPicPr>
            <a:picLocks noChangeAspect="1"/>
          </p:cNvPicPr>
          <p:nvPr/>
        </p:nvPicPr>
        <p:blipFill>
          <a:blip r:embed="rId13"/>
          <a:stretch>
            <a:fillRect/>
          </a:stretch>
        </p:blipFill>
        <p:spPr>
          <a:xfrm>
            <a:off x="6479896" y="3293364"/>
            <a:ext cx="256032" cy="256032"/>
          </a:xfrm>
          <a:prstGeom prst="rect">
            <a:avLst/>
          </a:prstGeom>
        </p:spPr>
      </p:pic>
      <p:sp>
        <p:nvSpPr>
          <p:cNvPr id="30" name="text-96"/>
          <p:cNvSpPr txBox="1"/>
          <p:nvPr/>
        </p:nvSpPr>
        <p:spPr>
          <a:xfrm>
            <a:off x="7001104" y="3174492"/>
            <a:ext cx="4495648" cy="1404366"/>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Identitate vizuală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Același loc, aceeași lumină, aceleași culori. Un profil cu nișă se recunoaște din grilă.</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watermark-97"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98" descr="Cum începem">    </p:cNvPr>
          <p:cNvPicPr>
            <a:picLocks noChangeAspect="1"/>
          </p:cNvPicPr>
          <p:nvPr/>
        </p:nvPicPr>
        <p:blipFill>
          <a:blip r:embed="rId2"/>
          <a:stretch>
            <a:fillRect/>
          </a:stretch>
        </p:blipFill>
        <p:spPr>
          <a:xfrm>
            <a:off x="548640" y="329184"/>
            <a:ext cx="384048" cy="384048"/>
          </a:xfrm>
          <a:prstGeom prst="rect">
            <a:avLst/>
          </a:prstGeom>
        </p:spPr>
      </p:pic>
      <p:sp>
        <p:nvSpPr>
          <p:cNvPr id="4" name="text-99"/>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410C"/>
                </a:solidFill>
                <a:latin typeface="Arial" pitchFamily="34" charset="0"/>
                <a:ea typeface="Arial" pitchFamily="34" charset="-122"/>
                <a:cs typeface="Arial" pitchFamily="34" charset="-120"/>
              </a:rPr>
              <a:t>CUM ÎNCEPEM</a:t>
            </a:r>
            <a:endParaRPr lang="en-US" sz="1500" dirty="0"/>
          </a:p>
        </p:txBody>
      </p:sp>
      <p:sp>
        <p:nvSpPr>
          <p:cNvPr id="5" name="text-100"/>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Te filmezi fără rușine: 3 etape</a:t>
            </a:r>
            <a:endParaRPr lang="en-US" sz="3200" dirty="0"/>
          </a:p>
        </p:txBody>
      </p:sp>
      <p:sp>
        <p:nvSpPr>
          <p:cNvPr id="6" name="nav-101">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102">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103">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104">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105">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106">
            <a:hlinkClick r:id="rId8" tooltip="Cum începem" action="ppaction://hlinksldjump"/>
          </p:cNvPr>
          <p:cNvSpPr/>
          <p:nvPr/>
        </p:nvSpPr>
        <p:spPr>
          <a:xfrm>
            <a:off x="5489143" y="365760"/>
            <a:ext cx="1197864" cy="310896"/>
          </a:xfrm>
          <a:prstGeom prst="roundRect">
            <a:avLst>
              <a:gd name="adj" fmla="val 50000"/>
            </a:avLst>
          </a:prstGeom>
          <a:solidFill>
            <a:srgbClr val="C2410C"/>
          </a:solidFill>
          <a:ln w="12700">
            <a:solidFill>
              <a:srgbClr val="C2410C"/>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107"/>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108"/>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410C"/>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109"/>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4</a:t>
            </a:r>
            <a:endParaRPr lang="en-US" sz="1000" dirty="0"/>
          </a:p>
        </p:txBody>
      </p:sp>
      <p:sp>
        <p:nvSpPr>
          <p:cNvPr id="15" name="card-110"/>
          <p:cNvSpPr/>
          <p:nvPr/>
        </p:nvSpPr>
        <p:spPr>
          <a:xfrm>
            <a:off x="548640" y="1572768"/>
            <a:ext cx="3515258" cy="2020062"/>
          </a:xfrm>
          <a:prstGeom prst="roundRect">
            <a:avLst>
              <a:gd name="adj" fmla="val 4527"/>
            </a:avLst>
          </a:prstGeom>
          <a:solidFill>
            <a:srgbClr val="FBF2EE"/>
          </a:solidFill>
          <a:ln w="12700">
            <a:solidFill>
              <a:srgbClr val="F2D5CA"/>
            </a:solidFill>
            <a:prstDash val="solid"/>
          </a:ln>
        </p:spPr>
      </p:sp>
      <p:sp>
        <p:nvSpPr>
          <p:cNvPr id="16" name="iconbg-111"/>
          <p:cNvSpPr/>
          <p:nvPr/>
        </p:nvSpPr>
        <p:spPr>
          <a:xfrm>
            <a:off x="694944" y="1719072"/>
            <a:ext cx="457200" cy="457200"/>
          </a:xfrm>
          <a:prstGeom prst="ellipse">
            <a:avLst/>
          </a:prstGeom>
          <a:solidFill>
            <a:srgbClr val="C2410C"/>
          </a:solidFill>
          <a:ln w="12700">
            <a:solidFill>
              <a:srgbClr val="C2410C"/>
            </a:solidFill>
            <a:prstDash val="solid"/>
          </a:ln>
        </p:spPr>
      </p:sp>
      <p:pic>
        <p:nvPicPr>
          <p:cNvPr id="17" name="icon-112"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113"/>
          <p:cNvSpPr txBox="1"/>
          <p:nvPr/>
        </p:nvSpPr>
        <p:spPr>
          <a:xfrm>
            <a:off x="1316736" y="1700784"/>
            <a:ext cx="2600858" cy="1764030"/>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Etapa 1: Doar transformarea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Înainte și după, fără să apari în cadru.</a:t>
            </a:r>
            <a:endParaRPr lang="en-US" sz="1600" dirty="0"/>
          </a:p>
        </p:txBody>
      </p:sp>
      <p:sp>
        <p:nvSpPr>
          <p:cNvPr id="19" name="card-114"/>
          <p:cNvSpPr/>
          <p:nvPr/>
        </p:nvSpPr>
        <p:spPr>
          <a:xfrm>
            <a:off x="4338218" y="1572768"/>
            <a:ext cx="3515258" cy="2020062"/>
          </a:xfrm>
          <a:prstGeom prst="roundRect">
            <a:avLst>
              <a:gd name="adj" fmla="val 4527"/>
            </a:avLst>
          </a:prstGeom>
          <a:solidFill>
            <a:srgbClr val="FBF2EE"/>
          </a:solidFill>
          <a:ln w="12700">
            <a:solidFill>
              <a:srgbClr val="F2D5CA"/>
            </a:solidFill>
            <a:prstDash val="solid"/>
          </a:ln>
        </p:spPr>
      </p:sp>
      <p:sp>
        <p:nvSpPr>
          <p:cNvPr id="20" name="iconbg-115"/>
          <p:cNvSpPr/>
          <p:nvPr/>
        </p:nvSpPr>
        <p:spPr>
          <a:xfrm>
            <a:off x="4484522" y="1719072"/>
            <a:ext cx="457200" cy="457200"/>
          </a:xfrm>
          <a:prstGeom prst="ellipse">
            <a:avLst/>
          </a:prstGeom>
          <a:solidFill>
            <a:srgbClr val="C2410C"/>
          </a:solidFill>
          <a:ln w="12700">
            <a:solidFill>
              <a:srgbClr val="C2410C"/>
            </a:solidFill>
            <a:prstDash val="solid"/>
          </a:ln>
        </p:spPr>
      </p:sp>
      <p:pic>
        <p:nvPicPr>
          <p:cNvPr id="21" name="icon-116" descr="preencoded.png">    </p:cNvPr>
          <p:cNvPicPr>
            <a:picLocks noChangeAspect="1"/>
          </p:cNvPicPr>
          <p:nvPr/>
        </p:nvPicPr>
        <p:blipFill>
          <a:blip r:embed="rId11"/>
          <a:stretch>
            <a:fillRect/>
          </a:stretch>
        </p:blipFill>
        <p:spPr>
          <a:xfrm>
            <a:off x="4585106" y="1819656"/>
            <a:ext cx="256032" cy="256032"/>
          </a:xfrm>
          <a:prstGeom prst="rect">
            <a:avLst/>
          </a:prstGeom>
        </p:spPr>
      </p:pic>
      <p:sp>
        <p:nvSpPr>
          <p:cNvPr id="22" name="text-117"/>
          <p:cNvSpPr txBox="1"/>
          <p:nvPr/>
        </p:nvSpPr>
        <p:spPr>
          <a:xfrm>
            <a:off x="5106314" y="1700784"/>
            <a:ext cx="2600858" cy="1764030"/>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Etapa 2: Vocea ta peste video</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Explici ce ai făcut.</a:t>
            </a:r>
            <a:endParaRPr lang="en-US" sz="1600" dirty="0"/>
          </a:p>
        </p:txBody>
      </p:sp>
      <p:sp>
        <p:nvSpPr>
          <p:cNvPr id="23" name="card-118"/>
          <p:cNvSpPr/>
          <p:nvPr/>
        </p:nvSpPr>
        <p:spPr>
          <a:xfrm>
            <a:off x="8127797" y="1572768"/>
            <a:ext cx="3515258" cy="2020062"/>
          </a:xfrm>
          <a:prstGeom prst="roundRect">
            <a:avLst>
              <a:gd name="adj" fmla="val 4527"/>
            </a:avLst>
          </a:prstGeom>
          <a:solidFill>
            <a:srgbClr val="FBF2EE"/>
          </a:solidFill>
          <a:ln w="12700">
            <a:solidFill>
              <a:srgbClr val="F2D5CA"/>
            </a:solidFill>
            <a:prstDash val="solid"/>
          </a:ln>
        </p:spPr>
      </p:sp>
      <p:sp>
        <p:nvSpPr>
          <p:cNvPr id="24" name="iconbg-119"/>
          <p:cNvSpPr/>
          <p:nvPr/>
        </p:nvSpPr>
        <p:spPr>
          <a:xfrm>
            <a:off x="8274101" y="1719072"/>
            <a:ext cx="457200" cy="457200"/>
          </a:xfrm>
          <a:prstGeom prst="ellipse">
            <a:avLst/>
          </a:prstGeom>
          <a:solidFill>
            <a:srgbClr val="C2410C"/>
          </a:solidFill>
          <a:ln w="12700">
            <a:solidFill>
              <a:srgbClr val="C2410C"/>
            </a:solidFill>
            <a:prstDash val="solid"/>
          </a:ln>
        </p:spPr>
      </p:sp>
      <p:pic>
        <p:nvPicPr>
          <p:cNvPr id="25" name="icon-120" descr="preencoded.png">    </p:cNvPr>
          <p:cNvPicPr>
            <a:picLocks noChangeAspect="1"/>
          </p:cNvPicPr>
          <p:nvPr/>
        </p:nvPicPr>
        <p:blipFill>
          <a:blip r:embed="rId12"/>
          <a:stretch>
            <a:fillRect/>
          </a:stretch>
        </p:blipFill>
        <p:spPr>
          <a:xfrm>
            <a:off x="8374685" y="1819656"/>
            <a:ext cx="256032" cy="256032"/>
          </a:xfrm>
          <a:prstGeom prst="rect">
            <a:avLst/>
          </a:prstGeom>
        </p:spPr>
      </p:pic>
      <p:sp>
        <p:nvSpPr>
          <p:cNvPr id="26" name="text-121"/>
          <p:cNvSpPr txBox="1"/>
          <p:nvPr/>
        </p:nvSpPr>
        <p:spPr>
          <a:xfrm>
            <a:off x="8895893" y="1700784"/>
            <a:ext cx="2600858" cy="1764030"/>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Etapa 3: Tu în cadru</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Vorbești și îți arăți personalitatea.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watermark-122"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123" descr="Cum începem">    </p:cNvPr>
          <p:cNvPicPr>
            <a:picLocks noChangeAspect="1"/>
          </p:cNvPicPr>
          <p:nvPr/>
        </p:nvPicPr>
        <p:blipFill>
          <a:blip r:embed="rId2"/>
          <a:stretch>
            <a:fillRect/>
          </a:stretch>
        </p:blipFill>
        <p:spPr>
          <a:xfrm>
            <a:off x="548640" y="329184"/>
            <a:ext cx="384048" cy="384048"/>
          </a:xfrm>
          <a:prstGeom prst="rect">
            <a:avLst/>
          </a:prstGeom>
        </p:spPr>
      </p:pic>
      <p:sp>
        <p:nvSpPr>
          <p:cNvPr id="4" name="text-124"/>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410C"/>
                </a:solidFill>
                <a:latin typeface="Arial" pitchFamily="34" charset="0"/>
                <a:ea typeface="Arial" pitchFamily="34" charset="-122"/>
                <a:cs typeface="Arial" pitchFamily="34" charset="-120"/>
              </a:rPr>
              <a:t>CUM ÎNCEPEM</a:t>
            </a:r>
            <a:endParaRPr lang="en-US" sz="1500" dirty="0"/>
          </a:p>
        </p:txBody>
      </p:sp>
      <p:sp>
        <p:nvSpPr>
          <p:cNvPr id="5" name="text-125"/>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Emoțiile, pe scurt + clipuri foarte simple</a:t>
            </a:r>
            <a:endParaRPr lang="en-US" sz="3200" dirty="0"/>
          </a:p>
        </p:txBody>
      </p:sp>
      <p:sp>
        <p:nvSpPr>
          <p:cNvPr id="6" name="nav-126">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127">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128">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129">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130">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131">
            <a:hlinkClick r:id="rId8" tooltip="Cum începem" action="ppaction://hlinksldjump"/>
          </p:cNvPr>
          <p:cNvSpPr/>
          <p:nvPr/>
        </p:nvSpPr>
        <p:spPr>
          <a:xfrm>
            <a:off x="5489143" y="365760"/>
            <a:ext cx="1197864" cy="310896"/>
          </a:xfrm>
          <a:prstGeom prst="roundRect">
            <a:avLst>
              <a:gd name="adj" fmla="val 50000"/>
            </a:avLst>
          </a:prstGeom>
          <a:solidFill>
            <a:srgbClr val="C2410C"/>
          </a:solidFill>
          <a:ln w="12700">
            <a:solidFill>
              <a:srgbClr val="C2410C"/>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132"/>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133"/>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410C"/>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134"/>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5</a:t>
            </a:r>
            <a:endParaRPr lang="en-US" sz="1000" dirty="0"/>
          </a:p>
        </p:txBody>
      </p:sp>
      <p:sp>
        <p:nvSpPr>
          <p:cNvPr id="15" name="text-135"/>
          <p:cNvSpPr txBox="1"/>
          <p:nvPr/>
        </p:nvSpPr>
        <p:spPr>
          <a:xfrm>
            <a:off x="548640" y="1572768"/>
            <a:ext cx="5364328" cy="424434"/>
          </a:xfrm>
          <a:prstGeom prst="rect">
            <a:avLst/>
          </a:prstGeom>
          <a:noFill/>
          <a:ln/>
        </p:spPr>
        <p:txBody>
          <a:bodyPr wrap="square" lIns="0" tIns="0" rIns="0" bIns="0" rtlCol="0" anchor="b"/>
          <a:lstStyle/>
          <a:p>
            <a:pPr indent="0" marL="0">
              <a:buNone/>
            </a:pPr>
            <a:r>
              <a:rPr lang="en-US" sz="2000" b="1" spc="100" kern="0" dirty="0">
                <a:solidFill>
                  <a:srgbClr val="C2410C"/>
                </a:solidFill>
                <a:latin typeface="Arial" pitchFamily="34" charset="0"/>
                <a:ea typeface="Arial" pitchFamily="34" charset="-122"/>
                <a:cs typeface="Arial" pitchFamily="34" charset="-120"/>
              </a:rPr>
              <a:t>Sfaturi pentru emoții</a:t>
            </a:r>
            <a:endParaRPr lang="en-US" sz="2000" dirty="0"/>
          </a:p>
        </p:txBody>
      </p:sp>
      <p:sp>
        <p:nvSpPr>
          <p:cNvPr id="16" name="card-136"/>
          <p:cNvSpPr/>
          <p:nvPr/>
        </p:nvSpPr>
        <p:spPr>
          <a:xfrm>
            <a:off x="548640" y="2125218"/>
            <a:ext cx="5364328" cy="911098"/>
          </a:xfrm>
          <a:prstGeom prst="roundRect">
            <a:avLst>
              <a:gd name="adj" fmla="val 10036"/>
            </a:avLst>
          </a:prstGeom>
          <a:solidFill>
            <a:srgbClr val="FBF2EE"/>
          </a:solidFill>
          <a:ln w="12700">
            <a:solidFill>
              <a:srgbClr val="F2D5CA"/>
            </a:solidFill>
            <a:prstDash val="solid"/>
          </a:ln>
        </p:spPr>
      </p:sp>
      <p:sp>
        <p:nvSpPr>
          <p:cNvPr id="17" name="iconbg-137"/>
          <p:cNvSpPr/>
          <p:nvPr/>
        </p:nvSpPr>
        <p:spPr>
          <a:xfrm>
            <a:off x="694944" y="2271522"/>
            <a:ext cx="457200" cy="457200"/>
          </a:xfrm>
          <a:prstGeom prst="ellipse">
            <a:avLst/>
          </a:prstGeom>
          <a:solidFill>
            <a:srgbClr val="C2410C"/>
          </a:solidFill>
          <a:ln w="12700">
            <a:solidFill>
              <a:srgbClr val="C2410C"/>
            </a:solidFill>
            <a:prstDash val="solid"/>
          </a:ln>
        </p:spPr>
      </p:sp>
      <p:pic>
        <p:nvPicPr>
          <p:cNvPr id="18" name="icon-138" descr="preencoded.png">    </p:cNvPr>
          <p:cNvPicPr>
            <a:picLocks noChangeAspect="1"/>
          </p:cNvPicPr>
          <p:nvPr/>
        </p:nvPicPr>
        <p:blipFill>
          <a:blip r:embed="rId10"/>
          <a:stretch>
            <a:fillRect/>
          </a:stretch>
        </p:blipFill>
        <p:spPr>
          <a:xfrm>
            <a:off x="795528" y="2372106"/>
            <a:ext cx="256032" cy="256032"/>
          </a:xfrm>
          <a:prstGeom prst="rect">
            <a:avLst/>
          </a:prstGeom>
        </p:spPr>
      </p:pic>
      <p:sp>
        <p:nvSpPr>
          <p:cNvPr id="19" name="text-139"/>
          <p:cNvSpPr txBox="1"/>
          <p:nvPr/>
        </p:nvSpPr>
        <p:spPr>
          <a:xfrm>
            <a:off x="1316736" y="2253234"/>
            <a:ext cx="4449928" cy="655066"/>
          </a:xfrm>
          <a:prstGeom prst="rect">
            <a:avLst/>
          </a:prstGeom>
          <a:noFill/>
          <a:ln/>
        </p:spPr>
        <p:txBody>
          <a:bodyPr wrap="square" lIns="0" tIns="0" rIns="0" bIns="0" rtlCol="0" anchor="t"/>
          <a:lstStyle/>
          <a:p>
            <a:pPr indent="0" marL="0">
              <a:spcAft>
                <a:spcPts val="200"/>
              </a:spcAft>
              <a:buNone/>
            </a:pPr>
            <a:r>
              <a:rPr lang="en-US" sz="2000" b="1" dirty="0">
                <a:solidFill>
                  <a:srgbClr val="C2410C"/>
                </a:solidFill>
                <a:latin typeface="Arial" pitchFamily="34" charset="0"/>
                <a:ea typeface="Arial" pitchFamily="34" charset="-122"/>
                <a:cs typeface="Arial" pitchFamily="34" charset="-120"/>
              </a:rPr>
              <a:t>3 cuvinte pe un post-it</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Lângă cameră. Nu citești un text.</a:t>
            </a:r>
            <a:endParaRPr lang="en-US" sz="1600" dirty="0"/>
          </a:p>
        </p:txBody>
      </p:sp>
      <p:sp>
        <p:nvSpPr>
          <p:cNvPr id="20" name="card-140"/>
          <p:cNvSpPr/>
          <p:nvPr/>
        </p:nvSpPr>
        <p:spPr>
          <a:xfrm>
            <a:off x="548640" y="3164332"/>
            <a:ext cx="5364328" cy="911098"/>
          </a:xfrm>
          <a:prstGeom prst="roundRect">
            <a:avLst>
              <a:gd name="adj" fmla="val 10036"/>
            </a:avLst>
          </a:prstGeom>
          <a:solidFill>
            <a:srgbClr val="FBF2EE"/>
          </a:solidFill>
          <a:ln w="12700">
            <a:solidFill>
              <a:srgbClr val="F2D5CA"/>
            </a:solidFill>
            <a:prstDash val="solid"/>
          </a:ln>
        </p:spPr>
      </p:sp>
      <p:sp>
        <p:nvSpPr>
          <p:cNvPr id="21" name="iconbg-141"/>
          <p:cNvSpPr/>
          <p:nvPr/>
        </p:nvSpPr>
        <p:spPr>
          <a:xfrm>
            <a:off x="694944" y="3310636"/>
            <a:ext cx="457200" cy="457200"/>
          </a:xfrm>
          <a:prstGeom prst="ellipse">
            <a:avLst/>
          </a:prstGeom>
          <a:solidFill>
            <a:srgbClr val="C2410C"/>
          </a:solidFill>
          <a:ln w="12700">
            <a:solidFill>
              <a:srgbClr val="C2410C"/>
            </a:solidFill>
            <a:prstDash val="solid"/>
          </a:ln>
        </p:spPr>
      </p:sp>
      <p:pic>
        <p:nvPicPr>
          <p:cNvPr id="22" name="icon-142" descr="preencoded.png">    </p:cNvPr>
          <p:cNvPicPr>
            <a:picLocks noChangeAspect="1"/>
          </p:cNvPicPr>
          <p:nvPr/>
        </p:nvPicPr>
        <p:blipFill>
          <a:blip r:embed="rId11"/>
          <a:stretch>
            <a:fillRect/>
          </a:stretch>
        </p:blipFill>
        <p:spPr>
          <a:xfrm>
            <a:off x="795528" y="3411220"/>
            <a:ext cx="256032" cy="256032"/>
          </a:xfrm>
          <a:prstGeom prst="rect">
            <a:avLst/>
          </a:prstGeom>
        </p:spPr>
      </p:pic>
      <p:sp>
        <p:nvSpPr>
          <p:cNvPr id="23" name="text-143"/>
          <p:cNvSpPr txBox="1"/>
          <p:nvPr/>
        </p:nvSpPr>
        <p:spPr>
          <a:xfrm>
            <a:off x="1316736" y="3292348"/>
            <a:ext cx="4449928" cy="655066"/>
          </a:xfrm>
          <a:prstGeom prst="rect">
            <a:avLst/>
          </a:prstGeom>
          <a:noFill/>
          <a:ln/>
        </p:spPr>
        <p:txBody>
          <a:bodyPr wrap="square" lIns="0" tIns="0" rIns="0" bIns="0" rtlCol="0" anchor="t"/>
          <a:lstStyle/>
          <a:p>
            <a:pPr indent="0" marL="0">
              <a:spcAft>
                <a:spcPts val="200"/>
              </a:spcAft>
              <a:buNone/>
            </a:pPr>
            <a:r>
              <a:rPr lang="en-US" sz="2000" b="1" dirty="0">
                <a:solidFill>
                  <a:srgbClr val="C2410C"/>
                </a:solidFill>
                <a:latin typeface="Arial" pitchFamily="34" charset="0"/>
                <a:ea typeface="Arial" pitchFamily="34" charset="-122"/>
                <a:cs typeface="Arial" pitchFamily="34" charset="-120"/>
              </a:rPr>
              <a:t>Prima dublă e de încălzire</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A doua e de postat.</a:t>
            </a:r>
            <a:endParaRPr lang="en-US" sz="1600" dirty="0"/>
          </a:p>
        </p:txBody>
      </p:sp>
      <p:sp>
        <p:nvSpPr>
          <p:cNvPr id="24" name="card-144"/>
          <p:cNvSpPr/>
          <p:nvPr/>
        </p:nvSpPr>
        <p:spPr>
          <a:xfrm>
            <a:off x="548640" y="4203446"/>
            <a:ext cx="5364328" cy="911098"/>
          </a:xfrm>
          <a:prstGeom prst="roundRect">
            <a:avLst>
              <a:gd name="adj" fmla="val 10036"/>
            </a:avLst>
          </a:prstGeom>
          <a:solidFill>
            <a:srgbClr val="FBF2EE"/>
          </a:solidFill>
          <a:ln w="12700">
            <a:solidFill>
              <a:srgbClr val="F2D5CA"/>
            </a:solidFill>
            <a:prstDash val="solid"/>
          </a:ln>
        </p:spPr>
      </p:sp>
      <p:sp>
        <p:nvSpPr>
          <p:cNvPr id="25" name="iconbg-145"/>
          <p:cNvSpPr/>
          <p:nvPr/>
        </p:nvSpPr>
        <p:spPr>
          <a:xfrm>
            <a:off x="694944" y="4349750"/>
            <a:ext cx="457200" cy="457200"/>
          </a:xfrm>
          <a:prstGeom prst="ellipse">
            <a:avLst/>
          </a:prstGeom>
          <a:solidFill>
            <a:srgbClr val="C2410C"/>
          </a:solidFill>
          <a:ln w="12700">
            <a:solidFill>
              <a:srgbClr val="C2410C"/>
            </a:solidFill>
            <a:prstDash val="solid"/>
          </a:ln>
        </p:spPr>
      </p:sp>
      <p:pic>
        <p:nvPicPr>
          <p:cNvPr id="26" name="icon-146" descr="preencoded.png">    </p:cNvPr>
          <p:cNvPicPr>
            <a:picLocks noChangeAspect="1"/>
          </p:cNvPicPr>
          <p:nvPr/>
        </p:nvPicPr>
        <p:blipFill>
          <a:blip r:embed="rId12"/>
          <a:stretch>
            <a:fillRect/>
          </a:stretch>
        </p:blipFill>
        <p:spPr>
          <a:xfrm>
            <a:off x="795528" y="4450334"/>
            <a:ext cx="256032" cy="256032"/>
          </a:xfrm>
          <a:prstGeom prst="rect">
            <a:avLst/>
          </a:prstGeom>
        </p:spPr>
      </p:pic>
      <p:sp>
        <p:nvSpPr>
          <p:cNvPr id="27" name="text-147"/>
          <p:cNvSpPr txBox="1"/>
          <p:nvPr/>
        </p:nvSpPr>
        <p:spPr>
          <a:xfrm>
            <a:off x="1316736" y="4331462"/>
            <a:ext cx="4449928" cy="655066"/>
          </a:xfrm>
          <a:prstGeom prst="rect">
            <a:avLst/>
          </a:prstGeom>
          <a:noFill/>
          <a:ln/>
        </p:spPr>
        <p:txBody>
          <a:bodyPr wrap="square" lIns="0" tIns="0" rIns="0" bIns="0" rtlCol="0" anchor="t"/>
          <a:lstStyle/>
          <a:p>
            <a:pPr indent="0" marL="0">
              <a:spcAft>
                <a:spcPts val="200"/>
              </a:spcAft>
              <a:buNone/>
            </a:pPr>
            <a:r>
              <a:rPr lang="en-US" sz="2000" b="1" dirty="0">
                <a:solidFill>
                  <a:srgbClr val="C2410C"/>
                </a:solidFill>
                <a:latin typeface="Arial" pitchFamily="34" charset="0"/>
                <a:ea typeface="Arial" pitchFamily="34" charset="-122"/>
                <a:cs typeface="Arial" pitchFamily="34" charset="-120"/>
              </a:rPr>
              <a:t>Filmează cu o colegă</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Ea e regizorul, nu juriul.</a:t>
            </a:r>
            <a:endParaRPr lang="en-US" sz="1600" dirty="0"/>
          </a:p>
        </p:txBody>
      </p:sp>
      <p:sp>
        <p:nvSpPr>
          <p:cNvPr id="28" name="card-148"/>
          <p:cNvSpPr/>
          <p:nvPr/>
        </p:nvSpPr>
        <p:spPr>
          <a:xfrm>
            <a:off x="548640" y="5242560"/>
            <a:ext cx="5364328" cy="911098"/>
          </a:xfrm>
          <a:prstGeom prst="roundRect">
            <a:avLst>
              <a:gd name="adj" fmla="val 10036"/>
            </a:avLst>
          </a:prstGeom>
          <a:solidFill>
            <a:srgbClr val="FBF2EE"/>
          </a:solidFill>
          <a:ln w="12700">
            <a:solidFill>
              <a:srgbClr val="F2D5CA"/>
            </a:solidFill>
            <a:prstDash val="solid"/>
          </a:ln>
        </p:spPr>
      </p:sp>
      <p:sp>
        <p:nvSpPr>
          <p:cNvPr id="29" name="iconbg-149"/>
          <p:cNvSpPr/>
          <p:nvPr/>
        </p:nvSpPr>
        <p:spPr>
          <a:xfrm>
            <a:off x="694944" y="5388864"/>
            <a:ext cx="457200" cy="457200"/>
          </a:xfrm>
          <a:prstGeom prst="ellipse">
            <a:avLst/>
          </a:prstGeom>
          <a:solidFill>
            <a:srgbClr val="C2410C"/>
          </a:solidFill>
          <a:ln w="12700">
            <a:solidFill>
              <a:srgbClr val="C2410C"/>
            </a:solidFill>
            <a:prstDash val="solid"/>
          </a:ln>
        </p:spPr>
      </p:sp>
      <p:pic>
        <p:nvPicPr>
          <p:cNvPr id="30" name="icon-150" descr="preencoded.png">    </p:cNvPr>
          <p:cNvPicPr>
            <a:picLocks noChangeAspect="1"/>
          </p:cNvPicPr>
          <p:nvPr/>
        </p:nvPicPr>
        <p:blipFill>
          <a:blip r:embed="rId13"/>
          <a:stretch>
            <a:fillRect/>
          </a:stretch>
        </p:blipFill>
        <p:spPr>
          <a:xfrm>
            <a:off x="795528" y="5489448"/>
            <a:ext cx="256032" cy="256032"/>
          </a:xfrm>
          <a:prstGeom prst="rect">
            <a:avLst/>
          </a:prstGeom>
        </p:spPr>
      </p:pic>
      <p:sp>
        <p:nvSpPr>
          <p:cNvPr id="31" name="text-151"/>
          <p:cNvSpPr txBox="1"/>
          <p:nvPr/>
        </p:nvSpPr>
        <p:spPr>
          <a:xfrm>
            <a:off x="1316736" y="5370576"/>
            <a:ext cx="4449928" cy="655066"/>
          </a:xfrm>
          <a:prstGeom prst="rect">
            <a:avLst/>
          </a:prstGeom>
          <a:noFill/>
          <a:ln/>
        </p:spPr>
        <p:txBody>
          <a:bodyPr wrap="square" lIns="0" tIns="0" rIns="0" bIns="0" rtlCol="0" anchor="t"/>
          <a:lstStyle/>
          <a:p>
            <a:pPr indent="0" marL="0">
              <a:spcAft>
                <a:spcPts val="200"/>
              </a:spcAft>
              <a:buNone/>
            </a:pPr>
            <a:r>
              <a:rPr lang="en-US" sz="2000" b="1" dirty="0">
                <a:solidFill>
                  <a:srgbClr val="C2410C"/>
                </a:solidFill>
                <a:latin typeface="Arial" pitchFamily="34" charset="0"/>
                <a:ea typeface="Arial" pitchFamily="34" charset="-122"/>
                <a:cs typeface="Arial" pitchFamily="34" charset="-120"/>
              </a:rPr>
              <a:t>„Sunt entuziasmată”</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Nu „calmează-te”.</a:t>
            </a:r>
            <a:endParaRPr lang="en-US" sz="1600" dirty="0"/>
          </a:p>
        </p:txBody>
      </p:sp>
      <p:sp>
        <p:nvSpPr>
          <p:cNvPr id="32" name="text-152"/>
          <p:cNvSpPr txBox="1"/>
          <p:nvPr/>
        </p:nvSpPr>
        <p:spPr>
          <a:xfrm>
            <a:off x="6278728" y="1572768"/>
            <a:ext cx="5364328" cy="424434"/>
          </a:xfrm>
          <a:prstGeom prst="rect">
            <a:avLst/>
          </a:prstGeom>
          <a:noFill/>
          <a:ln/>
        </p:spPr>
        <p:txBody>
          <a:bodyPr wrap="square" lIns="0" tIns="0" rIns="0" bIns="0" rtlCol="0" anchor="b"/>
          <a:lstStyle/>
          <a:p>
            <a:pPr indent="0" marL="0">
              <a:buNone/>
            </a:pPr>
            <a:r>
              <a:rPr lang="en-US" sz="2000" b="1" spc="100" kern="0" dirty="0">
                <a:solidFill>
                  <a:srgbClr val="C2410C"/>
                </a:solidFill>
                <a:latin typeface="Arial" pitchFamily="34" charset="0"/>
                <a:ea typeface="Arial" pitchFamily="34" charset="-122"/>
                <a:cs typeface="Arial" pitchFamily="34" charset="-120"/>
              </a:rPr>
              <a:t>Clipuri foarte simple</a:t>
            </a:r>
            <a:endParaRPr lang="en-US" sz="2000" dirty="0"/>
          </a:p>
        </p:txBody>
      </p:sp>
      <p:sp>
        <p:nvSpPr>
          <p:cNvPr id="33" name="card-153"/>
          <p:cNvSpPr/>
          <p:nvPr/>
        </p:nvSpPr>
        <p:spPr>
          <a:xfrm>
            <a:off x="6278728" y="2125218"/>
            <a:ext cx="5364328" cy="1165860"/>
          </a:xfrm>
          <a:prstGeom prst="roundRect">
            <a:avLst>
              <a:gd name="adj" fmla="val 7843"/>
            </a:avLst>
          </a:prstGeom>
          <a:solidFill>
            <a:srgbClr val="FBF2EE"/>
          </a:solidFill>
          <a:ln w="12700">
            <a:solidFill>
              <a:srgbClr val="F2D5CA"/>
            </a:solidFill>
            <a:prstDash val="solid"/>
          </a:ln>
        </p:spPr>
      </p:sp>
      <p:sp>
        <p:nvSpPr>
          <p:cNvPr id="34" name="iconbg-154"/>
          <p:cNvSpPr/>
          <p:nvPr/>
        </p:nvSpPr>
        <p:spPr>
          <a:xfrm>
            <a:off x="6425032" y="2271522"/>
            <a:ext cx="457200" cy="457200"/>
          </a:xfrm>
          <a:prstGeom prst="ellipse">
            <a:avLst/>
          </a:prstGeom>
          <a:solidFill>
            <a:srgbClr val="C2410C"/>
          </a:solidFill>
          <a:ln w="12700">
            <a:solidFill>
              <a:srgbClr val="C2410C"/>
            </a:solidFill>
            <a:prstDash val="solid"/>
          </a:ln>
        </p:spPr>
      </p:sp>
      <p:pic>
        <p:nvPicPr>
          <p:cNvPr id="35" name="icon-155" descr="preencoded.png">    </p:cNvPr>
          <p:cNvPicPr>
            <a:picLocks noChangeAspect="1"/>
          </p:cNvPicPr>
          <p:nvPr/>
        </p:nvPicPr>
        <p:blipFill>
          <a:blip r:embed="rId14"/>
          <a:stretch>
            <a:fillRect/>
          </a:stretch>
        </p:blipFill>
        <p:spPr>
          <a:xfrm>
            <a:off x="6525616" y="2372106"/>
            <a:ext cx="256032" cy="256032"/>
          </a:xfrm>
          <a:prstGeom prst="rect">
            <a:avLst/>
          </a:prstGeom>
        </p:spPr>
      </p:pic>
      <p:sp>
        <p:nvSpPr>
          <p:cNvPr id="36" name="text-156"/>
          <p:cNvSpPr txBox="1"/>
          <p:nvPr/>
        </p:nvSpPr>
        <p:spPr>
          <a:xfrm>
            <a:off x="7046824" y="2253234"/>
            <a:ext cx="4449928" cy="909828"/>
          </a:xfrm>
          <a:prstGeom prst="rect">
            <a:avLst/>
          </a:prstGeom>
          <a:noFill/>
          <a:ln/>
        </p:spPr>
        <p:txBody>
          <a:bodyPr wrap="square" lIns="0" tIns="0" rIns="0" bIns="0" rtlCol="0" anchor="t"/>
          <a:lstStyle/>
          <a:p>
            <a:pPr indent="0" marL="0">
              <a:spcAft>
                <a:spcPts val="200"/>
              </a:spcAft>
              <a:buNone/>
            </a:pPr>
            <a:r>
              <a:rPr lang="en-US" sz="2000" b="1" dirty="0">
                <a:solidFill>
                  <a:srgbClr val="C2410C"/>
                </a:solidFill>
                <a:latin typeface="Arial" pitchFamily="34" charset="0"/>
                <a:ea typeface="Arial" pitchFamily="34" charset="-122"/>
                <a:cs typeface="Arial" pitchFamily="34" charset="-120"/>
              </a:rPr>
              <a:t>Etapa 1</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3 sec înainte + 3 sec după, reveal când clienta întoarce capul.</a:t>
            </a:r>
            <a:endParaRPr lang="en-US" sz="1600" dirty="0"/>
          </a:p>
        </p:txBody>
      </p:sp>
      <p:sp>
        <p:nvSpPr>
          <p:cNvPr id="37" name="card-157"/>
          <p:cNvSpPr/>
          <p:nvPr/>
        </p:nvSpPr>
        <p:spPr>
          <a:xfrm>
            <a:off x="6278728" y="3419094"/>
            <a:ext cx="5364328" cy="1165860"/>
          </a:xfrm>
          <a:prstGeom prst="roundRect">
            <a:avLst>
              <a:gd name="adj" fmla="val 7843"/>
            </a:avLst>
          </a:prstGeom>
          <a:solidFill>
            <a:srgbClr val="FBF2EE"/>
          </a:solidFill>
          <a:ln w="12700">
            <a:solidFill>
              <a:srgbClr val="F2D5CA"/>
            </a:solidFill>
            <a:prstDash val="solid"/>
          </a:ln>
        </p:spPr>
      </p:sp>
      <p:sp>
        <p:nvSpPr>
          <p:cNvPr id="38" name="iconbg-158"/>
          <p:cNvSpPr/>
          <p:nvPr/>
        </p:nvSpPr>
        <p:spPr>
          <a:xfrm>
            <a:off x="6425032" y="3565398"/>
            <a:ext cx="457200" cy="457200"/>
          </a:xfrm>
          <a:prstGeom prst="ellipse">
            <a:avLst/>
          </a:prstGeom>
          <a:solidFill>
            <a:srgbClr val="C2410C"/>
          </a:solidFill>
          <a:ln w="12700">
            <a:solidFill>
              <a:srgbClr val="C2410C"/>
            </a:solidFill>
            <a:prstDash val="solid"/>
          </a:ln>
        </p:spPr>
      </p:sp>
      <p:pic>
        <p:nvPicPr>
          <p:cNvPr id="39" name="icon-159" descr="preencoded.png">    </p:cNvPr>
          <p:cNvPicPr>
            <a:picLocks noChangeAspect="1"/>
          </p:cNvPicPr>
          <p:nvPr/>
        </p:nvPicPr>
        <p:blipFill>
          <a:blip r:embed="rId15"/>
          <a:stretch>
            <a:fillRect/>
          </a:stretch>
        </p:blipFill>
        <p:spPr>
          <a:xfrm>
            <a:off x="6525616" y="3665982"/>
            <a:ext cx="256032" cy="256032"/>
          </a:xfrm>
          <a:prstGeom prst="rect">
            <a:avLst/>
          </a:prstGeom>
        </p:spPr>
      </p:pic>
      <p:sp>
        <p:nvSpPr>
          <p:cNvPr id="40" name="text-160"/>
          <p:cNvSpPr txBox="1"/>
          <p:nvPr/>
        </p:nvSpPr>
        <p:spPr>
          <a:xfrm>
            <a:off x="7046824" y="3547110"/>
            <a:ext cx="4449928" cy="909828"/>
          </a:xfrm>
          <a:prstGeom prst="rect">
            <a:avLst/>
          </a:prstGeom>
          <a:noFill/>
          <a:ln/>
        </p:spPr>
        <p:txBody>
          <a:bodyPr wrap="square" lIns="0" tIns="0" rIns="0" bIns="0" rtlCol="0" anchor="t"/>
          <a:lstStyle/>
          <a:p>
            <a:pPr indent="0" marL="0">
              <a:spcAft>
                <a:spcPts val="200"/>
              </a:spcAft>
              <a:buNone/>
            </a:pPr>
            <a:r>
              <a:rPr lang="en-US" sz="2000" b="1" dirty="0">
                <a:solidFill>
                  <a:srgbClr val="C2410C"/>
                </a:solidFill>
                <a:latin typeface="Arial" pitchFamily="34" charset="0"/>
                <a:ea typeface="Arial" pitchFamily="34" charset="-122"/>
                <a:cs typeface="Arial" pitchFamily="34" charset="-120"/>
              </a:rPr>
              <a:t>Etapa 2</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„Am lăsat rădăcina naturală, ca să crească frumos 3 luni.”</a:t>
            </a:r>
            <a:endParaRPr lang="en-US" sz="1600" dirty="0"/>
          </a:p>
        </p:txBody>
      </p:sp>
      <p:sp>
        <p:nvSpPr>
          <p:cNvPr id="41" name="card-161"/>
          <p:cNvSpPr/>
          <p:nvPr/>
        </p:nvSpPr>
        <p:spPr>
          <a:xfrm>
            <a:off x="6278728" y="4712970"/>
            <a:ext cx="5364328" cy="1165860"/>
          </a:xfrm>
          <a:prstGeom prst="roundRect">
            <a:avLst>
              <a:gd name="adj" fmla="val 7843"/>
            </a:avLst>
          </a:prstGeom>
          <a:solidFill>
            <a:srgbClr val="FBF2EE"/>
          </a:solidFill>
          <a:ln w="12700">
            <a:solidFill>
              <a:srgbClr val="F2D5CA"/>
            </a:solidFill>
            <a:prstDash val="solid"/>
          </a:ln>
        </p:spPr>
      </p:sp>
      <p:sp>
        <p:nvSpPr>
          <p:cNvPr id="42" name="iconbg-162"/>
          <p:cNvSpPr/>
          <p:nvPr/>
        </p:nvSpPr>
        <p:spPr>
          <a:xfrm>
            <a:off x="6425032" y="4859274"/>
            <a:ext cx="457200" cy="457200"/>
          </a:xfrm>
          <a:prstGeom prst="ellipse">
            <a:avLst/>
          </a:prstGeom>
          <a:solidFill>
            <a:srgbClr val="C2410C"/>
          </a:solidFill>
          <a:ln w="12700">
            <a:solidFill>
              <a:srgbClr val="C2410C"/>
            </a:solidFill>
            <a:prstDash val="solid"/>
          </a:ln>
        </p:spPr>
      </p:sp>
      <p:pic>
        <p:nvPicPr>
          <p:cNvPr id="43" name="icon-163" descr="preencoded.png">    </p:cNvPr>
          <p:cNvPicPr>
            <a:picLocks noChangeAspect="1"/>
          </p:cNvPicPr>
          <p:nvPr/>
        </p:nvPicPr>
        <p:blipFill>
          <a:blip r:embed="rId16"/>
          <a:stretch>
            <a:fillRect/>
          </a:stretch>
        </p:blipFill>
        <p:spPr>
          <a:xfrm>
            <a:off x="6525616" y="4959858"/>
            <a:ext cx="256032" cy="256032"/>
          </a:xfrm>
          <a:prstGeom prst="rect">
            <a:avLst/>
          </a:prstGeom>
        </p:spPr>
      </p:pic>
      <p:sp>
        <p:nvSpPr>
          <p:cNvPr id="44" name="text-164"/>
          <p:cNvSpPr txBox="1"/>
          <p:nvPr/>
        </p:nvSpPr>
        <p:spPr>
          <a:xfrm>
            <a:off x="7046824" y="4840986"/>
            <a:ext cx="4449928" cy="909828"/>
          </a:xfrm>
          <a:prstGeom prst="rect">
            <a:avLst/>
          </a:prstGeom>
          <a:noFill/>
          <a:ln/>
        </p:spPr>
        <p:txBody>
          <a:bodyPr wrap="square" lIns="0" tIns="0" rIns="0" bIns="0" rtlCol="0" anchor="t"/>
          <a:lstStyle/>
          <a:p>
            <a:pPr indent="0" marL="0">
              <a:spcAft>
                <a:spcPts val="200"/>
              </a:spcAft>
              <a:buNone/>
            </a:pPr>
            <a:r>
              <a:rPr lang="en-US" sz="2000" b="1" dirty="0">
                <a:solidFill>
                  <a:srgbClr val="C2410C"/>
                </a:solidFill>
                <a:latin typeface="Arial" pitchFamily="34" charset="0"/>
                <a:ea typeface="Arial" pitchFamily="34" charset="-122"/>
                <a:cs typeface="Arial" pitchFamily="34" charset="-120"/>
              </a:rPr>
              <a:t>Etapa 3</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Un sfat de 10 secunde despre blondul de acasă.</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watermark-165"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166" descr="Facebook">    </p:cNvPr>
          <p:cNvPicPr>
            <a:picLocks noChangeAspect="1"/>
          </p:cNvPicPr>
          <p:nvPr/>
        </p:nvPicPr>
        <p:blipFill>
          <a:blip r:embed="rId2"/>
          <a:stretch>
            <a:fillRect/>
          </a:stretch>
        </p:blipFill>
        <p:spPr>
          <a:xfrm>
            <a:off x="548640" y="329184"/>
            <a:ext cx="384048" cy="384048"/>
          </a:xfrm>
          <a:prstGeom prst="rect">
            <a:avLst/>
          </a:prstGeom>
        </p:spPr>
      </p:pic>
      <p:sp>
        <p:nvSpPr>
          <p:cNvPr id="4" name="text-167"/>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1565D8"/>
                </a:solidFill>
                <a:latin typeface="Arial" pitchFamily="34" charset="0"/>
                <a:ea typeface="Arial" pitchFamily="34" charset="-122"/>
                <a:cs typeface="Arial" pitchFamily="34" charset="-120"/>
              </a:rPr>
              <a:t>FACEBOOK</a:t>
            </a:r>
            <a:endParaRPr lang="en-US" sz="1500" dirty="0"/>
          </a:p>
        </p:txBody>
      </p:sp>
      <p:sp>
        <p:nvSpPr>
          <p:cNvPr id="5" name="text-168"/>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Profil personal sau pagină profesională?</a:t>
            </a:r>
            <a:endParaRPr lang="en-US" sz="3200" dirty="0"/>
          </a:p>
        </p:txBody>
      </p:sp>
      <p:sp>
        <p:nvSpPr>
          <p:cNvPr id="6" name="nav-169">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170">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171">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172">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173">
            <a:hlinkClick r:id="rId7" tooltip="Facebook" action="ppaction://hlinksldjump"/>
          </p:cNvPr>
          <p:cNvSpPr/>
          <p:nvPr/>
        </p:nvSpPr>
        <p:spPr>
          <a:xfrm>
            <a:off x="6760159" y="365760"/>
            <a:ext cx="950976" cy="310896"/>
          </a:xfrm>
          <a:prstGeom prst="roundRect">
            <a:avLst>
              <a:gd name="adj" fmla="val 50000"/>
            </a:avLst>
          </a:prstGeom>
          <a:solidFill>
            <a:srgbClr val="1565D8"/>
          </a:solidFill>
          <a:ln w="12700">
            <a:solidFill>
              <a:srgbClr val="1565D8"/>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174">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175"/>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176"/>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1565D8"/>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177"/>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6</a:t>
            </a:r>
            <a:endParaRPr lang="en-US" sz="1000" dirty="0"/>
          </a:p>
        </p:txBody>
      </p:sp>
      <p:sp>
        <p:nvSpPr>
          <p:cNvPr id="15" name="card-178"/>
          <p:cNvSpPr/>
          <p:nvPr/>
        </p:nvSpPr>
        <p:spPr>
          <a:xfrm>
            <a:off x="548640" y="1572768"/>
            <a:ext cx="5364328" cy="2057400"/>
          </a:xfrm>
          <a:prstGeom prst="roundRect">
            <a:avLst>
              <a:gd name="adj" fmla="val 4444"/>
            </a:avLst>
          </a:prstGeom>
          <a:solidFill>
            <a:srgbClr val="EFF4FC"/>
          </a:solidFill>
          <a:ln w="12700">
            <a:solidFill>
              <a:srgbClr val="CCDDF6"/>
            </a:solidFill>
            <a:prstDash val="solid"/>
          </a:ln>
        </p:spPr>
      </p:sp>
      <p:sp>
        <p:nvSpPr>
          <p:cNvPr id="16" name="iconbg-179"/>
          <p:cNvSpPr/>
          <p:nvPr/>
        </p:nvSpPr>
        <p:spPr>
          <a:xfrm>
            <a:off x="694944" y="1719072"/>
            <a:ext cx="457200" cy="457200"/>
          </a:xfrm>
          <a:prstGeom prst="ellipse">
            <a:avLst/>
          </a:prstGeom>
          <a:solidFill>
            <a:srgbClr val="1565D8"/>
          </a:solidFill>
          <a:ln w="12700">
            <a:solidFill>
              <a:srgbClr val="1565D8"/>
            </a:solidFill>
            <a:prstDash val="solid"/>
          </a:ln>
        </p:spPr>
      </p:sp>
      <p:pic>
        <p:nvPicPr>
          <p:cNvPr id="17" name="icon-180"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181"/>
          <p:cNvSpPr txBox="1"/>
          <p:nvPr/>
        </p:nvSpPr>
        <p:spPr>
          <a:xfrm>
            <a:off x="1316736" y="1700784"/>
            <a:ext cx="4449928" cy="1801368"/>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Profil personal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Prieteni și familie.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Maximum 5.000 de prieteni.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Fără statistici pentru afacere.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Concediul stă lângă balayage.</a:t>
            </a:r>
            <a:endParaRPr lang="en-US" sz="1600" dirty="0"/>
          </a:p>
        </p:txBody>
      </p:sp>
      <p:sp>
        <p:nvSpPr>
          <p:cNvPr id="19" name="card-182"/>
          <p:cNvSpPr/>
          <p:nvPr/>
        </p:nvSpPr>
        <p:spPr>
          <a:xfrm>
            <a:off x="6278728" y="1572768"/>
            <a:ext cx="5364328" cy="2372106"/>
          </a:xfrm>
          <a:prstGeom prst="roundRect">
            <a:avLst>
              <a:gd name="adj" fmla="val 3855"/>
            </a:avLst>
          </a:prstGeom>
          <a:solidFill>
            <a:srgbClr val="EFF4FC"/>
          </a:solidFill>
          <a:ln w="12700">
            <a:solidFill>
              <a:srgbClr val="CCDDF6"/>
            </a:solidFill>
            <a:prstDash val="solid"/>
          </a:ln>
        </p:spPr>
      </p:sp>
      <p:sp>
        <p:nvSpPr>
          <p:cNvPr id="20" name="iconbg-183"/>
          <p:cNvSpPr/>
          <p:nvPr/>
        </p:nvSpPr>
        <p:spPr>
          <a:xfrm>
            <a:off x="6425032" y="1719072"/>
            <a:ext cx="457200" cy="457200"/>
          </a:xfrm>
          <a:prstGeom prst="ellipse">
            <a:avLst/>
          </a:prstGeom>
          <a:solidFill>
            <a:srgbClr val="1565D8"/>
          </a:solidFill>
          <a:ln w="12700">
            <a:solidFill>
              <a:srgbClr val="1565D8"/>
            </a:solidFill>
            <a:prstDash val="solid"/>
          </a:ln>
        </p:spPr>
      </p:sp>
      <p:pic>
        <p:nvPicPr>
          <p:cNvPr id="21" name="icon-184" descr="preencoded.png">    </p:cNvPr>
          <p:cNvPicPr>
            <a:picLocks noChangeAspect="1"/>
          </p:cNvPicPr>
          <p:nvPr/>
        </p:nvPicPr>
        <p:blipFill>
          <a:blip r:embed="rId11"/>
          <a:stretch>
            <a:fillRect/>
          </a:stretch>
        </p:blipFill>
        <p:spPr>
          <a:xfrm>
            <a:off x="6525616" y="1819656"/>
            <a:ext cx="256032" cy="256032"/>
          </a:xfrm>
          <a:prstGeom prst="rect">
            <a:avLst/>
          </a:prstGeom>
        </p:spPr>
      </p:pic>
      <p:sp>
        <p:nvSpPr>
          <p:cNvPr id="22" name="text-185"/>
          <p:cNvSpPr txBox="1"/>
          <p:nvPr/>
        </p:nvSpPr>
        <p:spPr>
          <a:xfrm>
            <a:off x="7046824" y="1700784"/>
            <a:ext cx="4449928" cy="2116074"/>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Pagina profesională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„Pagina de like-uri” a salonului.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Urmăritori fără limită.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Buton de programare.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Statistici: cine vede, când.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watermark-186"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187" descr="Facebook">    </p:cNvPr>
          <p:cNvPicPr>
            <a:picLocks noChangeAspect="1"/>
          </p:cNvPicPr>
          <p:nvPr/>
        </p:nvPicPr>
        <p:blipFill>
          <a:blip r:embed="rId2"/>
          <a:stretch>
            <a:fillRect/>
          </a:stretch>
        </p:blipFill>
        <p:spPr>
          <a:xfrm>
            <a:off x="548640" y="329184"/>
            <a:ext cx="384048" cy="384048"/>
          </a:xfrm>
          <a:prstGeom prst="rect">
            <a:avLst/>
          </a:prstGeom>
        </p:spPr>
      </p:pic>
      <p:sp>
        <p:nvSpPr>
          <p:cNvPr id="4" name="text-188"/>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1565D8"/>
                </a:solidFill>
                <a:latin typeface="Arial" pitchFamily="34" charset="0"/>
                <a:ea typeface="Arial" pitchFamily="34" charset="-122"/>
                <a:cs typeface="Arial" pitchFamily="34" charset="-120"/>
              </a:rPr>
              <a:t>FACEBOOK</a:t>
            </a:r>
            <a:endParaRPr lang="en-US" sz="1500" dirty="0"/>
          </a:p>
        </p:txBody>
      </p:sp>
      <p:sp>
        <p:nvSpPr>
          <p:cNvPr id="5" name="text-189"/>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Cum creezi pagina și ce completezi</a:t>
            </a:r>
            <a:endParaRPr lang="en-US" sz="3200" dirty="0"/>
          </a:p>
        </p:txBody>
      </p:sp>
      <p:sp>
        <p:nvSpPr>
          <p:cNvPr id="6" name="nav-190">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191">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192">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193">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194">
            <a:hlinkClick r:id="rId7" tooltip="Facebook" action="ppaction://hlinksldjump"/>
          </p:cNvPr>
          <p:cNvSpPr/>
          <p:nvPr/>
        </p:nvSpPr>
        <p:spPr>
          <a:xfrm>
            <a:off x="6760159" y="365760"/>
            <a:ext cx="950976" cy="310896"/>
          </a:xfrm>
          <a:prstGeom prst="roundRect">
            <a:avLst>
              <a:gd name="adj" fmla="val 50000"/>
            </a:avLst>
          </a:prstGeom>
          <a:solidFill>
            <a:srgbClr val="1565D8"/>
          </a:solidFill>
          <a:ln w="12700">
            <a:solidFill>
              <a:srgbClr val="1565D8"/>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195">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196"/>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197"/>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1565D8"/>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198"/>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7</a:t>
            </a:r>
            <a:endParaRPr lang="en-US" sz="1000" dirty="0"/>
          </a:p>
        </p:txBody>
      </p:sp>
      <p:sp>
        <p:nvSpPr>
          <p:cNvPr id="15" name="card-199"/>
          <p:cNvSpPr/>
          <p:nvPr/>
        </p:nvSpPr>
        <p:spPr>
          <a:xfrm>
            <a:off x="548640" y="1572768"/>
            <a:ext cx="5364328" cy="2686812"/>
          </a:xfrm>
          <a:prstGeom prst="roundRect">
            <a:avLst>
              <a:gd name="adj" fmla="val 3403"/>
            </a:avLst>
          </a:prstGeom>
          <a:solidFill>
            <a:srgbClr val="EFF4FC"/>
          </a:solidFill>
          <a:ln w="12700">
            <a:solidFill>
              <a:srgbClr val="CCDDF6"/>
            </a:solidFill>
            <a:prstDash val="solid"/>
          </a:ln>
        </p:spPr>
      </p:sp>
      <p:sp>
        <p:nvSpPr>
          <p:cNvPr id="16" name="iconbg-200"/>
          <p:cNvSpPr/>
          <p:nvPr/>
        </p:nvSpPr>
        <p:spPr>
          <a:xfrm>
            <a:off x="694944" y="1719072"/>
            <a:ext cx="457200" cy="457200"/>
          </a:xfrm>
          <a:prstGeom prst="ellipse">
            <a:avLst/>
          </a:prstGeom>
          <a:solidFill>
            <a:srgbClr val="1565D8"/>
          </a:solidFill>
          <a:ln w="12700">
            <a:solidFill>
              <a:srgbClr val="1565D8"/>
            </a:solidFill>
            <a:prstDash val="solid"/>
          </a:ln>
        </p:spPr>
      </p:sp>
      <p:pic>
        <p:nvPicPr>
          <p:cNvPr id="17" name="icon-201"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202"/>
          <p:cNvSpPr txBox="1"/>
          <p:nvPr/>
        </p:nvSpPr>
        <p:spPr>
          <a:xfrm>
            <a:off x="1316736" y="1700784"/>
            <a:ext cx="4449928" cy="2430780"/>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Creezi în 4 pași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1. Meniu → Pagini → Creează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2. Numele salonului + nișa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3. Categoria: „Salon de coafură”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4. Poză de profil + copertă cu o lucrare</a:t>
            </a:r>
            <a:endParaRPr lang="en-US" sz="1600" dirty="0"/>
          </a:p>
        </p:txBody>
      </p:sp>
      <p:sp>
        <p:nvSpPr>
          <p:cNvPr id="19" name="card-203"/>
          <p:cNvSpPr/>
          <p:nvPr/>
        </p:nvSpPr>
        <p:spPr>
          <a:xfrm>
            <a:off x="6278728" y="1572768"/>
            <a:ext cx="5364328" cy="2399538"/>
          </a:xfrm>
          <a:prstGeom prst="roundRect">
            <a:avLst>
              <a:gd name="adj" fmla="val 3811"/>
            </a:avLst>
          </a:prstGeom>
          <a:solidFill>
            <a:srgbClr val="EFF4FC"/>
          </a:solidFill>
          <a:ln w="12700">
            <a:solidFill>
              <a:srgbClr val="CCDDF6"/>
            </a:solidFill>
            <a:prstDash val="solid"/>
          </a:ln>
        </p:spPr>
      </p:sp>
      <p:sp>
        <p:nvSpPr>
          <p:cNvPr id="20" name="iconbg-204"/>
          <p:cNvSpPr/>
          <p:nvPr/>
        </p:nvSpPr>
        <p:spPr>
          <a:xfrm>
            <a:off x="6425032" y="1719072"/>
            <a:ext cx="457200" cy="457200"/>
          </a:xfrm>
          <a:prstGeom prst="ellipse">
            <a:avLst/>
          </a:prstGeom>
          <a:solidFill>
            <a:srgbClr val="1565D8"/>
          </a:solidFill>
          <a:ln w="12700">
            <a:solidFill>
              <a:srgbClr val="1565D8"/>
            </a:solidFill>
            <a:prstDash val="solid"/>
          </a:ln>
        </p:spPr>
      </p:sp>
      <p:pic>
        <p:nvPicPr>
          <p:cNvPr id="21" name="icon-205" descr="preencoded.png">    </p:cNvPr>
          <p:cNvPicPr>
            <a:picLocks noChangeAspect="1"/>
          </p:cNvPicPr>
          <p:nvPr/>
        </p:nvPicPr>
        <p:blipFill>
          <a:blip r:embed="rId11"/>
          <a:stretch>
            <a:fillRect/>
          </a:stretch>
        </p:blipFill>
        <p:spPr>
          <a:xfrm>
            <a:off x="6525616" y="1819656"/>
            <a:ext cx="256032" cy="256032"/>
          </a:xfrm>
          <a:prstGeom prst="rect">
            <a:avLst/>
          </a:prstGeom>
        </p:spPr>
      </p:pic>
      <p:sp>
        <p:nvSpPr>
          <p:cNvPr id="22" name="text-206"/>
          <p:cNvSpPr txBox="1"/>
          <p:nvPr/>
        </p:nvSpPr>
        <p:spPr>
          <a:xfrm>
            <a:off x="7046824" y="1700784"/>
            <a:ext cx="4449928" cy="2143506"/>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Completezi tot</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Adresa, cu pin pe hartă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Programul, inclusiv sâmbăta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Telefon și WhatsApp</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Link de programare pe buton</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Zona: „Cluj, Mărăști”</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watermark-207"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208" descr="Facebook">    </p:cNvPr>
          <p:cNvPicPr>
            <a:picLocks noChangeAspect="1"/>
          </p:cNvPicPr>
          <p:nvPr/>
        </p:nvPicPr>
        <p:blipFill>
          <a:blip r:embed="rId2"/>
          <a:stretch>
            <a:fillRect/>
          </a:stretch>
        </p:blipFill>
        <p:spPr>
          <a:xfrm>
            <a:off x="548640" y="329184"/>
            <a:ext cx="384048" cy="384048"/>
          </a:xfrm>
          <a:prstGeom prst="rect">
            <a:avLst/>
          </a:prstGeom>
        </p:spPr>
      </p:pic>
      <p:sp>
        <p:nvSpPr>
          <p:cNvPr id="4" name="text-209"/>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1565D8"/>
                </a:solidFill>
                <a:latin typeface="Arial" pitchFamily="34" charset="0"/>
                <a:ea typeface="Arial" pitchFamily="34" charset="-122"/>
                <a:cs typeface="Arial" pitchFamily="34" charset="-120"/>
              </a:rPr>
              <a:t>FACEBOOK</a:t>
            </a:r>
            <a:endParaRPr lang="en-US" sz="1500" dirty="0"/>
          </a:p>
        </p:txBody>
      </p:sp>
      <p:sp>
        <p:nvSpPr>
          <p:cNvPr id="5" name="text-210"/>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Programări ușoare: din interes în programare</a:t>
            </a:r>
            <a:endParaRPr lang="en-US" sz="3200" dirty="0"/>
          </a:p>
        </p:txBody>
      </p:sp>
      <p:sp>
        <p:nvSpPr>
          <p:cNvPr id="6" name="nav-211">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212">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213">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214">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215">
            <a:hlinkClick r:id="rId7" tooltip="Facebook" action="ppaction://hlinksldjump"/>
          </p:cNvPr>
          <p:cNvSpPr/>
          <p:nvPr/>
        </p:nvSpPr>
        <p:spPr>
          <a:xfrm>
            <a:off x="6760159" y="365760"/>
            <a:ext cx="950976" cy="310896"/>
          </a:xfrm>
          <a:prstGeom prst="roundRect">
            <a:avLst>
              <a:gd name="adj" fmla="val 50000"/>
            </a:avLst>
          </a:prstGeom>
          <a:solidFill>
            <a:srgbClr val="1565D8"/>
          </a:solidFill>
          <a:ln w="12700">
            <a:solidFill>
              <a:srgbClr val="1565D8"/>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216">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217"/>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218"/>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1565D8"/>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219"/>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8</a:t>
            </a:r>
            <a:endParaRPr lang="en-US" sz="1000" dirty="0"/>
          </a:p>
        </p:txBody>
      </p:sp>
      <p:sp>
        <p:nvSpPr>
          <p:cNvPr id="15" name="card-220"/>
          <p:cNvSpPr/>
          <p:nvPr/>
        </p:nvSpPr>
        <p:spPr>
          <a:xfrm>
            <a:off x="548640" y="1572768"/>
            <a:ext cx="5364328" cy="2686812"/>
          </a:xfrm>
          <a:prstGeom prst="roundRect">
            <a:avLst>
              <a:gd name="adj" fmla="val 3403"/>
            </a:avLst>
          </a:prstGeom>
          <a:solidFill>
            <a:srgbClr val="EFF4FC"/>
          </a:solidFill>
          <a:ln w="12700">
            <a:solidFill>
              <a:srgbClr val="CCDDF6"/>
            </a:solidFill>
            <a:prstDash val="solid"/>
          </a:ln>
        </p:spPr>
      </p:sp>
      <p:sp>
        <p:nvSpPr>
          <p:cNvPr id="16" name="iconbg-221"/>
          <p:cNvSpPr/>
          <p:nvPr/>
        </p:nvSpPr>
        <p:spPr>
          <a:xfrm>
            <a:off x="694944" y="1719072"/>
            <a:ext cx="457200" cy="457200"/>
          </a:xfrm>
          <a:prstGeom prst="ellipse">
            <a:avLst/>
          </a:prstGeom>
          <a:solidFill>
            <a:srgbClr val="1565D8"/>
          </a:solidFill>
          <a:ln w="12700">
            <a:solidFill>
              <a:srgbClr val="1565D8"/>
            </a:solidFill>
            <a:prstDash val="solid"/>
          </a:ln>
        </p:spPr>
      </p:sp>
      <p:pic>
        <p:nvPicPr>
          <p:cNvPr id="17" name="icon-222"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223"/>
          <p:cNvSpPr txBox="1"/>
          <p:nvPr/>
        </p:nvSpPr>
        <p:spPr>
          <a:xfrm>
            <a:off x="1316736" y="1700784"/>
            <a:ext cx="4449928" cy="2430780"/>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Drumul spre programare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1. Comentariu: „Vreau și eu!”</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2. Răspunzi public + în mesaj, aceeași zi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3. Trimiți link-ul sau 2 ore libere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4. Programare confirmată</a:t>
            </a:r>
            <a:endParaRPr lang="en-US" sz="1600" dirty="0"/>
          </a:p>
        </p:txBody>
      </p:sp>
      <p:sp>
        <p:nvSpPr>
          <p:cNvPr id="19" name="card-224"/>
          <p:cNvSpPr/>
          <p:nvPr/>
        </p:nvSpPr>
        <p:spPr>
          <a:xfrm>
            <a:off x="6278728" y="1572768"/>
            <a:ext cx="5364328" cy="2686812"/>
          </a:xfrm>
          <a:prstGeom prst="roundRect">
            <a:avLst>
              <a:gd name="adj" fmla="val 3403"/>
            </a:avLst>
          </a:prstGeom>
          <a:solidFill>
            <a:srgbClr val="EFF4FC"/>
          </a:solidFill>
          <a:ln w="12700">
            <a:solidFill>
              <a:srgbClr val="CCDDF6"/>
            </a:solidFill>
            <a:prstDash val="solid"/>
          </a:ln>
        </p:spPr>
      </p:sp>
      <p:sp>
        <p:nvSpPr>
          <p:cNvPr id="20" name="iconbg-225"/>
          <p:cNvSpPr/>
          <p:nvPr/>
        </p:nvSpPr>
        <p:spPr>
          <a:xfrm>
            <a:off x="6425032" y="1719072"/>
            <a:ext cx="457200" cy="457200"/>
          </a:xfrm>
          <a:prstGeom prst="ellipse">
            <a:avLst/>
          </a:prstGeom>
          <a:solidFill>
            <a:srgbClr val="1565D8"/>
          </a:solidFill>
          <a:ln w="12700">
            <a:solidFill>
              <a:srgbClr val="1565D8"/>
            </a:solidFill>
            <a:prstDash val="solid"/>
          </a:ln>
        </p:spPr>
      </p:sp>
      <p:pic>
        <p:nvPicPr>
          <p:cNvPr id="21" name="icon-226" descr="preencoded.png">    </p:cNvPr>
          <p:cNvPicPr>
            <a:picLocks noChangeAspect="1"/>
          </p:cNvPicPr>
          <p:nvPr/>
        </p:nvPicPr>
        <p:blipFill>
          <a:blip r:embed="rId11"/>
          <a:stretch>
            <a:fillRect/>
          </a:stretch>
        </p:blipFill>
        <p:spPr>
          <a:xfrm>
            <a:off x="6525616" y="1819656"/>
            <a:ext cx="256032" cy="256032"/>
          </a:xfrm>
          <a:prstGeom prst="rect">
            <a:avLst/>
          </a:prstGeom>
        </p:spPr>
      </p:pic>
      <p:sp>
        <p:nvSpPr>
          <p:cNvPr id="22" name="text-227"/>
          <p:cNvSpPr txBox="1"/>
          <p:nvPr/>
        </p:nvSpPr>
        <p:spPr>
          <a:xfrm>
            <a:off x="7046824" y="1700784"/>
            <a:ext cx="4449928" cy="2430780"/>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Sfaturi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Butonul paginii = „Programează-te”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Răspuns-șablon salvat în mesaje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Răspunde în aceeași zi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Oferă 2 variante de oră, nu „când vrei”</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watermark-228"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229" descr="Facebook">    </p:cNvPr>
          <p:cNvPicPr>
            <a:picLocks noChangeAspect="1"/>
          </p:cNvPicPr>
          <p:nvPr/>
        </p:nvPicPr>
        <p:blipFill>
          <a:blip r:embed="rId2"/>
          <a:stretch>
            <a:fillRect/>
          </a:stretch>
        </p:blipFill>
        <p:spPr>
          <a:xfrm>
            <a:off x="548640" y="329184"/>
            <a:ext cx="384048" cy="384048"/>
          </a:xfrm>
          <a:prstGeom prst="rect">
            <a:avLst/>
          </a:prstGeom>
        </p:spPr>
      </p:pic>
      <p:sp>
        <p:nvSpPr>
          <p:cNvPr id="4" name="text-230"/>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1565D8"/>
                </a:solidFill>
                <a:latin typeface="Arial" pitchFamily="34" charset="0"/>
                <a:ea typeface="Arial" pitchFamily="34" charset="-122"/>
                <a:cs typeface="Arial" pitchFamily="34" charset="-120"/>
              </a:rPr>
              <a:t>FACEBOOK</a:t>
            </a:r>
            <a:endParaRPr lang="en-US" sz="1500" dirty="0"/>
          </a:p>
        </p:txBody>
      </p:sp>
      <p:sp>
        <p:nvSpPr>
          <p:cNvPr id="5" name="text-231"/>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Postări care vând: poze, înainte și după, video</a:t>
            </a:r>
            <a:endParaRPr lang="en-US" sz="3200" dirty="0"/>
          </a:p>
        </p:txBody>
      </p:sp>
      <p:sp>
        <p:nvSpPr>
          <p:cNvPr id="6" name="nav-232">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233">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234">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235">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236">
            <a:hlinkClick r:id="rId7" tooltip="Facebook" action="ppaction://hlinksldjump"/>
          </p:cNvPr>
          <p:cNvSpPr/>
          <p:nvPr/>
        </p:nvSpPr>
        <p:spPr>
          <a:xfrm>
            <a:off x="6760159" y="365760"/>
            <a:ext cx="950976" cy="310896"/>
          </a:xfrm>
          <a:prstGeom prst="roundRect">
            <a:avLst>
              <a:gd name="adj" fmla="val 50000"/>
            </a:avLst>
          </a:prstGeom>
          <a:solidFill>
            <a:srgbClr val="1565D8"/>
          </a:solidFill>
          <a:ln w="12700">
            <a:solidFill>
              <a:srgbClr val="1565D8"/>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237">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238"/>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239"/>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1565D8"/>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240"/>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9</a:t>
            </a:r>
            <a:endParaRPr lang="en-US" sz="1000" dirty="0"/>
          </a:p>
        </p:txBody>
      </p:sp>
      <p:sp>
        <p:nvSpPr>
          <p:cNvPr id="15" name="card-241"/>
          <p:cNvSpPr/>
          <p:nvPr/>
        </p:nvSpPr>
        <p:spPr>
          <a:xfrm>
            <a:off x="548640" y="1572768"/>
            <a:ext cx="5364328" cy="2417064"/>
          </a:xfrm>
          <a:prstGeom prst="roundRect">
            <a:avLst>
              <a:gd name="adj" fmla="val 3783"/>
            </a:avLst>
          </a:prstGeom>
          <a:solidFill>
            <a:srgbClr val="EFF4FC"/>
          </a:solidFill>
          <a:ln w="12700">
            <a:solidFill>
              <a:srgbClr val="CCDDF6"/>
            </a:solidFill>
            <a:prstDash val="solid"/>
          </a:ln>
        </p:spPr>
      </p:sp>
      <p:sp>
        <p:nvSpPr>
          <p:cNvPr id="16" name="iconbg-242"/>
          <p:cNvSpPr/>
          <p:nvPr/>
        </p:nvSpPr>
        <p:spPr>
          <a:xfrm>
            <a:off x="694944" y="1719072"/>
            <a:ext cx="457200" cy="457200"/>
          </a:xfrm>
          <a:prstGeom prst="ellipse">
            <a:avLst/>
          </a:prstGeom>
          <a:solidFill>
            <a:srgbClr val="1565D8"/>
          </a:solidFill>
          <a:ln w="12700">
            <a:solidFill>
              <a:srgbClr val="1565D8"/>
            </a:solidFill>
            <a:prstDash val="solid"/>
          </a:ln>
        </p:spPr>
      </p:sp>
      <p:pic>
        <p:nvPicPr>
          <p:cNvPr id="17" name="icon-243"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244"/>
          <p:cNvSpPr txBox="1"/>
          <p:nvPr/>
        </p:nvSpPr>
        <p:spPr>
          <a:xfrm>
            <a:off x="1316736" y="1700784"/>
            <a:ext cx="4449928" cy="2161032"/>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O postare, 4 poze = toată povestea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1. Înainte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2. Procesul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3. După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4. Luciul</a:t>
            </a:r>
            <a:endParaRPr lang="en-US" sz="1600" dirty="0"/>
          </a:p>
        </p:txBody>
      </p:sp>
      <p:sp>
        <p:nvSpPr>
          <p:cNvPr id="19" name="card-245"/>
          <p:cNvSpPr/>
          <p:nvPr/>
        </p:nvSpPr>
        <p:spPr>
          <a:xfrm>
            <a:off x="6278728" y="1572768"/>
            <a:ext cx="5364328" cy="1345692"/>
          </a:xfrm>
          <a:prstGeom prst="roundRect">
            <a:avLst>
              <a:gd name="adj" fmla="val 6795"/>
            </a:avLst>
          </a:prstGeom>
          <a:solidFill>
            <a:srgbClr val="EFF4FC"/>
          </a:solidFill>
          <a:ln w="12700">
            <a:solidFill>
              <a:srgbClr val="CCDDF6"/>
            </a:solidFill>
            <a:prstDash val="solid"/>
          </a:ln>
        </p:spPr>
      </p:sp>
      <p:sp>
        <p:nvSpPr>
          <p:cNvPr id="20" name="iconbg-246"/>
          <p:cNvSpPr/>
          <p:nvPr/>
        </p:nvSpPr>
        <p:spPr>
          <a:xfrm>
            <a:off x="6425032" y="1719072"/>
            <a:ext cx="457200" cy="457200"/>
          </a:xfrm>
          <a:prstGeom prst="ellipse">
            <a:avLst/>
          </a:prstGeom>
          <a:solidFill>
            <a:srgbClr val="1565D8"/>
          </a:solidFill>
          <a:ln w="12700">
            <a:solidFill>
              <a:srgbClr val="1565D8"/>
            </a:solidFill>
            <a:prstDash val="solid"/>
          </a:ln>
        </p:spPr>
      </p:sp>
      <p:pic>
        <p:nvPicPr>
          <p:cNvPr id="21" name="icon-247" descr="preencoded.png">    </p:cNvPr>
          <p:cNvPicPr>
            <a:picLocks noChangeAspect="1"/>
          </p:cNvPicPr>
          <p:nvPr/>
        </p:nvPicPr>
        <p:blipFill>
          <a:blip r:embed="rId11"/>
          <a:stretch>
            <a:fillRect/>
          </a:stretch>
        </p:blipFill>
        <p:spPr>
          <a:xfrm>
            <a:off x="6525616" y="1819656"/>
            <a:ext cx="256032" cy="256032"/>
          </a:xfrm>
          <a:prstGeom prst="rect">
            <a:avLst/>
          </a:prstGeom>
        </p:spPr>
      </p:pic>
      <p:sp>
        <p:nvSpPr>
          <p:cNvPr id="22" name="text-248"/>
          <p:cNvSpPr txBox="1"/>
          <p:nvPr/>
        </p:nvSpPr>
        <p:spPr>
          <a:xfrm>
            <a:off x="7046824" y="1700784"/>
            <a:ext cx="4449928" cy="1089660"/>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Mai multe poze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Clienta vede drumul, nu doar finalul.</a:t>
            </a:r>
            <a:endParaRPr lang="en-US" sz="1600" dirty="0"/>
          </a:p>
        </p:txBody>
      </p:sp>
      <p:sp>
        <p:nvSpPr>
          <p:cNvPr id="23" name="card-249"/>
          <p:cNvSpPr/>
          <p:nvPr/>
        </p:nvSpPr>
        <p:spPr>
          <a:xfrm>
            <a:off x="6278728" y="3046476"/>
            <a:ext cx="5364328" cy="1345692"/>
          </a:xfrm>
          <a:prstGeom prst="roundRect">
            <a:avLst>
              <a:gd name="adj" fmla="val 6795"/>
            </a:avLst>
          </a:prstGeom>
          <a:solidFill>
            <a:srgbClr val="EFF4FC"/>
          </a:solidFill>
          <a:ln w="12700">
            <a:solidFill>
              <a:srgbClr val="CCDDF6"/>
            </a:solidFill>
            <a:prstDash val="solid"/>
          </a:ln>
        </p:spPr>
      </p:sp>
      <p:sp>
        <p:nvSpPr>
          <p:cNvPr id="24" name="iconbg-250"/>
          <p:cNvSpPr/>
          <p:nvPr/>
        </p:nvSpPr>
        <p:spPr>
          <a:xfrm>
            <a:off x="6425032" y="3192780"/>
            <a:ext cx="457200" cy="457200"/>
          </a:xfrm>
          <a:prstGeom prst="ellipse">
            <a:avLst/>
          </a:prstGeom>
          <a:solidFill>
            <a:srgbClr val="1565D8"/>
          </a:solidFill>
          <a:ln w="12700">
            <a:solidFill>
              <a:srgbClr val="1565D8"/>
            </a:solidFill>
            <a:prstDash val="solid"/>
          </a:ln>
        </p:spPr>
      </p:sp>
      <p:pic>
        <p:nvPicPr>
          <p:cNvPr id="25" name="icon-251" descr="preencoded.png">    </p:cNvPr>
          <p:cNvPicPr>
            <a:picLocks noChangeAspect="1"/>
          </p:cNvPicPr>
          <p:nvPr/>
        </p:nvPicPr>
        <p:blipFill>
          <a:blip r:embed="rId12"/>
          <a:stretch>
            <a:fillRect/>
          </a:stretch>
        </p:blipFill>
        <p:spPr>
          <a:xfrm>
            <a:off x="6525616" y="3293364"/>
            <a:ext cx="256032" cy="256032"/>
          </a:xfrm>
          <a:prstGeom prst="rect">
            <a:avLst/>
          </a:prstGeom>
        </p:spPr>
      </p:pic>
      <p:sp>
        <p:nvSpPr>
          <p:cNvPr id="26" name="text-252"/>
          <p:cNvSpPr txBox="1"/>
          <p:nvPr/>
        </p:nvSpPr>
        <p:spPr>
          <a:xfrm>
            <a:off x="7046824" y="3174492"/>
            <a:ext cx="4449928" cy="1089660"/>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Video scurte (Reels)</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Același Reel și pe Instagram, și pe pagină.</a:t>
            </a:r>
            <a:endParaRPr lang="en-US" sz="1600" dirty="0"/>
          </a:p>
        </p:txBody>
      </p:sp>
      <p:sp>
        <p:nvSpPr>
          <p:cNvPr id="27" name="card-253"/>
          <p:cNvSpPr/>
          <p:nvPr/>
        </p:nvSpPr>
        <p:spPr>
          <a:xfrm>
            <a:off x="6278728" y="4520184"/>
            <a:ext cx="5364328" cy="1345692"/>
          </a:xfrm>
          <a:prstGeom prst="roundRect">
            <a:avLst>
              <a:gd name="adj" fmla="val 6795"/>
            </a:avLst>
          </a:prstGeom>
          <a:solidFill>
            <a:srgbClr val="EFF4FC"/>
          </a:solidFill>
          <a:ln w="12700">
            <a:solidFill>
              <a:srgbClr val="CCDDF6"/>
            </a:solidFill>
            <a:prstDash val="solid"/>
          </a:ln>
        </p:spPr>
      </p:sp>
      <p:sp>
        <p:nvSpPr>
          <p:cNvPr id="28" name="iconbg-254"/>
          <p:cNvSpPr/>
          <p:nvPr/>
        </p:nvSpPr>
        <p:spPr>
          <a:xfrm>
            <a:off x="6425032" y="4666488"/>
            <a:ext cx="457200" cy="457200"/>
          </a:xfrm>
          <a:prstGeom prst="ellipse">
            <a:avLst/>
          </a:prstGeom>
          <a:solidFill>
            <a:srgbClr val="1565D8"/>
          </a:solidFill>
          <a:ln w="12700">
            <a:solidFill>
              <a:srgbClr val="1565D8"/>
            </a:solidFill>
            <a:prstDash val="solid"/>
          </a:ln>
        </p:spPr>
      </p:sp>
      <p:pic>
        <p:nvPicPr>
          <p:cNvPr id="29" name="icon-255" descr="preencoded.png">    </p:cNvPr>
          <p:cNvPicPr>
            <a:picLocks noChangeAspect="1"/>
          </p:cNvPicPr>
          <p:nvPr/>
        </p:nvPicPr>
        <p:blipFill>
          <a:blip r:embed="rId13"/>
          <a:stretch>
            <a:fillRect/>
          </a:stretch>
        </p:blipFill>
        <p:spPr>
          <a:xfrm>
            <a:off x="6525616" y="4767072"/>
            <a:ext cx="256032" cy="256032"/>
          </a:xfrm>
          <a:prstGeom prst="rect">
            <a:avLst/>
          </a:prstGeom>
        </p:spPr>
      </p:pic>
      <p:sp>
        <p:nvSpPr>
          <p:cNvPr id="30" name="text-256"/>
          <p:cNvSpPr txBox="1"/>
          <p:nvPr/>
        </p:nvSpPr>
        <p:spPr>
          <a:xfrm>
            <a:off x="7046824" y="4648200"/>
            <a:ext cx="4449928" cy="1089660"/>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Interacțiuni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O întrebare în text + răspuns la fiecare comentariu.</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watermark-257"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258" descr="Facebook">    </p:cNvPr>
          <p:cNvPicPr>
            <a:picLocks noChangeAspect="1"/>
          </p:cNvPicPr>
          <p:nvPr/>
        </p:nvPicPr>
        <p:blipFill>
          <a:blip r:embed="rId2"/>
          <a:stretch>
            <a:fillRect/>
          </a:stretch>
        </p:blipFill>
        <p:spPr>
          <a:xfrm>
            <a:off x="548640" y="329184"/>
            <a:ext cx="384048" cy="384048"/>
          </a:xfrm>
          <a:prstGeom prst="rect">
            <a:avLst/>
          </a:prstGeom>
        </p:spPr>
      </p:pic>
      <p:sp>
        <p:nvSpPr>
          <p:cNvPr id="4" name="text-259"/>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1565D8"/>
                </a:solidFill>
                <a:latin typeface="Arial" pitchFamily="34" charset="0"/>
                <a:ea typeface="Arial" pitchFamily="34" charset="-122"/>
                <a:cs typeface="Arial" pitchFamily="34" charset="-120"/>
              </a:rPr>
              <a:t>FACEBOOK</a:t>
            </a:r>
            <a:endParaRPr lang="en-US" sz="1500" dirty="0"/>
          </a:p>
        </p:txBody>
      </p:sp>
      <p:sp>
        <p:nvSpPr>
          <p:cNvPr id="5" name="text-260"/>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Cliente din zona ta: 4 sfaturi locale</a:t>
            </a:r>
            <a:endParaRPr lang="en-US" sz="3200" dirty="0"/>
          </a:p>
        </p:txBody>
      </p:sp>
      <p:sp>
        <p:nvSpPr>
          <p:cNvPr id="6" name="nav-261">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262">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263">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264">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265">
            <a:hlinkClick r:id="rId7" tooltip="Facebook" action="ppaction://hlinksldjump"/>
          </p:cNvPr>
          <p:cNvSpPr/>
          <p:nvPr/>
        </p:nvSpPr>
        <p:spPr>
          <a:xfrm>
            <a:off x="6760159" y="365760"/>
            <a:ext cx="950976" cy="310896"/>
          </a:xfrm>
          <a:prstGeom prst="roundRect">
            <a:avLst>
              <a:gd name="adj" fmla="val 50000"/>
            </a:avLst>
          </a:prstGeom>
          <a:solidFill>
            <a:srgbClr val="1565D8"/>
          </a:solidFill>
          <a:ln w="12700">
            <a:solidFill>
              <a:srgbClr val="1565D8"/>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266">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267"/>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268"/>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1565D8"/>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269"/>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10</a:t>
            </a:r>
            <a:endParaRPr lang="en-US" sz="1000" dirty="0"/>
          </a:p>
        </p:txBody>
      </p:sp>
      <p:sp>
        <p:nvSpPr>
          <p:cNvPr id="15" name="card-270"/>
          <p:cNvSpPr/>
          <p:nvPr/>
        </p:nvSpPr>
        <p:spPr>
          <a:xfrm>
            <a:off x="548640" y="1572768"/>
            <a:ext cx="5364328" cy="1030986"/>
          </a:xfrm>
          <a:prstGeom prst="roundRect">
            <a:avLst>
              <a:gd name="adj" fmla="val 8869"/>
            </a:avLst>
          </a:prstGeom>
          <a:solidFill>
            <a:srgbClr val="EFF4FC"/>
          </a:solidFill>
          <a:ln w="12700">
            <a:solidFill>
              <a:srgbClr val="CCDDF6"/>
            </a:solidFill>
            <a:prstDash val="solid"/>
          </a:ln>
        </p:spPr>
      </p:sp>
      <p:sp>
        <p:nvSpPr>
          <p:cNvPr id="16" name="iconbg-271"/>
          <p:cNvSpPr/>
          <p:nvPr/>
        </p:nvSpPr>
        <p:spPr>
          <a:xfrm>
            <a:off x="694944" y="1719072"/>
            <a:ext cx="457200" cy="457200"/>
          </a:xfrm>
          <a:prstGeom prst="ellipse">
            <a:avLst/>
          </a:prstGeom>
          <a:solidFill>
            <a:srgbClr val="1565D8"/>
          </a:solidFill>
          <a:ln w="12700">
            <a:solidFill>
              <a:srgbClr val="1565D8"/>
            </a:solidFill>
            <a:prstDash val="solid"/>
          </a:ln>
        </p:spPr>
      </p:sp>
      <p:pic>
        <p:nvPicPr>
          <p:cNvPr id="17" name="icon-272"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273"/>
          <p:cNvSpPr txBox="1"/>
          <p:nvPr/>
        </p:nvSpPr>
        <p:spPr>
          <a:xfrm>
            <a:off x="1316736" y="1700784"/>
            <a:ext cx="4449928" cy="774954"/>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Oraș + cartier + locație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„Blond rece, Cluj, Mărăști”</a:t>
            </a:r>
            <a:endParaRPr lang="en-US" sz="1600" dirty="0"/>
          </a:p>
        </p:txBody>
      </p:sp>
      <p:sp>
        <p:nvSpPr>
          <p:cNvPr id="19" name="card-274"/>
          <p:cNvSpPr/>
          <p:nvPr/>
        </p:nvSpPr>
        <p:spPr>
          <a:xfrm>
            <a:off x="548640" y="2731770"/>
            <a:ext cx="5364328" cy="1345692"/>
          </a:xfrm>
          <a:prstGeom prst="roundRect">
            <a:avLst>
              <a:gd name="adj" fmla="val 6795"/>
            </a:avLst>
          </a:prstGeom>
          <a:solidFill>
            <a:srgbClr val="EFF4FC"/>
          </a:solidFill>
          <a:ln w="12700">
            <a:solidFill>
              <a:srgbClr val="CCDDF6"/>
            </a:solidFill>
            <a:prstDash val="solid"/>
          </a:ln>
        </p:spPr>
      </p:sp>
      <p:sp>
        <p:nvSpPr>
          <p:cNvPr id="20" name="iconbg-275"/>
          <p:cNvSpPr/>
          <p:nvPr/>
        </p:nvSpPr>
        <p:spPr>
          <a:xfrm>
            <a:off x="694944" y="2878074"/>
            <a:ext cx="457200" cy="457200"/>
          </a:xfrm>
          <a:prstGeom prst="ellipse">
            <a:avLst/>
          </a:prstGeom>
          <a:solidFill>
            <a:srgbClr val="1565D8"/>
          </a:solidFill>
          <a:ln w="12700">
            <a:solidFill>
              <a:srgbClr val="1565D8"/>
            </a:solidFill>
            <a:prstDash val="solid"/>
          </a:ln>
        </p:spPr>
      </p:sp>
      <p:pic>
        <p:nvPicPr>
          <p:cNvPr id="21" name="icon-276" descr="preencoded.png">    </p:cNvPr>
          <p:cNvPicPr>
            <a:picLocks noChangeAspect="1"/>
          </p:cNvPicPr>
          <p:nvPr/>
        </p:nvPicPr>
        <p:blipFill>
          <a:blip r:embed="rId11"/>
          <a:stretch>
            <a:fillRect/>
          </a:stretch>
        </p:blipFill>
        <p:spPr>
          <a:xfrm>
            <a:off x="795528" y="2978658"/>
            <a:ext cx="256032" cy="256032"/>
          </a:xfrm>
          <a:prstGeom prst="rect">
            <a:avLst/>
          </a:prstGeom>
        </p:spPr>
      </p:pic>
      <p:sp>
        <p:nvSpPr>
          <p:cNvPr id="22" name="text-277"/>
          <p:cNvSpPr txBox="1"/>
          <p:nvPr/>
        </p:nvSpPr>
        <p:spPr>
          <a:xfrm>
            <a:off x="1316736" y="2859786"/>
            <a:ext cx="4449928" cy="1089660"/>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Grupuri locale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Doar unde regulile permit reclamă.</a:t>
            </a:r>
            <a:endParaRPr lang="en-US" sz="1600" dirty="0"/>
          </a:p>
        </p:txBody>
      </p:sp>
      <p:sp>
        <p:nvSpPr>
          <p:cNvPr id="23" name="card-278"/>
          <p:cNvSpPr/>
          <p:nvPr/>
        </p:nvSpPr>
        <p:spPr>
          <a:xfrm>
            <a:off x="6278728" y="1572768"/>
            <a:ext cx="5364328" cy="1030986"/>
          </a:xfrm>
          <a:prstGeom prst="roundRect">
            <a:avLst>
              <a:gd name="adj" fmla="val 8869"/>
            </a:avLst>
          </a:prstGeom>
          <a:solidFill>
            <a:srgbClr val="EFF4FC"/>
          </a:solidFill>
          <a:ln w="12700">
            <a:solidFill>
              <a:srgbClr val="CCDDF6"/>
            </a:solidFill>
            <a:prstDash val="solid"/>
          </a:ln>
        </p:spPr>
      </p:sp>
      <p:sp>
        <p:nvSpPr>
          <p:cNvPr id="24" name="iconbg-279"/>
          <p:cNvSpPr/>
          <p:nvPr/>
        </p:nvSpPr>
        <p:spPr>
          <a:xfrm>
            <a:off x="6425032" y="1719072"/>
            <a:ext cx="457200" cy="457200"/>
          </a:xfrm>
          <a:prstGeom prst="ellipse">
            <a:avLst/>
          </a:prstGeom>
          <a:solidFill>
            <a:srgbClr val="1565D8"/>
          </a:solidFill>
          <a:ln w="12700">
            <a:solidFill>
              <a:srgbClr val="1565D8"/>
            </a:solidFill>
            <a:prstDash val="solid"/>
          </a:ln>
        </p:spPr>
      </p:sp>
      <p:pic>
        <p:nvPicPr>
          <p:cNvPr id="25" name="icon-280" descr="preencoded.png">    </p:cNvPr>
          <p:cNvPicPr>
            <a:picLocks noChangeAspect="1"/>
          </p:cNvPicPr>
          <p:nvPr/>
        </p:nvPicPr>
        <p:blipFill>
          <a:blip r:embed="rId12"/>
          <a:stretch>
            <a:fillRect/>
          </a:stretch>
        </p:blipFill>
        <p:spPr>
          <a:xfrm>
            <a:off x="6525616" y="1819656"/>
            <a:ext cx="256032" cy="256032"/>
          </a:xfrm>
          <a:prstGeom prst="rect">
            <a:avLst/>
          </a:prstGeom>
        </p:spPr>
      </p:pic>
      <p:sp>
        <p:nvSpPr>
          <p:cNvPr id="26" name="text-281"/>
          <p:cNvSpPr txBox="1"/>
          <p:nvPr/>
        </p:nvSpPr>
        <p:spPr>
          <a:xfrm>
            <a:off x="7046824" y="1700784"/>
            <a:ext cx="4449928" cy="774954"/>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Recomandări pe pagină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Cere-le clientelor mulțumite.</a:t>
            </a:r>
            <a:endParaRPr lang="en-US" sz="1600" dirty="0"/>
          </a:p>
        </p:txBody>
      </p:sp>
      <p:sp>
        <p:nvSpPr>
          <p:cNvPr id="27" name="card-282"/>
          <p:cNvSpPr/>
          <p:nvPr/>
        </p:nvSpPr>
        <p:spPr>
          <a:xfrm>
            <a:off x="6278728" y="2731770"/>
            <a:ext cx="5364328" cy="1345692"/>
          </a:xfrm>
          <a:prstGeom prst="roundRect">
            <a:avLst>
              <a:gd name="adj" fmla="val 6795"/>
            </a:avLst>
          </a:prstGeom>
          <a:solidFill>
            <a:srgbClr val="EFF4FC"/>
          </a:solidFill>
          <a:ln w="12700">
            <a:solidFill>
              <a:srgbClr val="CCDDF6"/>
            </a:solidFill>
            <a:prstDash val="solid"/>
          </a:ln>
        </p:spPr>
      </p:sp>
      <p:sp>
        <p:nvSpPr>
          <p:cNvPr id="28" name="iconbg-283"/>
          <p:cNvSpPr/>
          <p:nvPr/>
        </p:nvSpPr>
        <p:spPr>
          <a:xfrm>
            <a:off x="6425032" y="2878074"/>
            <a:ext cx="457200" cy="457200"/>
          </a:xfrm>
          <a:prstGeom prst="ellipse">
            <a:avLst/>
          </a:prstGeom>
          <a:solidFill>
            <a:srgbClr val="1565D8"/>
          </a:solidFill>
          <a:ln w="12700">
            <a:solidFill>
              <a:srgbClr val="1565D8"/>
            </a:solidFill>
            <a:prstDash val="solid"/>
          </a:ln>
        </p:spPr>
      </p:sp>
      <p:pic>
        <p:nvPicPr>
          <p:cNvPr id="29" name="icon-284" descr="preencoded.png">    </p:cNvPr>
          <p:cNvPicPr>
            <a:picLocks noChangeAspect="1"/>
          </p:cNvPicPr>
          <p:nvPr/>
        </p:nvPicPr>
        <p:blipFill>
          <a:blip r:embed="rId13"/>
          <a:stretch>
            <a:fillRect/>
          </a:stretch>
        </p:blipFill>
        <p:spPr>
          <a:xfrm>
            <a:off x="6525616" y="2978658"/>
            <a:ext cx="256032" cy="256032"/>
          </a:xfrm>
          <a:prstGeom prst="rect">
            <a:avLst/>
          </a:prstGeom>
        </p:spPr>
      </p:pic>
      <p:sp>
        <p:nvSpPr>
          <p:cNvPr id="30" name="text-285"/>
          <p:cNvSpPr txBox="1"/>
          <p:nvPr/>
        </p:nvSpPr>
        <p:spPr>
          <a:xfrm>
            <a:off x="7046824" y="2859786"/>
            <a:ext cx="4449928" cy="1089660"/>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Etichetează clienta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Cu acordul ei: prietenele ei sunt din zonă.</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watermark-286"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287" descr="Instagram">    </p:cNvPr>
          <p:cNvPicPr>
            <a:picLocks noChangeAspect="1"/>
          </p:cNvPicPr>
          <p:nvPr/>
        </p:nvPicPr>
        <p:blipFill>
          <a:blip r:embed="rId2"/>
          <a:stretch>
            <a:fillRect/>
          </a:stretch>
        </p:blipFill>
        <p:spPr>
          <a:xfrm>
            <a:off x="548640" y="329184"/>
            <a:ext cx="384048" cy="384048"/>
          </a:xfrm>
          <a:prstGeom prst="rect">
            <a:avLst/>
          </a:prstGeom>
        </p:spPr>
      </p:pic>
      <p:sp>
        <p:nvSpPr>
          <p:cNvPr id="4" name="text-288"/>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B0124F"/>
                </a:solidFill>
                <a:latin typeface="Arial" pitchFamily="34" charset="0"/>
                <a:ea typeface="Arial" pitchFamily="34" charset="-122"/>
                <a:cs typeface="Arial" pitchFamily="34" charset="-120"/>
              </a:rPr>
              <a:t>INSTAGRAM</a:t>
            </a:r>
            <a:endParaRPr lang="en-US" sz="1500" dirty="0"/>
          </a:p>
        </p:txBody>
      </p:sp>
      <p:sp>
        <p:nvSpPr>
          <p:cNvPr id="5" name="text-289"/>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Story, Reels sau postare?</a:t>
            </a:r>
            <a:endParaRPr lang="en-US" sz="3200" dirty="0"/>
          </a:p>
        </p:txBody>
      </p:sp>
      <p:sp>
        <p:nvSpPr>
          <p:cNvPr id="6" name="nav-290">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291">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292">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293">
            <a:hlinkClick r:id="rId6" tooltip="Instagram" action="ppaction://hlinksldjump"/>
          </p:cNvPr>
          <p:cNvSpPr/>
          <p:nvPr/>
        </p:nvSpPr>
        <p:spPr>
          <a:xfrm>
            <a:off x="7784287" y="365760"/>
            <a:ext cx="1033272" cy="310896"/>
          </a:xfrm>
          <a:prstGeom prst="roundRect">
            <a:avLst>
              <a:gd name="adj" fmla="val 50000"/>
            </a:avLst>
          </a:prstGeom>
          <a:solidFill>
            <a:srgbClr val="B0124F"/>
          </a:solidFill>
          <a:ln w="12700">
            <a:solidFill>
              <a:srgbClr val="B0124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294">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295">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296"/>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297"/>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B0124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298"/>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11</a:t>
            </a:r>
            <a:endParaRPr lang="en-US" sz="1000" dirty="0"/>
          </a:p>
        </p:txBody>
      </p:sp>
      <p:sp>
        <p:nvSpPr>
          <p:cNvPr id="15" name="card-299"/>
          <p:cNvSpPr/>
          <p:nvPr/>
        </p:nvSpPr>
        <p:spPr>
          <a:xfrm>
            <a:off x="548640" y="1572768"/>
            <a:ext cx="5410048" cy="1600454"/>
          </a:xfrm>
          <a:prstGeom prst="roundRect">
            <a:avLst>
              <a:gd name="adj" fmla="val 5713"/>
            </a:avLst>
          </a:prstGeom>
          <a:solidFill>
            <a:srgbClr val="F9EEF3"/>
          </a:solidFill>
          <a:ln w="12700">
            <a:solidFill>
              <a:srgbClr val="EECBD8"/>
            </a:solidFill>
            <a:prstDash val="solid"/>
          </a:ln>
        </p:spPr>
      </p:sp>
      <p:sp>
        <p:nvSpPr>
          <p:cNvPr id="16" name="iconbg-300"/>
          <p:cNvSpPr/>
          <p:nvPr/>
        </p:nvSpPr>
        <p:spPr>
          <a:xfrm>
            <a:off x="694944" y="1719072"/>
            <a:ext cx="457200" cy="457200"/>
          </a:xfrm>
          <a:prstGeom prst="ellipse">
            <a:avLst/>
          </a:prstGeom>
          <a:solidFill>
            <a:srgbClr val="B0124F"/>
          </a:solidFill>
          <a:ln w="12700">
            <a:solidFill>
              <a:srgbClr val="B0124F"/>
            </a:solidFill>
            <a:prstDash val="solid"/>
          </a:ln>
        </p:spPr>
      </p:sp>
      <p:pic>
        <p:nvPicPr>
          <p:cNvPr id="17" name="icon-301"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302"/>
          <p:cNvSpPr txBox="1"/>
          <p:nvPr/>
        </p:nvSpPr>
        <p:spPr>
          <a:xfrm>
            <a:off x="1316736" y="1700784"/>
            <a:ext cx="4495648" cy="1344422"/>
          </a:xfrm>
          <a:prstGeom prst="rect">
            <a:avLst/>
          </a:prstGeom>
          <a:noFill/>
          <a:ln/>
        </p:spPr>
        <p:txBody>
          <a:bodyPr wrap="square" lIns="0" tIns="0" rIns="0" bIns="0" rtlCol="0" anchor="t"/>
          <a:lstStyle/>
          <a:p>
            <a:pPr indent="0" marL="0">
              <a:spcAft>
                <a:spcPts val="200"/>
              </a:spcAft>
              <a:buNone/>
            </a:pPr>
            <a:r>
              <a:rPr lang="en-US" sz="2300" b="1" dirty="0">
                <a:solidFill>
                  <a:srgbClr val="B0124F"/>
                </a:solidFill>
                <a:latin typeface="Arial" pitchFamily="34" charset="0"/>
                <a:ea typeface="Arial" pitchFamily="34" charset="-122"/>
                <a:cs typeface="Arial" pitchFamily="34" charset="-120"/>
              </a:rPr>
              <a:t>Story: ține clientele aproape</a:t>
            </a:r>
            <a:endParaRPr lang="en-US" sz="1600" dirty="0"/>
          </a:p>
          <a:p>
            <a:pPr indent="0" marL="0">
              <a:spcAft>
                <a:spcPts val="200"/>
              </a:spcAft>
              <a:buNone/>
            </a:pPr>
            <a:r>
              <a:rPr lang="en-US" sz="2000" dirty="0">
                <a:solidFill>
                  <a:srgbClr val="3D3D3D"/>
                </a:solidFill>
                <a:latin typeface="Arial" pitchFamily="34" charset="0"/>
                <a:ea typeface="Arial" pitchFamily="34" charset="-122"/>
                <a:cs typeface="Arial" pitchFamily="34" charset="-120"/>
              </a:rPr>
              <a:t>24 de ore. Salvat la Evidențiate. Culise, sondaje („Rece sau cald?”), locuri libere.</a:t>
            </a:r>
            <a:endParaRPr lang="en-US" sz="1600" dirty="0"/>
          </a:p>
        </p:txBody>
      </p:sp>
      <p:sp>
        <p:nvSpPr>
          <p:cNvPr id="19" name="card-303"/>
          <p:cNvSpPr/>
          <p:nvPr/>
        </p:nvSpPr>
        <p:spPr>
          <a:xfrm>
            <a:off x="6233008" y="1572768"/>
            <a:ext cx="5410048" cy="1600454"/>
          </a:xfrm>
          <a:prstGeom prst="roundRect">
            <a:avLst>
              <a:gd name="adj" fmla="val 5713"/>
            </a:avLst>
          </a:prstGeom>
          <a:solidFill>
            <a:srgbClr val="F9EEF3"/>
          </a:solidFill>
          <a:ln w="12700">
            <a:solidFill>
              <a:srgbClr val="EECBD8"/>
            </a:solidFill>
            <a:prstDash val="solid"/>
          </a:ln>
        </p:spPr>
      </p:sp>
      <p:sp>
        <p:nvSpPr>
          <p:cNvPr id="20" name="iconbg-304"/>
          <p:cNvSpPr/>
          <p:nvPr/>
        </p:nvSpPr>
        <p:spPr>
          <a:xfrm>
            <a:off x="6379312" y="1719072"/>
            <a:ext cx="457200" cy="457200"/>
          </a:xfrm>
          <a:prstGeom prst="ellipse">
            <a:avLst/>
          </a:prstGeom>
          <a:solidFill>
            <a:srgbClr val="B0124F"/>
          </a:solidFill>
          <a:ln w="12700">
            <a:solidFill>
              <a:srgbClr val="B0124F"/>
            </a:solidFill>
            <a:prstDash val="solid"/>
          </a:ln>
        </p:spPr>
      </p:sp>
      <p:pic>
        <p:nvPicPr>
          <p:cNvPr id="21" name="icon-305" descr="preencoded.png">    </p:cNvPr>
          <p:cNvPicPr>
            <a:picLocks noChangeAspect="1"/>
          </p:cNvPicPr>
          <p:nvPr/>
        </p:nvPicPr>
        <p:blipFill>
          <a:blip r:embed="rId11"/>
          <a:stretch>
            <a:fillRect/>
          </a:stretch>
        </p:blipFill>
        <p:spPr>
          <a:xfrm>
            <a:off x="6479896" y="1819656"/>
            <a:ext cx="256032" cy="256032"/>
          </a:xfrm>
          <a:prstGeom prst="rect">
            <a:avLst/>
          </a:prstGeom>
        </p:spPr>
      </p:pic>
      <p:sp>
        <p:nvSpPr>
          <p:cNvPr id="22" name="text-306"/>
          <p:cNvSpPr txBox="1"/>
          <p:nvPr/>
        </p:nvSpPr>
        <p:spPr>
          <a:xfrm>
            <a:off x="7001104" y="1700784"/>
            <a:ext cx="4495648" cy="1344422"/>
          </a:xfrm>
          <a:prstGeom prst="rect">
            <a:avLst/>
          </a:prstGeom>
          <a:noFill/>
          <a:ln/>
        </p:spPr>
        <p:txBody>
          <a:bodyPr wrap="square" lIns="0" tIns="0" rIns="0" bIns="0" rtlCol="0" anchor="t"/>
          <a:lstStyle/>
          <a:p>
            <a:pPr indent="0" marL="0">
              <a:spcAft>
                <a:spcPts val="200"/>
              </a:spcAft>
              <a:buNone/>
            </a:pPr>
            <a:r>
              <a:rPr lang="en-US" sz="2300" b="1" dirty="0">
                <a:solidFill>
                  <a:srgbClr val="B0124F"/>
                </a:solidFill>
                <a:latin typeface="Arial" pitchFamily="34" charset="0"/>
                <a:ea typeface="Arial" pitchFamily="34" charset="-122"/>
                <a:cs typeface="Arial" pitchFamily="34" charset="-120"/>
              </a:rPr>
              <a:t>Reels: aduc oameni noi</a:t>
            </a:r>
            <a:endParaRPr lang="en-US" sz="1600" dirty="0"/>
          </a:p>
          <a:p>
            <a:pPr indent="0" marL="0">
              <a:spcAft>
                <a:spcPts val="200"/>
              </a:spcAft>
              <a:buNone/>
            </a:pPr>
            <a:r>
              <a:rPr lang="en-US" sz="2000" dirty="0">
                <a:solidFill>
                  <a:srgbClr val="3D3D3D"/>
                </a:solidFill>
                <a:latin typeface="Arial" pitchFamily="34" charset="0"/>
                <a:ea typeface="Arial" pitchFamily="34" charset="-122"/>
                <a:cs typeface="Arial" pitchFamily="34" charset="-120"/>
              </a:rPr>
              <a:t>Video vertical. Ajunge și la cine nu te urmărește. Transformări.</a:t>
            </a:r>
            <a:endParaRPr lang="en-US" sz="1600" dirty="0"/>
          </a:p>
        </p:txBody>
      </p:sp>
      <p:sp>
        <p:nvSpPr>
          <p:cNvPr id="23" name="card-307"/>
          <p:cNvSpPr/>
          <p:nvPr/>
        </p:nvSpPr>
        <p:spPr>
          <a:xfrm>
            <a:off x="548640" y="3301238"/>
            <a:ext cx="5410048" cy="1600454"/>
          </a:xfrm>
          <a:prstGeom prst="roundRect">
            <a:avLst>
              <a:gd name="adj" fmla="val 5713"/>
            </a:avLst>
          </a:prstGeom>
          <a:solidFill>
            <a:srgbClr val="F9EEF3"/>
          </a:solidFill>
          <a:ln w="12700">
            <a:solidFill>
              <a:srgbClr val="EECBD8"/>
            </a:solidFill>
            <a:prstDash val="solid"/>
          </a:ln>
        </p:spPr>
      </p:sp>
      <p:sp>
        <p:nvSpPr>
          <p:cNvPr id="24" name="iconbg-308"/>
          <p:cNvSpPr/>
          <p:nvPr/>
        </p:nvSpPr>
        <p:spPr>
          <a:xfrm>
            <a:off x="694944" y="3447542"/>
            <a:ext cx="457200" cy="457200"/>
          </a:xfrm>
          <a:prstGeom prst="ellipse">
            <a:avLst/>
          </a:prstGeom>
          <a:solidFill>
            <a:srgbClr val="B0124F"/>
          </a:solidFill>
          <a:ln w="12700">
            <a:solidFill>
              <a:srgbClr val="B0124F"/>
            </a:solidFill>
            <a:prstDash val="solid"/>
          </a:ln>
        </p:spPr>
      </p:sp>
      <p:pic>
        <p:nvPicPr>
          <p:cNvPr id="25" name="icon-309" descr="preencoded.png">    </p:cNvPr>
          <p:cNvPicPr>
            <a:picLocks noChangeAspect="1"/>
          </p:cNvPicPr>
          <p:nvPr/>
        </p:nvPicPr>
        <p:blipFill>
          <a:blip r:embed="rId12"/>
          <a:stretch>
            <a:fillRect/>
          </a:stretch>
        </p:blipFill>
        <p:spPr>
          <a:xfrm>
            <a:off x="795528" y="3548126"/>
            <a:ext cx="256032" cy="256032"/>
          </a:xfrm>
          <a:prstGeom prst="rect">
            <a:avLst/>
          </a:prstGeom>
        </p:spPr>
      </p:pic>
      <p:sp>
        <p:nvSpPr>
          <p:cNvPr id="26" name="text-310"/>
          <p:cNvSpPr txBox="1"/>
          <p:nvPr/>
        </p:nvSpPr>
        <p:spPr>
          <a:xfrm>
            <a:off x="1316736" y="3429254"/>
            <a:ext cx="4495648" cy="1344422"/>
          </a:xfrm>
          <a:prstGeom prst="rect">
            <a:avLst/>
          </a:prstGeom>
          <a:noFill/>
          <a:ln/>
        </p:spPr>
        <p:txBody>
          <a:bodyPr wrap="square" lIns="0" tIns="0" rIns="0" bIns="0" rtlCol="0" anchor="t"/>
          <a:lstStyle/>
          <a:p>
            <a:pPr indent="0" marL="0">
              <a:spcAft>
                <a:spcPts val="200"/>
              </a:spcAft>
              <a:buNone/>
            </a:pPr>
            <a:r>
              <a:rPr lang="en-US" sz="2300" b="1" dirty="0">
                <a:solidFill>
                  <a:srgbClr val="B0124F"/>
                </a:solidFill>
                <a:latin typeface="Arial" pitchFamily="34" charset="0"/>
                <a:ea typeface="Arial" pitchFamily="34" charset="-122"/>
                <a:cs typeface="Arial" pitchFamily="34" charset="-120"/>
              </a:rPr>
              <a:t>Postare: portofoliul tău</a:t>
            </a:r>
            <a:endParaRPr lang="en-US" sz="1600" dirty="0"/>
          </a:p>
          <a:p>
            <a:pPr indent="0" marL="0">
              <a:spcAft>
                <a:spcPts val="200"/>
              </a:spcAft>
              <a:buNone/>
            </a:pPr>
            <a:r>
              <a:rPr lang="en-US" sz="2000" dirty="0">
                <a:solidFill>
                  <a:srgbClr val="3D3D3D"/>
                </a:solidFill>
                <a:latin typeface="Arial" pitchFamily="34" charset="0"/>
                <a:ea typeface="Arial" pitchFamily="34" charset="-122"/>
                <a:cs typeface="Arial" pitchFamily="34" charset="-120"/>
              </a:rPr>
              <a:t>Foto sau carusel (până la 20). Rămâne pe grilă. Înainte și după, detalii.</a:t>
            </a:r>
            <a:endParaRPr lang="en-US" sz="1600" dirty="0"/>
          </a:p>
        </p:txBody>
      </p:sp>
      <p:sp>
        <p:nvSpPr>
          <p:cNvPr id="27" name="note-311"/>
          <p:cNvSpPr/>
          <p:nvPr/>
        </p:nvSpPr>
        <p:spPr>
          <a:xfrm>
            <a:off x="548640" y="5029708"/>
            <a:ext cx="11094415" cy="574040"/>
          </a:xfrm>
          <a:prstGeom prst="roundRect">
            <a:avLst>
              <a:gd name="adj" fmla="val 15929"/>
            </a:avLst>
          </a:prstGeom>
          <a:solidFill>
            <a:srgbClr val="FFFFFF"/>
          </a:solidFill>
          <a:ln w="19050">
            <a:solidFill>
              <a:srgbClr val="B0124F"/>
            </a:solidFill>
            <a:prstDash val="dash"/>
          </a:ln>
        </p:spPr>
      </p:sp>
      <p:pic>
        <p:nvPicPr>
          <p:cNvPr id="28" name="noteicon-312" descr="preencoded.png">    </p:cNvPr>
          <p:cNvPicPr>
            <a:picLocks noChangeAspect="1"/>
          </p:cNvPicPr>
          <p:nvPr/>
        </p:nvPicPr>
        <p:blipFill>
          <a:blip r:embed="rId13"/>
          <a:stretch>
            <a:fillRect/>
          </a:stretch>
        </p:blipFill>
        <p:spPr>
          <a:xfrm>
            <a:off x="685800" y="5142992"/>
            <a:ext cx="347472" cy="347472"/>
          </a:xfrm>
          <a:prstGeom prst="rect">
            <a:avLst/>
          </a:prstGeom>
        </p:spPr>
      </p:pic>
      <p:sp>
        <p:nvSpPr>
          <p:cNvPr id="29" name="text-313"/>
          <p:cNvSpPr txBox="1"/>
          <p:nvPr/>
        </p:nvSpPr>
        <p:spPr>
          <a:xfrm>
            <a:off x="1143000" y="5121148"/>
            <a:ext cx="10362895" cy="391160"/>
          </a:xfrm>
          <a:prstGeom prst="rect">
            <a:avLst/>
          </a:prstGeom>
          <a:noFill/>
          <a:ln/>
        </p:spPr>
        <p:txBody>
          <a:bodyPr wrap="square" lIns="0" tIns="0" rIns="0" bIns="0" rtlCol="0" anchor="ctr"/>
          <a:lstStyle/>
          <a:p>
            <a:pPr indent="0" marL="0">
              <a:buNone/>
            </a:pPr>
            <a:r>
              <a:rPr lang="en-US" sz="2000" b="1" dirty="0">
                <a:solidFill>
                  <a:srgbClr val="111111"/>
                </a:solidFill>
                <a:latin typeface="Arial" pitchFamily="34" charset="0"/>
                <a:ea typeface="Arial" pitchFamily="34" charset="-122"/>
                <a:cs typeface="Arial" pitchFamily="34" charset="-120"/>
              </a:rPr>
              <a:t>Reels aduce omul. Story-ul îl face clientă. Postarea îl convinge. (Oficial)</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watermark-314"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315" descr="Instagram">    </p:cNvPr>
          <p:cNvPicPr>
            <a:picLocks noChangeAspect="1"/>
          </p:cNvPicPr>
          <p:nvPr/>
        </p:nvPicPr>
        <p:blipFill>
          <a:blip r:embed="rId2"/>
          <a:stretch>
            <a:fillRect/>
          </a:stretch>
        </p:blipFill>
        <p:spPr>
          <a:xfrm>
            <a:off x="548640" y="329184"/>
            <a:ext cx="384048" cy="384048"/>
          </a:xfrm>
          <a:prstGeom prst="rect">
            <a:avLst/>
          </a:prstGeom>
        </p:spPr>
      </p:pic>
      <p:sp>
        <p:nvSpPr>
          <p:cNvPr id="4" name="text-316"/>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B0124F"/>
                </a:solidFill>
                <a:latin typeface="Arial" pitchFamily="34" charset="0"/>
                <a:ea typeface="Arial" pitchFamily="34" charset="-122"/>
                <a:cs typeface="Arial" pitchFamily="34" charset="-120"/>
              </a:rPr>
              <a:t>INSTAGRAM</a:t>
            </a:r>
            <a:endParaRPr lang="en-US" sz="1500" dirty="0"/>
          </a:p>
        </p:txBody>
      </p:sp>
      <p:sp>
        <p:nvSpPr>
          <p:cNvPr id="5" name="text-317"/>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Un profil profesional atractiv</a:t>
            </a:r>
            <a:endParaRPr lang="en-US" sz="3200" dirty="0"/>
          </a:p>
        </p:txBody>
      </p:sp>
      <p:sp>
        <p:nvSpPr>
          <p:cNvPr id="6" name="nav-318">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319">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320">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321">
            <a:hlinkClick r:id="rId6" tooltip="Instagram" action="ppaction://hlinksldjump"/>
          </p:cNvPr>
          <p:cNvSpPr/>
          <p:nvPr/>
        </p:nvSpPr>
        <p:spPr>
          <a:xfrm>
            <a:off x="7784287" y="365760"/>
            <a:ext cx="1033272" cy="310896"/>
          </a:xfrm>
          <a:prstGeom prst="roundRect">
            <a:avLst>
              <a:gd name="adj" fmla="val 50000"/>
            </a:avLst>
          </a:prstGeom>
          <a:solidFill>
            <a:srgbClr val="B0124F"/>
          </a:solidFill>
          <a:ln w="12700">
            <a:solidFill>
              <a:srgbClr val="B0124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322">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323">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324"/>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325"/>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B0124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326"/>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12</a:t>
            </a:r>
            <a:endParaRPr lang="en-US" sz="1000" dirty="0"/>
          </a:p>
        </p:txBody>
      </p:sp>
      <p:sp>
        <p:nvSpPr>
          <p:cNvPr id="15" name="card-327"/>
          <p:cNvSpPr/>
          <p:nvPr/>
        </p:nvSpPr>
        <p:spPr>
          <a:xfrm>
            <a:off x="548640" y="1572768"/>
            <a:ext cx="5364328" cy="2294636"/>
          </a:xfrm>
          <a:prstGeom prst="roundRect">
            <a:avLst>
              <a:gd name="adj" fmla="val 3985"/>
            </a:avLst>
          </a:prstGeom>
          <a:solidFill>
            <a:srgbClr val="F9EEF3"/>
          </a:solidFill>
          <a:ln w="12700">
            <a:solidFill>
              <a:srgbClr val="EECBD8"/>
            </a:solidFill>
            <a:prstDash val="solid"/>
          </a:ln>
        </p:spPr>
      </p:sp>
      <p:sp>
        <p:nvSpPr>
          <p:cNvPr id="16" name="iconbg-328"/>
          <p:cNvSpPr/>
          <p:nvPr/>
        </p:nvSpPr>
        <p:spPr>
          <a:xfrm>
            <a:off x="694944" y="1719072"/>
            <a:ext cx="457200" cy="457200"/>
          </a:xfrm>
          <a:prstGeom prst="ellipse">
            <a:avLst/>
          </a:prstGeom>
          <a:solidFill>
            <a:srgbClr val="B0124F"/>
          </a:solidFill>
          <a:ln w="12700">
            <a:solidFill>
              <a:srgbClr val="B0124F"/>
            </a:solidFill>
            <a:prstDash val="solid"/>
          </a:ln>
        </p:spPr>
      </p:sp>
      <p:pic>
        <p:nvPicPr>
          <p:cNvPr id="17" name="icon-329"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330"/>
          <p:cNvSpPr txBox="1"/>
          <p:nvPr/>
        </p:nvSpPr>
        <p:spPr>
          <a:xfrm>
            <a:off x="1316736" y="1700784"/>
            <a:ext cx="4449928" cy="2038604"/>
          </a:xfrm>
          <a:prstGeom prst="rect">
            <a:avLst/>
          </a:prstGeom>
          <a:noFill/>
          <a:ln/>
        </p:spPr>
        <p:txBody>
          <a:bodyPr wrap="square" lIns="0" tIns="0" rIns="0" bIns="0" rtlCol="0" anchor="t"/>
          <a:lstStyle/>
          <a:p>
            <a:pPr indent="0" marL="0">
              <a:spcAft>
                <a:spcPts val="200"/>
              </a:spcAft>
              <a:buNone/>
            </a:pPr>
            <a:r>
              <a:rPr lang="en-US" sz="2000" b="1" dirty="0">
                <a:solidFill>
                  <a:srgbClr val="B0124F"/>
                </a:solidFill>
                <a:latin typeface="Arial" pitchFamily="34" charset="0"/>
                <a:ea typeface="Arial" pitchFamily="34" charset="-122"/>
                <a:cs typeface="Arial" pitchFamily="34" charset="-120"/>
              </a:rPr>
              <a:t>Exemplu</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Ana · Blonduri reci</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Coafor · Iași</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Blonduri reci, fără galben · balayage</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Programări ↓ link-de-programare</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Evidențiate: Prețuri · Programări · Îngrijire · Recenzii</a:t>
            </a:r>
            <a:endParaRPr lang="en-US" sz="1600" dirty="0"/>
          </a:p>
        </p:txBody>
      </p:sp>
      <p:sp>
        <p:nvSpPr>
          <p:cNvPr id="19" name="card-331"/>
          <p:cNvSpPr/>
          <p:nvPr/>
        </p:nvSpPr>
        <p:spPr>
          <a:xfrm>
            <a:off x="6278728" y="1572768"/>
            <a:ext cx="5364328" cy="911098"/>
          </a:xfrm>
          <a:prstGeom prst="roundRect">
            <a:avLst>
              <a:gd name="adj" fmla="val 10036"/>
            </a:avLst>
          </a:prstGeom>
          <a:solidFill>
            <a:srgbClr val="F9EEF3"/>
          </a:solidFill>
          <a:ln w="12700">
            <a:solidFill>
              <a:srgbClr val="EECBD8"/>
            </a:solidFill>
            <a:prstDash val="solid"/>
          </a:ln>
        </p:spPr>
      </p:sp>
      <p:sp>
        <p:nvSpPr>
          <p:cNvPr id="20" name="iconbg-332"/>
          <p:cNvSpPr/>
          <p:nvPr/>
        </p:nvSpPr>
        <p:spPr>
          <a:xfrm>
            <a:off x="6425032" y="1719072"/>
            <a:ext cx="457200" cy="457200"/>
          </a:xfrm>
          <a:prstGeom prst="ellipse">
            <a:avLst/>
          </a:prstGeom>
          <a:solidFill>
            <a:srgbClr val="B0124F"/>
          </a:solidFill>
          <a:ln w="12700">
            <a:solidFill>
              <a:srgbClr val="B0124F"/>
            </a:solidFill>
            <a:prstDash val="solid"/>
          </a:ln>
        </p:spPr>
      </p:sp>
      <p:pic>
        <p:nvPicPr>
          <p:cNvPr id="21" name="icon-333" descr="preencoded.png">    </p:cNvPr>
          <p:cNvPicPr>
            <a:picLocks noChangeAspect="1"/>
          </p:cNvPicPr>
          <p:nvPr/>
        </p:nvPicPr>
        <p:blipFill>
          <a:blip r:embed="rId11"/>
          <a:stretch>
            <a:fillRect/>
          </a:stretch>
        </p:blipFill>
        <p:spPr>
          <a:xfrm>
            <a:off x="6525616" y="1819656"/>
            <a:ext cx="256032" cy="256032"/>
          </a:xfrm>
          <a:prstGeom prst="rect">
            <a:avLst/>
          </a:prstGeom>
        </p:spPr>
      </p:pic>
      <p:sp>
        <p:nvSpPr>
          <p:cNvPr id="22" name="text-334"/>
          <p:cNvSpPr txBox="1"/>
          <p:nvPr/>
        </p:nvSpPr>
        <p:spPr>
          <a:xfrm>
            <a:off x="7046824" y="1700784"/>
            <a:ext cx="4449928" cy="655066"/>
          </a:xfrm>
          <a:prstGeom prst="rect">
            <a:avLst/>
          </a:prstGeom>
          <a:noFill/>
          <a:ln/>
        </p:spPr>
        <p:txBody>
          <a:bodyPr wrap="square" lIns="0" tIns="0" rIns="0" bIns="0" rtlCol="0" anchor="t"/>
          <a:lstStyle/>
          <a:p>
            <a:pPr indent="0" marL="0">
              <a:spcAft>
                <a:spcPts val="200"/>
              </a:spcAft>
              <a:buNone/>
            </a:pPr>
            <a:r>
              <a:rPr lang="en-US" sz="2000" b="1" dirty="0">
                <a:solidFill>
                  <a:srgbClr val="B0124F"/>
                </a:solidFill>
                <a:latin typeface="Arial" pitchFamily="34" charset="0"/>
                <a:ea typeface="Arial" pitchFamily="34" charset="-122"/>
                <a:cs typeface="Arial" pitchFamily="34" charset="-120"/>
              </a:rPr>
              <a:t>Poză clară</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Tu sau cea mai bună lucrare.</a:t>
            </a:r>
            <a:endParaRPr lang="en-US" sz="1600" dirty="0"/>
          </a:p>
        </p:txBody>
      </p:sp>
      <p:sp>
        <p:nvSpPr>
          <p:cNvPr id="23" name="card-335"/>
          <p:cNvSpPr/>
          <p:nvPr/>
        </p:nvSpPr>
        <p:spPr>
          <a:xfrm>
            <a:off x="6278728" y="2611882"/>
            <a:ext cx="5364328" cy="1165860"/>
          </a:xfrm>
          <a:prstGeom prst="roundRect">
            <a:avLst>
              <a:gd name="adj" fmla="val 7843"/>
            </a:avLst>
          </a:prstGeom>
          <a:solidFill>
            <a:srgbClr val="F9EEF3"/>
          </a:solidFill>
          <a:ln w="12700">
            <a:solidFill>
              <a:srgbClr val="EECBD8"/>
            </a:solidFill>
            <a:prstDash val="solid"/>
          </a:ln>
        </p:spPr>
      </p:sp>
      <p:sp>
        <p:nvSpPr>
          <p:cNvPr id="24" name="iconbg-336"/>
          <p:cNvSpPr/>
          <p:nvPr/>
        </p:nvSpPr>
        <p:spPr>
          <a:xfrm>
            <a:off x="6425032" y="2758186"/>
            <a:ext cx="457200" cy="457200"/>
          </a:xfrm>
          <a:prstGeom prst="ellipse">
            <a:avLst/>
          </a:prstGeom>
          <a:solidFill>
            <a:srgbClr val="B0124F"/>
          </a:solidFill>
          <a:ln w="12700">
            <a:solidFill>
              <a:srgbClr val="B0124F"/>
            </a:solidFill>
            <a:prstDash val="solid"/>
          </a:ln>
        </p:spPr>
      </p:sp>
      <p:pic>
        <p:nvPicPr>
          <p:cNvPr id="25" name="icon-337" descr="preencoded.png">    </p:cNvPr>
          <p:cNvPicPr>
            <a:picLocks noChangeAspect="1"/>
          </p:cNvPicPr>
          <p:nvPr/>
        </p:nvPicPr>
        <p:blipFill>
          <a:blip r:embed="rId12"/>
          <a:stretch>
            <a:fillRect/>
          </a:stretch>
        </p:blipFill>
        <p:spPr>
          <a:xfrm>
            <a:off x="6525616" y="2858770"/>
            <a:ext cx="256032" cy="256032"/>
          </a:xfrm>
          <a:prstGeom prst="rect">
            <a:avLst/>
          </a:prstGeom>
        </p:spPr>
      </p:pic>
      <p:sp>
        <p:nvSpPr>
          <p:cNvPr id="26" name="text-338"/>
          <p:cNvSpPr txBox="1"/>
          <p:nvPr/>
        </p:nvSpPr>
        <p:spPr>
          <a:xfrm>
            <a:off x="7046824" y="2739898"/>
            <a:ext cx="4449928" cy="909828"/>
          </a:xfrm>
          <a:prstGeom prst="rect">
            <a:avLst/>
          </a:prstGeom>
          <a:noFill/>
          <a:ln/>
        </p:spPr>
        <p:txBody>
          <a:bodyPr wrap="square" lIns="0" tIns="0" rIns="0" bIns="0" rtlCol="0" anchor="t"/>
          <a:lstStyle/>
          <a:p>
            <a:pPr indent="0" marL="0">
              <a:spcAft>
                <a:spcPts val="200"/>
              </a:spcAft>
              <a:buNone/>
            </a:pPr>
            <a:r>
              <a:rPr lang="en-US" sz="2000" b="1" dirty="0">
                <a:solidFill>
                  <a:srgbClr val="B0124F"/>
                </a:solidFill>
                <a:latin typeface="Arial" pitchFamily="34" charset="0"/>
                <a:ea typeface="Arial" pitchFamily="34" charset="-122"/>
                <a:cs typeface="Arial" pitchFamily="34" charset="-120"/>
              </a:rPr>
              <a:t>Nume cu nișă și oraș</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Apare în căutare: „Blonduri reci · Iași”.</a:t>
            </a:r>
            <a:endParaRPr lang="en-US" sz="1600" dirty="0"/>
          </a:p>
        </p:txBody>
      </p:sp>
      <p:sp>
        <p:nvSpPr>
          <p:cNvPr id="27" name="card-339"/>
          <p:cNvSpPr/>
          <p:nvPr/>
        </p:nvSpPr>
        <p:spPr>
          <a:xfrm>
            <a:off x="6278728" y="3905758"/>
            <a:ext cx="5364328" cy="911098"/>
          </a:xfrm>
          <a:prstGeom prst="roundRect">
            <a:avLst>
              <a:gd name="adj" fmla="val 10036"/>
            </a:avLst>
          </a:prstGeom>
          <a:solidFill>
            <a:srgbClr val="F9EEF3"/>
          </a:solidFill>
          <a:ln w="12700">
            <a:solidFill>
              <a:srgbClr val="EECBD8"/>
            </a:solidFill>
            <a:prstDash val="solid"/>
          </a:ln>
        </p:spPr>
      </p:sp>
      <p:sp>
        <p:nvSpPr>
          <p:cNvPr id="28" name="iconbg-340"/>
          <p:cNvSpPr/>
          <p:nvPr/>
        </p:nvSpPr>
        <p:spPr>
          <a:xfrm>
            <a:off x="6425032" y="4052062"/>
            <a:ext cx="457200" cy="457200"/>
          </a:xfrm>
          <a:prstGeom prst="ellipse">
            <a:avLst/>
          </a:prstGeom>
          <a:solidFill>
            <a:srgbClr val="B0124F"/>
          </a:solidFill>
          <a:ln w="12700">
            <a:solidFill>
              <a:srgbClr val="B0124F"/>
            </a:solidFill>
            <a:prstDash val="solid"/>
          </a:ln>
        </p:spPr>
      </p:sp>
      <p:pic>
        <p:nvPicPr>
          <p:cNvPr id="29" name="icon-341" descr="preencoded.png">    </p:cNvPr>
          <p:cNvPicPr>
            <a:picLocks noChangeAspect="1"/>
          </p:cNvPicPr>
          <p:nvPr/>
        </p:nvPicPr>
        <p:blipFill>
          <a:blip r:embed="rId13"/>
          <a:stretch>
            <a:fillRect/>
          </a:stretch>
        </p:blipFill>
        <p:spPr>
          <a:xfrm>
            <a:off x="6525616" y="4152646"/>
            <a:ext cx="256032" cy="256032"/>
          </a:xfrm>
          <a:prstGeom prst="rect">
            <a:avLst/>
          </a:prstGeom>
        </p:spPr>
      </p:pic>
      <p:sp>
        <p:nvSpPr>
          <p:cNvPr id="30" name="text-342"/>
          <p:cNvSpPr txBox="1"/>
          <p:nvPr/>
        </p:nvSpPr>
        <p:spPr>
          <a:xfrm>
            <a:off x="7046824" y="4033774"/>
            <a:ext cx="4449928" cy="655066"/>
          </a:xfrm>
          <a:prstGeom prst="rect">
            <a:avLst/>
          </a:prstGeom>
          <a:noFill/>
          <a:ln/>
        </p:spPr>
        <p:txBody>
          <a:bodyPr wrap="square" lIns="0" tIns="0" rIns="0" bIns="0" rtlCol="0" anchor="t"/>
          <a:lstStyle/>
          <a:p>
            <a:pPr indent="0" marL="0">
              <a:spcAft>
                <a:spcPts val="200"/>
              </a:spcAft>
              <a:buNone/>
            </a:pPr>
            <a:r>
              <a:rPr lang="en-US" sz="2000" b="1" dirty="0">
                <a:solidFill>
                  <a:srgbClr val="B0124F"/>
                </a:solidFill>
                <a:latin typeface="Arial" pitchFamily="34" charset="0"/>
                <a:ea typeface="Arial" pitchFamily="34" charset="-122"/>
                <a:cs typeface="Arial" pitchFamily="34" charset="-120"/>
              </a:rPr>
              <a:t>Bio: cine, pentru cine, unde</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Plus link de programare.</a:t>
            </a:r>
            <a:endParaRPr lang="en-US" sz="1600" dirty="0"/>
          </a:p>
        </p:txBody>
      </p:sp>
      <p:sp>
        <p:nvSpPr>
          <p:cNvPr id="31" name="card-343"/>
          <p:cNvSpPr/>
          <p:nvPr/>
        </p:nvSpPr>
        <p:spPr>
          <a:xfrm>
            <a:off x="6278728" y="4944872"/>
            <a:ext cx="5364328" cy="1165860"/>
          </a:xfrm>
          <a:prstGeom prst="roundRect">
            <a:avLst>
              <a:gd name="adj" fmla="val 7843"/>
            </a:avLst>
          </a:prstGeom>
          <a:solidFill>
            <a:srgbClr val="F9EEF3"/>
          </a:solidFill>
          <a:ln w="12700">
            <a:solidFill>
              <a:srgbClr val="EECBD8"/>
            </a:solidFill>
            <a:prstDash val="solid"/>
          </a:ln>
        </p:spPr>
      </p:sp>
      <p:sp>
        <p:nvSpPr>
          <p:cNvPr id="32" name="iconbg-344"/>
          <p:cNvSpPr/>
          <p:nvPr/>
        </p:nvSpPr>
        <p:spPr>
          <a:xfrm>
            <a:off x="6425032" y="5091176"/>
            <a:ext cx="457200" cy="457200"/>
          </a:xfrm>
          <a:prstGeom prst="ellipse">
            <a:avLst/>
          </a:prstGeom>
          <a:solidFill>
            <a:srgbClr val="B0124F"/>
          </a:solidFill>
          <a:ln w="12700">
            <a:solidFill>
              <a:srgbClr val="B0124F"/>
            </a:solidFill>
            <a:prstDash val="solid"/>
          </a:ln>
        </p:spPr>
      </p:sp>
      <p:pic>
        <p:nvPicPr>
          <p:cNvPr id="33" name="icon-345" descr="preencoded.png">    </p:cNvPr>
          <p:cNvPicPr>
            <a:picLocks noChangeAspect="1"/>
          </p:cNvPicPr>
          <p:nvPr/>
        </p:nvPicPr>
        <p:blipFill>
          <a:blip r:embed="rId14"/>
          <a:stretch>
            <a:fillRect/>
          </a:stretch>
        </p:blipFill>
        <p:spPr>
          <a:xfrm>
            <a:off x="6525616" y="5191760"/>
            <a:ext cx="256032" cy="256032"/>
          </a:xfrm>
          <a:prstGeom prst="rect">
            <a:avLst/>
          </a:prstGeom>
        </p:spPr>
      </p:pic>
      <p:sp>
        <p:nvSpPr>
          <p:cNvPr id="34" name="text-346"/>
          <p:cNvSpPr txBox="1"/>
          <p:nvPr/>
        </p:nvSpPr>
        <p:spPr>
          <a:xfrm>
            <a:off x="7046824" y="5072888"/>
            <a:ext cx="4449928" cy="909828"/>
          </a:xfrm>
          <a:prstGeom prst="rect">
            <a:avLst/>
          </a:prstGeom>
          <a:noFill/>
          <a:ln/>
        </p:spPr>
        <p:txBody>
          <a:bodyPr wrap="square" lIns="0" tIns="0" rIns="0" bIns="0" rtlCol="0" anchor="t"/>
          <a:lstStyle/>
          <a:p>
            <a:pPr indent="0" marL="0">
              <a:spcAft>
                <a:spcPts val="200"/>
              </a:spcAft>
              <a:buNone/>
            </a:pPr>
            <a:r>
              <a:rPr lang="en-US" sz="2000" b="1" dirty="0">
                <a:solidFill>
                  <a:srgbClr val="B0124F"/>
                </a:solidFill>
                <a:latin typeface="Arial" pitchFamily="34" charset="0"/>
                <a:ea typeface="Arial" pitchFamily="34" charset="-122"/>
                <a:cs typeface="Arial" pitchFamily="34" charset="-120"/>
              </a:rPr>
              <a:t>Evidențiate = întrebări frecvente</a:t>
            </a:r>
            <a:endParaRPr lang="en-US" sz="1600" dirty="0"/>
          </a:p>
          <a:p>
            <a:pPr indent="0" marL="0">
              <a:spcAft>
                <a:spcPts val="200"/>
              </a:spcAft>
              <a:buNone/>
            </a:pPr>
            <a:r>
              <a:rPr lang="en-US" sz="1700" dirty="0">
                <a:solidFill>
                  <a:srgbClr val="3D3D3D"/>
                </a:solidFill>
                <a:latin typeface="Arial" pitchFamily="34" charset="0"/>
                <a:ea typeface="Arial" pitchFamily="34" charset="-122"/>
                <a:cs typeface="Arial" pitchFamily="34" charset="-120"/>
              </a:rPr>
              <a:t>Prețuri, programări, îngrijire, recenzii.</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watermark-347"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348" descr="Instagram">    </p:cNvPr>
          <p:cNvPicPr>
            <a:picLocks noChangeAspect="1"/>
          </p:cNvPicPr>
          <p:nvPr/>
        </p:nvPicPr>
        <p:blipFill>
          <a:blip r:embed="rId2"/>
          <a:stretch>
            <a:fillRect/>
          </a:stretch>
        </p:blipFill>
        <p:spPr>
          <a:xfrm>
            <a:off x="548640" y="329184"/>
            <a:ext cx="384048" cy="384048"/>
          </a:xfrm>
          <a:prstGeom prst="rect">
            <a:avLst/>
          </a:prstGeom>
        </p:spPr>
      </p:pic>
      <p:sp>
        <p:nvSpPr>
          <p:cNvPr id="4" name="text-349"/>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B0124F"/>
                </a:solidFill>
                <a:latin typeface="Arial" pitchFamily="34" charset="0"/>
                <a:ea typeface="Arial" pitchFamily="34" charset="-122"/>
                <a:cs typeface="Arial" pitchFamily="34" charset="-120"/>
              </a:rPr>
              <a:t>INSTAGRAM</a:t>
            </a:r>
            <a:endParaRPr lang="en-US" sz="1500" dirty="0"/>
          </a:p>
        </p:txBody>
      </p:sp>
      <p:sp>
        <p:nvSpPr>
          <p:cNvPr id="5" name="text-350"/>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Urmăritori interesați + un ritm zilnic realist</a:t>
            </a:r>
            <a:endParaRPr lang="en-US" sz="3200" dirty="0"/>
          </a:p>
        </p:txBody>
      </p:sp>
      <p:sp>
        <p:nvSpPr>
          <p:cNvPr id="6" name="nav-351">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352">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353">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354">
            <a:hlinkClick r:id="rId6" tooltip="Instagram" action="ppaction://hlinksldjump"/>
          </p:cNvPr>
          <p:cNvSpPr/>
          <p:nvPr/>
        </p:nvSpPr>
        <p:spPr>
          <a:xfrm>
            <a:off x="7784287" y="365760"/>
            <a:ext cx="1033272" cy="310896"/>
          </a:xfrm>
          <a:prstGeom prst="roundRect">
            <a:avLst>
              <a:gd name="adj" fmla="val 50000"/>
            </a:avLst>
          </a:prstGeom>
          <a:solidFill>
            <a:srgbClr val="B0124F"/>
          </a:solidFill>
          <a:ln w="12700">
            <a:solidFill>
              <a:srgbClr val="B0124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355">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356">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357"/>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358"/>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B0124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359"/>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13</a:t>
            </a:r>
            <a:endParaRPr lang="en-US" sz="1000" dirty="0"/>
          </a:p>
        </p:txBody>
      </p:sp>
      <p:sp>
        <p:nvSpPr>
          <p:cNvPr id="15" name="card-360"/>
          <p:cNvSpPr/>
          <p:nvPr/>
        </p:nvSpPr>
        <p:spPr>
          <a:xfrm>
            <a:off x="548640" y="1572768"/>
            <a:ext cx="5364328" cy="1210818"/>
          </a:xfrm>
          <a:prstGeom prst="roundRect">
            <a:avLst>
              <a:gd name="adj" fmla="val 7552"/>
            </a:avLst>
          </a:prstGeom>
          <a:solidFill>
            <a:srgbClr val="F9EEF3"/>
          </a:solidFill>
          <a:ln w="12700">
            <a:solidFill>
              <a:srgbClr val="EECBD8"/>
            </a:solidFill>
            <a:prstDash val="solid"/>
          </a:ln>
        </p:spPr>
      </p:sp>
      <p:sp>
        <p:nvSpPr>
          <p:cNvPr id="16" name="iconbg-361"/>
          <p:cNvSpPr/>
          <p:nvPr/>
        </p:nvSpPr>
        <p:spPr>
          <a:xfrm>
            <a:off x="694944" y="1719072"/>
            <a:ext cx="457200" cy="457200"/>
          </a:xfrm>
          <a:prstGeom prst="ellipse">
            <a:avLst/>
          </a:prstGeom>
          <a:solidFill>
            <a:srgbClr val="B0124F"/>
          </a:solidFill>
          <a:ln w="12700">
            <a:solidFill>
              <a:srgbClr val="B0124F"/>
            </a:solidFill>
            <a:prstDash val="solid"/>
          </a:ln>
        </p:spPr>
      </p:sp>
      <p:pic>
        <p:nvPicPr>
          <p:cNvPr id="17" name="icon-362"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363"/>
          <p:cNvSpPr txBox="1"/>
          <p:nvPr/>
        </p:nvSpPr>
        <p:spPr>
          <a:xfrm>
            <a:off x="1316736" y="1700784"/>
            <a:ext cx="4449928" cy="954786"/>
          </a:xfrm>
          <a:prstGeom prst="rect">
            <a:avLst/>
          </a:prstGeom>
          <a:noFill/>
          <a:ln/>
        </p:spPr>
        <p:txBody>
          <a:bodyPr wrap="square" lIns="0" tIns="0" rIns="0" bIns="0" rtlCol="0" anchor="t"/>
          <a:lstStyle/>
          <a:p>
            <a:pPr indent="0" marL="0">
              <a:spcAft>
                <a:spcPts val="200"/>
              </a:spcAft>
              <a:buNone/>
            </a:pPr>
            <a:r>
              <a:rPr lang="en-US" sz="2100" b="1" dirty="0">
                <a:solidFill>
                  <a:srgbClr val="B0124F"/>
                </a:solidFill>
                <a:latin typeface="Arial" pitchFamily="34" charset="0"/>
                <a:ea typeface="Arial" pitchFamily="34" charset="-122"/>
                <a:cs typeface="Arial" pitchFamily="34" charset="-120"/>
              </a:rPr>
              <a:t>Cuvinte-cheie + oraș</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„balayage Iași”, „blond rece” în descriere.</a:t>
            </a:r>
            <a:endParaRPr lang="en-US" sz="1600" dirty="0"/>
          </a:p>
        </p:txBody>
      </p:sp>
      <p:sp>
        <p:nvSpPr>
          <p:cNvPr id="19" name="card-364"/>
          <p:cNvSpPr/>
          <p:nvPr/>
        </p:nvSpPr>
        <p:spPr>
          <a:xfrm>
            <a:off x="548640" y="2911602"/>
            <a:ext cx="5364328" cy="1210818"/>
          </a:xfrm>
          <a:prstGeom prst="roundRect">
            <a:avLst>
              <a:gd name="adj" fmla="val 7552"/>
            </a:avLst>
          </a:prstGeom>
          <a:solidFill>
            <a:srgbClr val="F9EEF3"/>
          </a:solidFill>
          <a:ln w="12700">
            <a:solidFill>
              <a:srgbClr val="EECBD8"/>
            </a:solidFill>
            <a:prstDash val="solid"/>
          </a:ln>
        </p:spPr>
      </p:sp>
      <p:sp>
        <p:nvSpPr>
          <p:cNvPr id="20" name="iconbg-365"/>
          <p:cNvSpPr/>
          <p:nvPr/>
        </p:nvSpPr>
        <p:spPr>
          <a:xfrm>
            <a:off x="694944" y="3057906"/>
            <a:ext cx="457200" cy="457200"/>
          </a:xfrm>
          <a:prstGeom prst="ellipse">
            <a:avLst/>
          </a:prstGeom>
          <a:solidFill>
            <a:srgbClr val="B0124F"/>
          </a:solidFill>
          <a:ln w="12700">
            <a:solidFill>
              <a:srgbClr val="B0124F"/>
            </a:solidFill>
            <a:prstDash val="solid"/>
          </a:ln>
        </p:spPr>
      </p:sp>
      <p:pic>
        <p:nvPicPr>
          <p:cNvPr id="21" name="icon-366" descr="preencoded.png">    </p:cNvPr>
          <p:cNvPicPr>
            <a:picLocks noChangeAspect="1"/>
          </p:cNvPicPr>
          <p:nvPr/>
        </p:nvPicPr>
        <p:blipFill>
          <a:blip r:embed="rId11"/>
          <a:stretch>
            <a:fillRect/>
          </a:stretch>
        </p:blipFill>
        <p:spPr>
          <a:xfrm>
            <a:off x="795528" y="3158490"/>
            <a:ext cx="256032" cy="256032"/>
          </a:xfrm>
          <a:prstGeom prst="rect">
            <a:avLst/>
          </a:prstGeom>
        </p:spPr>
      </p:pic>
      <p:sp>
        <p:nvSpPr>
          <p:cNvPr id="22" name="text-367"/>
          <p:cNvSpPr txBox="1"/>
          <p:nvPr/>
        </p:nvSpPr>
        <p:spPr>
          <a:xfrm>
            <a:off x="1316736" y="3039618"/>
            <a:ext cx="4449928" cy="954786"/>
          </a:xfrm>
          <a:prstGeom prst="rect">
            <a:avLst/>
          </a:prstGeom>
          <a:noFill/>
          <a:ln/>
        </p:spPr>
        <p:txBody>
          <a:bodyPr wrap="square" lIns="0" tIns="0" rIns="0" bIns="0" rtlCol="0" anchor="t"/>
          <a:lstStyle/>
          <a:p>
            <a:pPr indent="0" marL="0">
              <a:spcAft>
                <a:spcPts val="200"/>
              </a:spcAft>
              <a:buNone/>
            </a:pPr>
            <a:r>
              <a:rPr lang="en-US" sz="2100" b="1" dirty="0">
                <a:solidFill>
                  <a:srgbClr val="B0124F"/>
                </a:solidFill>
                <a:latin typeface="Arial" pitchFamily="34" charset="0"/>
                <a:ea typeface="Arial" pitchFamily="34" charset="-122"/>
                <a:cs typeface="Arial" pitchFamily="34" charset="-120"/>
              </a:rPr>
              <a:t>Etichetează clienta</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Cu acordul ei: prietenele ei văd lucrarea.</a:t>
            </a:r>
            <a:endParaRPr lang="en-US" sz="1600" dirty="0"/>
          </a:p>
        </p:txBody>
      </p:sp>
      <p:sp>
        <p:nvSpPr>
          <p:cNvPr id="23" name="card-368"/>
          <p:cNvSpPr/>
          <p:nvPr/>
        </p:nvSpPr>
        <p:spPr>
          <a:xfrm>
            <a:off x="548640" y="4250436"/>
            <a:ext cx="5364328" cy="1210818"/>
          </a:xfrm>
          <a:prstGeom prst="roundRect">
            <a:avLst>
              <a:gd name="adj" fmla="val 7552"/>
            </a:avLst>
          </a:prstGeom>
          <a:solidFill>
            <a:srgbClr val="F9EEF3"/>
          </a:solidFill>
          <a:ln w="12700">
            <a:solidFill>
              <a:srgbClr val="EECBD8"/>
            </a:solidFill>
            <a:prstDash val="solid"/>
          </a:ln>
        </p:spPr>
      </p:sp>
      <p:sp>
        <p:nvSpPr>
          <p:cNvPr id="24" name="iconbg-369"/>
          <p:cNvSpPr/>
          <p:nvPr/>
        </p:nvSpPr>
        <p:spPr>
          <a:xfrm>
            <a:off x="694944" y="4396740"/>
            <a:ext cx="457200" cy="457200"/>
          </a:xfrm>
          <a:prstGeom prst="ellipse">
            <a:avLst/>
          </a:prstGeom>
          <a:solidFill>
            <a:srgbClr val="B0124F"/>
          </a:solidFill>
          <a:ln w="12700">
            <a:solidFill>
              <a:srgbClr val="B0124F"/>
            </a:solidFill>
            <a:prstDash val="solid"/>
          </a:ln>
        </p:spPr>
      </p:sp>
      <p:pic>
        <p:nvPicPr>
          <p:cNvPr id="25" name="icon-370" descr="preencoded.png">    </p:cNvPr>
          <p:cNvPicPr>
            <a:picLocks noChangeAspect="1"/>
          </p:cNvPicPr>
          <p:nvPr/>
        </p:nvPicPr>
        <p:blipFill>
          <a:blip r:embed="rId12"/>
          <a:stretch>
            <a:fillRect/>
          </a:stretch>
        </p:blipFill>
        <p:spPr>
          <a:xfrm>
            <a:off x="795528" y="4497324"/>
            <a:ext cx="256032" cy="256032"/>
          </a:xfrm>
          <a:prstGeom prst="rect">
            <a:avLst/>
          </a:prstGeom>
        </p:spPr>
      </p:pic>
      <p:sp>
        <p:nvSpPr>
          <p:cNvPr id="26" name="text-371"/>
          <p:cNvSpPr txBox="1"/>
          <p:nvPr/>
        </p:nvSpPr>
        <p:spPr>
          <a:xfrm>
            <a:off x="1316736" y="4378452"/>
            <a:ext cx="4449928" cy="954786"/>
          </a:xfrm>
          <a:prstGeom prst="rect">
            <a:avLst/>
          </a:prstGeom>
          <a:noFill/>
          <a:ln/>
        </p:spPr>
        <p:txBody>
          <a:bodyPr wrap="square" lIns="0" tIns="0" rIns="0" bIns="0" rtlCol="0" anchor="t"/>
          <a:lstStyle/>
          <a:p>
            <a:pPr indent="0" marL="0">
              <a:spcAft>
                <a:spcPts val="200"/>
              </a:spcAft>
              <a:buNone/>
            </a:pPr>
            <a:r>
              <a:rPr lang="en-US" sz="2100" b="1" dirty="0">
                <a:solidFill>
                  <a:srgbClr val="B0124F"/>
                </a:solidFill>
                <a:latin typeface="Arial" pitchFamily="34" charset="0"/>
                <a:ea typeface="Arial" pitchFamily="34" charset="-122"/>
                <a:cs typeface="Arial" pitchFamily="34" charset="-120"/>
              </a:rPr>
              <a:t>Răspunde la tot</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Comentarii și mesaje: fiecare e o conversație.</a:t>
            </a:r>
            <a:endParaRPr lang="en-US" sz="1600" dirty="0"/>
          </a:p>
        </p:txBody>
      </p:sp>
      <p:sp>
        <p:nvSpPr>
          <p:cNvPr id="27" name="text-372"/>
          <p:cNvSpPr txBox="1"/>
          <p:nvPr/>
        </p:nvSpPr>
        <p:spPr>
          <a:xfrm>
            <a:off x="6278728" y="1572768"/>
            <a:ext cx="5364328" cy="439420"/>
          </a:xfrm>
          <a:prstGeom prst="rect">
            <a:avLst/>
          </a:prstGeom>
          <a:noFill/>
          <a:ln/>
        </p:spPr>
        <p:txBody>
          <a:bodyPr wrap="square" lIns="0" tIns="0" rIns="0" bIns="0" rtlCol="0" anchor="b"/>
          <a:lstStyle/>
          <a:p>
            <a:pPr indent="0" marL="0">
              <a:buNone/>
            </a:pPr>
            <a:r>
              <a:rPr lang="en-US" sz="2100" b="1" spc="100" kern="0" dirty="0">
                <a:solidFill>
                  <a:srgbClr val="B0124F"/>
                </a:solidFill>
                <a:latin typeface="Arial" pitchFamily="34" charset="0"/>
                <a:ea typeface="Arial" pitchFamily="34" charset="-122"/>
                <a:cs typeface="Arial" pitchFamily="34" charset="-120"/>
              </a:rPr>
              <a:t>Ritm zilnic realist (exemplu)</a:t>
            </a:r>
            <a:endParaRPr lang="en-US" sz="2100" dirty="0"/>
          </a:p>
        </p:txBody>
      </p:sp>
      <p:sp>
        <p:nvSpPr>
          <p:cNvPr id="28" name="card-373"/>
          <p:cNvSpPr/>
          <p:nvPr/>
        </p:nvSpPr>
        <p:spPr>
          <a:xfrm>
            <a:off x="6278728" y="2140204"/>
            <a:ext cx="5364328" cy="941070"/>
          </a:xfrm>
          <a:prstGeom prst="roundRect">
            <a:avLst>
              <a:gd name="adj" fmla="val 9717"/>
            </a:avLst>
          </a:prstGeom>
          <a:solidFill>
            <a:srgbClr val="F9EEF3"/>
          </a:solidFill>
          <a:ln w="12700">
            <a:solidFill>
              <a:srgbClr val="EECBD8"/>
            </a:solidFill>
            <a:prstDash val="solid"/>
          </a:ln>
        </p:spPr>
      </p:sp>
      <p:sp>
        <p:nvSpPr>
          <p:cNvPr id="29" name="iconbg-374"/>
          <p:cNvSpPr/>
          <p:nvPr/>
        </p:nvSpPr>
        <p:spPr>
          <a:xfrm>
            <a:off x="6425032" y="2286508"/>
            <a:ext cx="457200" cy="457200"/>
          </a:xfrm>
          <a:prstGeom prst="ellipse">
            <a:avLst/>
          </a:prstGeom>
          <a:solidFill>
            <a:srgbClr val="B0124F"/>
          </a:solidFill>
          <a:ln w="12700">
            <a:solidFill>
              <a:srgbClr val="B0124F"/>
            </a:solidFill>
            <a:prstDash val="solid"/>
          </a:ln>
        </p:spPr>
      </p:sp>
      <p:pic>
        <p:nvPicPr>
          <p:cNvPr id="30" name="icon-375" descr="preencoded.png">    </p:cNvPr>
          <p:cNvPicPr>
            <a:picLocks noChangeAspect="1"/>
          </p:cNvPicPr>
          <p:nvPr/>
        </p:nvPicPr>
        <p:blipFill>
          <a:blip r:embed="rId13"/>
          <a:stretch>
            <a:fillRect/>
          </a:stretch>
        </p:blipFill>
        <p:spPr>
          <a:xfrm>
            <a:off x="6525616" y="2387092"/>
            <a:ext cx="256032" cy="256032"/>
          </a:xfrm>
          <a:prstGeom prst="rect">
            <a:avLst/>
          </a:prstGeom>
        </p:spPr>
      </p:pic>
      <p:sp>
        <p:nvSpPr>
          <p:cNvPr id="31" name="text-376"/>
          <p:cNvSpPr txBox="1"/>
          <p:nvPr/>
        </p:nvSpPr>
        <p:spPr>
          <a:xfrm>
            <a:off x="7046824" y="2268220"/>
            <a:ext cx="4449928" cy="685038"/>
          </a:xfrm>
          <a:prstGeom prst="rect">
            <a:avLst/>
          </a:prstGeom>
          <a:noFill/>
          <a:ln/>
        </p:spPr>
        <p:txBody>
          <a:bodyPr wrap="square" lIns="0" tIns="0" rIns="0" bIns="0" rtlCol="0" anchor="t"/>
          <a:lstStyle/>
          <a:p>
            <a:pPr indent="0" marL="0">
              <a:spcAft>
                <a:spcPts val="200"/>
              </a:spcAft>
              <a:buNone/>
            </a:pPr>
            <a:r>
              <a:rPr lang="en-US" sz="2100" b="1" dirty="0">
                <a:solidFill>
                  <a:srgbClr val="B0124F"/>
                </a:solidFill>
                <a:latin typeface="Arial" pitchFamily="34" charset="0"/>
                <a:ea typeface="Arial" pitchFamily="34" charset="-122"/>
                <a:cs typeface="Arial" pitchFamily="34" charset="-120"/>
              </a:rPr>
              <a:t>Zilnic</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1 Story: culise, 5 minute</a:t>
            </a:r>
            <a:endParaRPr lang="en-US" sz="1600" dirty="0"/>
          </a:p>
        </p:txBody>
      </p:sp>
      <p:sp>
        <p:nvSpPr>
          <p:cNvPr id="32" name="card-377"/>
          <p:cNvSpPr/>
          <p:nvPr/>
        </p:nvSpPr>
        <p:spPr>
          <a:xfrm>
            <a:off x="6278728" y="3209290"/>
            <a:ext cx="5364328" cy="941070"/>
          </a:xfrm>
          <a:prstGeom prst="roundRect">
            <a:avLst>
              <a:gd name="adj" fmla="val 9717"/>
            </a:avLst>
          </a:prstGeom>
          <a:solidFill>
            <a:srgbClr val="F9EEF3"/>
          </a:solidFill>
          <a:ln w="12700">
            <a:solidFill>
              <a:srgbClr val="EECBD8"/>
            </a:solidFill>
            <a:prstDash val="solid"/>
          </a:ln>
        </p:spPr>
      </p:sp>
      <p:sp>
        <p:nvSpPr>
          <p:cNvPr id="33" name="iconbg-378"/>
          <p:cNvSpPr/>
          <p:nvPr/>
        </p:nvSpPr>
        <p:spPr>
          <a:xfrm>
            <a:off x="6425032" y="3355594"/>
            <a:ext cx="457200" cy="457200"/>
          </a:xfrm>
          <a:prstGeom prst="ellipse">
            <a:avLst/>
          </a:prstGeom>
          <a:solidFill>
            <a:srgbClr val="B0124F"/>
          </a:solidFill>
          <a:ln w="12700">
            <a:solidFill>
              <a:srgbClr val="B0124F"/>
            </a:solidFill>
            <a:prstDash val="solid"/>
          </a:ln>
        </p:spPr>
      </p:sp>
      <p:pic>
        <p:nvPicPr>
          <p:cNvPr id="34" name="icon-379" descr="preencoded.png">    </p:cNvPr>
          <p:cNvPicPr>
            <a:picLocks noChangeAspect="1"/>
          </p:cNvPicPr>
          <p:nvPr/>
        </p:nvPicPr>
        <p:blipFill>
          <a:blip r:embed="rId14"/>
          <a:stretch>
            <a:fillRect/>
          </a:stretch>
        </p:blipFill>
        <p:spPr>
          <a:xfrm>
            <a:off x="6525616" y="3456178"/>
            <a:ext cx="256032" cy="256032"/>
          </a:xfrm>
          <a:prstGeom prst="rect">
            <a:avLst/>
          </a:prstGeom>
        </p:spPr>
      </p:pic>
      <p:sp>
        <p:nvSpPr>
          <p:cNvPr id="35" name="text-380"/>
          <p:cNvSpPr txBox="1"/>
          <p:nvPr/>
        </p:nvSpPr>
        <p:spPr>
          <a:xfrm>
            <a:off x="7046824" y="3337306"/>
            <a:ext cx="4449928" cy="685038"/>
          </a:xfrm>
          <a:prstGeom prst="rect">
            <a:avLst/>
          </a:prstGeom>
          <a:noFill/>
          <a:ln/>
        </p:spPr>
        <p:txBody>
          <a:bodyPr wrap="square" lIns="0" tIns="0" rIns="0" bIns="0" rtlCol="0" anchor="t"/>
          <a:lstStyle/>
          <a:p>
            <a:pPr indent="0" marL="0">
              <a:spcAft>
                <a:spcPts val="200"/>
              </a:spcAft>
              <a:buNone/>
            </a:pPr>
            <a:r>
              <a:rPr lang="en-US" sz="2100" b="1" dirty="0">
                <a:solidFill>
                  <a:srgbClr val="B0124F"/>
                </a:solidFill>
                <a:latin typeface="Arial" pitchFamily="34" charset="0"/>
                <a:ea typeface="Arial" pitchFamily="34" charset="-122"/>
                <a:cs typeface="Arial" pitchFamily="34" charset="-120"/>
              </a:rPr>
              <a:t>De 2–3 ori pe săptămână</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1 Reel cu o transformare</a:t>
            </a:r>
            <a:endParaRPr lang="en-US" sz="1600" dirty="0"/>
          </a:p>
        </p:txBody>
      </p:sp>
      <p:sp>
        <p:nvSpPr>
          <p:cNvPr id="36" name="card-381"/>
          <p:cNvSpPr/>
          <p:nvPr/>
        </p:nvSpPr>
        <p:spPr>
          <a:xfrm>
            <a:off x="6278728" y="4278376"/>
            <a:ext cx="5364328" cy="941070"/>
          </a:xfrm>
          <a:prstGeom prst="roundRect">
            <a:avLst>
              <a:gd name="adj" fmla="val 9717"/>
            </a:avLst>
          </a:prstGeom>
          <a:solidFill>
            <a:srgbClr val="F9EEF3"/>
          </a:solidFill>
          <a:ln w="12700">
            <a:solidFill>
              <a:srgbClr val="EECBD8"/>
            </a:solidFill>
            <a:prstDash val="solid"/>
          </a:ln>
        </p:spPr>
      </p:sp>
      <p:sp>
        <p:nvSpPr>
          <p:cNvPr id="37" name="iconbg-382"/>
          <p:cNvSpPr/>
          <p:nvPr/>
        </p:nvSpPr>
        <p:spPr>
          <a:xfrm>
            <a:off x="6425032" y="4424680"/>
            <a:ext cx="457200" cy="457200"/>
          </a:xfrm>
          <a:prstGeom prst="ellipse">
            <a:avLst/>
          </a:prstGeom>
          <a:solidFill>
            <a:srgbClr val="B0124F"/>
          </a:solidFill>
          <a:ln w="12700">
            <a:solidFill>
              <a:srgbClr val="B0124F"/>
            </a:solidFill>
            <a:prstDash val="solid"/>
          </a:ln>
        </p:spPr>
      </p:sp>
      <p:pic>
        <p:nvPicPr>
          <p:cNvPr id="38" name="icon-383" descr="preencoded.png">    </p:cNvPr>
          <p:cNvPicPr>
            <a:picLocks noChangeAspect="1"/>
          </p:cNvPicPr>
          <p:nvPr/>
        </p:nvPicPr>
        <p:blipFill>
          <a:blip r:embed="rId15"/>
          <a:stretch>
            <a:fillRect/>
          </a:stretch>
        </p:blipFill>
        <p:spPr>
          <a:xfrm>
            <a:off x="6525616" y="4525264"/>
            <a:ext cx="256032" cy="256032"/>
          </a:xfrm>
          <a:prstGeom prst="rect">
            <a:avLst/>
          </a:prstGeom>
        </p:spPr>
      </p:pic>
      <p:sp>
        <p:nvSpPr>
          <p:cNvPr id="39" name="text-384"/>
          <p:cNvSpPr txBox="1"/>
          <p:nvPr/>
        </p:nvSpPr>
        <p:spPr>
          <a:xfrm>
            <a:off x="7046824" y="4406392"/>
            <a:ext cx="4449928" cy="685038"/>
          </a:xfrm>
          <a:prstGeom prst="rect">
            <a:avLst/>
          </a:prstGeom>
          <a:noFill/>
          <a:ln/>
        </p:spPr>
        <p:txBody>
          <a:bodyPr wrap="square" lIns="0" tIns="0" rIns="0" bIns="0" rtlCol="0" anchor="t"/>
          <a:lstStyle/>
          <a:p>
            <a:pPr indent="0" marL="0">
              <a:spcAft>
                <a:spcPts val="200"/>
              </a:spcAft>
              <a:buNone/>
            </a:pPr>
            <a:r>
              <a:rPr lang="en-US" sz="2100" b="1" dirty="0">
                <a:solidFill>
                  <a:srgbClr val="B0124F"/>
                </a:solidFill>
                <a:latin typeface="Arial" pitchFamily="34" charset="0"/>
                <a:ea typeface="Arial" pitchFamily="34" charset="-122"/>
                <a:cs typeface="Arial" pitchFamily="34" charset="-120"/>
              </a:rPr>
              <a:t>O dată pe săptămână</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1 carusel foto (portofoliu)</a:t>
            </a:r>
            <a:endParaRPr lang="en-US" sz="1600" dirty="0"/>
          </a:p>
        </p:txBody>
      </p:sp>
      <p:sp>
        <p:nvSpPr>
          <p:cNvPr id="40" name="note-385"/>
          <p:cNvSpPr/>
          <p:nvPr/>
        </p:nvSpPr>
        <p:spPr>
          <a:xfrm>
            <a:off x="6278728" y="5347462"/>
            <a:ext cx="5364328" cy="813816"/>
          </a:xfrm>
          <a:prstGeom prst="roundRect">
            <a:avLst>
              <a:gd name="adj" fmla="val 11236"/>
            </a:avLst>
          </a:prstGeom>
          <a:solidFill>
            <a:srgbClr val="FFFFFF"/>
          </a:solidFill>
          <a:ln w="19050">
            <a:solidFill>
              <a:srgbClr val="B0124F"/>
            </a:solidFill>
            <a:prstDash val="dash"/>
          </a:ln>
        </p:spPr>
      </p:sp>
      <p:pic>
        <p:nvPicPr>
          <p:cNvPr id="41" name="noteicon-386" descr="preencoded.png">    </p:cNvPr>
          <p:cNvPicPr>
            <a:picLocks noChangeAspect="1"/>
          </p:cNvPicPr>
          <p:nvPr/>
        </p:nvPicPr>
        <p:blipFill>
          <a:blip r:embed="rId16"/>
          <a:stretch>
            <a:fillRect/>
          </a:stretch>
        </p:blipFill>
        <p:spPr>
          <a:xfrm>
            <a:off x="6415888" y="5580634"/>
            <a:ext cx="347472" cy="347472"/>
          </a:xfrm>
          <a:prstGeom prst="rect">
            <a:avLst/>
          </a:prstGeom>
        </p:spPr>
      </p:pic>
      <p:sp>
        <p:nvSpPr>
          <p:cNvPr id="42" name="text-387"/>
          <p:cNvSpPr txBox="1"/>
          <p:nvPr/>
        </p:nvSpPr>
        <p:spPr>
          <a:xfrm>
            <a:off x="6873088" y="5438902"/>
            <a:ext cx="4632808" cy="630936"/>
          </a:xfrm>
          <a:prstGeom prst="rect">
            <a:avLst/>
          </a:prstGeom>
          <a:noFill/>
          <a:ln/>
        </p:spPr>
        <p:txBody>
          <a:bodyPr wrap="square" lIns="0" tIns="0" rIns="0" bIns="0" rtlCol="0" anchor="ctr"/>
          <a:lstStyle/>
          <a:p>
            <a:pPr indent="0" marL="0">
              <a:buNone/>
            </a:pPr>
            <a:r>
              <a:rPr lang="en-US" sz="1800" b="1" dirty="0">
                <a:solidFill>
                  <a:srgbClr val="111111"/>
                </a:solidFill>
                <a:latin typeface="Arial" pitchFamily="34" charset="0"/>
                <a:ea typeface="Arial" pitchFamily="34" charset="-122"/>
                <a:cs typeface="Arial" pitchFamily="34" charset="-120"/>
              </a:rPr>
              <a:t>(Practică) Punct de pornire, nu regulă.</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watermark-388"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389" descr="Instagram">    </p:cNvPr>
          <p:cNvPicPr>
            <a:picLocks noChangeAspect="1"/>
          </p:cNvPicPr>
          <p:nvPr/>
        </p:nvPicPr>
        <p:blipFill>
          <a:blip r:embed="rId2"/>
          <a:stretch>
            <a:fillRect/>
          </a:stretch>
        </p:blipFill>
        <p:spPr>
          <a:xfrm>
            <a:off x="548640" y="329184"/>
            <a:ext cx="384048" cy="384048"/>
          </a:xfrm>
          <a:prstGeom prst="rect">
            <a:avLst/>
          </a:prstGeom>
        </p:spPr>
      </p:pic>
      <p:sp>
        <p:nvSpPr>
          <p:cNvPr id="4" name="text-390"/>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B0124F"/>
                </a:solidFill>
                <a:latin typeface="Arial" pitchFamily="34" charset="0"/>
                <a:ea typeface="Arial" pitchFamily="34" charset="-122"/>
                <a:cs typeface="Arial" pitchFamily="34" charset="-120"/>
              </a:rPr>
              <a:t>INSTAGRAM</a:t>
            </a:r>
            <a:endParaRPr lang="en-US" sz="1500" dirty="0"/>
          </a:p>
        </p:txBody>
      </p:sp>
      <p:sp>
        <p:nvSpPr>
          <p:cNvPr id="5" name="text-391"/>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Îndemnul la acțiune: ce vrei să facă omul</a:t>
            </a:r>
            <a:endParaRPr lang="en-US" sz="3200" dirty="0"/>
          </a:p>
        </p:txBody>
      </p:sp>
      <p:sp>
        <p:nvSpPr>
          <p:cNvPr id="6" name="nav-392">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393">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394">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395">
            <a:hlinkClick r:id="rId6" tooltip="Instagram" action="ppaction://hlinksldjump"/>
          </p:cNvPr>
          <p:cNvSpPr/>
          <p:nvPr/>
        </p:nvSpPr>
        <p:spPr>
          <a:xfrm>
            <a:off x="7784287" y="365760"/>
            <a:ext cx="1033272" cy="310896"/>
          </a:xfrm>
          <a:prstGeom prst="roundRect">
            <a:avLst>
              <a:gd name="adj" fmla="val 50000"/>
            </a:avLst>
          </a:prstGeom>
          <a:solidFill>
            <a:srgbClr val="B0124F"/>
          </a:solidFill>
          <a:ln w="12700">
            <a:solidFill>
              <a:srgbClr val="B0124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396">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397">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398"/>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399"/>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B0124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400"/>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14</a:t>
            </a:r>
            <a:endParaRPr lang="en-US" sz="1000" dirty="0"/>
          </a:p>
        </p:txBody>
      </p:sp>
      <p:sp>
        <p:nvSpPr>
          <p:cNvPr id="15" name="card-401"/>
          <p:cNvSpPr/>
          <p:nvPr/>
        </p:nvSpPr>
        <p:spPr>
          <a:xfrm>
            <a:off x="548640" y="1572768"/>
            <a:ext cx="5410048" cy="1345692"/>
          </a:xfrm>
          <a:prstGeom prst="roundRect">
            <a:avLst>
              <a:gd name="adj" fmla="val 6795"/>
            </a:avLst>
          </a:prstGeom>
          <a:solidFill>
            <a:srgbClr val="F9EEF3"/>
          </a:solidFill>
          <a:ln w="12700">
            <a:solidFill>
              <a:srgbClr val="EECBD8"/>
            </a:solidFill>
            <a:prstDash val="solid"/>
          </a:ln>
        </p:spPr>
      </p:sp>
      <p:sp>
        <p:nvSpPr>
          <p:cNvPr id="16" name="iconbg-402"/>
          <p:cNvSpPr/>
          <p:nvPr/>
        </p:nvSpPr>
        <p:spPr>
          <a:xfrm>
            <a:off x="694944" y="1719072"/>
            <a:ext cx="457200" cy="457200"/>
          </a:xfrm>
          <a:prstGeom prst="ellipse">
            <a:avLst/>
          </a:prstGeom>
          <a:solidFill>
            <a:srgbClr val="B0124F"/>
          </a:solidFill>
          <a:ln w="12700">
            <a:solidFill>
              <a:srgbClr val="B0124F"/>
            </a:solidFill>
            <a:prstDash val="solid"/>
          </a:ln>
        </p:spPr>
      </p:sp>
      <p:pic>
        <p:nvPicPr>
          <p:cNvPr id="17" name="icon-403"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404"/>
          <p:cNvSpPr txBox="1"/>
          <p:nvPr/>
        </p:nvSpPr>
        <p:spPr>
          <a:xfrm>
            <a:off x="1316736" y="1700784"/>
            <a:ext cx="4495648" cy="1089660"/>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Comentarii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„Rece sau cald? Scrie-mi în comentarii.”</a:t>
            </a:r>
            <a:endParaRPr lang="en-US" sz="1600" dirty="0"/>
          </a:p>
        </p:txBody>
      </p:sp>
      <p:sp>
        <p:nvSpPr>
          <p:cNvPr id="19" name="card-405"/>
          <p:cNvSpPr/>
          <p:nvPr/>
        </p:nvSpPr>
        <p:spPr>
          <a:xfrm>
            <a:off x="6233008" y="1572768"/>
            <a:ext cx="5410048" cy="1345692"/>
          </a:xfrm>
          <a:prstGeom prst="roundRect">
            <a:avLst>
              <a:gd name="adj" fmla="val 6795"/>
            </a:avLst>
          </a:prstGeom>
          <a:solidFill>
            <a:srgbClr val="F9EEF3"/>
          </a:solidFill>
          <a:ln w="12700">
            <a:solidFill>
              <a:srgbClr val="EECBD8"/>
            </a:solidFill>
            <a:prstDash val="solid"/>
          </a:ln>
        </p:spPr>
      </p:sp>
      <p:sp>
        <p:nvSpPr>
          <p:cNvPr id="20" name="iconbg-406"/>
          <p:cNvSpPr/>
          <p:nvPr/>
        </p:nvSpPr>
        <p:spPr>
          <a:xfrm>
            <a:off x="6379312" y="1719072"/>
            <a:ext cx="457200" cy="457200"/>
          </a:xfrm>
          <a:prstGeom prst="ellipse">
            <a:avLst/>
          </a:prstGeom>
          <a:solidFill>
            <a:srgbClr val="B0124F"/>
          </a:solidFill>
          <a:ln w="12700">
            <a:solidFill>
              <a:srgbClr val="B0124F"/>
            </a:solidFill>
            <a:prstDash val="solid"/>
          </a:ln>
        </p:spPr>
      </p:sp>
      <p:pic>
        <p:nvPicPr>
          <p:cNvPr id="21" name="icon-407" descr="preencoded.png">    </p:cNvPr>
          <p:cNvPicPr>
            <a:picLocks noChangeAspect="1"/>
          </p:cNvPicPr>
          <p:nvPr/>
        </p:nvPicPr>
        <p:blipFill>
          <a:blip r:embed="rId11"/>
          <a:stretch>
            <a:fillRect/>
          </a:stretch>
        </p:blipFill>
        <p:spPr>
          <a:xfrm>
            <a:off x="6479896" y="1819656"/>
            <a:ext cx="256032" cy="256032"/>
          </a:xfrm>
          <a:prstGeom prst="rect">
            <a:avLst/>
          </a:prstGeom>
        </p:spPr>
      </p:pic>
      <p:sp>
        <p:nvSpPr>
          <p:cNvPr id="22" name="text-408"/>
          <p:cNvSpPr txBox="1"/>
          <p:nvPr/>
        </p:nvSpPr>
        <p:spPr>
          <a:xfrm>
            <a:off x="7001104" y="1700784"/>
            <a:ext cx="4495648" cy="1089660"/>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Salvări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„Salvează-l și arată-l la următoarea programare.”</a:t>
            </a:r>
            <a:endParaRPr lang="en-US" sz="1600" dirty="0"/>
          </a:p>
        </p:txBody>
      </p:sp>
      <p:sp>
        <p:nvSpPr>
          <p:cNvPr id="23" name="card-409"/>
          <p:cNvSpPr/>
          <p:nvPr/>
        </p:nvSpPr>
        <p:spPr>
          <a:xfrm>
            <a:off x="548640" y="3046476"/>
            <a:ext cx="5410048" cy="1345692"/>
          </a:xfrm>
          <a:prstGeom prst="roundRect">
            <a:avLst>
              <a:gd name="adj" fmla="val 6795"/>
            </a:avLst>
          </a:prstGeom>
          <a:solidFill>
            <a:srgbClr val="F9EEF3"/>
          </a:solidFill>
          <a:ln w="12700">
            <a:solidFill>
              <a:srgbClr val="EECBD8"/>
            </a:solidFill>
            <a:prstDash val="solid"/>
          </a:ln>
        </p:spPr>
      </p:sp>
      <p:sp>
        <p:nvSpPr>
          <p:cNvPr id="24" name="iconbg-410"/>
          <p:cNvSpPr/>
          <p:nvPr/>
        </p:nvSpPr>
        <p:spPr>
          <a:xfrm>
            <a:off x="694944" y="3192780"/>
            <a:ext cx="457200" cy="457200"/>
          </a:xfrm>
          <a:prstGeom prst="ellipse">
            <a:avLst/>
          </a:prstGeom>
          <a:solidFill>
            <a:srgbClr val="B0124F"/>
          </a:solidFill>
          <a:ln w="12700">
            <a:solidFill>
              <a:srgbClr val="B0124F"/>
            </a:solidFill>
            <a:prstDash val="solid"/>
          </a:ln>
        </p:spPr>
      </p:sp>
      <p:pic>
        <p:nvPicPr>
          <p:cNvPr id="25" name="icon-411" descr="preencoded.png">    </p:cNvPr>
          <p:cNvPicPr>
            <a:picLocks noChangeAspect="1"/>
          </p:cNvPicPr>
          <p:nvPr/>
        </p:nvPicPr>
        <p:blipFill>
          <a:blip r:embed="rId12"/>
          <a:stretch>
            <a:fillRect/>
          </a:stretch>
        </p:blipFill>
        <p:spPr>
          <a:xfrm>
            <a:off x="795528" y="3293364"/>
            <a:ext cx="256032" cy="256032"/>
          </a:xfrm>
          <a:prstGeom prst="rect">
            <a:avLst/>
          </a:prstGeom>
        </p:spPr>
      </p:pic>
      <p:sp>
        <p:nvSpPr>
          <p:cNvPr id="26" name="text-412"/>
          <p:cNvSpPr txBox="1"/>
          <p:nvPr/>
        </p:nvSpPr>
        <p:spPr>
          <a:xfrm>
            <a:off x="1316736" y="3174492"/>
            <a:ext cx="4495648" cy="1089660"/>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Distribuiri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„Trimite-i prietenei care vrea blond de 3 ani.”</a:t>
            </a:r>
            <a:endParaRPr lang="en-US" sz="1600" dirty="0"/>
          </a:p>
        </p:txBody>
      </p:sp>
      <p:sp>
        <p:nvSpPr>
          <p:cNvPr id="27" name="card-413"/>
          <p:cNvSpPr/>
          <p:nvPr/>
        </p:nvSpPr>
        <p:spPr>
          <a:xfrm>
            <a:off x="6233008" y="3046476"/>
            <a:ext cx="5410048" cy="1345692"/>
          </a:xfrm>
          <a:prstGeom prst="roundRect">
            <a:avLst>
              <a:gd name="adj" fmla="val 6795"/>
            </a:avLst>
          </a:prstGeom>
          <a:solidFill>
            <a:srgbClr val="F9EEF3"/>
          </a:solidFill>
          <a:ln w="12700">
            <a:solidFill>
              <a:srgbClr val="EECBD8"/>
            </a:solidFill>
            <a:prstDash val="solid"/>
          </a:ln>
        </p:spPr>
      </p:sp>
      <p:sp>
        <p:nvSpPr>
          <p:cNvPr id="28" name="iconbg-414"/>
          <p:cNvSpPr/>
          <p:nvPr/>
        </p:nvSpPr>
        <p:spPr>
          <a:xfrm>
            <a:off x="6379312" y="3192780"/>
            <a:ext cx="457200" cy="457200"/>
          </a:xfrm>
          <a:prstGeom prst="ellipse">
            <a:avLst/>
          </a:prstGeom>
          <a:solidFill>
            <a:srgbClr val="B0124F"/>
          </a:solidFill>
          <a:ln w="12700">
            <a:solidFill>
              <a:srgbClr val="B0124F"/>
            </a:solidFill>
            <a:prstDash val="solid"/>
          </a:ln>
        </p:spPr>
      </p:sp>
      <p:pic>
        <p:nvPicPr>
          <p:cNvPr id="29" name="icon-415" descr="preencoded.png">    </p:cNvPr>
          <p:cNvPicPr>
            <a:picLocks noChangeAspect="1"/>
          </p:cNvPicPr>
          <p:nvPr/>
        </p:nvPicPr>
        <p:blipFill>
          <a:blip r:embed="rId13"/>
          <a:stretch>
            <a:fillRect/>
          </a:stretch>
        </p:blipFill>
        <p:spPr>
          <a:xfrm>
            <a:off x="6479896" y="3293364"/>
            <a:ext cx="256032" cy="256032"/>
          </a:xfrm>
          <a:prstGeom prst="rect">
            <a:avLst/>
          </a:prstGeom>
        </p:spPr>
      </p:pic>
      <p:sp>
        <p:nvSpPr>
          <p:cNvPr id="30" name="text-416"/>
          <p:cNvSpPr txBox="1"/>
          <p:nvPr/>
        </p:nvSpPr>
        <p:spPr>
          <a:xfrm>
            <a:off x="7001104" y="3174492"/>
            <a:ext cx="4495648" cy="1089660"/>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Programări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„Scrie BLOND în mesaje și îți trimit locurile libere.”</a:t>
            </a:r>
            <a:endParaRPr lang="en-US" sz="1600" dirty="0"/>
          </a:p>
        </p:txBody>
      </p:sp>
      <p:sp>
        <p:nvSpPr>
          <p:cNvPr id="31" name="note-417"/>
          <p:cNvSpPr/>
          <p:nvPr/>
        </p:nvSpPr>
        <p:spPr>
          <a:xfrm>
            <a:off x="548640" y="4520184"/>
            <a:ext cx="11094415" cy="589026"/>
          </a:xfrm>
          <a:prstGeom prst="roundRect">
            <a:avLst>
              <a:gd name="adj" fmla="val 15524"/>
            </a:avLst>
          </a:prstGeom>
          <a:solidFill>
            <a:srgbClr val="FFFFFF"/>
          </a:solidFill>
          <a:ln w="19050">
            <a:solidFill>
              <a:srgbClr val="B0124F"/>
            </a:solidFill>
            <a:prstDash val="dash"/>
          </a:ln>
        </p:spPr>
      </p:sp>
      <p:pic>
        <p:nvPicPr>
          <p:cNvPr id="32" name="noteicon-418" descr="preencoded.png">    </p:cNvPr>
          <p:cNvPicPr>
            <a:picLocks noChangeAspect="1"/>
          </p:cNvPicPr>
          <p:nvPr/>
        </p:nvPicPr>
        <p:blipFill>
          <a:blip r:embed="rId14"/>
          <a:stretch>
            <a:fillRect/>
          </a:stretch>
        </p:blipFill>
        <p:spPr>
          <a:xfrm>
            <a:off x="685800" y="4640961"/>
            <a:ext cx="347472" cy="347472"/>
          </a:xfrm>
          <a:prstGeom prst="rect">
            <a:avLst/>
          </a:prstGeom>
        </p:spPr>
      </p:pic>
      <p:sp>
        <p:nvSpPr>
          <p:cNvPr id="33" name="text-419"/>
          <p:cNvSpPr txBox="1"/>
          <p:nvPr/>
        </p:nvSpPr>
        <p:spPr>
          <a:xfrm>
            <a:off x="1143000" y="4611624"/>
            <a:ext cx="10362895" cy="406146"/>
          </a:xfrm>
          <a:prstGeom prst="rect">
            <a:avLst/>
          </a:prstGeom>
          <a:noFill/>
          <a:ln/>
        </p:spPr>
        <p:txBody>
          <a:bodyPr wrap="square" lIns="0" tIns="0" rIns="0" bIns="0" rtlCol="0" anchor="ctr"/>
          <a:lstStyle/>
          <a:p>
            <a:pPr indent="0" marL="0">
              <a:buNone/>
            </a:pPr>
            <a:r>
              <a:rPr lang="en-US" sz="2100" b="1" dirty="0">
                <a:solidFill>
                  <a:srgbClr val="111111"/>
                </a:solidFill>
                <a:latin typeface="Arial" pitchFamily="34" charset="0"/>
                <a:ea typeface="Arial" pitchFamily="34" charset="-122"/>
                <a:cs typeface="Arial" pitchFamily="34" charset="-120"/>
              </a:rPr>
              <a:t>Un singur îndemn pe postare. Fără „dați like, vă rog”.</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watermark-420"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421" descr="Instagram">    </p:cNvPr>
          <p:cNvPicPr>
            <a:picLocks noChangeAspect="1"/>
          </p:cNvPicPr>
          <p:nvPr/>
        </p:nvPicPr>
        <p:blipFill>
          <a:blip r:embed="rId2"/>
          <a:stretch>
            <a:fillRect/>
          </a:stretch>
        </p:blipFill>
        <p:spPr>
          <a:xfrm>
            <a:off x="548640" y="329184"/>
            <a:ext cx="384048" cy="384048"/>
          </a:xfrm>
          <a:prstGeom prst="rect">
            <a:avLst/>
          </a:prstGeom>
        </p:spPr>
      </p:pic>
      <p:sp>
        <p:nvSpPr>
          <p:cNvPr id="4" name="text-422"/>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B0124F"/>
                </a:solidFill>
                <a:latin typeface="Arial" pitchFamily="34" charset="0"/>
                <a:ea typeface="Arial" pitchFamily="34" charset="-122"/>
                <a:cs typeface="Arial" pitchFamily="34" charset="-120"/>
              </a:rPr>
              <a:t>INSTAGRAM</a:t>
            </a:r>
            <a:endParaRPr lang="en-US" sz="1500" dirty="0"/>
          </a:p>
        </p:txBody>
      </p:sp>
      <p:sp>
        <p:nvSpPr>
          <p:cNvPr id="5" name="text-423"/>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Înainte și după, prezentat corect</a:t>
            </a:r>
            <a:endParaRPr lang="en-US" sz="3200" dirty="0"/>
          </a:p>
        </p:txBody>
      </p:sp>
      <p:sp>
        <p:nvSpPr>
          <p:cNvPr id="6" name="nav-424">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425">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426">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427">
            <a:hlinkClick r:id="rId6" tooltip="Instagram" action="ppaction://hlinksldjump"/>
          </p:cNvPr>
          <p:cNvSpPr/>
          <p:nvPr/>
        </p:nvSpPr>
        <p:spPr>
          <a:xfrm>
            <a:off x="7784287" y="365760"/>
            <a:ext cx="1033272" cy="310896"/>
          </a:xfrm>
          <a:prstGeom prst="roundRect">
            <a:avLst>
              <a:gd name="adj" fmla="val 50000"/>
            </a:avLst>
          </a:prstGeom>
          <a:solidFill>
            <a:srgbClr val="B0124F"/>
          </a:solidFill>
          <a:ln w="12700">
            <a:solidFill>
              <a:srgbClr val="B0124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428">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429">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430"/>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431"/>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B0124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432"/>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15</a:t>
            </a:r>
            <a:endParaRPr lang="en-US" sz="1000" dirty="0"/>
          </a:p>
        </p:txBody>
      </p:sp>
      <p:sp>
        <p:nvSpPr>
          <p:cNvPr id="15" name="card-433"/>
          <p:cNvSpPr/>
          <p:nvPr/>
        </p:nvSpPr>
        <p:spPr>
          <a:xfrm>
            <a:off x="548640" y="1572768"/>
            <a:ext cx="5410048" cy="1030986"/>
          </a:xfrm>
          <a:prstGeom prst="roundRect">
            <a:avLst>
              <a:gd name="adj" fmla="val 8869"/>
            </a:avLst>
          </a:prstGeom>
          <a:solidFill>
            <a:srgbClr val="F9EEF3"/>
          </a:solidFill>
          <a:ln w="12700">
            <a:solidFill>
              <a:srgbClr val="EECBD8"/>
            </a:solidFill>
            <a:prstDash val="solid"/>
          </a:ln>
        </p:spPr>
      </p:sp>
      <p:sp>
        <p:nvSpPr>
          <p:cNvPr id="16" name="iconbg-434"/>
          <p:cNvSpPr/>
          <p:nvPr/>
        </p:nvSpPr>
        <p:spPr>
          <a:xfrm>
            <a:off x="694944" y="1719072"/>
            <a:ext cx="457200" cy="457200"/>
          </a:xfrm>
          <a:prstGeom prst="ellipse">
            <a:avLst/>
          </a:prstGeom>
          <a:solidFill>
            <a:srgbClr val="B0124F"/>
          </a:solidFill>
          <a:ln w="12700">
            <a:solidFill>
              <a:srgbClr val="B0124F"/>
            </a:solidFill>
            <a:prstDash val="solid"/>
          </a:ln>
        </p:spPr>
      </p:sp>
      <p:pic>
        <p:nvPicPr>
          <p:cNvPr id="17" name="icon-435"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436"/>
          <p:cNvSpPr txBox="1"/>
          <p:nvPr/>
        </p:nvSpPr>
        <p:spPr>
          <a:xfrm>
            <a:off x="1316736" y="1700784"/>
            <a:ext cx="4495648" cy="774954"/>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Același loc</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Marchează-l cu bandă pe podea.</a:t>
            </a:r>
            <a:endParaRPr lang="en-US" sz="1600" dirty="0"/>
          </a:p>
        </p:txBody>
      </p:sp>
      <p:sp>
        <p:nvSpPr>
          <p:cNvPr id="19" name="card-437"/>
          <p:cNvSpPr/>
          <p:nvPr/>
        </p:nvSpPr>
        <p:spPr>
          <a:xfrm>
            <a:off x="6233008" y="1572768"/>
            <a:ext cx="5410048" cy="1030986"/>
          </a:xfrm>
          <a:prstGeom prst="roundRect">
            <a:avLst>
              <a:gd name="adj" fmla="val 8869"/>
            </a:avLst>
          </a:prstGeom>
          <a:solidFill>
            <a:srgbClr val="F9EEF3"/>
          </a:solidFill>
          <a:ln w="12700">
            <a:solidFill>
              <a:srgbClr val="EECBD8"/>
            </a:solidFill>
            <a:prstDash val="solid"/>
          </a:ln>
        </p:spPr>
      </p:sp>
      <p:sp>
        <p:nvSpPr>
          <p:cNvPr id="20" name="iconbg-438"/>
          <p:cNvSpPr/>
          <p:nvPr/>
        </p:nvSpPr>
        <p:spPr>
          <a:xfrm>
            <a:off x="6379312" y="1719072"/>
            <a:ext cx="457200" cy="457200"/>
          </a:xfrm>
          <a:prstGeom prst="ellipse">
            <a:avLst/>
          </a:prstGeom>
          <a:solidFill>
            <a:srgbClr val="B0124F"/>
          </a:solidFill>
          <a:ln w="12700">
            <a:solidFill>
              <a:srgbClr val="B0124F"/>
            </a:solidFill>
            <a:prstDash val="solid"/>
          </a:ln>
        </p:spPr>
      </p:sp>
      <p:pic>
        <p:nvPicPr>
          <p:cNvPr id="21" name="icon-439" descr="preencoded.png">    </p:cNvPr>
          <p:cNvPicPr>
            <a:picLocks noChangeAspect="1"/>
          </p:cNvPicPr>
          <p:nvPr/>
        </p:nvPicPr>
        <p:blipFill>
          <a:blip r:embed="rId11"/>
          <a:stretch>
            <a:fillRect/>
          </a:stretch>
        </p:blipFill>
        <p:spPr>
          <a:xfrm>
            <a:off x="6479896" y="1819656"/>
            <a:ext cx="256032" cy="256032"/>
          </a:xfrm>
          <a:prstGeom prst="rect">
            <a:avLst/>
          </a:prstGeom>
        </p:spPr>
      </p:pic>
      <p:sp>
        <p:nvSpPr>
          <p:cNvPr id="22" name="text-440"/>
          <p:cNvSpPr txBox="1"/>
          <p:nvPr/>
        </p:nvSpPr>
        <p:spPr>
          <a:xfrm>
            <a:off x="7001104" y="1700784"/>
            <a:ext cx="4495648" cy="774954"/>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Aceeași lumină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Fereastră sau lampă albă.</a:t>
            </a:r>
            <a:endParaRPr lang="en-US" sz="1600" dirty="0"/>
          </a:p>
        </p:txBody>
      </p:sp>
      <p:sp>
        <p:nvSpPr>
          <p:cNvPr id="23" name="card-441"/>
          <p:cNvSpPr/>
          <p:nvPr/>
        </p:nvSpPr>
        <p:spPr>
          <a:xfrm>
            <a:off x="548640" y="2731770"/>
            <a:ext cx="5410048" cy="1030986"/>
          </a:xfrm>
          <a:prstGeom prst="roundRect">
            <a:avLst>
              <a:gd name="adj" fmla="val 8869"/>
            </a:avLst>
          </a:prstGeom>
          <a:solidFill>
            <a:srgbClr val="F9EEF3"/>
          </a:solidFill>
          <a:ln w="12700">
            <a:solidFill>
              <a:srgbClr val="EECBD8"/>
            </a:solidFill>
            <a:prstDash val="solid"/>
          </a:ln>
        </p:spPr>
      </p:sp>
      <p:sp>
        <p:nvSpPr>
          <p:cNvPr id="24" name="iconbg-442"/>
          <p:cNvSpPr/>
          <p:nvPr/>
        </p:nvSpPr>
        <p:spPr>
          <a:xfrm>
            <a:off x="694944" y="2878074"/>
            <a:ext cx="457200" cy="457200"/>
          </a:xfrm>
          <a:prstGeom prst="ellipse">
            <a:avLst/>
          </a:prstGeom>
          <a:solidFill>
            <a:srgbClr val="B0124F"/>
          </a:solidFill>
          <a:ln w="12700">
            <a:solidFill>
              <a:srgbClr val="B0124F"/>
            </a:solidFill>
            <a:prstDash val="solid"/>
          </a:ln>
        </p:spPr>
      </p:sp>
      <p:pic>
        <p:nvPicPr>
          <p:cNvPr id="25" name="icon-443" descr="preencoded.png">    </p:cNvPr>
          <p:cNvPicPr>
            <a:picLocks noChangeAspect="1"/>
          </p:cNvPicPr>
          <p:nvPr/>
        </p:nvPicPr>
        <p:blipFill>
          <a:blip r:embed="rId12"/>
          <a:stretch>
            <a:fillRect/>
          </a:stretch>
        </p:blipFill>
        <p:spPr>
          <a:xfrm>
            <a:off x="795528" y="2978658"/>
            <a:ext cx="256032" cy="256032"/>
          </a:xfrm>
          <a:prstGeom prst="rect">
            <a:avLst/>
          </a:prstGeom>
        </p:spPr>
      </p:pic>
      <p:sp>
        <p:nvSpPr>
          <p:cNvPr id="26" name="text-444"/>
          <p:cNvSpPr txBox="1"/>
          <p:nvPr/>
        </p:nvSpPr>
        <p:spPr>
          <a:xfrm>
            <a:off x="1316736" y="2859786"/>
            <a:ext cx="4495648" cy="774954"/>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Același unghi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Telefonul fix, pe suport.</a:t>
            </a:r>
            <a:endParaRPr lang="en-US" sz="1600" dirty="0"/>
          </a:p>
        </p:txBody>
      </p:sp>
      <p:sp>
        <p:nvSpPr>
          <p:cNvPr id="27" name="card-445"/>
          <p:cNvSpPr/>
          <p:nvPr/>
        </p:nvSpPr>
        <p:spPr>
          <a:xfrm>
            <a:off x="6233008" y="2731770"/>
            <a:ext cx="5410048" cy="1030986"/>
          </a:xfrm>
          <a:prstGeom prst="roundRect">
            <a:avLst>
              <a:gd name="adj" fmla="val 8869"/>
            </a:avLst>
          </a:prstGeom>
          <a:solidFill>
            <a:srgbClr val="F9EEF3"/>
          </a:solidFill>
          <a:ln w="12700">
            <a:solidFill>
              <a:srgbClr val="EECBD8"/>
            </a:solidFill>
            <a:prstDash val="solid"/>
          </a:ln>
        </p:spPr>
      </p:sp>
      <p:sp>
        <p:nvSpPr>
          <p:cNvPr id="28" name="iconbg-446"/>
          <p:cNvSpPr/>
          <p:nvPr/>
        </p:nvSpPr>
        <p:spPr>
          <a:xfrm>
            <a:off x="6379312" y="2878074"/>
            <a:ext cx="457200" cy="457200"/>
          </a:xfrm>
          <a:prstGeom prst="ellipse">
            <a:avLst/>
          </a:prstGeom>
          <a:solidFill>
            <a:srgbClr val="B0124F"/>
          </a:solidFill>
          <a:ln w="12700">
            <a:solidFill>
              <a:srgbClr val="B0124F"/>
            </a:solidFill>
            <a:prstDash val="solid"/>
          </a:ln>
        </p:spPr>
      </p:sp>
      <p:pic>
        <p:nvPicPr>
          <p:cNvPr id="29" name="icon-447" descr="preencoded.png">    </p:cNvPr>
          <p:cNvPicPr>
            <a:picLocks noChangeAspect="1"/>
          </p:cNvPicPr>
          <p:nvPr/>
        </p:nvPicPr>
        <p:blipFill>
          <a:blip r:embed="rId13"/>
          <a:stretch>
            <a:fillRect/>
          </a:stretch>
        </p:blipFill>
        <p:spPr>
          <a:xfrm>
            <a:off x="6479896" y="2978658"/>
            <a:ext cx="256032" cy="256032"/>
          </a:xfrm>
          <a:prstGeom prst="rect">
            <a:avLst/>
          </a:prstGeom>
        </p:spPr>
      </p:pic>
      <p:sp>
        <p:nvSpPr>
          <p:cNvPr id="30" name="text-448"/>
          <p:cNvSpPr txBox="1"/>
          <p:nvPr/>
        </p:nvSpPr>
        <p:spPr>
          <a:xfrm>
            <a:off x="7001104" y="2859786"/>
            <a:ext cx="4495648" cy="774954"/>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Fără filtru</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Altfel pare trucat.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watermark-449"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450" descr="Instagram">    </p:cNvPr>
          <p:cNvPicPr>
            <a:picLocks noChangeAspect="1"/>
          </p:cNvPicPr>
          <p:nvPr/>
        </p:nvPicPr>
        <p:blipFill>
          <a:blip r:embed="rId2"/>
          <a:stretch>
            <a:fillRect/>
          </a:stretch>
        </p:blipFill>
        <p:spPr>
          <a:xfrm>
            <a:off x="548640" y="329184"/>
            <a:ext cx="384048" cy="384048"/>
          </a:xfrm>
          <a:prstGeom prst="rect">
            <a:avLst/>
          </a:prstGeom>
        </p:spPr>
      </p:pic>
      <p:sp>
        <p:nvSpPr>
          <p:cNvPr id="4" name="text-451"/>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B0124F"/>
                </a:solidFill>
                <a:latin typeface="Arial" pitchFamily="34" charset="0"/>
                <a:ea typeface="Arial" pitchFamily="34" charset="-122"/>
                <a:cs typeface="Arial" pitchFamily="34" charset="-120"/>
              </a:rPr>
              <a:t>INSTAGRAM</a:t>
            </a:r>
            <a:endParaRPr lang="en-US" sz="1500" dirty="0"/>
          </a:p>
        </p:txBody>
      </p:sp>
      <p:sp>
        <p:nvSpPr>
          <p:cNvPr id="5" name="text-452"/>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Giveaway (concurs cu premii): organizare</a:t>
            </a:r>
            <a:endParaRPr lang="en-US" sz="3200" dirty="0"/>
          </a:p>
        </p:txBody>
      </p:sp>
      <p:sp>
        <p:nvSpPr>
          <p:cNvPr id="6" name="nav-453">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454">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455">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456">
            <a:hlinkClick r:id="rId6" tooltip="Instagram" action="ppaction://hlinksldjump"/>
          </p:cNvPr>
          <p:cNvSpPr/>
          <p:nvPr/>
        </p:nvSpPr>
        <p:spPr>
          <a:xfrm>
            <a:off x="7784287" y="365760"/>
            <a:ext cx="1033272" cy="310896"/>
          </a:xfrm>
          <a:prstGeom prst="roundRect">
            <a:avLst>
              <a:gd name="adj" fmla="val 50000"/>
            </a:avLst>
          </a:prstGeom>
          <a:solidFill>
            <a:srgbClr val="B0124F"/>
          </a:solidFill>
          <a:ln w="12700">
            <a:solidFill>
              <a:srgbClr val="B0124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457">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458">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459"/>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460"/>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B0124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461"/>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16</a:t>
            </a:r>
            <a:endParaRPr lang="en-US" sz="1000" dirty="0"/>
          </a:p>
        </p:txBody>
      </p:sp>
      <p:sp>
        <p:nvSpPr>
          <p:cNvPr id="15" name="card-462"/>
          <p:cNvSpPr/>
          <p:nvPr/>
        </p:nvSpPr>
        <p:spPr>
          <a:xfrm>
            <a:off x="548640" y="1572768"/>
            <a:ext cx="5364328" cy="1907540"/>
          </a:xfrm>
          <a:prstGeom prst="roundRect">
            <a:avLst>
              <a:gd name="adj" fmla="val 4794"/>
            </a:avLst>
          </a:prstGeom>
          <a:solidFill>
            <a:srgbClr val="F9EEF3"/>
          </a:solidFill>
          <a:ln w="12700">
            <a:solidFill>
              <a:srgbClr val="EECBD8"/>
            </a:solidFill>
            <a:prstDash val="solid"/>
          </a:ln>
        </p:spPr>
      </p:sp>
      <p:sp>
        <p:nvSpPr>
          <p:cNvPr id="16" name="iconbg-463"/>
          <p:cNvSpPr/>
          <p:nvPr/>
        </p:nvSpPr>
        <p:spPr>
          <a:xfrm>
            <a:off x="694944" y="1719072"/>
            <a:ext cx="457200" cy="457200"/>
          </a:xfrm>
          <a:prstGeom prst="ellipse">
            <a:avLst/>
          </a:prstGeom>
          <a:solidFill>
            <a:srgbClr val="B0124F"/>
          </a:solidFill>
          <a:ln w="12700">
            <a:solidFill>
              <a:srgbClr val="B0124F"/>
            </a:solidFill>
            <a:prstDash val="solid"/>
          </a:ln>
        </p:spPr>
      </p:sp>
      <p:pic>
        <p:nvPicPr>
          <p:cNvPr id="17" name="icon-464"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465"/>
          <p:cNvSpPr txBox="1"/>
          <p:nvPr/>
        </p:nvSpPr>
        <p:spPr>
          <a:xfrm>
            <a:off x="1316736" y="1700784"/>
            <a:ext cx="4449928" cy="1651508"/>
          </a:xfrm>
          <a:prstGeom prst="rect">
            <a:avLst/>
          </a:prstGeom>
          <a:noFill/>
          <a:ln/>
        </p:spPr>
        <p:txBody>
          <a:bodyPr wrap="square" lIns="0" tIns="0" rIns="0" bIns="0" rtlCol="0" anchor="t"/>
          <a:lstStyle/>
          <a:p>
            <a:pPr indent="0" marL="0">
              <a:spcAft>
                <a:spcPts val="200"/>
              </a:spcAft>
              <a:buNone/>
            </a:pPr>
            <a:r>
              <a:rPr lang="en-US" sz="2200" b="1" dirty="0">
                <a:solidFill>
                  <a:srgbClr val="B0124F"/>
                </a:solidFill>
                <a:latin typeface="Arial" pitchFamily="34" charset="0"/>
                <a:ea typeface="Arial" pitchFamily="34" charset="-122"/>
                <a:cs typeface="Arial" pitchFamily="34" charset="-120"/>
              </a:rPr>
              <a:t>Cum îl organizezi</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1. Anunți premiul și termenul</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2. Condiții: urmărești + comentezi</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3. Extragere filmată</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4. Anunți public câștigătoarea</a:t>
            </a:r>
            <a:endParaRPr lang="en-US" sz="1600" dirty="0"/>
          </a:p>
        </p:txBody>
      </p:sp>
      <p:sp>
        <p:nvSpPr>
          <p:cNvPr id="19" name="text-466"/>
          <p:cNvSpPr txBox="1"/>
          <p:nvPr/>
        </p:nvSpPr>
        <p:spPr>
          <a:xfrm>
            <a:off x="6278728" y="1572768"/>
            <a:ext cx="5364328" cy="454406"/>
          </a:xfrm>
          <a:prstGeom prst="rect">
            <a:avLst/>
          </a:prstGeom>
          <a:noFill/>
          <a:ln/>
        </p:spPr>
        <p:txBody>
          <a:bodyPr wrap="square" lIns="0" tIns="0" rIns="0" bIns="0" rtlCol="0" anchor="b"/>
          <a:lstStyle/>
          <a:p>
            <a:pPr indent="0" marL="0">
              <a:buNone/>
            </a:pPr>
            <a:r>
              <a:rPr lang="en-US" sz="2200" b="1" spc="100" kern="0" dirty="0">
                <a:solidFill>
                  <a:srgbClr val="B0124F"/>
                </a:solidFill>
                <a:latin typeface="Arial" pitchFamily="34" charset="0"/>
                <a:ea typeface="Arial" pitchFamily="34" charset="-122"/>
                <a:cs typeface="Arial" pitchFamily="34" charset="-120"/>
              </a:rPr>
              <a:t>Premiul potrivit</a:t>
            </a:r>
            <a:endParaRPr lang="en-US" sz="2200" dirty="0"/>
          </a:p>
        </p:txBody>
      </p:sp>
      <p:sp>
        <p:nvSpPr>
          <p:cNvPr id="20" name="card-467"/>
          <p:cNvSpPr/>
          <p:nvPr/>
        </p:nvSpPr>
        <p:spPr>
          <a:xfrm>
            <a:off x="6278728" y="2155190"/>
            <a:ext cx="5364328" cy="1255776"/>
          </a:xfrm>
          <a:prstGeom prst="roundRect">
            <a:avLst>
              <a:gd name="adj" fmla="val 7282"/>
            </a:avLst>
          </a:prstGeom>
          <a:solidFill>
            <a:srgbClr val="EFF6F2"/>
          </a:solidFill>
          <a:ln w="12700">
            <a:solidFill>
              <a:srgbClr val="CEE2D7"/>
            </a:solidFill>
            <a:prstDash val="solid"/>
          </a:ln>
        </p:spPr>
      </p:sp>
      <p:sp>
        <p:nvSpPr>
          <p:cNvPr id="21" name="iconbg-468"/>
          <p:cNvSpPr/>
          <p:nvPr/>
        </p:nvSpPr>
        <p:spPr>
          <a:xfrm>
            <a:off x="6425032" y="2301494"/>
            <a:ext cx="457200" cy="457200"/>
          </a:xfrm>
          <a:prstGeom prst="ellipse">
            <a:avLst/>
          </a:prstGeom>
          <a:solidFill>
            <a:srgbClr val="1F7A4A"/>
          </a:solidFill>
          <a:ln w="12700">
            <a:solidFill>
              <a:srgbClr val="1F7A4A"/>
            </a:solidFill>
            <a:prstDash val="solid"/>
          </a:ln>
        </p:spPr>
      </p:sp>
      <p:pic>
        <p:nvPicPr>
          <p:cNvPr id="22" name="icon-469" descr="preencoded.png">    </p:cNvPr>
          <p:cNvPicPr>
            <a:picLocks noChangeAspect="1"/>
          </p:cNvPicPr>
          <p:nvPr/>
        </p:nvPicPr>
        <p:blipFill>
          <a:blip r:embed="rId11"/>
          <a:stretch>
            <a:fillRect/>
          </a:stretch>
        </p:blipFill>
        <p:spPr>
          <a:xfrm>
            <a:off x="6525616" y="2402078"/>
            <a:ext cx="256032" cy="256032"/>
          </a:xfrm>
          <a:prstGeom prst="rect">
            <a:avLst/>
          </a:prstGeom>
        </p:spPr>
      </p:pic>
      <p:sp>
        <p:nvSpPr>
          <p:cNvPr id="23" name="text-470"/>
          <p:cNvSpPr txBox="1"/>
          <p:nvPr/>
        </p:nvSpPr>
        <p:spPr>
          <a:xfrm>
            <a:off x="7046824" y="2283206"/>
            <a:ext cx="4449928" cy="999744"/>
          </a:xfrm>
          <a:prstGeom prst="rect">
            <a:avLst/>
          </a:prstGeom>
          <a:noFill/>
          <a:ln/>
        </p:spPr>
        <p:txBody>
          <a:bodyPr wrap="square" lIns="0" tIns="0" rIns="0" bIns="0" rtlCol="0" anchor="t"/>
          <a:lstStyle/>
          <a:p>
            <a:pPr indent="0" marL="0">
              <a:spcAft>
                <a:spcPts val="200"/>
              </a:spcAft>
              <a:buNone/>
            </a:pPr>
            <a:r>
              <a:rPr lang="en-US" sz="2200" b="1" dirty="0">
                <a:solidFill>
                  <a:srgbClr val="1F7A4A"/>
                </a:solidFill>
                <a:latin typeface="Arial" pitchFamily="34" charset="0"/>
                <a:ea typeface="Arial" pitchFamily="34" charset="-122"/>
                <a:cs typeface="Arial" pitchFamily="34" charset="-120"/>
              </a:rPr>
              <a:t>DA</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Tratament + coafat, tonifiere, voucher.</a:t>
            </a:r>
            <a:endParaRPr lang="en-US" sz="1600" dirty="0"/>
          </a:p>
        </p:txBody>
      </p:sp>
      <p:sp>
        <p:nvSpPr>
          <p:cNvPr id="24" name="card-471"/>
          <p:cNvSpPr/>
          <p:nvPr/>
        </p:nvSpPr>
        <p:spPr>
          <a:xfrm>
            <a:off x="6278728" y="3538982"/>
            <a:ext cx="5364328" cy="1255776"/>
          </a:xfrm>
          <a:prstGeom prst="roundRect">
            <a:avLst>
              <a:gd name="adj" fmla="val 7282"/>
            </a:avLst>
          </a:prstGeom>
          <a:solidFill>
            <a:srgbClr val="FAF0EF"/>
          </a:solidFill>
          <a:ln w="12700">
            <a:solidFill>
              <a:srgbClr val="EFCFCC"/>
            </a:solidFill>
            <a:prstDash val="solid"/>
          </a:ln>
        </p:spPr>
      </p:sp>
      <p:sp>
        <p:nvSpPr>
          <p:cNvPr id="25" name="iconbg-472"/>
          <p:cNvSpPr/>
          <p:nvPr/>
        </p:nvSpPr>
        <p:spPr>
          <a:xfrm>
            <a:off x="6425032" y="3685286"/>
            <a:ext cx="457200" cy="457200"/>
          </a:xfrm>
          <a:prstGeom prst="ellipse">
            <a:avLst/>
          </a:prstGeom>
          <a:solidFill>
            <a:srgbClr val="B42318"/>
          </a:solidFill>
          <a:ln w="12700">
            <a:solidFill>
              <a:srgbClr val="B42318"/>
            </a:solidFill>
            <a:prstDash val="solid"/>
          </a:ln>
        </p:spPr>
      </p:sp>
      <p:pic>
        <p:nvPicPr>
          <p:cNvPr id="26" name="icon-473" descr="preencoded.png">    </p:cNvPr>
          <p:cNvPicPr>
            <a:picLocks noChangeAspect="1"/>
          </p:cNvPicPr>
          <p:nvPr/>
        </p:nvPicPr>
        <p:blipFill>
          <a:blip r:embed="rId12"/>
          <a:stretch>
            <a:fillRect/>
          </a:stretch>
        </p:blipFill>
        <p:spPr>
          <a:xfrm>
            <a:off x="6525616" y="3785870"/>
            <a:ext cx="256032" cy="256032"/>
          </a:xfrm>
          <a:prstGeom prst="rect">
            <a:avLst/>
          </a:prstGeom>
        </p:spPr>
      </p:pic>
      <p:sp>
        <p:nvSpPr>
          <p:cNvPr id="27" name="text-474"/>
          <p:cNvSpPr txBox="1"/>
          <p:nvPr/>
        </p:nvSpPr>
        <p:spPr>
          <a:xfrm>
            <a:off x="7046824" y="3666998"/>
            <a:ext cx="4449928" cy="999744"/>
          </a:xfrm>
          <a:prstGeom prst="rect">
            <a:avLst/>
          </a:prstGeom>
          <a:noFill/>
          <a:ln/>
        </p:spPr>
        <p:txBody>
          <a:bodyPr wrap="square" lIns="0" tIns="0" rIns="0" bIns="0" rtlCol="0" anchor="t"/>
          <a:lstStyle/>
          <a:p>
            <a:pPr indent="0" marL="0">
              <a:spcAft>
                <a:spcPts val="200"/>
              </a:spcAft>
              <a:buNone/>
            </a:pPr>
            <a:r>
              <a:rPr lang="en-US" sz="2200" b="1" dirty="0">
                <a:solidFill>
                  <a:srgbClr val="B42318"/>
                </a:solidFill>
                <a:latin typeface="Arial" pitchFamily="34" charset="0"/>
                <a:ea typeface="Arial" pitchFamily="34" charset="-122"/>
                <a:cs typeface="Arial" pitchFamily="34" charset="-120"/>
              </a:rPr>
              <a:t>NU</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Telefon, bani: aduc vânători de premii.</a:t>
            </a:r>
            <a:endParaRPr lang="en-US" sz="1600" dirty="0"/>
          </a:p>
        </p:txBody>
      </p:sp>
      <p:sp>
        <p:nvSpPr>
          <p:cNvPr id="28" name="card-475"/>
          <p:cNvSpPr/>
          <p:nvPr/>
        </p:nvSpPr>
        <p:spPr>
          <a:xfrm>
            <a:off x="6278728" y="4922774"/>
            <a:ext cx="5364328" cy="1255776"/>
          </a:xfrm>
          <a:prstGeom prst="roundRect">
            <a:avLst>
              <a:gd name="adj" fmla="val 7282"/>
            </a:avLst>
          </a:prstGeom>
          <a:solidFill>
            <a:srgbClr val="F9EEF3"/>
          </a:solidFill>
          <a:ln w="12700">
            <a:solidFill>
              <a:srgbClr val="EECBD8"/>
            </a:solidFill>
            <a:prstDash val="solid"/>
          </a:ln>
        </p:spPr>
      </p:sp>
      <p:sp>
        <p:nvSpPr>
          <p:cNvPr id="29" name="iconbg-476"/>
          <p:cNvSpPr/>
          <p:nvPr/>
        </p:nvSpPr>
        <p:spPr>
          <a:xfrm>
            <a:off x="6425032" y="5069078"/>
            <a:ext cx="457200" cy="457200"/>
          </a:xfrm>
          <a:prstGeom prst="ellipse">
            <a:avLst/>
          </a:prstGeom>
          <a:solidFill>
            <a:srgbClr val="B0124F"/>
          </a:solidFill>
          <a:ln w="12700">
            <a:solidFill>
              <a:srgbClr val="B0124F"/>
            </a:solidFill>
            <a:prstDash val="solid"/>
          </a:ln>
        </p:spPr>
      </p:sp>
      <p:pic>
        <p:nvPicPr>
          <p:cNvPr id="30" name="icon-477" descr="preencoded.png">    </p:cNvPr>
          <p:cNvPicPr>
            <a:picLocks noChangeAspect="1"/>
          </p:cNvPicPr>
          <p:nvPr/>
        </p:nvPicPr>
        <p:blipFill>
          <a:blip r:embed="rId13"/>
          <a:stretch>
            <a:fillRect/>
          </a:stretch>
        </p:blipFill>
        <p:spPr>
          <a:xfrm>
            <a:off x="6525616" y="5169662"/>
            <a:ext cx="256032" cy="256032"/>
          </a:xfrm>
          <a:prstGeom prst="rect">
            <a:avLst/>
          </a:prstGeom>
        </p:spPr>
      </p:pic>
      <p:sp>
        <p:nvSpPr>
          <p:cNvPr id="31" name="text-478"/>
          <p:cNvSpPr txBox="1"/>
          <p:nvPr/>
        </p:nvSpPr>
        <p:spPr>
          <a:xfrm>
            <a:off x="7046824" y="5050790"/>
            <a:ext cx="4449928" cy="999744"/>
          </a:xfrm>
          <a:prstGeom prst="rect">
            <a:avLst/>
          </a:prstGeom>
          <a:noFill/>
          <a:ln/>
        </p:spPr>
        <p:txBody>
          <a:bodyPr wrap="square" lIns="0" tIns="0" rIns="0" bIns="0" rtlCol="0" anchor="t"/>
          <a:lstStyle/>
          <a:p>
            <a:pPr indent="0" marL="0">
              <a:spcAft>
                <a:spcPts val="200"/>
              </a:spcAft>
              <a:buNone/>
            </a:pPr>
            <a:r>
              <a:rPr lang="en-US" sz="2200" b="1" dirty="0">
                <a:solidFill>
                  <a:srgbClr val="B0124F"/>
                </a:solidFill>
                <a:latin typeface="Arial" pitchFamily="34" charset="0"/>
                <a:ea typeface="Arial" pitchFamily="34" charset="-122"/>
                <a:cs typeface="Arial" pitchFamily="34" charset="-120"/>
              </a:rPr>
              <a:t>BONUS</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Câștigătoarea vine în salon = o transformare nouă de filmat.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watermark-479"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480" descr="Instagram">    </p:cNvPr>
          <p:cNvPicPr>
            <a:picLocks noChangeAspect="1"/>
          </p:cNvPicPr>
          <p:nvPr/>
        </p:nvPicPr>
        <p:blipFill>
          <a:blip r:embed="rId2"/>
          <a:stretch>
            <a:fillRect/>
          </a:stretch>
        </p:blipFill>
        <p:spPr>
          <a:xfrm>
            <a:off x="548640" y="329184"/>
            <a:ext cx="384048" cy="384048"/>
          </a:xfrm>
          <a:prstGeom prst="rect">
            <a:avLst/>
          </a:prstGeom>
        </p:spPr>
      </p:pic>
      <p:sp>
        <p:nvSpPr>
          <p:cNvPr id="4" name="text-481"/>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B0124F"/>
                </a:solidFill>
                <a:latin typeface="Arial" pitchFamily="34" charset="0"/>
                <a:ea typeface="Arial" pitchFamily="34" charset="-122"/>
                <a:cs typeface="Arial" pitchFamily="34" charset="-120"/>
              </a:rPr>
              <a:t>INSTAGRAM</a:t>
            </a:r>
            <a:endParaRPr lang="en-US" sz="1500" dirty="0"/>
          </a:p>
        </p:txBody>
      </p:sp>
      <p:sp>
        <p:nvSpPr>
          <p:cNvPr id="5" name="text-482"/>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Giveaway: regulile de respectat</a:t>
            </a:r>
            <a:endParaRPr lang="en-US" sz="3200" dirty="0"/>
          </a:p>
        </p:txBody>
      </p:sp>
      <p:sp>
        <p:nvSpPr>
          <p:cNvPr id="6" name="nav-483">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484">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485">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486">
            <a:hlinkClick r:id="rId6" tooltip="Instagram" action="ppaction://hlinksldjump"/>
          </p:cNvPr>
          <p:cNvSpPr/>
          <p:nvPr/>
        </p:nvSpPr>
        <p:spPr>
          <a:xfrm>
            <a:off x="7784287" y="365760"/>
            <a:ext cx="1033272" cy="310896"/>
          </a:xfrm>
          <a:prstGeom prst="roundRect">
            <a:avLst>
              <a:gd name="adj" fmla="val 50000"/>
            </a:avLst>
          </a:prstGeom>
          <a:solidFill>
            <a:srgbClr val="B0124F"/>
          </a:solidFill>
          <a:ln w="12700">
            <a:solidFill>
              <a:srgbClr val="B0124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487">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488">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489"/>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490"/>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B0124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491"/>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17</a:t>
            </a:r>
            <a:endParaRPr lang="en-US" sz="1000" dirty="0"/>
          </a:p>
        </p:txBody>
      </p:sp>
      <p:sp>
        <p:nvSpPr>
          <p:cNvPr id="15" name="card-492"/>
          <p:cNvSpPr/>
          <p:nvPr/>
        </p:nvSpPr>
        <p:spPr>
          <a:xfrm>
            <a:off x="548640" y="1572768"/>
            <a:ext cx="5410048" cy="1705356"/>
          </a:xfrm>
          <a:prstGeom prst="roundRect">
            <a:avLst>
              <a:gd name="adj" fmla="val 5362"/>
            </a:avLst>
          </a:prstGeom>
          <a:solidFill>
            <a:srgbClr val="F9EEF3"/>
          </a:solidFill>
          <a:ln w="12700">
            <a:solidFill>
              <a:srgbClr val="EECBD8"/>
            </a:solidFill>
            <a:prstDash val="solid"/>
          </a:ln>
        </p:spPr>
      </p:sp>
      <p:sp>
        <p:nvSpPr>
          <p:cNvPr id="16" name="iconbg-493"/>
          <p:cNvSpPr/>
          <p:nvPr/>
        </p:nvSpPr>
        <p:spPr>
          <a:xfrm>
            <a:off x="694944" y="1719072"/>
            <a:ext cx="457200" cy="457200"/>
          </a:xfrm>
          <a:prstGeom prst="ellipse">
            <a:avLst/>
          </a:prstGeom>
          <a:solidFill>
            <a:srgbClr val="B0124F"/>
          </a:solidFill>
          <a:ln w="12700">
            <a:solidFill>
              <a:srgbClr val="B0124F"/>
            </a:solidFill>
            <a:prstDash val="solid"/>
          </a:ln>
        </p:spPr>
      </p:sp>
      <p:pic>
        <p:nvPicPr>
          <p:cNvPr id="17" name="icon-494"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495"/>
          <p:cNvSpPr txBox="1"/>
          <p:nvPr/>
        </p:nvSpPr>
        <p:spPr>
          <a:xfrm>
            <a:off x="1316736" y="1700784"/>
            <a:ext cx="4495648" cy="1449324"/>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Spui că Instagram nu e implicat (Oficial)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„Concursul nu este sponsorizat sau administrat de Instagram.”</a:t>
            </a:r>
            <a:endParaRPr lang="en-US" sz="1600" dirty="0"/>
          </a:p>
        </p:txBody>
      </p:sp>
      <p:sp>
        <p:nvSpPr>
          <p:cNvPr id="19" name="card-496"/>
          <p:cNvSpPr/>
          <p:nvPr/>
        </p:nvSpPr>
        <p:spPr>
          <a:xfrm>
            <a:off x="6233008" y="1572768"/>
            <a:ext cx="5410048" cy="1705356"/>
          </a:xfrm>
          <a:prstGeom prst="roundRect">
            <a:avLst>
              <a:gd name="adj" fmla="val 5362"/>
            </a:avLst>
          </a:prstGeom>
          <a:solidFill>
            <a:srgbClr val="F9EEF3"/>
          </a:solidFill>
          <a:ln w="12700">
            <a:solidFill>
              <a:srgbClr val="EECBD8"/>
            </a:solidFill>
            <a:prstDash val="solid"/>
          </a:ln>
        </p:spPr>
      </p:sp>
      <p:sp>
        <p:nvSpPr>
          <p:cNvPr id="20" name="iconbg-497"/>
          <p:cNvSpPr/>
          <p:nvPr/>
        </p:nvSpPr>
        <p:spPr>
          <a:xfrm>
            <a:off x="6379312" y="1719072"/>
            <a:ext cx="457200" cy="457200"/>
          </a:xfrm>
          <a:prstGeom prst="ellipse">
            <a:avLst/>
          </a:prstGeom>
          <a:solidFill>
            <a:srgbClr val="B0124F"/>
          </a:solidFill>
          <a:ln w="12700">
            <a:solidFill>
              <a:srgbClr val="B0124F"/>
            </a:solidFill>
            <a:prstDash val="solid"/>
          </a:ln>
        </p:spPr>
      </p:sp>
      <p:pic>
        <p:nvPicPr>
          <p:cNvPr id="21" name="icon-498" descr="preencoded.png">    </p:cNvPr>
          <p:cNvPicPr>
            <a:picLocks noChangeAspect="1"/>
          </p:cNvPicPr>
          <p:nvPr/>
        </p:nvPicPr>
        <p:blipFill>
          <a:blip r:embed="rId11"/>
          <a:stretch>
            <a:fillRect/>
          </a:stretch>
        </p:blipFill>
        <p:spPr>
          <a:xfrm>
            <a:off x="6479896" y="1819656"/>
            <a:ext cx="256032" cy="256032"/>
          </a:xfrm>
          <a:prstGeom prst="rect">
            <a:avLst/>
          </a:prstGeom>
        </p:spPr>
      </p:pic>
      <p:sp>
        <p:nvSpPr>
          <p:cNvPr id="22" name="text-499"/>
          <p:cNvSpPr txBox="1"/>
          <p:nvPr/>
        </p:nvSpPr>
        <p:spPr>
          <a:xfrm>
            <a:off x="7001104" y="1700784"/>
            <a:ext cx="4495648" cy="1449324"/>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Fără etichetări false (Oficial)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Nu ceri oamenilor să se eticheteze unde nu apar.</a:t>
            </a:r>
            <a:endParaRPr lang="en-US" sz="1600" dirty="0"/>
          </a:p>
        </p:txBody>
      </p:sp>
      <p:sp>
        <p:nvSpPr>
          <p:cNvPr id="23" name="card-500"/>
          <p:cNvSpPr/>
          <p:nvPr/>
        </p:nvSpPr>
        <p:spPr>
          <a:xfrm>
            <a:off x="548640" y="3406140"/>
            <a:ext cx="5410048" cy="1345692"/>
          </a:xfrm>
          <a:prstGeom prst="roundRect">
            <a:avLst>
              <a:gd name="adj" fmla="val 6795"/>
            </a:avLst>
          </a:prstGeom>
          <a:solidFill>
            <a:srgbClr val="F9EEF3"/>
          </a:solidFill>
          <a:ln w="12700">
            <a:solidFill>
              <a:srgbClr val="EECBD8"/>
            </a:solidFill>
            <a:prstDash val="solid"/>
          </a:ln>
        </p:spPr>
      </p:sp>
      <p:sp>
        <p:nvSpPr>
          <p:cNvPr id="24" name="iconbg-501"/>
          <p:cNvSpPr/>
          <p:nvPr/>
        </p:nvSpPr>
        <p:spPr>
          <a:xfrm>
            <a:off x="694944" y="3552444"/>
            <a:ext cx="457200" cy="457200"/>
          </a:xfrm>
          <a:prstGeom prst="ellipse">
            <a:avLst/>
          </a:prstGeom>
          <a:solidFill>
            <a:srgbClr val="B0124F"/>
          </a:solidFill>
          <a:ln w="12700">
            <a:solidFill>
              <a:srgbClr val="B0124F"/>
            </a:solidFill>
            <a:prstDash val="solid"/>
          </a:ln>
        </p:spPr>
      </p:sp>
      <p:pic>
        <p:nvPicPr>
          <p:cNvPr id="25" name="icon-502" descr="preencoded.png">    </p:cNvPr>
          <p:cNvPicPr>
            <a:picLocks noChangeAspect="1"/>
          </p:cNvPicPr>
          <p:nvPr/>
        </p:nvPicPr>
        <p:blipFill>
          <a:blip r:embed="rId12"/>
          <a:stretch>
            <a:fillRect/>
          </a:stretch>
        </p:blipFill>
        <p:spPr>
          <a:xfrm>
            <a:off x="795528" y="3653028"/>
            <a:ext cx="256032" cy="256032"/>
          </a:xfrm>
          <a:prstGeom prst="rect">
            <a:avLst/>
          </a:prstGeom>
        </p:spPr>
      </p:pic>
      <p:sp>
        <p:nvSpPr>
          <p:cNvPr id="26" name="text-503"/>
          <p:cNvSpPr txBox="1"/>
          <p:nvPr/>
        </p:nvSpPr>
        <p:spPr>
          <a:xfrm>
            <a:off x="1316736" y="3534156"/>
            <a:ext cx="4495648" cy="1089660"/>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Regulament scurt</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Perioada, cine participă, cum se alege câștigătoarea.</a:t>
            </a:r>
            <a:endParaRPr lang="en-US" sz="1600" dirty="0"/>
          </a:p>
        </p:txBody>
      </p:sp>
      <p:sp>
        <p:nvSpPr>
          <p:cNvPr id="27" name="card-504"/>
          <p:cNvSpPr/>
          <p:nvPr/>
        </p:nvSpPr>
        <p:spPr>
          <a:xfrm>
            <a:off x="6233008" y="3406140"/>
            <a:ext cx="5410048" cy="1345692"/>
          </a:xfrm>
          <a:prstGeom prst="roundRect">
            <a:avLst>
              <a:gd name="adj" fmla="val 6795"/>
            </a:avLst>
          </a:prstGeom>
          <a:solidFill>
            <a:srgbClr val="F9EEF3"/>
          </a:solidFill>
          <a:ln w="12700">
            <a:solidFill>
              <a:srgbClr val="EECBD8"/>
            </a:solidFill>
            <a:prstDash val="solid"/>
          </a:ln>
        </p:spPr>
      </p:sp>
      <p:sp>
        <p:nvSpPr>
          <p:cNvPr id="28" name="iconbg-505"/>
          <p:cNvSpPr/>
          <p:nvPr/>
        </p:nvSpPr>
        <p:spPr>
          <a:xfrm>
            <a:off x="6379312" y="3552444"/>
            <a:ext cx="457200" cy="457200"/>
          </a:xfrm>
          <a:prstGeom prst="ellipse">
            <a:avLst/>
          </a:prstGeom>
          <a:solidFill>
            <a:srgbClr val="B0124F"/>
          </a:solidFill>
          <a:ln w="12700">
            <a:solidFill>
              <a:srgbClr val="B0124F"/>
            </a:solidFill>
            <a:prstDash val="solid"/>
          </a:ln>
        </p:spPr>
      </p:sp>
      <p:pic>
        <p:nvPicPr>
          <p:cNvPr id="29" name="icon-506" descr="preencoded.png">    </p:cNvPr>
          <p:cNvPicPr>
            <a:picLocks noChangeAspect="1"/>
          </p:cNvPicPr>
          <p:nvPr/>
        </p:nvPicPr>
        <p:blipFill>
          <a:blip r:embed="rId13"/>
          <a:stretch>
            <a:fillRect/>
          </a:stretch>
        </p:blipFill>
        <p:spPr>
          <a:xfrm>
            <a:off x="6479896" y="3653028"/>
            <a:ext cx="256032" cy="256032"/>
          </a:xfrm>
          <a:prstGeom prst="rect">
            <a:avLst/>
          </a:prstGeom>
        </p:spPr>
      </p:pic>
      <p:sp>
        <p:nvSpPr>
          <p:cNvPr id="30" name="text-507"/>
          <p:cNvSpPr txBox="1"/>
          <p:nvPr/>
        </p:nvSpPr>
        <p:spPr>
          <a:xfrm>
            <a:off x="7001104" y="3534156"/>
            <a:ext cx="4495648" cy="1089660"/>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Legea și datele personale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Respecți legislația locală și GDPR.</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watermark-508"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509" descr="Instagram">    </p:cNvPr>
          <p:cNvPicPr>
            <a:picLocks noChangeAspect="1"/>
          </p:cNvPicPr>
          <p:nvPr/>
        </p:nvPicPr>
        <p:blipFill>
          <a:blip r:embed="rId2"/>
          <a:stretch>
            <a:fillRect/>
          </a:stretch>
        </p:blipFill>
        <p:spPr>
          <a:xfrm>
            <a:off x="548640" y="329184"/>
            <a:ext cx="384048" cy="384048"/>
          </a:xfrm>
          <a:prstGeom prst="rect">
            <a:avLst/>
          </a:prstGeom>
        </p:spPr>
      </p:pic>
      <p:sp>
        <p:nvSpPr>
          <p:cNvPr id="4" name="text-510"/>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B0124F"/>
                </a:solidFill>
                <a:latin typeface="Arial" pitchFamily="34" charset="0"/>
                <a:ea typeface="Arial" pitchFamily="34" charset="-122"/>
                <a:cs typeface="Arial" pitchFamily="34" charset="-120"/>
              </a:rPr>
              <a:t>INSTAGRAM</a:t>
            </a:r>
            <a:endParaRPr lang="en-US" sz="1500" dirty="0"/>
          </a:p>
        </p:txBody>
      </p:sp>
      <p:sp>
        <p:nvSpPr>
          <p:cNvPr id="5" name="text-511"/>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Instagram: 5 sfaturi + descrieri + idei video</a:t>
            </a:r>
            <a:endParaRPr lang="en-US" sz="3200" dirty="0"/>
          </a:p>
        </p:txBody>
      </p:sp>
      <p:sp>
        <p:nvSpPr>
          <p:cNvPr id="6" name="nav-512">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513">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514">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515">
            <a:hlinkClick r:id="rId6" tooltip="Instagram" action="ppaction://hlinksldjump"/>
          </p:cNvPr>
          <p:cNvSpPr/>
          <p:nvPr/>
        </p:nvSpPr>
        <p:spPr>
          <a:xfrm>
            <a:off x="7784287" y="365760"/>
            <a:ext cx="1033272" cy="310896"/>
          </a:xfrm>
          <a:prstGeom prst="roundRect">
            <a:avLst>
              <a:gd name="adj" fmla="val 50000"/>
            </a:avLst>
          </a:prstGeom>
          <a:solidFill>
            <a:srgbClr val="B0124F"/>
          </a:solidFill>
          <a:ln w="12700">
            <a:solidFill>
              <a:srgbClr val="B0124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516">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517">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518"/>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519"/>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B0124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520"/>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18</a:t>
            </a:r>
            <a:endParaRPr lang="en-US" sz="1000" dirty="0"/>
          </a:p>
        </p:txBody>
      </p:sp>
      <p:sp>
        <p:nvSpPr>
          <p:cNvPr id="15" name="card-521"/>
          <p:cNvSpPr/>
          <p:nvPr/>
        </p:nvSpPr>
        <p:spPr>
          <a:xfrm>
            <a:off x="548640" y="1572768"/>
            <a:ext cx="5364328" cy="3028950"/>
          </a:xfrm>
          <a:prstGeom prst="roundRect">
            <a:avLst>
              <a:gd name="adj" fmla="val 3019"/>
            </a:avLst>
          </a:prstGeom>
          <a:solidFill>
            <a:srgbClr val="F9EEF3"/>
          </a:solidFill>
          <a:ln w="12700">
            <a:solidFill>
              <a:srgbClr val="EECBD8"/>
            </a:solidFill>
            <a:prstDash val="solid"/>
          </a:ln>
        </p:spPr>
      </p:sp>
      <p:sp>
        <p:nvSpPr>
          <p:cNvPr id="16" name="iconbg-522"/>
          <p:cNvSpPr/>
          <p:nvPr/>
        </p:nvSpPr>
        <p:spPr>
          <a:xfrm>
            <a:off x="694944" y="1719072"/>
            <a:ext cx="457200" cy="457200"/>
          </a:xfrm>
          <a:prstGeom prst="ellipse">
            <a:avLst/>
          </a:prstGeom>
          <a:solidFill>
            <a:srgbClr val="B0124F"/>
          </a:solidFill>
          <a:ln w="12700">
            <a:solidFill>
              <a:srgbClr val="B0124F"/>
            </a:solidFill>
            <a:prstDash val="solid"/>
          </a:ln>
        </p:spPr>
      </p:sp>
      <p:pic>
        <p:nvPicPr>
          <p:cNvPr id="17" name="icon-523"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524"/>
          <p:cNvSpPr txBox="1"/>
          <p:nvPr/>
        </p:nvSpPr>
        <p:spPr>
          <a:xfrm>
            <a:off x="1316736" y="1700784"/>
            <a:ext cx="4449928" cy="2772918"/>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5 sfaturi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1. Rezultatul în prima secundă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2. Text scurt pe ecran</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3. Oraș + cuvinte-cheie în descriere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4. „Reel de probă” pentru cele timide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5. Răspunde la comentarii</a:t>
            </a:r>
            <a:endParaRPr lang="en-US" sz="1600" dirty="0"/>
          </a:p>
        </p:txBody>
      </p:sp>
      <p:sp>
        <p:nvSpPr>
          <p:cNvPr id="19" name="card-525"/>
          <p:cNvSpPr/>
          <p:nvPr/>
        </p:nvSpPr>
        <p:spPr>
          <a:xfrm>
            <a:off x="6278728" y="1572768"/>
            <a:ext cx="5364328" cy="2002536"/>
          </a:xfrm>
          <a:prstGeom prst="roundRect">
            <a:avLst>
              <a:gd name="adj" fmla="val 4566"/>
            </a:avLst>
          </a:prstGeom>
          <a:solidFill>
            <a:srgbClr val="F9EEF3"/>
          </a:solidFill>
          <a:ln w="12700">
            <a:solidFill>
              <a:srgbClr val="EECBD8"/>
            </a:solidFill>
            <a:prstDash val="solid"/>
          </a:ln>
        </p:spPr>
      </p:sp>
      <p:sp>
        <p:nvSpPr>
          <p:cNvPr id="20" name="iconbg-526"/>
          <p:cNvSpPr/>
          <p:nvPr/>
        </p:nvSpPr>
        <p:spPr>
          <a:xfrm>
            <a:off x="6425032" y="1719072"/>
            <a:ext cx="457200" cy="457200"/>
          </a:xfrm>
          <a:prstGeom prst="ellipse">
            <a:avLst/>
          </a:prstGeom>
          <a:solidFill>
            <a:srgbClr val="B0124F"/>
          </a:solidFill>
          <a:ln w="12700">
            <a:solidFill>
              <a:srgbClr val="B0124F"/>
            </a:solidFill>
            <a:prstDash val="solid"/>
          </a:ln>
        </p:spPr>
      </p:sp>
      <p:pic>
        <p:nvPicPr>
          <p:cNvPr id="21" name="icon-527" descr="preencoded.png">    </p:cNvPr>
          <p:cNvPicPr>
            <a:picLocks noChangeAspect="1"/>
          </p:cNvPicPr>
          <p:nvPr/>
        </p:nvPicPr>
        <p:blipFill>
          <a:blip r:embed="rId11"/>
          <a:stretch>
            <a:fillRect/>
          </a:stretch>
        </p:blipFill>
        <p:spPr>
          <a:xfrm>
            <a:off x="6525616" y="1819656"/>
            <a:ext cx="256032" cy="256032"/>
          </a:xfrm>
          <a:prstGeom prst="rect">
            <a:avLst/>
          </a:prstGeom>
        </p:spPr>
      </p:pic>
      <p:sp>
        <p:nvSpPr>
          <p:cNvPr id="22" name="text-528"/>
          <p:cNvSpPr txBox="1"/>
          <p:nvPr/>
        </p:nvSpPr>
        <p:spPr>
          <a:xfrm>
            <a:off x="7046824" y="1700784"/>
            <a:ext cx="4449928" cy="1746504"/>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Descrieri scurte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„Din castaniu în blond rece. O singură ședință. Iași”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„Balayage care crește frumos 3 luni. Rece sau cald?”</a:t>
            </a:r>
            <a:endParaRPr lang="en-US" sz="1600" dirty="0"/>
          </a:p>
        </p:txBody>
      </p:sp>
      <p:sp>
        <p:nvSpPr>
          <p:cNvPr id="23" name="card-529"/>
          <p:cNvSpPr/>
          <p:nvPr/>
        </p:nvSpPr>
        <p:spPr>
          <a:xfrm>
            <a:off x="6278728" y="3703320"/>
            <a:ext cx="5364328" cy="2057400"/>
          </a:xfrm>
          <a:prstGeom prst="roundRect">
            <a:avLst>
              <a:gd name="adj" fmla="val 4444"/>
            </a:avLst>
          </a:prstGeom>
          <a:solidFill>
            <a:srgbClr val="F9EEF3"/>
          </a:solidFill>
          <a:ln w="12700">
            <a:solidFill>
              <a:srgbClr val="EECBD8"/>
            </a:solidFill>
            <a:prstDash val="solid"/>
          </a:ln>
        </p:spPr>
      </p:sp>
      <p:sp>
        <p:nvSpPr>
          <p:cNvPr id="24" name="iconbg-530"/>
          <p:cNvSpPr/>
          <p:nvPr/>
        </p:nvSpPr>
        <p:spPr>
          <a:xfrm>
            <a:off x="6425032" y="3849624"/>
            <a:ext cx="457200" cy="457200"/>
          </a:xfrm>
          <a:prstGeom prst="ellipse">
            <a:avLst/>
          </a:prstGeom>
          <a:solidFill>
            <a:srgbClr val="B0124F"/>
          </a:solidFill>
          <a:ln w="12700">
            <a:solidFill>
              <a:srgbClr val="B0124F"/>
            </a:solidFill>
            <a:prstDash val="solid"/>
          </a:ln>
        </p:spPr>
      </p:sp>
      <p:pic>
        <p:nvPicPr>
          <p:cNvPr id="25" name="icon-531" descr="preencoded.png">    </p:cNvPr>
          <p:cNvPicPr>
            <a:picLocks noChangeAspect="1"/>
          </p:cNvPicPr>
          <p:nvPr/>
        </p:nvPicPr>
        <p:blipFill>
          <a:blip r:embed="rId12"/>
          <a:stretch>
            <a:fillRect/>
          </a:stretch>
        </p:blipFill>
        <p:spPr>
          <a:xfrm>
            <a:off x="6525616" y="3950208"/>
            <a:ext cx="256032" cy="256032"/>
          </a:xfrm>
          <a:prstGeom prst="rect">
            <a:avLst/>
          </a:prstGeom>
        </p:spPr>
      </p:pic>
      <p:sp>
        <p:nvSpPr>
          <p:cNvPr id="26" name="text-532"/>
          <p:cNvSpPr txBox="1"/>
          <p:nvPr/>
        </p:nvSpPr>
        <p:spPr>
          <a:xfrm>
            <a:off x="7046824" y="3831336"/>
            <a:ext cx="4449928" cy="1801368"/>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Idei de video</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Înainte și după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Ce a cerut vs. ce a primit</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Mit vs. adevăr</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Procesul, cu sunet natural</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watermark-533"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534" descr="TikTok">    </p:cNvPr>
          <p:cNvPicPr>
            <a:picLocks noChangeAspect="1"/>
          </p:cNvPicPr>
          <p:nvPr/>
        </p:nvPicPr>
        <p:blipFill>
          <a:blip r:embed="rId2"/>
          <a:stretch>
            <a:fillRect/>
          </a:stretch>
        </p:blipFill>
        <p:spPr>
          <a:xfrm>
            <a:off x="548640" y="329184"/>
            <a:ext cx="384048" cy="384048"/>
          </a:xfrm>
          <a:prstGeom prst="rect">
            <a:avLst/>
          </a:prstGeom>
        </p:spPr>
      </p:pic>
      <p:sp>
        <p:nvSpPr>
          <p:cNvPr id="4" name="text-535"/>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0E3F"/>
                </a:solidFill>
                <a:latin typeface="Arial" pitchFamily="34" charset="0"/>
                <a:ea typeface="Arial" pitchFamily="34" charset="-122"/>
                <a:cs typeface="Arial" pitchFamily="34" charset="-120"/>
              </a:rPr>
              <a:t>TIKTOK</a:t>
            </a:r>
            <a:endParaRPr lang="en-US" sz="1500" dirty="0"/>
          </a:p>
        </p:txBody>
      </p:sp>
      <p:sp>
        <p:nvSpPr>
          <p:cNvPr id="5" name="text-536"/>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Algoritmul TikTok, pe înțelesul tuturor</a:t>
            </a:r>
            <a:endParaRPr lang="en-US" sz="3200" dirty="0"/>
          </a:p>
        </p:txBody>
      </p:sp>
      <p:sp>
        <p:nvSpPr>
          <p:cNvPr id="6" name="nav-537">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538">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539">
            <a:hlinkClick r:id="rId5" tooltip="TikTok" action="ppaction://hlinksldjump"/>
          </p:cNvPr>
          <p:cNvSpPr/>
          <p:nvPr/>
        </p:nvSpPr>
        <p:spPr>
          <a:xfrm>
            <a:off x="8890711" y="365760"/>
            <a:ext cx="786384" cy="310896"/>
          </a:xfrm>
          <a:prstGeom prst="roundRect">
            <a:avLst>
              <a:gd name="adj" fmla="val 50000"/>
            </a:avLst>
          </a:prstGeom>
          <a:solidFill>
            <a:srgbClr val="C20E3F"/>
          </a:solidFill>
          <a:ln w="12700">
            <a:solidFill>
              <a:srgbClr val="C20E3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540">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541">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542">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543"/>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544"/>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0E3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545"/>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19</a:t>
            </a:r>
            <a:endParaRPr lang="en-US" sz="1000" dirty="0"/>
          </a:p>
        </p:txBody>
      </p:sp>
      <p:sp>
        <p:nvSpPr>
          <p:cNvPr id="15" name="card-546"/>
          <p:cNvSpPr/>
          <p:nvPr/>
        </p:nvSpPr>
        <p:spPr>
          <a:xfrm>
            <a:off x="548640" y="1572768"/>
            <a:ext cx="5364328" cy="1030986"/>
          </a:xfrm>
          <a:prstGeom prst="roundRect">
            <a:avLst>
              <a:gd name="adj" fmla="val 8869"/>
            </a:avLst>
          </a:prstGeom>
          <a:solidFill>
            <a:srgbClr val="FBEEF2"/>
          </a:solidFill>
          <a:ln w="12700">
            <a:solidFill>
              <a:srgbClr val="F2CAD5"/>
            </a:solidFill>
            <a:prstDash val="solid"/>
          </a:ln>
        </p:spPr>
      </p:sp>
      <p:sp>
        <p:nvSpPr>
          <p:cNvPr id="16" name="iconbg-547"/>
          <p:cNvSpPr/>
          <p:nvPr/>
        </p:nvSpPr>
        <p:spPr>
          <a:xfrm>
            <a:off x="694944" y="1719072"/>
            <a:ext cx="457200" cy="457200"/>
          </a:xfrm>
          <a:prstGeom prst="ellipse">
            <a:avLst/>
          </a:prstGeom>
          <a:solidFill>
            <a:srgbClr val="C20E3F"/>
          </a:solidFill>
          <a:ln w="12700">
            <a:solidFill>
              <a:srgbClr val="C20E3F"/>
            </a:solidFill>
            <a:prstDash val="solid"/>
          </a:ln>
        </p:spPr>
      </p:sp>
      <p:pic>
        <p:nvPicPr>
          <p:cNvPr id="17" name="icon-548"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549"/>
          <p:cNvSpPr txBox="1"/>
          <p:nvPr/>
        </p:nvSpPr>
        <p:spPr>
          <a:xfrm>
            <a:off x="1316736" y="1700784"/>
            <a:ext cx="4449928" cy="774954"/>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Timpul de vizionare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Cât rămân oamenii.</a:t>
            </a:r>
            <a:endParaRPr lang="en-US" sz="1600" dirty="0"/>
          </a:p>
        </p:txBody>
      </p:sp>
      <p:sp>
        <p:nvSpPr>
          <p:cNvPr id="19" name="card-550"/>
          <p:cNvSpPr/>
          <p:nvPr/>
        </p:nvSpPr>
        <p:spPr>
          <a:xfrm>
            <a:off x="548640" y="2731770"/>
            <a:ext cx="5364328" cy="1030986"/>
          </a:xfrm>
          <a:prstGeom prst="roundRect">
            <a:avLst>
              <a:gd name="adj" fmla="val 8869"/>
            </a:avLst>
          </a:prstGeom>
          <a:solidFill>
            <a:srgbClr val="FBEEF2"/>
          </a:solidFill>
          <a:ln w="12700">
            <a:solidFill>
              <a:srgbClr val="F2CAD5"/>
            </a:solidFill>
            <a:prstDash val="solid"/>
          </a:ln>
        </p:spPr>
      </p:sp>
      <p:sp>
        <p:nvSpPr>
          <p:cNvPr id="20" name="iconbg-551"/>
          <p:cNvSpPr/>
          <p:nvPr/>
        </p:nvSpPr>
        <p:spPr>
          <a:xfrm>
            <a:off x="694944" y="2878074"/>
            <a:ext cx="457200" cy="457200"/>
          </a:xfrm>
          <a:prstGeom prst="ellipse">
            <a:avLst/>
          </a:prstGeom>
          <a:solidFill>
            <a:srgbClr val="C20E3F"/>
          </a:solidFill>
          <a:ln w="12700">
            <a:solidFill>
              <a:srgbClr val="C20E3F"/>
            </a:solidFill>
            <a:prstDash val="solid"/>
          </a:ln>
        </p:spPr>
      </p:sp>
      <p:pic>
        <p:nvPicPr>
          <p:cNvPr id="21" name="icon-552" descr="preencoded.png">    </p:cNvPr>
          <p:cNvPicPr>
            <a:picLocks noChangeAspect="1"/>
          </p:cNvPicPr>
          <p:nvPr/>
        </p:nvPicPr>
        <p:blipFill>
          <a:blip r:embed="rId11"/>
          <a:stretch>
            <a:fillRect/>
          </a:stretch>
        </p:blipFill>
        <p:spPr>
          <a:xfrm>
            <a:off x="795528" y="2978658"/>
            <a:ext cx="256032" cy="256032"/>
          </a:xfrm>
          <a:prstGeom prst="rect">
            <a:avLst/>
          </a:prstGeom>
        </p:spPr>
      </p:pic>
      <p:sp>
        <p:nvSpPr>
          <p:cNvPr id="22" name="text-553"/>
          <p:cNvSpPr txBox="1"/>
          <p:nvPr/>
        </p:nvSpPr>
        <p:spPr>
          <a:xfrm>
            <a:off x="1316736" y="2859786"/>
            <a:ext cx="4449928" cy="774954"/>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Vizionarea până la final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Semnal puternic.</a:t>
            </a:r>
            <a:endParaRPr lang="en-US" sz="1600" dirty="0"/>
          </a:p>
        </p:txBody>
      </p:sp>
      <p:sp>
        <p:nvSpPr>
          <p:cNvPr id="23" name="card-554"/>
          <p:cNvSpPr/>
          <p:nvPr/>
        </p:nvSpPr>
        <p:spPr>
          <a:xfrm>
            <a:off x="548640" y="3890772"/>
            <a:ext cx="5364328" cy="1030986"/>
          </a:xfrm>
          <a:prstGeom prst="roundRect">
            <a:avLst>
              <a:gd name="adj" fmla="val 8869"/>
            </a:avLst>
          </a:prstGeom>
          <a:solidFill>
            <a:srgbClr val="FBEEF2"/>
          </a:solidFill>
          <a:ln w="12700">
            <a:solidFill>
              <a:srgbClr val="F2CAD5"/>
            </a:solidFill>
            <a:prstDash val="solid"/>
          </a:ln>
        </p:spPr>
      </p:sp>
      <p:sp>
        <p:nvSpPr>
          <p:cNvPr id="24" name="iconbg-555"/>
          <p:cNvSpPr/>
          <p:nvPr/>
        </p:nvSpPr>
        <p:spPr>
          <a:xfrm>
            <a:off x="694944" y="4037076"/>
            <a:ext cx="457200" cy="457200"/>
          </a:xfrm>
          <a:prstGeom prst="ellipse">
            <a:avLst/>
          </a:prstGeom>
          <a:solidFill>
            <a:srgbClr val="C20E3F"/>
          </a:solidFill>
          <a:ln w="12700">
            <a:solidFill>
              <a:srgbClr val="C20E3F"/>
            </a:solidFill>
            <a:prstDash val="solid"/>
          </a:ln>
        </p:spPr>
      </p:sp>
      <p:pic>
        <p:nvPicPr>
          <p:cNvPr id="25" name="icon-556" descr="preencoded.png">    </p:cNvPr>
          <p:cNvPicPr>
            <a:picLocks noChangeAspect="1"/>
          </p:cNvPicPr>
          <p:nvPr/>
        </p:nvPicPr>
        <p:blipFill>
          <a:blip r:embed="rId12"/>
          <a:stretch>
            <a:fillRect/>
          </a:stretch>
        </p:blipFill>
        <p:spPr>
          <a:xfrm>
            <a:off x="795528" y="4137660"/>
            <a:ext cx="256032" cy="256032"/>
          </a:xfrm>
          <a:prstGeom prst="rect">
            <a:avLst/>
          </a:prstGeom>
        </p:spPr>
      </p:pic>
      <p:sp>
        <p:nvSpPr>
          <p:cNvPr id="26" name="text-557"/>
          <p:cNvSpPr txBox="1"/>
          <p:nvPr/>
        </p:nvSpPr>
        <p:spPr>
          <a:xfrm>
            <a:off x="1316736" y="4018788"/>
            <a:ext cx="4449928" cy="774954"/>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Comentarii și aprecieri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Interacțiuni.</a:t>
            </a:r>
            <a:endParaRPr lang="en-US" sz="1600" dirty="0"/>
          </a:p>
        </p:txBody>
      </p:sp>
      <p:sp>
        <p:nvSpPr>
          <p:cNvPr id="27" name="card-558"/>
          <p:cNvSpPr/>
          <p:nvPr/>
        </p:nvSpPr>
        <p:spPr>
          <a:xfrm>
            <a:off x="6278728" y="1572768"/>
            <a:ext cx="5364328" cy="1030986"/>
          </a:xfrm>
          <a:prstGeom prst="roundRect">
            <a:avLst>
              <a:gd name="adj" fmla="val 8869"/>
            </a:avLst>
          </a:prstGeom>
          <a:solidFill>
            <a:srgbClr val="FBEEF2"/>
          </a:solidFill>
          <a:ln w="12700">
            <a:solidFill>
              <a:srgbClr val="F2CAD5"/>
            </a:solidFill>
            <a:prstDash val="solid"/>
          </a:ln>
        </p:spPr>
      </p:sp>
      <p:sp>
        <p:nvSpPr>
          <p:cNvPr id="28" name="iconbg-559"/>
          <p:cNvSpPr/>
          <p:nvPr/>
        </p:nvSpPr>
        <p:spPr>
          <a:xfrm>
            <a:off x="6425032" y="1719072"/>
            <a:ext cx="457200" cy="457200"/>
          </a:xfrm>
          <a:prstGeom prst="ellipse">
            <a:avLst/>
          </a:prstGeom>
          <a:solidFill>
            <a:srgbClr val="C20E3F"/>
          </a:solidFill>
          <a:ln w="12700">
            <a:solidFill>
              <a:srgbClr val="C20E3F"/>
            </a:solidFill>
            <a:prstDash val="solid"/>
          </a:ln>
        </p:spPr>
      </p:sp>
      <p:pic>
        <p:nvPicPr>
          <p:cNvPr id="29" name="icon-560" descr="preencoded.png">    </p:cNvPr>
          <p:cNvPicPr>
            <a:picLocks noChangeAspect="1"/>
          </p:cNvPicPr>
          <p:nvPr/>
        </p:nvPicPr>
        <p:blipFill>
          <a:blip r:embed="rId13"/>
          <a:stretch>
            <a:fillRect/>
          </a:stretch>
        </p:blipFill>
        <p:spPr>
          <a:xfrm>
            <a:off x="6525616" y="1819656"/>
            <a:ext cx="256032" cy="256032"/>
          </a:xfrm>
          <a:prstGeom prst="rect">
            <a:avLst/>
          </a:prstGeom>
        </p:spPr>
      </p:pic>
      <p:sp>
        <p:nvSpPr>
          <p:cNvPr id="30" name="text-561"/>
          <p:cNvSpPr txBox="1"/>
          <p:nvPr/>
        </p:nvSpPr>
        <p:spPr>
          <a:xfrm>
            <a:off x="7046824" y="1700784"/>
            <a:ext cx="4449928" cy="774954"/>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Distribuiri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„Trimite-i și ei.”</a:t>
            </a:r>
            <a:endParaRPr lang="en-US" sz="1600" dirty="0"/>
          </a:p>
        </p:txBody>
      </p:sp>
      <p:sp>
        <p:nvSpPr>
          <p:cNvPr id="31" name="card-562"/>
          <p:cNvSpPr/>
          <p:nvPr/>
        </p:nvSpPr>
        <p:spPr>
          <a:xfrm>
            <a:off x="6278728" y="2731770"/>
            <a:ext cx="5364328" cy="1030986"/>
          </a:xfrm>
          <a:prstGeom prst="roundRect">
            <a:avLst>
              <a:gd name="adj" fmla="val 8869"/>
            </a:avLst>
          </a:prstGeom>
          <a:solidFill>
            <a:srgbClr val="FBEEF2"/>
          </a:solidFill>
          <a:ln w="12700">
            <a:solidFill>
              <a:srgbClr val="F2CAD5"/>
            </a:solidFill>
            <a:prstDash val="solid"/>
          </a:ln>
        </p:spPr>
      </p:sp>
      <p:sp>
        <p:nvSpPr>
          <p:cNvPr id="32" name="iconbg-563"/>
          <p:cNvSpPr/>
          <p:nvPr/>
        </p:nvSpPr>
        <p:spPr>
          <a:xfrm>
            <a:off x="6425032" y="2878074"/>
            <a:ext cx="457200" cy="457200"/>
          </a:xfrm>
          <a:prstGeom prst="ellipse">
            <a:avLst/>
          </a:prstGeom>
          <a:solidFill>
            <a:srgbClr val="C20E3F"/>
          </a:solidFill>
          <a:ln w="12700">
            <a:solidFill>
              <a:srgbClr val="C20E3F"/>
            </a:solidFill>
            <a:prstDash val="solid"/>
          </a:ln>
        </p:spPr>
      </p:sp>
      <p:pic>
        <p:nvPicPr>
          <p:cNvPr id="33" name="icon-564" descr="preencoded.png">    </p:cNvPr>
          <p:cNvPicPr>
            <a:picLocks noChangeAspect="1"/>
          </p:cNvPicPr>
          <p:nvPr/>
        </p:nvPicPr>
        <p:blipFill>
          <a:blip r:embed="rId14"/>
          <a:stretch>
            <a:fillRect/>
          </a:stretch>
        </p:blipFill>
        <p:spPr>
          <a:xfrm>
            <a:off x="6525616" y="2978658"/>
            <a:ext cx="256032" cy="256032"/>
          </a:xfrm>
          <a:prstGeom prst="rect">
            <a:avLst/>
          </a:prstGeom>
        </p:spPr>
      </p:pic>
      <p:sp>
        <p:nvSpPr>
          <p:cNvPr id="34" name="text-565"/>
          <p:cNvSpPr txBox="1"/>
          <p:nvPr/>
        </p:nvSpPr>
        <p:spPr>
          <a:xfrm>
            <a:off x="7046824" y="2859786"/>
            <a:ext cx="4449928" cy="774954"/>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Info despre clip</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Descriere, sunet, hashtag.</a:t>
            </a:r>
            <a:endParaRPr lang="en-US" sz="1600" dirty="0"/>
          </a:p>
        </p:txBody>
      </p:sp>
      <p:sp>
        <p:nvSpPr>
          <p:cNvPr id="35" name="card-566"/>
          <p:cNvSpPr/>
          <p:nvPr/>
        </p:nvSpPr>
        <p:spPr>
          <a:xfrm>
            <a:off x="6278728" y="3890772"/>
            <a:ext cx="5364328" cy="2289810"/>
          </a:xfrm>
          <a:prstGeom prst="roundRect">
            <a:avLst>
              <a:gd name="adj" fmla="val 3993"/>
            </a:avLst>
          </a:prstGeom>
          <a:solidFill>
            <a:srgbClr val="FBEEF2"/>
          </a:solidFill>
          <a:ln w="12700">
            <a:solidFill>
              <a:srgbClr val="F2CAD5"/>
            </a:solidFill>
            <a:prstDash val="solid"/>
          </a:ln>
        </p:spPr>
      </p:sp>
      <p:sp>
        <p:nvSpPr>
          <p:cNvPr id="36" name="iconbg-567"/>
          <p:cNvSpPr/>
          <p:nvPr/>
        </p:nvSpPr>
        <p:spPr>
          <a:xfrm>
            <a:off x="6425032" y="4037076"/>
            <a:ext cx="457200" cy="457200"/>
          </a:xfrm>
          <a:prstGeom prst="ellipse">
            <a:avLst/>
          </a:prstGeom>
          <a:solidFill>
            <a:srgbClr val="C20E3F"/>
          </a:solidFill>
          <a:ln w="12700">
            <a:solidFill>
              <a:srgbClr val="C20E3F"/>
            </a:solidFill>
            <a:prstDash val="solid"/>
          </a:ln>
        </p:spPr>
      </p:sp>
      <p:pic>
        <p:nvPicPr>
          <p:cNvPr id="37" name="icon-568" descr="preencoded.png">    </p:cNvPr>
          <p:cNvPicPr>
            <a:picLocks noChangeAspect="1"/>
          </p:cNvPicPr>
          <p:nvPr/>
        </p:nvPicPr>
        <p:blipFill>
          <a:blip r:embed="rId15"/>
          <a:stretch>
            <a:fillRect/>
          </a:stretch>
        </p:blipFill>
        <p:spPr>
          <a:xfrm>
            <a:off x="6525616" y="4137660"/>
            <a:ext cx="256032" cy="256032"/>
          </a:xfrm>
          <a:prstGeom prst="rect">
            <a:avLst/>
          </a:prstGeom>
        </p:spPr>
      </p:pic>
      <p:sp>
        <p:nvSpPr>
          <p:cNvPr id="38" name="text-569"/>
          <p:cNvSpPr txBox="1"/>
          <p:nvPr/>
        </p:nvSpPr>
        <p:spPr>
          <a:xfrm>
            <a:off x="7046824" y="4018788"/>
            <a:ext cx="4449928" cy="2033778"/>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(Oficial)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Numărul de urmăritori nu e un factor direct. Pagina „Pentru tine” arată clipuri și de la conturi pe care omul nu le urmărește.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watermark-570"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571" descr="TikTok">    </p:cNvPr>
          <p:cNvPicPr>
            <a:picLocks noChangeAspect="1"/>
          </p:cNvPicPr>
          <p:nvPr/>
        </p:nvPicPr>
        <p:blipFill>
          <a:blip r:embed="rId2"/>
          <a:stretch>
            <a:fillRect/>
          </a:stretch>
        </p:blipFill>
        <p:spPr>
          <a:xfrm>
            <a:off x="548640" y="329184"/>
            <a:ext cx="384048" cy="384048"/>
          </a:xfrm>
          <a:prstGeom prst="rect">
            <a:avLst/>
          </a:prstGeom>
        </p:spPr>
      </p:pic>
      <p:sp>
        <p:nvSpPr>
          <p:cNvPr id="4" name="text-572"/>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0E3F"/>
                </a:solidFill>
                <a:latin typeface="Arial" pitchFamily="34" charset="0"/>
                <a:ea typeface="Arial" pitchFamily="34" charset="-122"/>
                <a:cs typeface="Arial" pitchFamily="34" charset="-120"/>
              </a:rPr>
              <a:t>TIKTOK</a:t>
            </a:r>
            <a:endParaRPr lang="en-US" sz="1500" dirty="0"/>
          </a:p>
        </p:txBody>
      </p:sp>
      <p:sp>
        <p:nvSpPr>
          <p:cNvPr id="5" name="text-573"/>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Primele secunde ≠ primele minute</a:t>
            </a:r>
            <a:endParaRPr lang="en-US" sz="3200" dirty="0"/>
          </a:p>
        </p:txBody>
      </p:sp>
      <p:sp>
        <p:nvSpPr>
          <p:cNvPr id="6" name="nav-574">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575">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576">
            <a:hlinkClick r:id="rId5" tooltip="TikTok" action="ppaction://hlinksldjump"/>
          </p:cNvPr>
          <p:cNvSpPr/>
          <p:nvPr/>
        </p:nvSpPr>
        <p:spPr>
          <a:xfrm>
            <a:off x="8890711" y="365760"/>
            <a:ext cx="786384" cy="310896"/>
          </a:xfrm>
          <a:prstGeom prst="roundRect">
            <a:avLst>
              <a:gd name="adj" fmla="val 50000"/>
            </a:avLst>
          </a:prstGeom>
          <a:solidFill>
            <a:srgbClr val="C20E3F"/>
          </a:solidFill>
          <a:ln w="12700">
            <a:solidFill>
              <a:srgbClr val="C20E3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577">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578">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579">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580"/>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581"/>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0E3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582"/>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20</a:t>
            </a:r>
            <a:endParaRPr lang="en-US" sz="1000" dirty="0"/>
          </a:p>
        </p:txBody>
      </p:sp>
      <p:sp>
        <p:nvSpPr>
          <p:cNvPr id="15" name="card-583"/>
          <p:cNvSpPr/>
          <p:nvPr/>
        </p:nvSpPr>
        <p:spPr>
          <a:xfrm>
            <a:off x="548640" y="1572768"/>
            <a:ext cx="5364328" cy="3361182"/>
          </a:xfrm>
          <a:prstGeom prst="roundRect">
            <a:avLst>
              <a:gd name="adj" fmla="val 2720"/>
            </a:avLst>
          </a:prstGeom>
          <a:solidFill>
            <a:srgbClr val="FBEEF2"/>
          </a:solidFill>
          <a:ln w="12700">
            <a:solidFill>
              <a:srgbClr val="F2CAD5"/>
            </a:solidFill>
            <a:prstDash val="solid"/>
          </a:ln>
        </p:spPr>
      </p:sp>
      <p:sp>
        <p:nvSpPr>
          <p:cNvPr id="16" name="iconbg-584"/>
          <p:cNvSpPr/>
          <p:nvPr/>
        </p:nvSpPr>
        <p:spPr>
          <a:xfrm>
            <a:off x="694944" y="1719072"/>
            <a:ext cx="457200" cy="457200"/>
          </a:xfrm>
          <a:prstGeom prst="ellipse">
            <a:avLst/>
          </a:prstGeom>
          <a:solidFill>
            <a:srgbClr val="C20E3F"/>
          </a:solidFill>
          <a:ln w="12700">
            <a:solidFill>
              <a:srgbClr val="C20E3F"/>
            </a:solidFill>
            <a:prstDash val="solid"/>
          </a:ln>
        </p:spPr>
      </p:sp>
      <p:pic>
        <p:nvPicPr>
          <p:cNvPr id="17" name="icon-585"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586"/>
          <p:cNvSpPr txBox="1"/>
          <p:nvPr/>
        </p:nvSpPr>
        <p:spPr>
          <a:xfrm>
            <a:off x="1316736" y="1700784"/>
            <a:ext cx="4449928" cy="3105150"/>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Primele SECUNDE ale clipului (Oficial)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Decid dacă omul rămâne.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Hook = fraza sau imaginea care atrage atenția.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Rezultatul sau o întrebare, din prima secundă.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Mai mult timp de vizionare = semnal mai bun.</a:t>
            </a:r>
            <a:endParaRPr lang="en-US" sz="1600" dirty="0"/>
          </a:p>
        </p:txBody>
      </p:sp>
      <p:sp>
        <p:nvSpPr>
          <p:cNvPr id="19" name="card-587"/>
          <p:cNvSpPr/>
          <p:nvPr/>
        </p:nvSpPr>
        <p:spPr>
          <a:xfrm>
            <a:off x="6278728" y="1572768"/>
            <a:ext cx="5364328" cy="3675888"/>
          </a:xfrm>
          <a:prstGeom prst="roundRect">
            <a:avLst>
              <a:gd name="adj" fmla="val 2488"/>
            </a:avLst>
          </a:prstGeom>
          <a:solidFill>
            <a:srgbClr val="FBEEF2"/>
          </a:solidFill>
          <a:ln w="12700">
            <a:solidFill>
              <a:srgbClr val="F2CAD5"/>
            </a:solidFill>
            <a:prstDash val="solid"/>
          </a:ln>
        </p:spPr>
      </p:sp>
      <p:sp>
        <p:nvSpPr>
          <p:cNvPr id="20" name="iconbg-588"/>
          <p:cNvSpPr/>
          <p:nvPr/>
        </p:nvSpPr>
        <p:spPr>
          <a:xfrm>
            <a:off x="6425032" y="1719072"/>
            <a:ext cx="457200" cy="457200"/>
          </a:xfrm>
          <a:prstGeom prst="ellipse">
            <a:avLst/>
          </a:prstGeom>
          <a:solidFill>
            <a:srgbClr val="C20E3F"/>
          </a:solidFill>
          <a:ln w="12700">
            <a:solidFill>
              <a:srgbClr val="C20E3F"/>
            </a:solidFill>
            <a:prstDash val="solid"/>
          </a:ln>
        </p:spPr>
      </p:sp>
      <p:pic>
        <p:nvPicPr>
          <p:cNvPr id="21" name="icon-589" descr="preencoded.png">    </p:cNvPr>
          <p:cNvPicPr>
            <a:picLocks noChangeAspect="1"/>
          </p:cNvPicPr>
          <p:nvPr/>
        </p:nvPicPr>
        <p:blipFill>
          <a:blip r:embed="rId11"/>
          <a:stretch>
            <a:fillRect/>
          </a:stretch>
        </p:blipFill>
        <p:spPr>
          <a:xfrm>
            <a:off x="6525616" y="1819656"/>
            <a:ext cx="256032" cy="256032"/>
          </a:xfrm>
          <a:prstGeom prst="rect">
            <a:avLst/>
          </a:prstGeom>
        </p:spPr>
      </p:pic>
      <p:sp>
        <p:nvSpPr>
          <p:cNvPr id="22" name="text-590"/>
          <p:cNvSpPr txBox="1"/>
          <p:nvPr/>
        </p:nvSpPr>
        <p:spPr>
          <a:xfrm>
            <a:off x="7046824" y="1700784"/>
            <a:ext cx="4449928" cy="3419856"/>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Primele MINUTE după publicare (Practică)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Primele reacții, nu verdictul final.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Clipul e arătat întâi câtorva oameni.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Dacă reacționează bine, poate ajunge la mai mulți.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Un clip poate crește și după câteva zile.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watermark-591"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592" descr="TikTok">    </p:cNvPr>
          <p:cNvPicPr>
            <a:picLocks noChangeAspect="1"/>
          </p:cNvPicPr>
          <p:nvPr/>
        </p:nvPicPr>
        <p:blipFill>
          <a:blip r:embed="rId2"/>
          <a:stretch>
            <a:fillRect/>
          </a:stretch>
        </p:blipFill>
        <p:spPr>
          <a:xfrm>
            <a:off x="548640" y="329184"/>
            <a:ext cx="384048" cy="384048"/>
          </a:xfrm>
          <a:prstGeom prst="rect">
            <a:avLst/>
          </a:prstGeom>
        </p:spPr>
      </p:pic>
      <p:sp>
        <p:nvSpPr>
          <p:cNvPr id="4" name="text-593"/>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0E3F"/>
                </a:solidFill>
                <a:latin typeface="Arial" pitchFamily="34" charset="0"/>
                <a:ea typeface="Arial" pitchFamily="34" charset="-122"/>
                <a:cs typeface="Arial" pitchFamily="34" charset="-120"/>
              </a:rPr>
              <a:t>TIKTOK</a:t>
            </a:r>
            <a:endParaRPr lang="en-US" sz="1500" dirty="0"/>
          </a:p>
        </p:txBody>
      </p:sp>
      <p:sp>
        <p:nvSpPr>
          <p:cNvPr id="5" name="text-594"/>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Trenduri: le găsești, le adaptezi</a:t>
            </a:r>
            <a:endParaRPr lang="en-US" sz="3200" dirty="0"/>
          </a:p>
        </p:txBody>
      </p:sp>
      <p:sp>
        <p:nvSpPr>
          <p:cNvPr id="6" name="nav-595">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596">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597">
            <a:hlinkClick r:id="rId5" tooltip="TikTok" action="ppaction://hlinksldjump"/>
          </p:cNvPr>
          <p:cNvSpPr/>
          <p:nvPr/>
        </p:nvSpPr>
        <p:spPr>
          <a:xfrm>
            <a:off x="8890711" y="365760"/>
            <a:ext cx="786384" cy="310896"/>
          </a:xfrm>
          <a:prstGeom prst="roundRect">
            <a:avLst>
              <a:gd name="adj" fmla="val 50000"/>
            </a:avLst>
          </a:prstGeom>
          <a:solidFill>
            <a:srgbClr val="C20E3F"/>
          </a:solidFill>
          <a:ln w="12700">
            <a:solidFill>
              <a:srgbClr val="C20E3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598">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599">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600">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601"/>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602"/>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0E3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603"/>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21</a:t>
            </a:r>
            <a:endParaRPr lang="en-US" sz="1000" dirty="0"/>
          </a:p>
        </p:txBody>
      </p:sp>
      <p:sp>
        <p:nvSpPr>
          <p:cNvPr id="15" name="card-604"/>
          <p:cNvSpPr/>
          <p:nvPr/>
        </p:nvSpPr>
        <p:spPr>
          <a:xfrm>
            <a:off x="548640" y="1572768"/>
            <a:ext cx="5364328" cy="1660398"/>
          </a:xfrm>
          <a:prstGeom prst="roundRect">
            <a:avLst>
              <a:gd name="adj" fmla="val 5507"/>
            </a:avLst>
          </a:prstGeom>
          <a:solidFill>
            <a:srgbClr val="FBEEF2"/>
          </a:solidFill>
          <a:ln w="12700">
            <a:solidFill>
              <a:srgbClr val="F2CAD5"/>
            </a:solidFill>
            <a:prstDash val="solid"/>
          </a:ln>
        </p:spPr>
      </p:sp>
      <p:sp>
        <p:nvSpPr>
          <p:cNvPr id="16" name="iconbg-605"/>
          <p:cNvSpPr/>
          <p:nvPr/>
        </p:nvSpPr>
        <p:spPr>
          <a:xfrm>
            <a:off x="694944" y="1719072"/>
            <a:ext cx="457200" cy="457200"/>
          </a:xfrm>
          <a:prstGeom prst="ellipse">
            <a:avLst/>
          </a:prstGeom>
          <a:solidFill>
            <a:srgbClr val="C20E3F"/>
          </a:solidFill>
          <a:ln w="12700">
            <a:solidFill>
              <a:srgbClr val="C20E3F"/>
            </a:solidFill>
            <a:prstDash val="solid"/>
          </a:ln>
        </p:spPr>
      </p:sp>
      <p:pic>
        <p:nvPicPr>
          <p:cNvPr id="17" name="icon-606"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607"/>
          <p:cNvSpPr txBox="1"/>
          <p:nvPr/>
        </p:nvSpPr>
        <p:spPr>
          <a:xfrm>
            <a:off x="1316736" y="1700784"/>
            <a:ext cx="4449928" cy="1404366"/>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Ce e un trend</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Un format folosit de mulți în aceeași perioadă: sunet, frază, montaj.</a:t>
            </a:r>
            <a:endParaRPr lang="en-US" sz="1600" dirty="0"/>
          </a:p>
        </p:txBody>
      </p:sp>
      <p:sp>
        <p:nvSpPr>
          <p:cNvPr id="19" name="card-608"/>
          <p:cNvSpPr/>
          <p:nvPr/>
        </p:nvSpPr>
        <p:spPr>
          <a:xfrm>
            <a:off x="548640" y="3361182"/>
            <a:ext cx="5364328" cy="1345692"/>
          </a:xfrm>
          <a:prstGeom prst="roundRect">
            <a:avLst>
              <a:gd name="adj" fmla="val 6795"/>
            </a:avLst>
          </a:prstGeom>
          <a:solidFill>
            <a:srgbClr val="FBEEF2"/>
          </a:solidFill>
          <a:ln w="12700">
            <a:solidFill>
              <a:srgbClr val="F2CAD5"/>
            </a:solidFill>
            <a:prstDash val="solid"/>
          </a:ln>
        </p:spPr>
      </p:sp>
      <p:sp>
        <p:nvSpPr>
          <p:cNvPr id="20" name="iconbg-609"/>
          <p:cNvSpPr/>
          <p:nvPr/>
        </p:nvSpPr>
        <p:spPr>
          <a:xfrm>
            <a:off x="694944" y="3507486"/>
            <a:ext cx="457200" cy="457200"/>
          </a:xfrm>
          <a:prstGeom prst="ellipse">
            <a:avLst/>
          </a:prstGeom>
          <a:solidFill>
            <a:srgbClr val="C20E3F"/>
          </a:solidFill>
          <a:ln w="12700">
            <a:solidFill>
              <a:srgbClr val="C20E3F"/>
            </a:solidFill>
            <a:prstDash val="solid"/>
          </a:ln>
        </p:spPr>
      </p:sp>
      <p:pic>
        <p:nvPicPr>
          <p:cNvPr id="21" name="icon-610" descr="preencoded.png">    </p:cNvPr>
          <p:cNvPicPr>
            <a:picLocks noChangeAspect="1"/>
          </p:cNvPicPr>
          <p:nvPr/>
        </p:nvPicPr>
        <p:blipFill>
          <a:blip r:embed="rId11"/>
          <a:stretch>
            <a:fillRect/>
          </a:stretch>
        </p:blipFill>
        <p:spPr>
          <a:xfrm>
            <a:off x="795528" y="3608070"/>
            <a:ext cx="256032" cy="256032"/>
          </a:xfrm>
          <a:prstGeom prst="rect">
            <a:avLst/>
          </a:prstGeom>
        </p:spPr>
      </p:pic>
      <p:sp>
        <p:nvSpPr>
          <p:cNvPr id="22" name="text-611"/>
          <p:cNvSpPr txBox="1"/>
          <p:nvPr/>
        </p:nvSpPr>
        <p:spPr>
          <a:xfrm>
            <a:off x="1316736" y="3489198"/>
            <a:ext cx="4449928" cy="1089660"/>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Cum îl găsești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„Pentru tine”, căutare și TikTok Creative Center.</a:t>
            </a:r>
            <a:endParaRPr lang="en-US" sz="1600" dirty="0"/>
          </a:p>
        </p:txBody>
      </p:sp>
      <p:sp>
        <p:nvSpPr>
          <p:cNvPr id="23" name="card-612"/>
          <p:cNvSpPr/>
          <p:nvPr/>
        </p:nvSpPr>
        <p:spPr>
          <a:xfrm>
            <a:off x="548640" y="4834890"/>
            <a:ext cx="5364328" cy="1345692"/>
          </a:xfrm>
          <a:prstGeom prst="roundRect">
            <a:avLst>
              <a:gd name="adj" fmla="val 6795"/>
            </a:avLst>
          </a:prstGeom>
          <a:solidFill>
            <a:srgbClr val="FBEEF2"/>
          </a:solidFill>
          <a:ln w="12700">
            <a:solidFill>
              <a:srgbClr val="F2CAD5"/>
            </a:solidFill>
            <a:prstDash val="solid"/>
          </a:ln>
        </p:spPr>
      </p:sp>
      <p:sp>
        <p:nvSpPr>
          <p:cNvPr id="24" name="iconbg-613"/>
          <p:cNvSpPr/>
          <p:nvPr/>
        </p:nvSpPr>
        <p:spPr>
          <a:xfrm>
            <a:off x="694944" y="4981194"/>
            <a:ext cx="457200" cy="457200"/>
          </a:xfrm>
          <a:prstGeom prst="ellipse">
            <a:avLst/>
          </a:prstGeom>
          <a:solidFill>
            <a:srgbClr val="C20E3F"/>
          </a:solidFill>
          <a:ln w="12700">
            <a:solidFill>
              <a:srgbClr val="C20E3F"/>
            </a:solidFill>
            <a:prstDash val="solid"/>
          </a:ln>
        </p:spPr>
      </p:sp>
      <p:pic>
        <p:nvPicPr>
          <p:cNvPr id="25" name="icon-614" descr="preencoded.png">    </p:cNvPr>
          <p:cNvPicPr>
            <a:picLocks noChangeAspect="1"/>
          </p:cNvPicPr>
          <p:nvPr/>
        </p:nvPicPr>
        <p:blipFill>
          <a:blip r:embed="rId12"/>
          <a:stretch>
            <a:fillRect/>
          </a:stretch>
        </p:blipFill>
        <p:spPr>
          <a:xfrm>
            <a:off x="795528" y="5081778"/>
            <a:ext cx="256032" cy="256032"/>
          </a:xfrm>
          <a:prstGeom prst="rect">
            <a:avLst/>
          </a:prstGeom>
        </p:spPr>
      </p:pic>
      <p:sp>
        <p:nvSpPr>
          <p:cNvPr id="26" name="text-615"/>
          <p:cNvSpPr txBox="1"/>
          <p:nvPr/>
        </p:nvSpPr>
        <p:spPr>
          <a:xfrm>
            <a:off x="1316736" y="4962906"/>
            <a:ext cx="4449928" cy="1089660"/>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E relevant?</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Se potrivește cu meseria și cu clientele tale?</a:t>
            </a:r>
            <a:endParaRPr lang="en-US" sz="1600" dirty="0"/>
          </a:p>
        </p:txBody>
      </p:sp>
      <p:sp>
        <p:nvSpPr>
          <p:cNvPr id="27" name="text-616"/>
          <p:cNvSpPr txBox="1"/>
          <p:nvPr/>
        </p:nvSpPr>
        <p:spPr>
          <a:xfrm>
            <a:off x="6278728" y="1572768"/>
            <a:ext cx="5364328" cy="484378"/>
          </a:xfrm>
          <a:prstGeom prst="rect">
            <a:avLst/>
          </a:prstGeom>
          <a:noFill/>
          <a:ln/>
        </p:spPr>
        <p:txBody>
          <a:bodyPr wrap="square" lIns="0" tIns="0" rIns="0" bIns="0" rtlCol="0" anchor="b"/>
          <a:lstStyle/>
          <a:p>
            <a:pPr indent="0" marL="0">
              <a:buNone/>
            </a:pPr>
            <a:r>
              <a:rPr lang="en-US" sz="2400" b="1" spc="100" kern="0" dirty="0">
                <a:solidFill>
                  <a:srgbClr val="C20E3F"/>
                </a:solidFill>
                <a:latin typeface="Arial" pitchFamily="34" charset="0"/>
                <a:ea typeface="Arial" pitchFamily="34" charset="-122"/>
                <a:cs typeface="Arial" pitchFamily="34" charset="-120"/>
              </a:rPr>
              <a:t>Adaptare pentru salon</a:t>
            </a:r>
            <a:endParaRPr lang="en-US" sz="2400" dirty="0"/>
          </a:p>
        </p:txBody>
      </p:sp>
      <p:sp>
        <p:nvSpPr>
          <p:cNvPr id="28" name="card-617"/>
          <p:cNvSpPr/>
          <p:nvPr/>
        </p:nvSpPr>
        <p:spPr>
          <a:xfrm>
            <a:off x="6278728" y="2185162"/>
            <a:ext cx="5364328" cy="1030986"/>
          </a:xfrm>
          <a:prstGeom prst="roundRect">
            <a:avLst>
              <a:gd name="adj" fmla="val 8869"/>
            </a:avLst>
          </a:prstGeom>
          <a:solidFill>
            <a:srgbClr val="FBEEF2"/>
          </a:solidFill>
          <a:ln w="12700">
            <a:solidFill>
              <a:srgbClr val="F2CAD5"/>
            </a:solidFill>
            <a:prstDash val="solid"/>
          </a:ln>
        </p:spPr>
      </p:sp>
      <p:sp>
        <p:nvSpPr>
          <p:cNvPr id="29" name="iconbg-618"/>
          <p:cNvSpPr/>
          <p:nvPr/>
        </p:nvSpPr>
        <p:spPr>
          <a:xfrm>
            <a:off x="6425032" y="2331466"/>
            <a:ext cx="457200" cy="457200"/>
          </a:xfrm>
          <a:prstGeom prst="ellipse">
            <a:avLst/>
          </a:prstGeom>
          <a:solidFill>
            <a:srgbClr val="C20E3F"/>
          </a:solidFill>
          <a:ln w="12700">
            <a:solidFill>
              <a:srgbClr val="C20E3F"/>
            </a:solidFill>
            <a:prstDash val="solid"/>
          </a:ln>
        </p:spPr>
      </p:sp>
      <p:pic>
        <p:nvPicPr>
          <p:cNvPr id="30" name="icon-619" descr="preencoded.png">    </p:cNvPr>
          <p:cNvPicPr>
            <a:picLocks noChangeAspect="1"/>
          </p:cNvPicPr>
          <p:nvPr/>
        </p:nvPicPr>
        <p:blipFill>
          <a:blip r:embed="rId13"/>
          <a:stretch>
            <a:fillRect/>
          </a:stretch>
        </p:blipFill>
        <p:spPr>
          <a:xfrm>
            <a:off x="6525616" y="2432050"/>
            <a:ext cx="256032" cy="256032"/>
          </a:xfrm>
          <a:prstGeom prst="rect">
            <a:avLst/>
          </a:prstGeom>
        </p:spPr>
      </p:pic>
      <p:sp>
        <p:nvSpPr>
          <p:cNvPr id="31" name="text-620"/>
          <p:cNvSpPr txBox="1"/>
          <p:nvPr/>
        </p:nvSpPr>
        <p:spPr>
          <a:xfrm>
            <a:off x="7046824" y="2313178"/>
            <a:ext cx="4449928" cy="774954"/>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Trendul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„POV: …”</a:t>
            </a:r>
            <a:endParaRPr lang="en-US" sz="1600" dirty="0"/>
          </a:p>
        </p:txBody>
      </p:sp>
      <p:sp>
        <p:nvSpPr>
          <p:cNvPr id="32" name="card-621"/>
          <p:cNvSpPr/>
          <p:nvPr/>
        </p:nvSpPr>
        <p:spPr>
          <a:xfrm>
            <a:off x="6278728" y="3344164"/>
            <a:ext cx="5364328" cy="1660398"/>
          </a:xfrm>
          <a:prstGeom prst="roundRect">
            <a:avLst>
              <a:gd name="adj" fmla="val 5507"/>
            </a:avLst>
          </a:prstGeom>
          <a:solidFill>
            <a:srgbClr val="FBEEF2"/>
          </a:solidFill>
          <a:ln w="12700">
            <a:solidFill>
              <a:srgbClr val="F2CAD5"/>
            </a:solidFill>
            <a:prstDash val="solid"/>
          </a:ln>
        </p:spPr>
      </p:sp>
      <p:sp>
        <p:nvSpPr>
          <p:cNvPr id="33" name="iconbg-622"/>
          <p:cNvSpPr/>
          <p:nvPr/>
        </p:nvSpPr>
        <p:spPr>
          <a:xfrm>
            <a:off x="6425032" y="3490468"/>
            <a:ext cx="457200" cy="457200"/>
          </a:xfrm>
          <a:prstGeom prst="ellipse">
            <a:avLst/>
          </a:prstGeom>
          <a:solidFill>
            <a:srgbClr val="C20E3F"/>
          </a:solidFill>
          <a:ln w="12700">
            <a:solidFill>
              <a:srgbClr val="C20E3F"/>
            </a:solidFill>
            <a:prstDash val="solid"/>
          </a:ln>
        </p:spPr>
      </p:sp>
      <p:pic>
        <p:nvPicPr>
          <p:cNvPr id="34" name="icon-623" descr="preencoded.png">    </p:cNvPr>
          <p:cNvPicPr>
            <a:picLocks noChangeAspect="1"/>
          </p:cNvPicPr>
          <p:nvPr/>
        </p:nvPicPr>
        <p:blipFill>
          <a:blip r:embed="rId14"/>
          <a:stretch>
            <a:fillRect/>
          </a:stretch>
        </p:blipFill>
        <p:spPr>
          <a:xfrm>
            <a:off x="6525616" y="3591052"/>
            <a:ext cx="256032" cy="256032"/>
          </a:xfrm>
          <a:prstGeom prst="rect">
            <a:avLst/>
          </a:prstGeom>
        </p:spPr>
      </p:pic>
      <p:sp>
        <p:nvSpPr>
          <p:cNvPr id="35" name="text-624"/>
          <p:cNvSpPr txBox="1"/>
          <p:nvPr/>
        </p:nvSpPr>
        <p:spPr>
          <a:xfrm>
            <a:off x="7046824" y="3472180"/>
            <a:ext cx="4449928" cy="1404366"/>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Varianta ta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„POV: clienta spune «doar vârfurile» și pleacă blondă platinată”</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watermark-625"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626" descr="TikTok">    </p:cNvPr>
          <p:cNvPicPr>
            <a:picLocks noChangeAspect="1"/>
          </p:cNvPicPr>
          <p:nvPr/>
        </p:nvPicPr>
        <p:blipFill>
          <a:blip r:embed="rId2"/>
          <a:stretch>
            <a:fillRect/>
          </a:stretch>
        </p:blipFill>
        <p:spPr>
          <a:xfrm>
            <a:off x="548640" y="329184"/>
            <a:ext cx="384048" cy="384048"/>
          </a:xfrm>
          <a:prstGeom prst="rect">
            <a:avLst/>
          </a:prstGeom>
        </p:spPr>
      </p:pic>
      <p:sp>
        <p:nvSpPr>
          <p:cNvPr id="4" name="text-627"/>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0E3F"/>
                </a:solidFill>
                <a:latin typeface="Arial" pitchFamily="34" charset="0"/>
                <a:ea typeface="Arial" pitchFamily="34" charset="-122"/>
                <a:cs typeface="Arial" pitchFamily="34" charset="-120"/>
              </a:rPr>
              <a:t>TIKTOK</a:t>
            </a:r>
            <a:endParaRPr lang="en-US" sz="1500" dirty="0"/>
          </a:p>
        </p:txBody>
      </p:sp>
      <p:sp>
        <p:nvSpPr>
          <p:cNvPr id="5" name="text-628"/>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Sunete: alegi bine, știi limitele</a:t>
            </a:r>
            <a:endParaRPr lang="en-US" sz="3200" dirty="0"/>
          </a:p>
        </p:txBody>
      </p:sp>
      <p:sp>
        <p:nvSpPr>
          <p:cNvPr id="6" name="nav-629">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630">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631">
            <a:hlinkClick r:id="rId5" tooltip="TikTok" action="ppaction://hlinksldjump"/>
          </p:cNvPr>
          <p:cNvSpPr/>
          <p:nvPr/>
        </p:nvSpPr>
        <p:spPr>
          <a:xfrm>
            <a:off x="8890711" y="365760"/>
            <a:ext cx="786384" cy="310896"/>
          </a:xfrm>
          <a:prstGeom prst="roundRect">
            <a:avLst>
              <a:gd name="adj" fmla="val 50000"/>
            </a:avLst>
          </a:prstGeom>
          <a:solidFill>
            <a:srgbClr val="C20E3F"/>
          </a:solidFill>
          <a:ln w="12700">
            <a:solidFill>
              <a:srgbClr val="C20E3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632">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633">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634">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635"/>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636"/>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0E3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637"/>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22</a:t>
            </a:r>
            <a:endParaRPr lang="en-US" sz="1000" dirty="0"/>
          </a:p>
        </p:txBody>
      </p:sp>
      <p:sp>
        <p:nvSpPr>
          <p:cNvPr id="15" name="card-638"/>
          <p:cNvSpPr/>
          <p:nvPr/>
        </p:nvSpPr>
        <p:spPr>
          <a:xfrm>
            <a:off x="548640" y="1572768"/>
            <a:ext cx="5410048" cy="2020062"/>
          </a:xfrm>
          <a:prstGeom prst="roundRect">
            <a:avLst>
              <a:gd name="adj" fmla="val 4527"/>
            </a:avLst>
          </a:prstGeom>
          <a:solidFill>
            <a:srgbClr val="FBEEF2"/>
          </a:solidFill>
          <a:ln w="12700">
            <a:solidFill>
              <a:srgbClr val="F2CAD5"/>
            </a:solidFill>
            <a:prstDash val="solid"/>
          </a:ln>
        </p:spPr>
      </p:sp>
      <p:sp>
        <p:nvSpPr>
          <p:cNvPr id="16" name="iconbg-639"/>
          <p:cNvSpPr/>
          <p:nvPr/>
        </p:nvSpPr>
        <p:spPr>
          <a:xfrm>
            <a:off x="694944" y="1719072"/>
            <a:ext cx="457200" cy="457200"/>
          </a:xfrm>
          <a:prstGeom prst="ellipse">
            <a:avLst/>
          </a:prstGeom>
          <a:solidFill>
            <a:srgbClr val="C20E3F"/>
          </a:solidFill>
          <a:ln w="12700">
            <a:solidFill>
              <a:srgbClr val="C20E3F"/>
            </a:solidFill>
            <a:prstDash val="solid"/>
          </a:ln>
        </p:spPr>
      </p:sp>
      <p:pic>
        <p:nvPicPr>
          <p:cNvPr id="17" name="icon-640"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641"/>
          <p:cNvSpPr txBox="1"/>
          <p:nvPr/>
        </p:nvSpPr>
        <p:spPr>
          <a:xfrm>
            <a:off x="1316736" y="1700784"/>
            <a:ext cx="4495648" cy="1764030"/>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Potrivit cu clipul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Relaxant pentru proces, energic pentru reveal.</a:t>
            </a:r>
            <a:endParaRPr lang="en-US" sz="1600" dirty="0"/>
          </a:p>
        </p:txBody>
      </p:sp>
      <p:sp>
        <p:nvSpPr>
          <p:cNvPr id="19" name="card-642"/>
          <p:cNvSpPr/>
          <p:nvPr/>
        </p:nvSpPr>
        <p:spPr>
          <a:xfrm>
            <a:off x="6233008" y="1572768"/>
            <a:ext cx="5410048" cy="2020062"/>
          </a:xfrm>
          <a:prstGeom prst="roundRect">
            <a:avLst>
              <a:gd name="adj" fmla="val 4527"/>
            </a:avLst>
          </a:prstGeom>
          <a:solidFill>
            <a:srgbClr val="FBEEF2"/>
          </a:solidFill>
          <a:ln w="12700">
            <a:solidFill>
              <a:srgbClr val="F2CAD5"/>
            </a:solidFill>
            <a:prstDash val="solid"/>
          </a:ln>
        </p:spPr>
      </p:sp>
      <p:sp>
        <p:nvSpPr>
          <p:cNvPr id="20" name="iconbg-643"/>
          <p:cNvSpPr/>
          <p:nvPr/>
        </p:nvSpPr>
        <p:spPr>
          <a:xfrm>
            <a:off x="6379312" y="1719072"/>
            <a:ext cx="457200" cy="457200"/>
          </a:xfrm>
          <a:prstGeom prst="ellipse">
            <a:avLst/>
          </a:prstGeom>
          <a:solidFill>
            <a:srgbClr val="C20E3F"/>
          </a:solidFill>
          <a:ln w="12700">
            <a:solidFill>
              <a:srgbClr val="C20E3F"/>
            </a:solidFill>
            <a:prstDash val="solid"/>
          </a:ln>
        </p:spPr>
      </p:sp>
      <p:pic>
        <p:nvPicPr>
          <p:cNvPr id="21" name="icon-644" descr="preencoded.png">    </p:cNvPr>
          <p:cNvPicPr>
            <a:picLocks noChangeAspect="1"/>
          </p:cNvPicPr>
          <p:nvPr/>
        </p:nvPicPr>
        <p:blipFill>
          <a:blip r:embed="rId11"/>
          <a:stretch>
            <a:fillRect/>
          </a:stretch>
        </p:blipFill>
        <p:spPr>
          <a:xfrm>
            <a:off x="6479896" y="1819656"/>
            <a:ext cx="256032" cy="256032"/>
          </a:xfrm>
          <a:prstGeom prst="rect">
            <a:avLst/>
          </a:prstGeom>
        </p:spPr>
      </p:pic>
      <p:sp>
        <p:nvSpPr>
          <p:cNvPr id="22" name="text-645"/>
          <p:cNvSpPr txBox="1"/>
          <p:nvPr/>
        </p:nvSpPr>
        <p:spPr>
          <a:xfrm>
            <a:off x="7001104" y="1700784"/>
            <a:ext cx="4495648" cy="1764030"/>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Când ajută un sunet popular (Practică)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Sunetul are pagina lui: oamenii descoperă clipuri și de acolo. Doar dacă se potrivește.</a:t>
            </a:r>
            <a:endParaRPr lang="en-US" sz="1600" dirty="0"/>
          </a:p>
        </p:txBody>
      </p:sp>
      <p:sp>
        <p:nvSpPr>
          <p:cNvPr id="23" name="card-646"/>
          <p:cNvSpPr/>
          <p:nvPr/>
        </p:nvSpPr>
        <p:spPr>
          <a:xfrm>
            <a:off x="548640" y="3720846"/>
            <a:ext cx="5410048" cy="1705356"/>
          </a:xfrm>
          <a:prstGeom prst="roundRect">
            <a:avLst>
              <a:gd name="adj" fmla="val 5362"/>
            </a:avLst>
          </a:prstGeom>
          <a:solidFill>
            <a:srgbClr val="FBEEF2"/>
          </a:solidFill>
          <a:ln w="12700">
            <a:solidFill>
              <a:srgbClr val="F2CAD5"/>
            </a:solidFill>
            <a:prstDash val="solid"/>
          </a:ln>
        </p:spPr>
      </p:sp>
      <p:sp>
        <p:nvSpPr>
          <p:cNvPr id="24" name="iconbg-647"/>
          <p:cNvSpPr/>
          <p:nvPr/>
        </p:nvSpPr>
        <p:spPr>
          <a:xfrm>
            <a:off x="694944" y="3867150"/>
            <a:ext cx="457200" cy="457200"/>
          </a:xfrm>
          <a:prstGeom prst="ellipse">
            <a:avLst/>
          </a:prstGeom>
          <a:solidFill>
            <a:srgbClr val="C20E3F"/>
          </a:solidFill>
          <a:ln w="12700">
            <a:solidFill>
              <a:srgbClr val="C20E3F"/>
            </a:solidFill>
            <a:prstDash val="solid"/>
          </a:ln>
        </p:spPr>
      </p:sp>
      <p:pic>
        <p:nvPicPr>
          <p:cNvPr id="25" name="icon-648" descr="preencoded.png">    </p:cNvPr>
          <p:cNvPicPr>
            <a:picLocks noChangeAspect="1"/>
          </p:cNvPicPr>
          <p:nvPr/>
        </p:nvPicPr>
        <p:blipFill>
          <a:blip r:embed="rId12"/>
          <a:stretch>
            <a:fillRect/>
          </a:stretch>
        </p:blipFill>
        <p:spPr>
          <a:xfrm>
            <a:off x="795528" y="3967734"/>
            <a:ext cx="256032" cy="256032"/>
          </a:xfrm>
          <a:prstGeom prst="rect">
            <a:avLst/>
          </a:prstGeom>
        </p:spPr>
      </p:pic>
      <p:sp>
        <p:nvSpPr>
          <p:cNvPr id="26" name="text-649"/>
          <p:cNvSpPr txBox="1"/>
          <p:nvPr/>
        </p:nvSpPr>
        <p:spPr>
          <a:xfrm>
            <a:off x="1316736" y="3848862"/>
            <a:ext cx="4495648" cy="1449324"/>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Cont de afaceri = muzică cu licență (Oficial)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Ai doar Biblioteca de muzică comercială.</a:t>
            </a:r>
            <a:endParaRPr lang="en-US" sz="1600" dirty="0"/>
          </a:p>
        </p:txBody>
      </p:sp>
      <p:sp>
        <p:nvSpPr>
          <p:cNvPr id="27" name="card-650"/>
          <p:cNvSpPr/>
          <p:nvPr/>
        </p:nvSpPr>
        <p:spPr>
          <a:xfrm>
            <a:off x="6233008" y="3720846"/>
            <a:ext cx="5410048" cy="1705356"/>
          </a:xfrm>
          <a:prstGeom prst="roundRect">
            <a:avLst>
              <a:gd name="adj" fmla="val 5362"/>
            </a:avLst>
          </a:prstGeom>
          <a:solidFill>
            <a:srgbClr val="FBEEF2"/>
          </a:solidFill>
          <a:ln w="12700">
            <a:solidFill>
              <a:srgbClr val="F2CAD5"/>
            </a:solidFill>
            <a:prstDash val="solid"/>
          </a:ln>
        </p:spPr>
      </p:sp>
      <p:sp>
        <p:nvSpPr>
          <p:cNvPr id="28" name="iconbg-651"/>
          <p:cNvSpPr/>
          <p:nvPr/>
        </p:nvSpPr>
        <p:spPr>
          <a:xfrm>
            <a:off x="6379312" y="3867150"/>
            <a:ext cx="457200" cy="457200"/>
          </a:xfrm>
          <a:prstGeom prst="ellipse">
            <a:avLst/>
          </a:prstGeom>
          <a:solidFill>
            <a:srgbClr val="C20E3F"/>
          </a:solidFill>
          <a:ln w="12700">
            <a:solidFill>
              <a:srgbClr val="C20E3F"/>
            </a:solidFill>
            <a:prstDash val="solid"/>
          </a:ln>
        </p:spPr>
      </p:sp>
      <p:pic>
        <p:nvPicPr>
          <p:cNvPr id="29" name="icon-652" descr="preencoded.png">    </p:cNvPr>
          <p:cNvPicPr>
            <a:picLocks noChangeAspect="1"/>
          </p:cNvPicPr>
          <p:nvPr/>
        </p:nvPicPr>
        <p:blipFill>
          <a:blip r:embed="rId13"/>
          <a:stretch>
            <a:fillRect/>
          </a:stretch>
        </p:blipFill>
        <p:spPr>
          <a:xfrm>
            <a:off x="6479896" y="3967734"/>
            <a:ext cx="256032" cy="256032"/>
          </a:xfrm>
          <a:prstGeom prst="rect">
            <a:avLst/>
          </a:prstGeom>
        </p:spPr>
      </p:pic>
      <p:sp>
        <p:nvSpPr>
          <p:cNvPr id="30" name="text-653"/>
          <p:cNvSpPr txBox="1"/>
          <p:nvPr/>
        </p:nvSpPr>
        <p:spPr>
          <a:xfrm>
            <a:off x="7001104" y="3848862"/>
            <a:ext cx="4495648" cy="1449324"/>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Sunetul salonului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Foehnul, foarfeca, pensula: și ele țin oamenii în clip.</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watermark-654"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655" descr="TikTok">    </p:cNvPr>
          <p:cNvPicPr>
            <a:picLocks noChangeAspect="1"/>
          </p:cNvPicPr>
          <p:nvPr/>
        </p:nvPicPr>
        <p:blipFill>
          <a:blip r:embed="rId2"/>
          <a:stretch>
            <a:fillRect/>
          </a:stretch>
        </p:blipFill>
        <p:spPr>
          <a:xfrm>
            <a:off x="548640" y="329184"/>
            <a:ext cx="384048" cy="384048"/>
          </a:xfrm>
          <a:prstGeom prst="rect">
            <a:avLst/>
          </a:prstGeom>
        </p:spPr>
      </p:pic>
      <p:sp>
        <p:nvSpPr>
          <p:cNvPr id="4" name="text-656"/>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0E3F"/>
                </a:solidFill>
                <a:latin typeface="Arial" pitchFamily="34" charset="0"/>
                <a:ea typeface="Arial" pitchFamily="34" charset="-122"/>
                <a:cs typeface="Arial" pitchFamily="34" charset="-120"/>
              </a:rPr>
              <a:t>TIKTOK</a:t>
            </a:r>
            <a:endParaRPr lang="en-US" sz="1500" dirty="0"/>
          </a:p>
        </p:txBody>
      </p:sp>
      <p:sp>
        <p:nvSpPr>
          <p:cNvPr id="5" name="text-657"/>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Tranziții: înainte și după cu mâna peste cameră</a:t>
            </a:r>
            <a:endParaRPr lang="en-US" sz="3200" dirty="0"/>
          </a:p>
        </p:txBody>
      </p:sp>
      <p:sp>
        <p:nvSpPr>
          <p:cNvPr id="6" name="nav-658">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659">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660">
            <a:hlinkClick r:id="rId5" tooltip="TikTok" action="ppaction://hlinksldjump"/>
          </p:cNvPr>
          <p:cNvSpPr/>
          <p:nvPr/>
        </p:nvSpPr>
        <p:spPr>
          <a:xfrm>
            <a:off x="8890711" y="365760"/>
            <a:ext cx="786384" cy="310896"/>
          </a:xfrm>
          <a:prstGeom prst="roundRect">
            <a:avLst>
              <a:gd name="adj" fmla="val 50000"/>
            </a:avLst>
          </a:prstGeom>
          <a:solidFill>
            <a:srgbClr val="C20E3F"/>
          </a:solidFill>
          <a:ln w="12700">
            <a:solidFill>
              <a:srgbClr val="C20E3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661">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662">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663">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664"/>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665"/>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0E3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666"/>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23</a:t>
            </a:r>
            <a:endParaRPr lang="en-US" sz="1000" dirty="0"/>
          </a:p>
        </p:txBody>
      </p:sp>
      <p:sp>
        <p:nvSpPr>
          <p:cNvPr id="15" name="card-667"/>
          <p:cNvSpPr/>
          <p:nvPr/>
        </p:nvSpPr>
        <p:spPr>
          <a:xfrm>
            <a:off x="548640" y="1572768"/>
            <a:ext cx="5364328" cy="1715262"/>
          </a:xfrm>
          <a:prstGeom prst="roundRect">
            <a:avLst>
              <a:gd name="adj" fmla="val 5331"/>
            </a:avLst>
          </a:prstGeom>
          <a:solidFill>
            <a:srgbClr val="FBEEF2"/>
          </a:solidFill>
          <a:ln w="12700">
            <a:solidFill>
              <a:srgbClr val="F2CAD5"/>
            </a:solidFill>
            <a:prstDash val="solid"/>
          </a:ln>
        </p:spPr>
      </p:sp>
      <p:sp>
        <p:nvSpPr>
          <p:cNvPr id="16" name="iconbg-668"/>
          <p:cNvSpPr/>
          <p:nvPr/>
        </p:nvSpPr>
        <p:spPr>
          <a:xfrm>
            <a:off x="694944" y="1719072"/>
            <a:ext cx="457200" cy="457200"/>
          </a:xfrm>
          <a:prstGeom prst="ellipse">
            <a:avLst/>
          </a:prstGeom>
          <a:solidFill>
            <a:srgbClr val="C20E3F"/>
          </a:solidFill>
          <a:ln w="12700">
            <a:solidFill>
              <a:srgbClr val="C20E3F"/>
            </a:solidFill>
            <a:prstDash val="solid"/>
          </a:ln>
        </p:spPr>
      </p:sp>
      <p:pic>
        <p:nvPicPr>
          <p:cNvPr id="17" name="icon-669"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670"/>
          <p:cNvSpPr txBox="1"/>
          <p:nvPr/>
        </p:nvSpPr>
        <p:spPr>
          <a:xfrm>
            <a:off x="1316736" y="1700784"/>
            <a:ext cx="4449928" cy="1459230"/>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Mâna peste cameră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1. Înainte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2. Mâna acoperă camera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3. Iei mâna: după</a:t>
            </a:r>
            <a:endParaRPr lang="en-US" sz="1600" dirty="0"/>
          </a:p>
        </p:txBody>
      </p:sp>
      <p:sp>
        <p:nvSpPr>
          <p:cNvPr id="19" name="card-671"/>
          <p:cNvSpPr/>
          <p:nvPr/>
        </p:nvSpPr>
        <p:spPr>
          <a:xfrm>
            <a:off x="6278728" y="1572768"/>
            <a:ext cx="5364328" cy="2057400"/>
          </a:xfrm>
          <a:prstGeom prst="roundRect">
            <a:avLst>
              <a:gd name="adj" fmla="val 4444"/>
            </a:avLst>
          </a:prstGeom>
          <a:solidFill>
            <a:srgbClr val="FBEEF2"/>
          </a:solidFill>
          <a:ln w="12700">
            <a:solidFill>
              <a:srgbClr val="F2CAD5"/>
            </a:solidFill>
            <a:prstDash val="solid"/>
          </a:ln>
        </p:spPr>
      </p:sp>
      <p:sp>
        <p:nvSpPr>
          <p:cNvPr id="20" name="iconbg-672"/>
          <p:cNvSpPr/>
          <p:nvPr/>
        </p:nvSpPr>
        <p:spPr>
          <a:xfrm>
            <a:off x="6425032" y="1719072"/>
            <a:ext cx="457200" cy="457200"/>
          </a:xfrm>
          <a:prstGeom prst="ellipse">
            <a:avLst/>
          </a:prstGeom>
          <a:solidFill>
            <a:srgbClr val="C20E3F"/>
          </a:solidFill>
          <a:ln w="12700">
            <a:solidFill>
              <a:srgbClr val="C20E3F"/>
            </a:solidFill>
            <a:prstDash val="solid"/>
          </a:ln>
        </p:spPr>
      </p:sp>
      <p:pic>
        <p:nvPicPr>
          <p:cNvPr id="21" name="icon-673" descr="preencoded.png">    </p:cNvPr>
          <p:cNvPicPr>
            <a:picLocks noChangeAspect="1"/>
          </p:cNvPicPr>
          <p:nvPr/>
        </p:nvPicPr>
        <p:blipFill>
          <a:blip r:embed="rId11"/>
          <a:stretch>
            <a:fillRect/>
          </a:stretch>
        </p:blipFill>
        <p:spPr>
          <a:xfrm>
            <a:off x="6525616" y="1819656"/>
            <a:ext cx="256032" cy="256032"/>
          </a:xfrm>
          <a:prstGeom prst="rect">
            <a:avLst/>
          </a:prstGeom>
        </p:spPr>
      </p:pic>
      <p:sp>
        <p:nvSpPr>
          <p:cNvPr id="22" name="text-674"/>
          <p:cNvSpPr txBox="1"/>
          <p:nvPr/>
        </p:nvSpPr>
        <p:spPr>
          <a:xfrm>
            <a:off x="7046824" y="1700784"/>
            <a:ext cx="4449928" cy="1801368"/>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Alte tranziții simple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Clienta întoarce capul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Rotirea scaunului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Pocnet din degete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Telefonul fix, pe suport</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watermark-675"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676" descr="TikTok">    </p:cNvPr>
          <p:cNvPicPr>
            <a:picLocks noChangeAspect="1"/>
          </p:cNvPicPr>
          <p:nvPr/>
        </p:nvPicPr>
        <p:blipFill>
          <a:blip r:embed="rId2"/>
          <a:stretch>
            <a:fillRect/>
          </a:stretch>
        </p:blipFill>
        <p:spPr>
          <a:xfrm>
            <a:off x="548640" y="329184"/>
            <a:ext cx="384048" cy="384048"/>
          </a:xfrm>
          <a:prstGeom prst="rect">
            <a:avLst/>
          </a:prstGeom>
        </p:spPr>
      </p:pic>
      <p:sp>
        <p:nvSpPr>
          <p:cNvPr id="4" name="text-677"/>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0E3F"/>
                </a:solidFill>
                <a:latin typeface="Arial" pitchFamily="34" charset="0"/>
                <a:ea typeface="Arial" pitchFamily="34" charset="-122"/>
                <a:cs typeface="Arial" pitchFamily="34" charset="-120"/>
              </a:rPr>
              <a:t>TIKTOK</a:t>
            </a:r>
            <a:endParaRPr lang="en-US" sz="1500" dirty="0"/>
          </a:p>
        </p:txBody>
      </p:sp>
      <p:sp>
        <p:nvSpPr>
          <p:cNvPr id="5" name="text-678"/>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Monetizare: ce cere TikTok și ce merge în România</a:t>
            </a:r>
            <a:endParaRPr lang="en-US" sz="3200" dirty="0"/>
          </a:p>
        </p:txBody>
      </p:sp>
      <p:sp>
        <p:nvSpPr>
          <p:cNvPr id="6" name="nav-679">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680">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681">
            <a:hlinkClick r:id="rId5" tooltip="TikTok" action="ppaction://hlinksldjump"/>
          </p:cNvPr>
          <p:cNvSpPr/>
          <p:nvPr/>
        </p:nvSpPr>
        <p:spPr>
          <a:xfrm>
            <a:off x="8890711" y="365760"/>
            <a:ext cx="786384" cy="310896"/>
          </a:xfrm>
          <a:prstGeom prst="roundRect">
            <a:avLst>
              <a:gd name="adj" fmla="val 50000"/>
            </a:avLst>
          </a:prstGeom>
          <a:solidFill>
            <a:srgbClr val="C20E3F"/>
          </a:solidFill>
          <a:ln w="12700">
            <a:solidFill>
              <a:srgbClr val="C20E3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682">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683">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684">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685"/>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686"/>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0E3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687"/>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24</a:t>
            </a:r>
            <a:endParaRPr lang="en-US" sz="1000" dirty="0"/>
          </a:p>
        </p:txBody>
      </p:sp>
      <p:sp>
        <p:nvSpPr>
          <p:cNvPr id="15" name="card-688"/>
          <p:cNvSpPr/>
          <p:nvPr/>
        </p:nvSpPr>
        <p:spPr>
          <a:xfrm>
            <a:off x="548640" y="1572768"/>
            <a:ext cx="5364328" cy="2467102"/>
          </a:xfrm>
          <a:prstGeom prst="roundRect">
            <a:avLst>
              <a:gd name="adj" fmla="val 3706"/>
            </a:avLst>
          </a:prstGeom>
          <a:solidFill>
            <a:srgbClr val="FBEEF2"/>
          </a:solidFill>
          <a:ln w="12700">
            <a:solidFill>
              <a:srgbClr val="F2CAD5"/>
            </a:solidFill>
            <a:prstDash val="solid"/>
          </a:ln>
        </p:spPr>
      </p:sp>
      <p:sp>
        <p:nvSpPr>
          <p:cNvPr id="16" name="iconbg-689"/>
          <p:cNvSpPr/>
          <p:nvPr/>
        </p:nvSpPr>
        <p:spPr>
          <a:xfrm>
            <a:off x="694944" y="1719072"/>
            <a:ext cx="457200" cy="457200"/>
          </a:xfrm>
          <a:prstGeom prst="ellipse">
            <a:avLst/>
          </a:prstGeom>
          <a:solidFill>
            <a:srgbClr val="C20E3F"/>
          </a:solidFill>
          <a:ln w="12700">
            <a:solidFill>
              <a:srgbClr val="C20E3F"/>
            </a:solidFill>
            <a:prstDash val="solid"/>
          </a:ln>
        </p:spPr>
      </p:sp>
      <p:pic>
        <p:nvPicPr>
          <p:cNvPr id="17" name="icon-690"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691"/>
          <p:cNvSpPr txBox="1"/>
          <p:nvPr/>
        </p:nvSpPr>
        <p:spPr>
          <a:xfrm>
            <a:off x="1316736" y="1700784"/>
            <a:ext cx="4449928" cy="2211070"/>
          </a:xfrm>
          <a:prstGeom prst="rect">
            <a:avLst/>
          </a:prstGeom>
          <a:noFill/>
          <a:ln/>
        </p:spPr>
        <p:txBody>
          <a:bodyPr wrap="square" lIns="0" tIns="0" rIns="0" bIns="0" rtlCol="0" anchor="t"/>
          <a:lstStyle/>
          <a:p>
            <a:pPr indent="0" marL="0">
              <a:spcAft>
                <a:spcPts val="200"/>
              </a:spcAft>
              <a:buNone/>
            </a:pPr>
            <a:r>
              <a:rPr lang="en-US" sz="2200" b="1" dirty="0">
                <a:solidFill>
                  <a:srgbClr val="C20E3F"/>
                </a:solidFill>
                <a:latin typeface="Arial" pitchFamily="34" charset="0"/>
                <a:ea typeface="Arial" pitchFamily="34" charset="-122"/>
                <a:cs typeface="Arial" pitchFamily="34" charset="-120"/>
              </a:rPr>
              <a:t>Creator Rewards (bani din vizualizări)</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18+ · 10.000 urmăritori · 100.000 vizualizări în 30 zile · clipuri peste 1 min · cont personal</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În România: NU apare în listele de țări.</a:t>
            </a:r>
            <a:endParaRPr lang="en-US" sz="1600" dirty="0"/>
          </a:p>
        </p:txBody>
      </p:sp>
      <p:sp>
        <p:nvSpPr>
          <p:cNvPr id="19" name="card-692"/>
          <p:cNvSpPr/>
          <p:nvPr/>
        </p:nvSpPr>
        <p:spPr>
          <a:xfrm>
            <a:off x="548640" y="4167886"/>
            <a:ext cx="5364328" cy="1852676"/>
          </a:xfrm>
          <a:prstGeom prst="roundRect">
            <a:avLst>
              <a:gd name="adj" fmla="val 4936"/>
            </a:avLst>
          </a:prstGeom>
          <a:solidFill>
            <a:srgbClr val="FBEEF2"/>
          </a:solidFill>
          <a:ln w="12700">
            <a:solidFill>
              <a:srgbClr val="F2CAD5"/>
            </a:solidFill>
            <a:prstDash val="solid"/>
          </a:ln>
        </p:spPr>
      </p:sp>
      <p:sp>
        <p:nvSpPr>
          <p:cNvPr id="20" name="iconbg-693"/>
          <p:cNvSpPr/>
          <p:nvPr/>
        </p:nvSpPr>
        <p:spPr>
          <a:xfrm>
            <a:off x="694944" y="4314190"/>
            <a:ext cx="457200" cy="457200"/>
          </a:xfrm>
          <a:prstGeom prst="ellipse">
            <a:avLst/>
          </a:prstGeom>
          <a:solidFill>
            <a:srgbClr val="C20E3F"/>
          </a:solidFill>
          <a:ln w="12700">
            <a:solidFill>
              <a:srgbClr val="C20E3F"/>
            </a:solidFill>
            <a:prstDash val="solid"/>
          </a:ln>
        </p:spPr>
      </p:sp>
      <p:pic>
        <p:nvPicPr>
          <p:cNvPr id="21" name="icon-694" descr="preencoded.png">    </p:cNvPr>
          <p:cNvPicPr>
            <a:picLocks noChangeAspect="1"/>
          </p:cNvPicPr>
          <p:nvPr/>
        </p:nvPicPr>
        <p:blipFill>
          <a:blip r:embed="rId11"/>
          <a:stretch>
            <a:fillRect/>
          </a:stretch>
        </p:blipFill>
        <p:spPr>
          <a:xfrm>
            <a:off x="795528" y="4414774"/>
            <a:ext cx="256032" cy="256032"/>
          </a:xfrm>
          <a:prstGeom prst="rect">
            <a:avLst/>
          </a:prstGeom>
        </p:spPr>
      </p:pic>
      <p:sp>
        <p:nvSpPr>
          <p:cNvPr id="22" name="text-695"/>
          <p:cNvSpPr txBox="1"/>
          <p:nvPr/>
        </p:nvSpPr>
        <p:spPr>
          <a:xfrm>
            <a:off x="1316736" y="4295902"/>
            <a:ext cx="4449928" cy="1596644"/>
          </a:xfrm>
          <a:prstGeom prst="rect">
            <a:avLst/>
          </a:prstGeom>
          <a:noFill/>
          <a:ln/>
        </p:spPr>
        <p:txBody>
          <a:bodyPr wrap="square" lIns="0" tIns="0" rIns="0" bIns="0" rtlCol="0" anchor="t"/>
          <a:lstStyle/>
          <a:p>
            <a:pPr indent="0" marL="0">
              <a:spcAft>
                <a:spcPts val="200"/>
              </a:spcAft>
              <a:buNone/>
            </a:pPr>
            <a:r>
              <a:rPr lang="en-US" sz="2200" b="1" dirty="0">
                <a:solidFill>
                  <a:srgbClr val="C20E3F"/>
                </a:solidFill>
                <a:latin typeface="Arial" pitchFamily="34" charset="0"/>
                <a:ea typeface="Arial" pitchFamily="34" charset="-122"/>
                <a:cs typeface="Arial" pitchFamily="34" charset="-120"/>
              </a:rPr>
              <a:t>Abonamente</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18+ · 10.000 urmăritori · 100.000 vizualizări pe lună</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În România: NU (lansat în alte 10 țări).</a:t>
            </a:r>
            <a:endParaRPr lang="en-US" sz="1600" dirty="0"/>
          </a:p>
        </p:txBody>
      </p:sp>
      <p:sp>
        <p:nvSpPr>
          <p:cNvPr id="23" name="card-696"/>
          <p:cNvSpPr/>
          <p:nvPr/>
        </p:nvSpPr>
        <p:spPr>
          <a:xfrm>
            <a:off x="6278728" y="1572768"/>
            <a:ext cx="5364328" cy="1567942"/>
          </a:xfrm>
          <a:prstGeom prst="roundRect">
            <a:avLst>
              <a:gd name="adj" fmla="val 5832"/>
            </a:avLst>
          </a:prstGeom>
          <a:solidFill>
            <a:srgbClr val="FBEEF2"/>
          </a:solidFill>
          <a:ln w="12700">
            <a:solidFill>
              <a:srgbClr val="F2CAD5"/>
            </a:solidFill>
            <a:prstDash val="solid"/>
          </a:ln>
        </p:spPr>
      </p:sp>
      <p:sp>
        <p:nvSpPr>
          <p:cNvPr id="24" name="iconbg-697"/>
          <p:cNvSpPr/>
          <p:nvPr/>
        </p:nvSpPr>
        <p:spPr>
          <a:xfrm>
            <a:off x="6425032" y="1719072"/>
            <a:ext cx="457200" cy="457200"/>
          </a:xfrm>
          <a:prstGeom prst="ellipse">
            <a:avLst/>
          </a:prstGeom>
          <a:solidFill>
            <a:srgbClr val="C20E3F"/>
          </a:solidFill>
          <a:ln w="12700">
            <a:solidFill>
              <a:srgbClr val="C20E3F"/>
            </a:solidFill>
            <a:prstDash val="solid"/>
          </a:ln>
        </p:spPr>
      </p:sp>
      <p:pic>
        <p:nvPicPr>
          <p:cNvPr id="25" name="icon-698" descr="preencoded.png">    </p:cNvPr>
          <p:cNvPicPr>
            <a:picLocks noChangeAspect="1"/>
          </p:cNvPicPr>
          <p:nvPr/>
        </p:nvPicPr>
        <p:blipFill>
          <a:blip r:embed="rId12"/>
          <a:stretch>
            <a:fillRect/>
          </a:stretch>
        </p:blipFill>
        <p:spPr>
          <a:xfrm>
            <a:off x="6525616" y="1819656"/>
            <a:ext cx="256032" cy="256032"/>
          </a:xfrm>
          <a:prstGeom prst="rect">
            <a:avLst/>
          </a:prstGeom>
        </p:spPr>
      </p:pic>
      <p:sp>
        <p:nvSpPr>
          <p:cNvPr id="26" name="text-699"/>
          <p:cNvSpPr txBox="1"/>
          <p:nvPr/>
        </p:nvSpPr>
        <p:spPr>
          <a:xfrm>
            <a:off x="7046824" y="1700784"/>
            <a:ext cx="4449928" cy="1311910"/>
          </a:xfrm>
          <a:prstGeom prst="rect">
            <a:avLst/>
          </a:prstGeom>
          <a:noFill/>
          <a:ln/>
        </p:spPr>
        <p:txBody>
          <a:bodyPr wrap="square" lIns="0" tIns="0" rIns="0" bIns="0" rtlCol="0" anchor="t"/>
          <a:lstStyle/>
          <a:p>
            <a:pPr indent="0" marL="0">
              <a:spcAft>
                <a:spcPts val="200"/>
              </a:spcAft>
              <a:buNone/>
            </a:pPr>
            <a:r>
              <a:rPr lang="en-US" sz="2200" b="1" dirty="0">
                <a:solidFill>
                  <a:srgbClr val="C20E3F"/>
                </a:solidFill>
                <a:latin typeface="Arial" pitchFamily="34" charset="0"/>
                <a:ea typeface="Arial" pitchFamily="34" charset="-122"/>
                <a:cs typeface="Arial" pitchFamily="34" charset="-120"/>
              </a:rPr>
              <a:t>Cadouri în LIVE</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18+ · acces la LIVE · funcția disponibilă în țara ta</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În România: VERIFICĂ în aplicație.</a:t>
            </a:r>
            <a:endParaRPr lang="en-US" sz="1600" dirty="0"/>
          </a:p>
        </p:txBody>
      </p:sp>
      <p:sp>
        <p:nvSpPr>
          <p:cNvPr id="27" name="card-700"/>
          <p:cNvSpPr/>
          <p:nvPr/>
        </p:nvSpPr>
        <p:spPr>
          <a:xfrm>
            <a:off x="6278728" y="3268726"/>
            <a:ext cx="5364328" cy="1567942"/>
          </a:xfrm>
          <a:prstGeom prst="roundRect">
            <a:avLst>
              <a:gd name="adj" fmla="val 5832"/>
            </a:avLst>
          </a:prstGeom>
          <a:solidFill>
            <a:srgbClr val="FBEEF2"/>
          </a:solidFill>
          <a:ln w="12700">
            <a:solidFill>
              <a:srgbClr val="F2CAD5"/>
            </a:solidFill>
            <a:prstDash val="solid"/>
          </a:ln>
        </p:spPr>
      </p:sp>
      <p:sp>
        <p:nvSpPr>
          <p:cNvPr id="28" name="iconbg-701"/>
          <p:cNvSpPr/>
          <p:nvPr/>
        </p:nvSpPr>
        <p:spPr>
          <a:xfrm>
            <a:off x="6425032" y="3415030"/>
            <a:ext cx="457200" cy="457200"/>
          </a:xfrm>
          <a:prstGeom prst="ellipse">
            <a:avLst/>
          </a:prstGeom>
          <a:solidFill>
            <a:srgbClr val="C20E3F"/>
          </a:solidFill>
          <a:ln w="12700">
            <a:solidFill>
              <a:srgbClr val="C20E3F"/>
            </a:solidFill>
            <a:prstDash val="solid"/>
          </a:ln>
        </p:spPr>
      </p:sp>
      <p:pic>
        <p:nvPicPr>
          <p:cNvPr id="29" name="icon-702" descr="preencoded.png">    </p:cNvPr>
          <p:cNvPicPr>
            <a:picLocks noChangeAspect="1"/>
          </p:cNvPicPr>
          <p:nvPr/>
        </p:nvPicPr>
        <p:blipFill>
          <a:blip r:embed="rId13"/>
          <a:stretch>
            <a:fillRect/>
          </a:stretch>
        </p:blipFill>
        <p:spPr>
          <a:xfrm>
            <a:off x="6525616" y="3515614"/>
            <a:ext cx="256032" cy="256032"/>
          </a:xfrm>
          <a:prstGeom prst="rect">
            <a:avLst/>
          </a:prstGeom>
        </p:spPr>
      </p:pic>
      <p:sp>
        <p:nvSpPr>
          <p:cNvPr id="30" name="text-703"/>
          <p:cNvSpPr txBox="1"/>
          <p:nvPr/>
        </p:nvSpPr>
        <p:spPr>
          <a:xfrm>
            <a:off x="7046824" y="3396742"/>
            <a:ext cx="4449928" cy="1311910"/>
          </a:xfrm>
          <a:prstGeom prst="rect">
            <a:avLst/>
          </a:prstGeom>
          <a:noFill/>
          <a:ln/>
        </p:spPr>
        <p:txBody>
          <a:bodyPr wrap="square" lIns="0" tIns="0" rIns="0" bIns="0" rtlCol="0" anchor="t"/>
          <a:lstStyle/>
          <a:p>
            <a:pPr indent="0" marL="0">
              <a:spcAft>
                <a:spcPts val="200"/>
              </a:spcAft>
              <a:buNone/>
            </a:pPr>
            <a:r>
              <a:rPr lang="en-US" sz="2200" b="1" dirty="0">
                <a:solidFill>
                  <a:srgbClr val="C20E3F"/>
                </a:solidFill>
                <a:latin typeface="Arial" pitchFamily="34" charset="0"/>
                <a:ea typeface="Arial" pitchFamily="34" charset="-122"/>
                <a:cs typeface="Arial" pitchFamily="34" charset="-120"/>
              </a:rPr>
              <a:t>Colaborări cu branduri</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Fără prag · marchezi conținutul plătit</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În România: DA.</a:t>
            </a:r>
            <a:endParaRPr lang="en-US" sz="1600" dirty="0"/>
          </a:p>
        </p:txBody>
      </p:sp>
      <p:sp>
        <p:nvSpPr>
          <p:cNvPr id="31" name="card-704"/>
          <p:cNvSpPr/>
          <p:nvPr/>
        </p:nvSpPr>
        <p:spPr>
          <a:xfrm>
            <a:off x="6278728" y="4964684"/>
            <a:ext cx="5364328" cy="1255776"/>
          </a:xfrm>
          <a:prstGeom prst="roundRect">
            <a:avLst>
              <a:gd name="adj" fmla="val 7282"/>
            </a:avLst>
          </a:prstGeom>
          <a:solidFill>
            <a:srgbClr val="FBEEF2"/>
          </a:solidFill>
          <a:ln w="12700">
            <a:solidFill>
              <a:srgbClr val="F2CAD5"/>
            </a:solidFill>
            <a:prstDash val="solid"/>
          </a:ln>
        </p:spPr>
      </p:sp>
      <p:sp>
        <p:nvSpPr>
          <p:cNvPr id="32" name="iconbg-705"/>
          <p:cNvSpPr/>
          <p:nvPr/>
        </p:nvSpPr>
        <p:spPr>
          <a:xfrm>
            <a:off x="6425032" y="5110988"/>
            <a:ext cx="457200" cy="457200"/>
          </a:xfrm>
          <a:prstGeom prst="ellipse">
            <a:avLst/>
          </a:prstGeom>
          <a:solidFill>
            <a:srgbClr val="C20E3F"/>
          </a:solidFill>
          <a:ln w="12700">
            <a:solidFill>
              <a:srgbClr val="C20E3F"/>
            </a:solidFill>
            <a:prstDash val="solid"/>
          </a:ln>
        </p:spPr>
      </p:sp>
      <p:pic>
        <p:nvPicPr>
          <p:cNvPr id="33" name="icon-706" descr="preencoded.png">    </p:cNvPr>
          <p:cNvPicPr>
            <a:picLocks noChangeAspect="1"/>
          </p:cNvPicPr>
          <p:nvPr/>
        </p:nvPicPr>
        <p:blipFill>
          <a:blip r:embed="rId14"/>
          <a:stretch>
            <a:fillRect/>
          </a:stretch>
        </p:blipFill>
        <p:spPr>
          <a:xfrm>
            <a:off x="6525616" y="5211572"/>
            <a:ext cx="256032" cy="256032"/>
          </a:xfrm>
          <a:prstGeom prst="rect">
            <a:avLst/>
          </a:prstGeom>
        </p:spPr>
      </p:pic>
      <p:sp>
        <p:nvSpPr>
          <p:cNvPr id="34" name="text-707"/>
          <p:cNvSpPr txBox="1"/>
          <p:nvPr/>
        </p:nvSpPr>
        <p:spPr>
          <a:xfrm>
            <a:off x="7046824" y="5092700"/>
            <a:ext cx="4449928" cy="999744"/>
          </a:xfrm>
          <a:prstGeom prst="rect">
            <a:avLst/>
          </a:prstGeom>
          <a:noFill/>
          <a:ln/>
        </p:spPr>
        <p:txBody>
          <a:bodyPr wrap="square" lIns="0" tIns="0" rIns="0" bIns="0" rtlCol="0" anchor="t"/>
          <a:lstStyle/>
          <a:p>
            <a:pPr indent="0" marL="0">
              <a:spcAft>
                <a:spcPts val="200"/>
              </a:spcAft>
              <a:buNone/>
            </a:pPr>
            <a:r>
              <a:rPr lang="en-US" sz="2200" b="1" dirty="0">
                <a:solidFill>
                  <a:srgbClr val="C20E3F"/>
                </a:solidFill>
                <a:latin typeface="Arial" pitchFamily="34" charset="0"/>
                <a:ea typeface="Arial" pitchFamily="34" charset="-122"/>
                <a:cs typeface="Arial" pitchFamily="34" charset="-120"/>
              </a:rPr>
              <a:t>Unde verifici</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Profil → meniul ≡ → TikTok Studio → Monetizare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watermark-708"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709" descr="TikTok">    </p:cNvPr>
          <p:cNvPicPr>
            <a:picLocks noChangeAspect="1"/>
          </p:cNvPicPr>
          <p:nvPr/>
        </p:nvPicPr>
        <p:blipFill>
          <a:blip r:embed="rId2"/>
          <a:stretch>
            <a:fillRect/>
          </a:stretch>
        </p:blipFill>
        <p:spPr>
          <a:xfrm>
            <a:off x="548640" y="329184"/>
            <a:ext cx="384048" cy="384048"/>
          </a:xfrm>
          <a:prstGeom prst="rect">
            <a:avLst/>
          </a:prstGeom>
        </p:spPr>
      </p:pic>
      <p:sp>
        <p:nvSpPr>
          <p:cNvPr id="4" name="text-710"/>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0E3F"/>
                </a:solidFill>
                <a:latin typeface="Arial" pitchFamily="34" charset="0"/>
                <a:ea typeface="Arial" pitchFamily="34" charset="-122"/>
                <a:cs typeface="Arial" pitchFamily="34" charset="-120"/>
              </a:rPr>
              <a:t>TIKTOK</a:t>
            </a:r>
            <a:endParaRPr lang="en-US" sz="1500" dirty="0"/>
          </a:p>
        </p:txBody>
      </p:sp>
      <p:sp>
        <p:nvSpPr>
          <p:cNvPr id="5" name="text-711"/>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LIVE: salonul tău, în direct</a:t>
            </a:r>
            <a:endParaRPr lang="en-US" sz="3200" dirty="0"/>
          </a:p>
        </p:txBody>
      </p:sp>
      <p:sp>
        <p:nvSpPr>
          <p:cNvPr id="6" name="nav-712">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713">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714">
            <a:hlinkClick r:id="rId5" tooltip="TikTok" action="ppaction://hlinksldjump"/>
          </p:cNvPr>
          <p:cNvSpPr/>
          <p:nvPr/>
        </p:nvSpPr>
        <p:spPr>
          <a:xfrm>
            <a:off x="8890711" y="365760"/>
            <a:ext cx="786384" cy="310896"/>
          </a:xfrm>
          <a:prstGeom prst="roundRect">
            <a:avLst>
              <a:gd name="adj" fmla="val 50000"/>
            </a:avLst>
          </a:prstGeom>
          <a:solidFill>
            <a:srgbClr val="C20E3F"/>
          </a:solidFill>
          <a:ln w="12700">
            <a:solidFill>
              <a:srgbClr val="C20E3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715">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716">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717">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718"/>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719"/>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0E3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720"/>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25</a:t>
            </a:r>
            <a:endParaRPr lang="en-US" sz="1000" dirty="0"/>
          </a:p>
        </p:txBody>
      </p:sp>
      <p:sp>
        <p:nvSpPr>
          <p:cNvPr id="15" name="card-721"/>
          <p:cNvSpPr/>
          <p:nvPr/>
        </p:nvSpPr>
        <p:spPr>
          <a:xfrm>
            <a:off x="548640" y="1572768"/>
            <a:ext cx="5364328" cy="1105916"/>
          </a:xfrm>
          <a:prstGeom prst="roundRect">
            <a:avLst>
              <a:gd name="adj" fmla="val 8268"/>
            </a:avLst>
          </a:prstGeom>
          <a:solidFill>
            <a:srgbClr val="FBEEF2"/>
          </a:solidFill>
          <a:ln w="12700">
            <a:solidFill>
              <a:srgbClr val="F2CAD5"/>
            </a:solidFill>
            <a:prstDash val="solid"/>
          </a:ln>
        </p:spPr>
      </p:sp>
      <p:sp>
        <p:nvSpPr>
          <p:cNvPr id="16" name="iconbg-722"/>
          <p:cNvSpPr/>
          <p:nvPr/>
        </p:nvSpPr>
        <p:spPr>
          <a:xfrm>
            <a:off x="694944" y="1719072"/>
            <a:ext cx="457200" cy="457200"/>
          </a:xfrm>
          <a:prstGeom prst="ellipse">
            <a:avLst/>
          </a:prstGeom>
          <a:solidFill>
            <a:srgbClr val="C20E3F"/>
          </a:solidFill>
          <a:ln w="12700">
            <a:solidFill>
              <a:srgbClr val="C20E3F"/>
            </a:solidFill>
            <a:prstDash val="solid"/>
          </a:ln>
        </p:spPr>
      </p:sp>
      <p:pic>
        <p:nvPicPr>
          <p:cNvPr id="17" name="icon-723"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724"/>
          <p:cNvSpPr txBox="1"/>
          <p:nvPr/>
        </p:nvSpPr>
        <p:spPr>
          <a:xfrm>
            <a:off x="1316736" y="1700784"/>
            <a:ext cx="4449928" cy="849884"/>
          </a:xfrm>
          <a:prstGeom prst="rect">
            <a:avLst/>
          </a:prstGeom>
          <a:noFill/>
          <a:ln/>
        </p:spPr>
        <p:txBody>
          <a:bodyPr wrap="square" lIns="0" tIns="0" rIns="0" bIns="0" rtlCol="0" anchor="t"/>
          <a:lstStyle/>
          <a:p>
            <a:pPr indent="0" marL="0">
              <a:spcAft>
                <a:spcPts val="200"/>
              </a:spcAft>
              <a:buNone/>
            </a:pPr>
            <a:r>
              <a:rPr lang="en-US" sz="1800" b="1" dirty="0">
                <a:solidFill>
                  <a:srgbClr val="C20E3F"/>
                </a:solidFill>
                <a:latin typeface="Arial" pitchFamily="34" charset="0"/>
                <a:ea typeface="Arial" pitchFamily="34" charset="-122"/>
                <a:cs typeface="Arial" pitchFamily="34" charset="-120"/>
              </a:rPr>
              <a:t>Ce este</a:t>
            </a:r>
            <a:endParaRPr lang="en-US" sz="1600" dirty="0"/>
          </a:p>
          <a:p>
            <a:pPr indent="0" marL="0">
              <a:spcAft>
                <a:spcPts val="200"/>
              </a:spcAft>
              <a:buNone/>
            </a:pPr>
            <a:r>
              <a:rPr lang="en-US" sz="1600" dirty="0">
                <a:solidFill>
                  <a:srgbClr val="3D3D3D"/>
                </a:solidFill>
                <a:latin typeface="Arial" pitchFamily="34" charset="0"/>
                <a:ea typeface="Arial" pitchFamily="34" charset="-122"/>
                <a:cs typeface="Arial" pitchFamily="34" charset="-120"/>
              </a:rPr>
              <a:t>Transmisiune în direct: te văd și îți scriu.</a:t>
            </a:r>
            <a:endParaRPr lang="en-US" sz="1600" dirty="0"/>
          </a:p>
        </p:txBody>
      </p:sp>
      <p:sp>
        <p:nvSpPr>
          <p:cNvPr id="19" name="card-725"/>
          <p:cNvSpPr/>
          <p:nvPr/>
        </p:nvSpPr>
        <p:spPr>
          <a:xfrm>
            <a:off x="548640" y="2806700"/>
            <a:ext cx="5364328" cy="1105916"/>
          </a:xfrm>
          <a:prstGeom prst="roundRect">
            <a:avLst>
              <a:gd name="adj" fmla="val 8268"/>
            </a:avLst>
          </a:prstGeom>
          <a:solidFill>
            <a:srgbClr val="FBEEF2"/>
          </a:solidFill>
          <a:ln w="12700">
            <a:solidFill>
              <a:srgbClr val="F2CAD5"/>
            </a:solidFill>
            <a:prstDash val="solid"/>
          </a:ln>
        </p:spPr>
      </p:sp>
      <p:sp>
        <p:nvSpPr>
          <p:cNvPr id="20" name="iconbg-726"/>
          <p:cNvSpPr/>
          <p:nvPr/>
        </p:nvSpPr>
        <p:spPr>
          <a:xfrm>
            <a:off x="694944" y="2953004"/>
            <a:ext cx="457200" cy="457200"/>
          </a:xfrm>
          <a:prstGeom prst="ellipse">
            <a:avLst/>
          </a:prstGeom>
          <a:solidFill>
            <a:srgbClr val="C20E3F"/>
          </a:solidFill>
          <a:ln w="12700">
            <a:solidFill>
              <a:srgbClr val="C20E3F"/>
            </a:solidFill>
            <a:prstDash val="solid"/>
          </a:ln>
        </p:spPr>
      </p:sp>
      <p:pic>
        <p:nvPicPr>
          <p:cNvPr id="21" name="icon-727" descr="preencoded.png">    </p:cNvPr>
          <p:cNvPicPr>
            <a:picLocks noChangeAspect="1"/>
          </p:cNvPicPr>
          <p:nvPr/>
        </p:nvPicPr>
        <p:blipFill>
          <a:blip r:embed="rId11"/>
          <a:stretch>
            <a:fillRect/>
          </a:stretch>
        </p:blipFill>
        <p:spPr>
          <a:xfrm>
            <a:off x="795528" y="3053588"/>
            <a:ext cx="256032" cy="256032"/>
          </a:xfrm>
          <a:prstGeom prst="rect">
            <a:avLst/>
          </a:prstGeom>
        </p:spPr>
      </p:pic>
      <p:sp>
        <p:nvSpPr>
          <p:cNvPr id="22" name="text-728"/>
          <p:cNvSpPr txBox="1"/>
          <p:nvPr/>
        </p:nvSpPr>
        <p:spPr>
          <a:xfrm>
            <a:off x="1316736" y="2934716"/>
            <a:ext cx="4449928" cy="849884"/>
          </a:xfrm>
          <a:prstGeom prst="rect">
            <a:avLst/>
          </a:prstGeom>
          <a:noFill/>
          <a:ln/>
        </p:spPr>
        <p:txBody>
          <a:bodyPr wrap="square" lIns="0" tIns="0" rIns="0" bIns="0" rtlCol="0" anchor="t"/>
          <a:lstStyle/>
          <a:p>
            <a:pPr indent="0" marL="0">
              <a:spcAft>
                <a:spcPts val="200"/>
              </a:spcAft>
              <a:buNone/>
            </a:pPr>
            <a:r>
              <a:rPr lang="en-US" sz="1800" b="1" dirty="0">
                <a:solidFill>
                  <a:srgbClr val="C20E3F"/>
                </a:solidFill>
                <a:latin typeface="Arial" pitchFamily="34" charset="0"/>
                <a:ea typeface="Arial" pitchFamily="34" charset="-122"/>
                <a:cs typeface="Arial" pitchFamily="34" charset="-120"/>
              </a:rPr>
              <a:t>Cum te ajută</a:t>
            </a:r>
            <a:endParaRPr lang="en-US" sz="1600" dirty="0"/>
          </a:p>
          <a:p>
            <a:pPr indent="0" marL="0">
              <a:spcAft>
                <a:spcPts val="200"/>
              </a:spcAft>
              <a:buNone/>
            </a:pPr>
            <a:r>
              <a:rPr lang="en-US" sz="1600" dirty="0">
                <a:solidFill>
                  <a:srgbClr val="3D3D3D"/>
                </a:solidFill>
                <a:latin typeface="Arial" pitchFamily="34" charset="0"/>
                <a:ea typeface="Arial" pitchFamily="34" charset="-122"/>
                <a:cs typeface="Arial" pitchFamily="34" charset="-120"/>
              </a:rPr>
              <a:t>Răspunzi pe loc. Oamenii capătă încredere.</a:t>
            </a:r>
            <a:endParaRPr lang="en-US" sz="1600" dirty="0"/>
          </a:p>
        </p:txBody>
      </p:sp>
      <p:sp>
        <p:nvSpPr>
          <p:cNvPr id="23" name="card-729"/>
          <p:cNvSpPr/>
          <p:nvPr/>
        </p:nvSpPr>
        <p:spPr>
          <a:xfrm>
            <a:off x="548640" y="4040632"/>
            <a:ext cx="5364328" cy="1105916"/>
          </a:xfrm>
          <a:prstGeom prst="roundRect">
            <a:avLst>
              <a:gd name="adj" fmla="val 8268"/>
            </a:avLst>
          </a:prstGeom>
          <a:solidFill>
            <a:srgbClr val="FBEEF2"/>
          </a:solidFill>
          <a:ln w="12700">
            <a:solidFill>
              <a:srgbClr val="F2CAD5"/>
            </a:solidFill>
            <a:prstDash val="solid"/>
          </a:ln>
        </p:spPr>
      </p:sp>
      <p:sp>
        <p:nvSpPr>
          <p:cNvPr id="24" name="iconbg-730"/>
          <p:cNvSpPr/>
          <p:nvPr/>
        </p:nvSpPr>
        <p:spPr>
          <a:xfrm>
            <a:off x="694944" y="4186936"/>
            <a:ext cx="457200" cy="457200"/>
          </a:xfrm>
          <a:prstGeom prst="ellipse">
            <a:avLst/>
          </a:prstGeom>
          <a:solidFill>
            <a:srgbClr val="C20E3F"/>
          </a:solidFill>
          <a:ln w="12700">
            <a:solidFill>
              <a:srgbClr val="C20E3F"/>
            </a:solidFill>
            <a:prstDash val="solid"/>
          </a:ln>
        </p:spPr>
      </p:sp>
      <p:pic>
        <p:nvPicPr>
          <p:cNvPr id="25" name="icon-731" descr="preencoded.png">    </p:cNvPr>
          <p:cNvPicPr>
            <a:picLocks noChangeAspect="1"/>
          </p:cNvPicPr>
          <p:nvPr/>
        </p:nvPicPr>
        <p:blipFill>
          <a:blip r:embed="rId12"/>
          <a:stretch>
            <a:fillRect/>
          </a:stretch>
        </p:blipFill>
        <p:spPr>
          <a:xfrm>
            <a:off x="795528" y="4287520"/>
            <a:ext cx="256032" cy="256032"/>
          </a:xfrm>
          <a:prstGeom prst="rect">
            <a:avLst/>
          </a:prstGeom>
        </p:spPr>
      </p:pic>
      <p:sp>
        <p:nvSpPr>
          <p:cNvPr id="26" name="text-732"/>
          <p:cNvSpPr txBox="1"/>
          <p:nvPr/>
        </p:nvSpPr>
        <p:spPr>
          <a:xfrm>
            <a:off x="1316736" y="4168648"/>
            <a:ext cx="4449928" cy="849884"/>
          </a:xfrm>
          <a:prstGeom prst="rect">
            <a:avLst/>
          </a:prstGeom>
          <a:noFill/>
          <a:ln/>
        </p:spPr>
        <p:txBody>
          <a:bodyPr wrap="square" lIns="0" tIns="0" rIns="0" bIns="0" rtlCol="0" anchor="t"/>
          <a:lstStyle/>
          <a:p>
            <a:pPr indent="0" marL="0">
              <a:spcAft>
                <a:spcPts val="200"/>
              </a:spcAft>
              <a:buNone/>
            </a:pPr>
            <a:r>
              <a:rPr lang="en-US" sz="1800" b="1" dirty="0">
                <a:solidFill>
                  <a:srgbClr val="C20E3F"/>
                </a:solidFill>
                <a:latin typeface="Arial" pitchFamily="34" charset="0"/>
                <a:ea typeface="Arial" pitchFamily="34" charset="-122"/>
                <a:cs typeface="Arial" pitchFamily="34" charset="-120"/>
              </a:rPr>
              <a:t>Condiții</a:t>
            </a:r>
            <a:endParaRPr lang="en-US" sz="1600" dirty="0"/>
          </a:p>
          <a:p>
            <a:pPr indent="0" marL="0">
              <a:spcAft>
                <a:spcPts val="200"/>
              </a:spcAft>
              <a:buNone/>
            </a:pPr>
            <a:r>
              <a:rPr lang="en-US" sz="1600" dirty="0">
                <a:solidFill>
                  <a:srgbClr val="3D3D3D"/>
                </a:solidFill>
                <a:latin typeface="Arial" pitchFamily="34" charset="0"/>
                <a:ea typeface="Arial" pitchFamily="34" charset="-122"/>
                <a:cs typeface="Arial" pitchFamily="34" charset="-120"/>
              </a:rPr>
              <a:t>18+ (oficial). Pragul de urmăritori variază, des 1.000.</a:t>
            </a:r>
            <a:endParaRPr lang="en-US" sz="1600" dirty="0"/>
          </a:p>
        </p:txBody>
      </p:sp>
      <p:sp>
        <p:nvSpPr>
          <p:cNvPr id="27" name="card-733"/>
          <p:cNvSpPr/>
          <p:nvPr/>
        </p:nvSpPr>
        <p:spPr>
          <a:xfrm>
            <a:off x="548640" y="5274564"/>
            <a:ext cx="5364328" cy="866140"/>
          </a:xfrm>
          <a:prstGeom prst="roundRect">
            <a:avLst>
              <a:gd name="adj" fmla="val 10557"/>
            </a:avLst>
          </a:prstGeom>
          <a:solidFill>
            <a:srgbClr val="FBEEF2"/>
          </a:solidFill>
          <a:ln w="12700">
            <a:solidFill>
              <a:srgbClr val="F2CAD5"/>
            </a:solidFill>
            <a:prstDash val="solid"/>
          </a:ln>
        </p:spPr>
      </p:sp>
      <p:sp>
        <p:nvSpPr>
          <p:cNvPr id="28" name="iconbg-734"/>
          <p:cNvSpPr/>
          <p:nvPr/>
        </p:nvSpPr>
        <p:spPr>
          <a:xfrm>
            <a:off x="694944" y="5420868"/>
            <a:ext cx="457200" cy="457200"/>
          </a:xfrm>
          <a:prstGeom prst="ellipse">
            <a:avLst/>
          </a:prstGeom>
          <a:solidFill>
            <a:srgbClr val="C20E3F"/>
          </a:solidFill>
          <a:ln w="12700">
            <a:solidFill>
              <a:srgbClr val="C20E3F"/>
            </a:solidFill>
            <a:prstDash val="solid"/>
          </a:ln>
        </p:spPr>
      </p:sp>
      <p:pic>
        <p:nvPicPr>
          <p:cNvPr id="29" name="icon-735" descr="preencoded.png">    </p:cNvPr>
          <p:cNvPicPr>
            <a:picLocks noChangeAspect="1"/>
          </p:cNvPicPr>
          <p:nvPr/>
        </p:nvPicPr>
        <p:blipFill>
          <a:blip r:embed="rId13"/>
          <a:stretch>
            <a:fillRect/>
          </a:stretch>
        </p:blipFill>
        <p:spPr>
          <a:xfrm>
            <a:off x="795528" y="5521452"/>
            <a:ext cx="256032" cy="256032"/>
          </a:xfrm>
          <a:prstGeom prst="rect">
            <a:avLst/>
          </a:prstGeom>
        </p:spPr>
      </p:pic>
      <p:sp>
        <p:nvSpPr>
          <p:cNvPr id="30" name="text-736"/>
          <p:cNvSpPr txBox="1"/>
          <p:nvPr/>
        </p:nvSpPr>
        <p:spPr>
          <a:xfrm>
            <a:off x="1316736" y="5402580"/>
            <a:ext cx="4449928" cy="610108"/>
          </a:xfrm>
          <a:prstGeom prst="rect">
            <a:avLst/>
          </a:prstGeom>
          <a:noFill/>
          <a:ln/>
        </p:spPr>
        <p:txBody>
          <a:bodyPr wrap="square" lIns="0" tIns="0" rIns="0" bIns="0" rtlCol="0" anchor="t"/>
          <a:lstStyle/>
          <a:p>
            <a:pPr indent="0" marL="0">
              <a:spcAft>
                <a:spcPts val="200"/>
              </a:spcAft>
              <a:buNone/>
            </a:pPr>
            <a:r>
              <a:rPr lang="en-US" sz="1800" b="1" dirty="0">
                <a:solidFill>
                  <a:srgbClr val="C20E3F"/>
                </a:solidFill>
                <a:latin typeface="Arial" pitchFamily="34" charset="0"/>
                <a:ea typeface="Arial" pitchFamily="34" charset="-122"/>
                <a:cs typeface="Arial" pitchFamily="34" charset="-120"/>
              </a:rPr>
              <a:t>Cum verifici</a:t>
            </a:r>
            <a:endParaRPr lang="en-US" sz="1600" dirty="0"/>
          </a:p>
          <a:p>
            <a:pPr indent="0" marL="0">
              <a:spcAft>
                <a:spcPts val="200"/>
              </a:spcAft>
              <a:buNone/>
            </a:pPr>
            <a:r>
              <a:rPr lang="en-US" sz="1600" dirty="0">
                <a:solidFill>
                  <a:srgbClr val="3D3D3D"/>
                </a:solidFill>
                <a:latin typeface="Arial" pitchFamily="34" charset="0"/>
                <a:ea typeface="Arial" pitchFamily="34" charset="-122"/>
                <a:cs typeface="Arial" pitchFamily="34" charset="-120"/>
              </a:rPr>
              <a:t>Apeși „+”. Apare LIVE? Ai acces.</a:t>
            </a:r>
            <a:endParaRPr lang="en-US" sz="1600" dirty="0"/>
          </a:p>
        </p:txBody>
      </p:sp>
      <p:sp>
        <p:nvSpPr>
          <p:cNvPr id="31" name="card-737"/>
          <p:cNvSpPr/>
          <p:nvPr/>
        </p:nvSpPr>
        <p:spPr>
          <a:xfrm>
            <a:off x="6278728" y="1572768"/>
            <a:ext cx="5364328" cy="1907540"/>
          </a:xfrm>
          <a:prstGeom prst="roundRect">
            <a:avLst>
              <a:gd name="adj" fmla="val 4794"/>
            </a:avLst>
          </a:prstGeom>
          <a:solidFill>
            <a:srgbClr val="FBEEF2"/>
          </a:solidFill>
          <a:ln w="12700">
            <a:solidFill>
              <a:srgbClr val="F2CAD5"/>
            </a:solidFill>
            <a:prstDash val="solid"/>
          </a:ln>
        </p:spPr>
      </p:sp>
      <p:sp>
        <p:nvSpPr>
          <p:cNvPr id="32" name="iconbg-738"/>
          <p:cNvSpPr/>
          <p:nvPr/>
        </p:nvSpPr>
        <p:spPr>
          <a:xfrm>
            <a:off x="6425032" y="1719072"/>
            <a:ext cx="457200" cy="457200"/>
          </a:xfrm>
          <a:prstGeom prst="ellipse">
            <a:avLst/>
          </a:prstGeom>
          <a:solidFill>
            <a:srgbClr val="C20E3F"/>
          </a:solidFill>
          <a:ln w="12700">
            <a:solidFill>
              <a:srgbClr val="C20E3F"/>
            </a:solidFill>
            <a:prstDash val="solid"/>
          </a:ln>
        </p:spPr>
      </p:sp>
      <p:pic>
        <p:nvPicPr>
          <p:cNvPr id="33" name="icon-739" descr="preencoded.png">    </p:cNvPr>
          <p:cNvPicPr>
            <a:picLocks noChangeAspect="1"/>
          </p:cNvPicPr>
          <p:nvPr/>
        </p:nvPicPr>
        <p:blipFill>
          <a:blip r:embed="rId14"/>
          <a:stretch>
            <a:fillRect/>
          </a:stretch>
        </p:blipFill>
        <p:spPr>
          <a:xfrm>
            <a:off x="6525616" y="1819656"/>
            <a:ext cx="256032" cy="256032"/>
          </a:xfrm>
          <a:prstGeom prst="rect">
            <a:avLst/>
          </a:prstGeom>
        </p:spPr>
      </p:pic>
      <p:sp>
        <p:nvSpPr>
          <p:cNvPr id="34" name="text-740"/>
          <p:cNvSpPr txBox="1"/>
          <p:nvPr/>
        </p:nvSpPr>
        <p:spPr>
          <a:xfrm>
            <a:off x="7046824" y="1700784"/>
            <a:ext cx="4449928" cy="1651508"/>
          </a:xfrm>
          <a:prstGeom prst="rect">
            <a:avLst/>
          </a:prstGeom>
          <a:noFill/>
          <a:ln/>
        </p:spPr>
        <p:txBody>
          <a:bodyPr wrap="square" lIns="0" tIns="0" rIns="0" bIns="0" rtlCol="0" anchor="t"/>
          <a:lstStyle/>
          <a:p>
            <a:pPr indent="0" marL="0">
              <a:spcAft>
                <a:spcPts val="200"/>
              </a:spcAft>
              <a:buNone/>
            </a:pPr>
            <a:r>
              <a:rPr lang="en-US" sz="1800" b="1" dirty="0">
                <a:solidFill>
                  <a:srgbClr val="C20E3F"/>
                </a:solidFill>
                <a:latin typeface="Arial" pitchFamily="34" charset="0"/>
                <a:ea typeface="Arial" pitchFamily="34" charset="-122"/>
                <a:cs typeface="Arial" pitchFamily="34" charset="-120"/>
              </a:rPr>
              <a:t>Idei de LIVE</a:t>
            </a:r>
            <a:endParaRPr lang="en-US" sz="1600" dirty="0"/>
          </a:p>
          <a:p>
            <a:pPr indent="0" marL="0">
              <a:spcAft>
                <a:spcPts val="200"/>
              </a:spcAft>
              <a:buNone/>
            </a:pPr>
            <a:r>
              <a:rPr lang="en-US" sz="1600" dirty="0">
                <a:solidFill>
                  <a:srgbClr val="3D3D3D"/>
                </a:solidFill>
                <a:latin typeface="Arial" pitchFamily="34" charset="0"/>
                <a:ea typeface="Arial" pitchFamily="34" charset="-122"/>
                <a:cs typeface="Arial" pitchFamily="34" charset="-120"/>
              </a:rPr>
              <a:t>Consultații despre blond, 20 de minute</a:t>
            </a:r>
            <a:endParaRPr lang="en-US" sz="1600" dirty="0"/>
          </a:p>
          <a:p>
            <a:pPr indent="0" marL="0">
              <a:spcAft>
                <a:spcPts val="200"/>
              </a:spcAft>
              <a:buNone/>
            </a:pPr>
            <a:r>
              <a:rPr lang="en-US" sz="1600" dirty="0">
                <a:solidFill>
                  <a:srgbClr val="3D3D3D"/>
                </a:solidFill>
                <a:latin typeface="Arial" pitchFamily="34" charset="0"/>
                <a:ea typeface="Arial" pitchFamily="34" charset="-122"/>
                <a:cs typeface="Arial" pitchFamily="34" charset="-120"/>
              </a:rPr>
              <a:t>Mit sau adevăr, din comentarii</a:t>
            </a:r>
            <a:endParaRPr lang="en-US" sz="1600" dirty="0"/>
          </a:p>
          <a:p>
            <a:pPr indent="0" marL="0">
              <a:spcAft>
                <a:spcPts val="200"/>
              </a:spcAft>
              <a:buNone/>
            </a:pPr>
            <a:r>
              <a:rPr lang="en-US" sz="1600" dirty="0">
                <a:solidFill>
                  <a:srgbClr val="3D3D3D"/>
                </a:solidFill>
                <a:latin typeface="Arial" pitchFamily="34" charset="0"/>
                <a:ea typeface="Arial" pitchFamily="34" charset="-122"/>
                <a:cs typeface="Arial" pitchFamily="34" charset="-120"/>
              </a:rPr>
              <a:t>Culise: pregătirea unei decolorări (cu acordul clientei)</a:t>
            </a:r>
            <a:endParaRPr lang="en-US" sz="1600" dirty="0"/>
          </a:p>
          <a:p>
            <a:pPr indent="0" marL="0">
              <a:spcAft>
                <a:spcPts val="200"/>
              </a:spcAft>
              <a:buNone/>
            </a:pPr>
            <a:r>
              <a:rPr lang="en-US" sz="1600" dirty="0">
                <a:solidFill>
                  <a:srgbClr val="3D3D3D"/>
                </a:solidFill>
                <a:latin typeface="Arial" pitchFamily="34" charset="0"/>
                <a:ea typeface="Arial" pitchFamily="34" charset="-122"/>
                <a:cs typeface="Arial" pitchFamily="34" charset="-120"/>
              </a:rPr>
              <a:t>Înainte de nunți: ce e realist</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watermark-741"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742" descr="TikTok">    </p:cNvPr>
          <p:cNvPicPr>
            <a:picLocks noChangeAspect="1"/>
          </p:cNvPicPr>
          <p:nvPr/>
        </p:nvPicPr>
        <p:blipFill>
          <a:blip r:embed="rId2"/>
          <a:stretch>
            <a:fillRect/>
          </a:stretch>
        </p:blipFill>
        <p:spPr>
          <a:xfrm>
            <a:off x="548640" y="329184"/>
            <a:ext cx="384048" cy="384048"/>
          </a:xfrm>
          <a:prstGeom prst="rect">
            <a:avLst/>
          </a:prstGeom>
        </p:spPr>
      </p:pic>
      <p:sp>
        <p:nvSpPr>
          <p:cNvPr id="4" name="text-743"/>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0E3F"/>
                </a:solidFill>
                <a:latin typeface="Arial" pitchFamily="34" charset="0"/>
                <a:ea typeface="Arial" pitchFamily="34" charset="-122"/>
                <a:cs typeface="Arial" pitchFamily="34" charset="-120"/>
              </a:rPr>
              <a:t>TIKTOK</a:t>
            </a:r>
            <a:endParaRPr lang="en-US" sz="1500" dirty="0"/>
          </a:p>
        </p:txBody>
      </p:sp>
      <p:sp>
        <p:nvSpPr>
          <p:cNvPr id="5" name="text-744"/>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Hate-ul: răspunde la critică, nu la jignire</a:t>
            </a:r>
            <a:endParaRPr lang="en-US" sz="3200" dirty="0"/>
          </a:p>
        </p:txBody>
      </p:sp>
      <p:sp>
        <p:nvSpPr>
          <p:cNvPr id="6" name="nav-745">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746">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747">
            <a:hlinkClick r:id="rId5" tooltip="TikTok" action="ppaction://hlinksldjump"/>
          </p:cNvPr>
          <p:cNvSpPr/>
          <p:nvPr/>
        </p:nvSpPr>
        <p:spPr>
          <a:xfrm>
            <a:off x="8890711" y="365760"/>
            <a:ext cx="786384" cy="310896"/>
          </a:xfrm>
          <a:prstGeom prst="roundRect">
            <a:avLst>
              <a:gd name="adj" fmla="val 50000"/>
            </a:avLst>
          </a:prstGeom>
          <a:solidFill>
            <a:srgbClr val="C20E3F"/>
          </a:solidFill>
          <a:ln w="12700">
            <a:solidFill>
              <a:srgbClr val="C20E3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748">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749">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750">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751"/>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752"/>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0E3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753"/>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26</a:t>
            </a:r>
            <a:endParaRPr lang="en-US" sz="1000" dirty="0"/>
          </a:p>
        </p:txBody>
      </p:sp>
      <p:sp>
        <p:nvSpPr>
          <p:cNvPr id="15" name="card-754"/>
          <p:cNvSpPr/>
          <p:nvPr/>
        </p:nvSpPr>
        <p:spPr>
          <a:xfrm>
            <a:off x="548640" y="1572768"/>
            <a:ext cx="5364328" cy="2020062"/>
          </a:xfrm>
          <a:prstGeom prst="roundRect">
            <a:avLst>
              <a:gd name="adj" fmla="val 4527"/>
            </a:avLst>
          </a:prstGeom>
          <a:solidFill>
            <a:srgbClr val="FBEEF2"/>
          </a:solidFill>
          <a:ln w="12700">
            <a:solidFill>
              <a:srgbClr val="F2CAD5"/>
            </a:solidFill>
            <a:prstDash val="solid"/>
          </a:ln>
        </p:spPr>
      </p:sp>
      <p:sp>
        <p:nvSpPr>
          <p:cNvPr id="16" name="iconbg-755"/>
          <p:cNvSpPr/>
          <p:nvPr/>
        </p:nvSpPr>
        <p:spPr>
          <a:xfrm>
            <a:off x="694944" y="1719072"/>
            <a:ext cx="457200" cy="457200"/>
          </a:xfrm>
          <a:prstGeom prst="ellipse">
            <a:avLst/>
          </a:prstGeom>
          <a:solidFill>
            <a:srgbClr val="C20E3F"/>
          </a:solidFill>
          <a:ln w="12700">
            <a:solidFill>
              <a:srgbClr val="C20E3F"/>
            </a:solidFill>
            <a:prstDash val="solid"/>
          </a:ln>
        </p:spPr>
      </p:sp>
      <p:pic>
        <p:nvPicPr>
          <p:cNvPr id="17" name="icon-756"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757"/>
          <p:cNvSpPr txBox="1"/>
          <p:nvPr/>
        </p:nvSpPr>
        <p:spPr>
          <a:xfrm>
            <a:off x="1316736" y="1700784"/>
            <a:ext cx="4449928" cy="1764030"/>
          </a:xfrm>
          <a:prstGeom prst="rect">
            <a:avLst/>
          </a:prstGeom>
          <a:noFill/>
          <a:ln/>
        </p:spPr>
        <p:txBody>
          <a:bodyPr wrap="square" lIns="0" tIns="0" rIns="0" bIns="0" rtlCol="0" anchor="t"/>
          <a:lstStyle/>
          <a:p>
            <a:pPr indent="0" marL="0">
              <a:spcAft>
                <a:spcPts val="200"/>
              </a:spcAft>
              <a:buNone/>
            </a:pPr>
            <a:r>
              <a:rPr lang="en-US" sz="2100" b="1" dirty="0">
                <a:solidFill>
                  <a:srgbClr val="C20E3F"/>
                </a:solidFill>
                <a:latin typeface="Arial" pitchFamily="34" charset="0"/>
                <a:ea typeface="Arial" pitchFamily="34" charset="-122"/>
                <a:cs typeface="Arial" pitchFamily="34" charset="-120"/>
              </a:rPr>
              <a:t>Ce e hate-ul</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Jignire fără argument. Controversele aprind comentariile: emoția face oamenii să reacționeze. Interacțiunile contează, dar și raportările și „Nu mă interesează”.</a:t>
            </a:r>
            <a:endParaRPr lang="en-US" sz="1600" dirty="0"/>
          </a:p>
        </p:txBody>
      </p:sp>
      <p:sp>
        <p:nvSpPr>
          <p:cNvPr id="19" name="card-758"/>
          <p:cNvSpPr/>
          <p:nvPr/>
        </p:nvSpPr>
        <p:spPr>
          <a:xfrm>
            <a:off x="548640" y="3720846"/>
            <a:ext cx="5364328" cy="1210818"/>
          </a:xfrm>
          <a:prstGeom prst="roundRect">
            <a:avLst>
              <a:gd name="adj" fmla="val 7552"/>
            </a:avLst>
          </a:prstGeom>
          <a:solidFill>
            <a:srgbClr val="FBEEF2"/>
          </a:solidFill>
          <a:ln w="12700">
            <a:solidFill>
              <a:srgbClr val="F2CAD5"/>
            </a:solidFill>
            <a:prstDash val="solid"/>
          </a:ln>
        </p:spPr>
      </p:sp>
      <p:sp>
        <p:nvSpPr>
          <p:cNvPr id="20" name="iconbg-759"/>
          <p:cNvSpPr/>
          <p:nvPr/>
        </p:nvSpPr>
        <p:spPr>
          <a:xfrm>
            <a:off x="694944" y="3867150"/>
            <a:ext cx="457200" cy="457200"/>
          </a:xfrm>
          <a:prstGeom prst="ellipse">
            <a:avLst/>
          </a:prstGeom>
          <a:solidFill>
            <a:srgbClr val="C20E3F"/>
          </a:solidFill>
          <a:ln w="12700">
            <a:solidFill>
              <a:srgbClr val="C20E3F"/>
            </a:solidFill>
            <a:prstDash val="solid"/>
          </a:ln>
        </p:spPr>
      </p:sp>
      <p:pic>
        <p:nvPicPr>
          <p:cNvPr id="21" name="icon-760" descr="preencoded.png">    </p:cNvPr>
          <p:cNvPicPr>
            <a:picLocks noChangeAspect="1"/>
          </p:cNvPicPr>
          <p:nvPr/>
        </p:nvPicPr>
        <p:blipFill>
          <a:blip r:embed="rId11"/>
          <a:stretch>
            <a:fillRect/>
          </a:stretch>
        </p:blipFill>
        <p:spPr>
          <a:xfrm>
            <a:off x="795528" y="3967734"/>
            <a:ext cx="256032" cy="256032"/>
          </a:xfrm>
          <a:prstGeom prst="rect">
            <a:avLst/>
          </a:prstGeom>
        </p:spPr>
      </p:pic>
      <p:sp>
        <p:nvSpPr>
          <p:cNvPr id="22" name="text-761"/>
          <p:cNvSpPr txBox="1"/>
          <p:nvPr/>
        </p:nvSpPr>
        <p:spPr>
          <a:xfrm>
            <a:off x="1316736" y="3848862"/>
            <a:ext cx="4449928" cy="954786"/>
          </a:xfrm>
          <a:prstGeom prst="rect">
            <a:avLst/>
          </a:prstGeom>
          <a:noFill/>
          <a:ln/>
        </p:spPr>
        <p:txBody>
          <a:bodyPr wrap="square" lIns="0" tIns="0" rIns="0" bIns="0" rtlCol="0" anchor="t"/>
          <a:lstStyle/>
          <a:p>
            <a:pPr indent="0" marL="0">
              <a:spcAft>
                <a:spcPts val="200"/>
              </a:spcAft>
              <a:buNone/>
            </a:pPr>
            <a:r>
              <a:rPr lang="en-US" sz="2100" b="1" dirty="0">
                <a:solidFill>
                  <a:srgbClr val="C20E3F"/>
                </a:solidFill>
                <a:latin typeface="Arial" pitchFamily="34" charset="0"/>
                <a:ea typeface="Arial" pitchFamily="34" charset="-122"/>
                <a:cs typeface="Arial" pitchFamily="34" charset="-120"/>
              </a:rPr>
              <a:t>Critică</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„Arată ca paiul.” → clip-răspuns: cum îngrijești un blond decolorat.</a:t>
            </a:r>
            <a:endParaRPr lang="en-US" sz="1600" dirty="0"/>
          </a:p>
        </p:txBody>
      </p:sp>
      <p:sp>
        <p:nvSpPr>
          <p:cNvPr id="23" name="note-762"/>
          <p:cNvSpPr/>
          <p:nvPr/>
        </p:nvSpPr>
        <p:spPr>
          <a:xfrm>
            <a:off x="548640" y="5059680"/>
            <a:ext cx="5364328" cy="544068"/>
          </a:xfrm>
          <a:prstGeom prst="roundRect">
            <a:avLst>
              <a:gd name="adj" fmla="val 16807"/>
            </a:avLst>
          </a:prstGeom>
          <a:solidFill>
            <a:srgbClr val="FFFFFF"/>
          </a:solidFill>
          <a:ln w="19050">
            <a:solidFill>
              <a:srgbClr val="C20E3F"/>
            </a:solidFill>
            <a:prstDash val="dash"/>
          </a:ln>
        </p:spPr>
      </p:sp>
      <p:pic>
        <p:nvPicPr>
          <p:cNvPr id="24" name="noteicon-763" descr="preencoded.png">    </p:cNvPr>
          <p:cNvPicPr>
            <a:picLocks noChangeAspect="1"/>
          </p:cNvPicPr>
          <p:nvPr/>
        </p:nvPicPr>
        <p:blipFill>
          <a:blip r:embed="rId12"/>
          <a:stretch>
            <a:fillRect/>
          </a:stretch>
        </p:blipFill>
        <p:spPr>
          <a:xfrm>
            <a:off x="685800" y="5157978"/>
            <a:ext cx="347472" cy="347472"/>
          </a:xfrm>
          <a:prstGeom prst="rect">
            <a:avLst/>
          </a:prstGeom>
        </p:spPr>
      </p:pic>
      <p:sp>
        <p:nvSpPr>
          <p:cNvPr id="25" name="text-764"/>
          <p:cNvSpPr txBox="1"/>
          <p:nvPr/>
        </p:nvSpPr>
        <p:spPr>
          <a:xfrm>
            <a:off x="1143000" y="5151120"/>
            <a:ext cx="4632808" cy="361188"/>
          </a:xfrm>
          <a:prstGeom prst="rect">
            <a:avLst/>
          </a:prstGeom>
          <a:noFill/>
          <a:ln/>
        </p:spPr>
        <p:txBody>
          <a:bodyPr wrap="square" lIns="0" tIns="0" rIns="0" bIns="0" rtlCol="0" anchor="ctr"/>
          <a:lstStyle/>
          <a:p>
            <a:pPr indent="0" marL="0">
              <a:buNone/>
            </a:pPr>
            <a:r>
              <a:rPr lang="en-US" sz="1800" b="1" dirty="0">
                <a:solidFill>
                  <a:srgbClr val="111111"/>
                </a:solidFill>
                <a:latin typeface="Arial" pitchFamily="34" charset="0"/>
                <a:ea typeface="Arial" pitchFamily="34" charset="-122"/>
                <a:cs typeface="Arial" pitchFamily="34" charset="-120"/>
              </a:rPr>
              <a:t>Nu provoca conflicte intenționat.</a:t>
            </a:r>
            <a:endParaRPr lang="en-US" sz="1800" dirty="0"/>
          </a:p>
        </p:txBody>
      </p:sp>
      <p:sp>
        <p:nvSpPr>
          <p:cNvPr id="26" name="card-765"/>
          <p:cNvSpPr/>
          <p:nvPr/>
        </p:nvSpPr>
        <p:spPr>
          <a:xfrm>
            <a:off x="6278728" y="1572768"/>
            <a:ext cx="5364328" cy="941070"/>
          </a:xfrm>
          <a:prstGeom prst="roundRect">
            <a:avLst>
              <a:gd name="adj" fmla="val 9717"/>
            </a:avLst>
          </a:prstGeom>
          <a:solidFill>
            <a:srgbClr val="FBEEF2"/>
          </a:solidFill>
          <a:ln w="12700">
            <a:solidFill>
              <a:srgbClr val="F2CAD5"/>
            </a:solidFill>
            <a:prstDash val="solid"/>
          </a:ln>
        </p:spPr>
      </p:sp>
      <p:sp>
        <p:nvSpPr>
          <p:cNvPr id="27" name="iconbg-766"/>
          <p:cNvSpPr/>
          <p:nvPr/>
        </p:nvSpPr>
        <p:spPr>
          <a:xfrm>
            <a:off x="6425032" y="1719072"/>
            <a:ext cx="457200" cy="457200"/>
          </a:xfrm>
          <a:prstGeom prst="ellipse">
            <a:avLst/>
          </a:prstGeom>
          <a:solidFill>
            <a:srgbClr val="C20E3F"/>
          </a:solidFill>
          <a:ln w="12700">
            <a:solidFill>
              <a:srgbClr val="C20E3F"/>
            </a:solidFill>
            <a:prstDash val="solid"/>
          </a:ln>
        </p:spPr>
      </p:sp>
      <p:pic>
        <p:nvPicPr>
          <p:cNvPr id="28" name="icon-767" descr="preencoded.png">    </p:cNvPr>
          <p:cNvPicPr>
            <a:picLocks noChangeAspect="1"/>
          </p:cNvPicPr>
          <p:nvPr/>
        </p:nvPicPr>
        <p:blipFill>
          <a:blip r:embed="rId13"/>
          <a:stretch>
            <a:fillRect/>
          </a:stretch>
        </p:blipFill>
        <p:spPr>
          <a:xfrm>
            <a:off x="6525616" y="1819656"/>
            <a:ext cx="256032" cy="256032"/>
          </a:xfrm>
          <a:prstGeom prst="rect">
            <a:avLst/>
          </a:prstGeom>
        </p:spPr>
      </p:pic>
      <p:sp>
        <p:nvSpPr>
          <p:cNvPr id="29" name="text-768"/>
          <p:cNvSpPr txBox="1"/>
          <p:nvPr/>
        </p:nvSpPr>
        <p:spPr>
          <a:xfrm>
            <a:off x="7046824" y="1700784"/>
            <a:ext cx="4449928" cy="685038"/>
          </a:xfrm>
          <a:prstGeom prst="rect">
            <a:avLst/>
          </a:prstGeom>
          <a:noFill/>
          <a:ln/>
        </p:spPr>
        <p:txBody>
          <a:bodyPr wrap="square" lIns="0" tIns="0" rIns="0" bIns="0" rtlCol="0" anchor="t"/>
          <a:lstStyle/>
          <a:p>
            <a:pPr indent="0" marL="0">
              <a:spcAft>
                <a:spcPts val="200"/>
              </a:spcAft>
              <a:buNone/>
            </a:pPr>
            <a:r>
              <a:rPr lang="en-US" sz="2100" b="1" dirty="0">
                <a:solidFill>
                  <a:srgbClr val="C20E3F"/>
                </a:solidFill>
                <a:latin typeface="Arial" pitchFamily="34" charset="0"/>
                <a:ea typeface="Arial" pitchFamily="34" charset="-122"/>
                <a:cs typeface="Arial" pitchFamily="34" charset="-120"/>
              </a:rPr>
              <a:t>Ignori</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O provocare, o singură dată.</a:t>
            </a:r>
            <a:endParaRPr lang="en-US" sz="1600" dirty="0"/>
          </a:p>
        </p:txBody>
      </p:sp>
      <p:sp>
        <p:nvSpPr>
          <p:cNvPr id="30" name="card-769"/>
          <p:cNvSpPr/>
          <p:nvPr/>
        </p:nvSpPr>
        <p:spPr>
          <a:xfrm>
            <a:off x="6278728" y="2641854"/>
            <a:ext cx="5364328" cy="941070"/>
          </a:xfrm>
          <a:prstGeom prst="roundRect">
            <a:avLst>
              <a:gd name="adj" fmla="val 9717"/>
            </a:avLst>
          </a:prstGeom>
          <a:solidFill>
            <a:srgbClr val="FBEEF2"/>
          </a:solidFill>
          <a:ln w="12700">
            <a:solidFill>
              <a:srgbClr val="F2CAD5"/>
            </a:solidFill>
            <a:prstDash val="solid"/>
          </a:ln>
        </p:spPr>
      </p:sp>
      <p:sp>
        <p:nvSpPr>
          <p:cNvPr id="31" name="iconbg-770"/>
          <p:cNvSpPr/>
          <p:nvPr/>
        </p:nvSpPr>
        <p:spPr>
          <a:xfrm>
            <a:off x="6425032" y="2788158"/>
            <a:ext cx="457200" cy="457200"/>
          </a:xfrm>
          <a:prstGeom prst="ellipse">
            <a:avLst/>
          </a:prstGeom>
          <a:solidFill>
            <a:srgbClr val="C20E3F"/>
          </a:solidFill>
          <a:ln w="12700">
            <a:solidFill>
              <a:srgbClr val="C20E3F"/>
            </a:solidFill>
            <a:prstDash val="solid"/>
          </a:ln>
        </p:spPr>
      </p:sp>
      <p:pic>
        <p:nvPicPr>
          <p:cNvPr id="32" name="icon-771" descr="preencoded.png">    </p:cNvPr>
          <p:cNvPicPr>
            <a:picLocks noChangeAspect="1"/>
          </p:cNvPicPr>
          <p:nvPr/>
        </p:nvPicPr>
        <p:blipFill>
          <a:blip r:embed="rId14"/>
          <a:stretch>
            <a:fillRect/>
          </a:stretch>
        </p:blipFill>
        <p:spPr>
          <a:xfrm>
            <a:off x="6525616" y="2888742"/>
            <a:ext cx="256032" cy="256032"/>
          </a:xfrm>
          <a:prstGeom prst="rect">
            <a:avLst/>
          </a:prstGeom>
        </p:spPr>
      </p:pic>
      <p:sp>
        <p:nvSpPr>
          <p:cNvPr id="33" name="text-772"/>
          <p:cNvSpPr txBox="1"/>
          <p:nvPr/>
        </p:nvSpPr>
        <p:spPr>
          <a:xfrm>
            <a:off x="7046824" y="2769870"/>
            <a:ext cx="4449928" cy="685038"/>
          </a:xfrm>
          <a:prstGeom prst="rect">
            <a:avLst/>
          </a:prstGeom>
          <a:noFill/>
          <a:ln/>
        </p:spPr>
        <p:txBody>
          <a:bodyPr wrap="square" lIns="0" tIns="0" rIns="0" bIns="0" rtlCol="0" anchor="t"/>
          <a:lstStyle/>
          <a:p>
            <a:pPr indent="0" marL="0">
              <a:spcAft>
                <a:spcPts val="200"/>
              </a:spcAft>
              <a:buNone/>
            </a:pPr>
            <a:r>
              <a:rPr lang="en-US" sz="2100" b="1" dirty="0">
                <a:solidFill>
                  <a:srgbClr val="C20E3F"/>
                </a:solidFill>
                <a:latin typeface="Arial" pitchFamily="34" charset="0"/>
                <a:ea typeface="Arial" pitchFamily="34" charset="-122"/>
                <a:cs typeface="Arial" pitchFamily="34" charset="-120"/>
              </a:rPr>
              <a:t>Moderezi</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Filtre de cuvinte, ascunzi, ștergi.</a:t>
            </a:r>
            <a:endParaRPr lang="en-US" sz="1600" dirty="0"/>
          </a:p>
        </p:txBody>
      </p:sp>
      <p:sp>
        <p:nvSpPr>
          <p:cNvPr id="34" name="card-773"/>
          <p:cNvSpPr/>
          <p:nvPr/>
        </p:nvSpPr>
        <p:spPr>
          <a:xfrm>
            <a:off x="6278728" y="3710940"/>
            <a:ext cx="5364328" cy="941070"/>
          </a:xfrm>
          <a:prstGeom prst="roundRect">
            <a:avLst>
              <a:gd name="adj" fmla="val 9717"/>
            </a:avLst>
          </a:prstGeom>
          <a:solidFill>
            <a:srgbClr val="FBEEF2"/>
          </a:solidFill>
          <a:ln w="12700">
            <a:solidFill>
              <a:srgbClr val="F2CAD5"/>
            </a:solidFill>
            <a:prstDash val="solid"/>
          </a:ln>
        </p:spPr>
      </p:sp>
      <p:sp>
        <p:nvSpPr>
          <p:cNvPr id="35" name="iconbg-774"/>
          <p:cNvSpPr/>
          <p:nvPr/>
        </p:nvSpPr>
        <p:spPr>
          <a:xfrm>
            <a:off x="6425032" y="3857244"/>
            <a:ext cx="457200" cy="457200"/>
          </a:xfrm>
          <a:prstGeom prst="ellipse">
            <a:avLst/>
          </a:prstGeom>
          <a:solidFill>
            <a:srgbClr val="C20E3F"/>
          </a:solidFill>
          <a:ln w="12700">
            <a:solidFill>
              <a:srgbClr val="C20E3F"/>
            </a:solidFill>
            <a:prstDash val="solid"/>
          </a:ln>
        </p:spPr>
      </p:sp>
      <p:pic>
        <p:nvPicPr>
          <p:cNvPr id="36" name="icon-775" descr="preencoded.png">    </p:cNvPr>
          <p:cNvPicPr>
            <a:picLocks noChangeAspect="1"/>
          </p:cNvPicPr>
          <p:nvPr/>
        </p:nvPicPr>
        <p:blipFill>
          <a:blip r:embed="rId15"/>
          <a:stretch>
            <a:fillRect/>
          </a:stretch>
        </p:blipFill>
        <p:spPr>
          <a:xfrm>
            <a:off x="6525616" y="3957828"/>
            <a:ext cx="256032" cy="256032"/>
          </a:xfrm>
          <a:prstGeom prst="rect">
            <a:avLst/>
          </a:prstGeom>
        </p:spPr>
      </p:pic>
      <p:sp>
        <p:nvSpPr>
          <p:cNvPr id="37" name="text-776"/>
          <p:cNvSpPr txBox="1"/>
          <p:nvPr/>
        </p:nvSpPr>
        <p:spPr>
          <a:xfrm>
            <a:off x="7046824" y="3838956"/>
            <a:ext cx="4449928" cy="685038"/>
          </a:xfrm>
          <a:prstGeom prst="rect">
            <a:avLst/>
          </a:prstGeom>
          <a:noFill/>
          <a:ln/>
        </p:spPr>
        <p:txBody>
          <a:bodyPr wrap="square" lIns="0" tIns="0" rIns="0" bIns="0" rtlCol="0" anchor="t"/>
          <a:lstStyle/>
          <a:p>
            <a:pPr indent="0" marL="0">
              <a:spcAft>
                <a:spcPts val="200"/>
              </a:spcAft>
              <a:buNone/>
            </a:pPr>
            <a:r>
              <a:rPr lang="en-US" sz="2100" b="1" dirty="0">
                <a:solidFill>
                  <a:srgbClr val="C20E3F"/>
                </a:solidFill>
                <a:latin typeface="Arial" pitchFamily="34" charset="0"/>
                <a:ea typeface="Arial" pitchFamily="34" charset="-122"/>
                <a:cs typeface="Arial" pitchFamily="34" charset="-120"/>
              </a:rPr>
              <a:t>Blochezi</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Atac personal repetat.</a:t>
            </a:r>
            <a:endParaRPr lang="en-US" sz="1600" dirty="0"/>
          </a:p>
        </p:txBody>
      </p:sp>
      <p:sp>
        <p:nvSpPr>
          <p:cNvPr id="38" name="card-777"/>
          <p:cNvSpPr/>
          <p:nvPr/>
        </p:nvSpPr>
        <p:spPr>
          <a:xfrm>
            <a:off x="6278728" y="4780026"/>
            <a:ext cx="5364328" cy="941070"/>
          </a:xfrm>
          <a:prstGeom prst="roundRect">
            <a:avLst>
              <a:gd name="adj" fmla="val 9717"/>
            </a:avLst>
          </a:prstGeom>
          <a:solidFill>
            <a:srgbClr val="FBEEF2"/>
          </a:solidFill>
          <a:ln w="12700">
            <a:solidFill>
              <a:srgbClr val="F2CAD5"/>
            </a:solidFill>
            <a:prstDash val="solid"/>
          </a:ln>
        </p:spPr>
      </p:sp>
      <p:sp>
        <p:nvSpPr>
          <p:cNvPr id="39" name="iconbg-778"/>
          <p:cNvSpPr/>
          <p:nvPr/>
        </p:nvSpPr>
        <p:spPr>
          <a:xfrm>
            <a:off x="6425032" y="4926330"/>
            <a:ext cx="457200" cy="457200"/>
          </a:xfrm>
          <a:prstGeom prst="ellipse">
            <a:avLst/>
          </a:prstGeom>
          <a:solidFill>
            <a:srgbClr val="C20E3F"/>
          </a:solidFill>
          <a:ln w="12700">
            <a:solidFill>
              <a:srgbClr val="C20E3F"/>
            </a:solidFill>
            <a:prstDash val="solid"/>
          </a:ln>
        </p:spPr>
      </p:sp>
      <p:pic>
        <p:nvPicPr>
          <p:cNvPr id="40" name="icon-779" descr="preencoded.png">    </p:cNvPr>
          <p:cNvPicPr>
            <a:picLocks noChangeAspect="1"/>
          </p:cNvPicPr>
          <p:nvPr/>
        </p:nvPicPr>
        <p:blipFill>
          <a:blip r:embed="rId16"/>
          <a:stretch>
            <a:fillRect/>
          </a:stretch>
        </p:blipFill>
        <p:spPr>
          <a:xfrm>
            <a:off x="6525616" y="5026914"/>
            <a:ext cx="256032" cy="256032"/>
          </a:xfrm>
          <a:prstGeom prst="rect">
            <a:avLst/>
          </a:prstGeom>
        </p:spPr>
      </p:pic>
      <p:sp>
        <p:nvSpPr>
          <p:cNvPr id="41" name="text-780"/>
          <p:cNvSpPr txBox="1"/>
          <p:nvPr/>
        </p:nvSpPr>
        <p:spPr>
          <a:xfrm>
            <a:off x="7046824" y="4908042"/>
            <a:ext cx="4449928" cy="685038"/>
          </a:xfrm>
          <a:prstGeom prst="rect">
            <a:avLst/>
          </a:prstGeom>
          <a:noFill/>
          <a:ln/>
        </p:spPr>
        <p:txBody>
          <a:bodyPr wrap="square" lIns="0" tIns="0" rIns="0" bIns="0" rtlCol="0" anchor="t"/>
          <a:lstStyle/>
          <a:p>
            <a:pPr indent="0" marL="0">
              <a:spcAft>
                <a:spcPts val="200"/>
              </a:spcAft>
              <a:buNone/>
            </a:pPr>
            <a:r>
              <a:rPr lang="en-US" sz="2100" b="1" dirty="0">
                <a:solidFill>
                  <a:srgbClr val="C20E3F"/>
                </a:solidFill>
                <a:latin typeface="Arial" pitchFamily="34" charset="0"/>
                <a:ea typeface="Arial" pitchFamily="34" charset="-122"/>
                <a:cs typeface="Arial" pitchFamily="34" charset="-120"/>
              </a:rPr>
              <a:t>Raportezi</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Amenințări, hărțuire, discriminare.</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watermark-781"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782" descr="TikTok">    </p:cNvPr>
          <p:cNvPicPr>
            <a:picLocks noChangeAspect="1"/>
          </p:cNvPicPr>
          <p:nvPr/>
        </p:nvPicPr>
        <p:blipFill>
          <a:blip r:embed="rId2"/>
          <a:stretch>
            <a:fillRect/>
          </a:stretch>
        </p:blipFill>
        <p:spPr>
          <a:xfrm>
            <a:off x="548640" y="329184"/>
            <a:ext cx="384048" cy="384048"/>
          </a:xfrm>
          <a:prstGeom prst="rect">
            <a:avLst/>
          </a:prstGeom>
        </p:spPr>
      </p:pic>
      <p:sp>
        <p:nvSpPr>
          <p:cNvPr id="4" name="text-783"/>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0E3F"/>
                </a:solidFill>
                <a:latin typeface="Arial" pitchFamily="34" charset="0"/>
                <a:ea typeface="Arial" pitchFamily="34" charset="-122"/>
                <a:cs typeface="Arial" pitchFamily="34" charset="-120"/>
              </a:rPr>
              <a:t>TIKTOK</a:t>
            </a:r>
            <a:endParaRPr lang="en-US" sz="1500" dirty="0"/>
          </a:p>
        </p:txBody>
      </p:sp>
      <p:sp>
        <p:nvSpPr>
          <p:cNvPr id="5" name="text-784"/>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TikTok: 6 trucuri pentru clipuri de beauty</a:t>
            </a:r>
            <a:endParaRPr lang="en-US" sz="3200" dirty="0"/>
          </a:p>
        </p:txBody>
      </p:sp>
      <p:sp>
        <p:nvSpPr>
          <p:cNvPr id="6" name="nav-785">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786">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787">
            <a:hlinkClick r:id="rId5" tooltip="TikTok" action="ppaction://hlinksldjump"/>
          </p:cNvPr>
          <p:cNvSpPr/>
          <p:nvPr/>
        </p:nvSpPr>
        <p:spPr>
          <a:xfrm>
            <a:off x="8890711" y="365760"/>
            <a:ext cx="786384" cy="310896"/>
          </a:xfrm>
          <a:prstGeom prst="roundRect">
            <a:avLst>
              <a:gd name="adj" fmla="val 50000"/>
            </a:avLst>
          </a:prstGeom>
          <a:solidFill>
            <a:srgbClr val="C20E3F"/>
          </a:solidFill>
          <a:ln w="12700">
            <a:solidFill>
              <a:srgbClr val="C20E3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788">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789">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790">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791"/>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792"/>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0E3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793"/>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27</a:t>
            </a:r>
            <a:endParaRPr lang="en-US" sz="1000" dirty="0"/>
          </a:p>
        </p:txBody>
      </p:sp>
      <p:sp>
        <p:nvSpPr>
          <p:cNvPr id="15" name="card-794"/>
          <p:cNvSpPr/>
          <p:nvPr/>
        </p:nvSpPr>
        <p:spPr>
          <a:xfrm>
            <a:off x="548640" y="1572768"/>
            <a:ext cx="5364328" cy="3101340"/>
          </a:xfrm>
          <a:prstGeom prst="roundRect">
            <a:avLst>
              <a:gd name="adj" fmla="val 2948"/>
            </a:avLst>
          </a:prstGeom>
          <a:solidFill>
            <a:srgbClr val="FBEEF2"/>
          </a:solidFill>
          <a:ln w="12700">
            <a:solidFill>
              <a:srgbClr val="F2CAD5"/>
            </a:solidFill>
            <a:prstDash val="solid"/>
          </a:ln>
        </p:spPr>
      </p:sp>
      <p:sp>
        <p:nvSpPr>
          <p:cNvPr id="16" name="iconbg-795"/>
          <p:cNvSpPr/>
          <p:nvPr/>
        </p:nvSpPr>
        <p:spPr>
          <a:xfrm>
            <a:off x="694944" y="1719072"/>
            <a:ext cx="457200" cy="457200"/>
          </a:xfrm>
          <a:prstGeom prst="ellipse">
            <a:avLst/>
          </a:prstGeom>
          <a:solidFill>
            <a:srgbClr val="C20E3F"/>
          </a:solidFill>
          <a:ln w="12700">
            <a:solidFill>
              <a:srgbClr val="C20E3F"/>
            </a:solidFill>
            <a:prstDash val="solid"/>
          </a:ln>
        </p:spPr>
      </p:sp>
      <p:pic>
        <p:nvPicPr>
          <p:cNvPr id="17" name="icon-796"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797"/>
          <p:cNvSpPr txBox="1"/>
          <p:nvPr/>
        </p:nvSpPr>
        <p:spPr>
          <a:xfrm>
            <a:off x="1316736" y="1700784"/>
            <a:ext cx="4449928" cy="2845308"/>
          </a:xfrm>
          <a:prstGeom prst="rect">
            <a:avLst/>
          </a:prstGeom>
          <a:noFill/>
          <a:ln/>
        </p:spPr>
        <p:txBody>
          <a:bodyPr wrap="square" lIns="0" tIns="0" rIns="0" bIns="0" rtlCol="0" anchor="t"/>
          <a:lstStyle/>
          <a:p>
            <a:pPr indent="0" marL="0">
              <a:spcAft>
                <a:spcPts val="200"/>
              </a:spcAft>
              <a:buNone/>
            </a:pPr>
            <a:r>
              <a:rPr lang="en-US" sz="2200" b="1" dirty="0">
                <a:solidFill>
                  <a:srgbClr val="C20E3F"/>
                </a:solidFill>
                <a:latin typeface="Arial" pitchFamily="34" charset="0"/>
                <a:ea typeface="Arial" pitchFamily="34" charset="-122"/>
                <a:cs typeface="Arial" pitchFamily="34" charset="-120"/>
              </a:rPr>
              <a:t>6 trucuri</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1. Rezultatul în prima secundă</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2. Text pe ecran din primele 2 secunde</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3. Sunetul natural al salonului</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4. Răspuns video la comentarii</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5. Cuvinte-cheie: „balayage blond rece”</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6. Final care se leagă de început</a:t>
            </a:r>
            <a:endParaRPr lang="en-US" sz="1600" dirty="0"/>
          </a:p>
        </p:txBody>
      </p:sp>
      <p:sp>
        <p:nvSpPr>
          <p:cNvPr id="19" name="card-798"/>
          <p:cNvSpPr/>
          <p:nvPr/>
        </p:nvSpPr>
        <p:spPr>
          <a:xfrm>
            <a:off x="6278728" y="1572768"/>
            <a:ext cx="5364328" cy="2449576"/>
          </a:xfrm>
          <a:prstGeom prst="roundRect">
            <a:avLst>
              <a:gd name="adj" fmla="val 3733"/>
            </a:avLst>
          </a:prstGeom>
          <a:solidFill>
            <a:srgbClr val="FBEEF2"/>
          </a:solidFill>
          <a:ln w="12700">
            <a:solidFill>
              <a:srgbClr val="F2CAD5"/>
            </a:solidFill>
            <a:prstDash val="solid"/>
          </a:ln>
        </p:spPr>
      </p:sp>
      <p:sp>
        <p:nvSpPr>
          <p:cNvPr id="20" name="iconbg-799"/>
          <p:cNvSpPr/>
          <p:nvPr/>
        </p:nvSpPr>
        <p:spPr>
          <a:xfrm>
            <a:off x="6425032" y="1719072"/>
            <a:ext cx="457200" cy="457200"/>
          </a:xfrm>
          <a:prstGeom prst="ellipse">
            <a:avLst/>
          </a:prstGeom>
          <a:solidFill>
            <a:srgbClr val="C20E3F"/>
          </a:solidFill>
          <a:ln w="12700">
            <a:solidFill>
              <a:srgbClr val="C20E3F"/>
            </a:solidFill>
            <a:prstDash val="solid"/>
          </a:ln>
        </p:spPr>
      </p:sp>
      <p:pic>
        <p:nvPicPr>
          <p:cNvPr id="21" name="icon-800" descr="preencoded.png">    </p:cNvPr>
          <p:cNvPicPr>
            <a:picLocks noChangeAspect="1"/>
          </p:cNvPicPr>
          <p:nvPr/>
        </p:nvPicPr>
        <p:blipFill>
          <a:blip r:embed="rId11"/>
          <a:stretch>
            <a:fillRect/>
          </a:stretch>
        </p:blipFill>
        <p:spPr>
          <a:xfrm>
            <a:off x="6525616" y="1819656"/>
            <a:ext cx="256032" cy="256032"/>
          </a:xfrm>
          <a:prstGeom prst="rect">
            <a:avLst/>
          </a:prstGeom>
        </p:spPr>
      </p:pic>
      <p:sp>
        <p:nvSpPr>
          <p:cNvPr id="22" name="text-801"/>
          <p:cNvSpPr txBox="1"/>
          <p:nvPr/>
        </p:nvSpPr>
        <p:spPr>
          <a:xfrm>
            <a:off x="7046824" y="1700784"/>
            <a:ext cx="4449928" cy="2193544"/>
          </a:xfrm>
          <a:prstGeom prst="rect">
            <a:avLst/>
          </a:prstGeom>
          <a:noFill/>
          <a:ln/>
        </p:spPr>
        <p:txBody>
          <a:bodyPr wrap="square" lIns="0" tIns="0" rIns="0" bIns="0" rtlCol="0" anchor="t"/>
          <a:lstStyle/>
          <a:p>
            <a:pPr indent="0" marL="0">
              <a:spcAft>
                <a:spcPts val="200"/>
              </a:spcAft>
              <a:buNone/>
            </a:pPr>
            <a:r>
              <a:rPr lang="en-US" sz="2200" b="1" dirty="0">
                <a:solidFill>
                  <a:srgbClr val="C20E3F"/>
                </a:solidFill>
                <a:latin typeface="Arial" pitchFamily="34" charset="0"/>
                <a:ea typeface="Arial" pitchFamily="34" charset="-122"/>
                <a:cs typeface="Arial" pitchFamily="34" charset="-120"/>
              </a:rPr>
              <a:t>Începuturi care atrag atenția</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„Nu-ți decolora părul până nu vezi asta.”</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„Greșeala care îți face blondul galben.”</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„A cerut blond de Pinterest. Uite ce a primit.”</a:t>
            </a:r>
            <a:endParaRPr lang="en-US" sz="1600" dirty="0"/>
          </a:p>
        </p:txBody>
      </p:sp>
      <p:sp>
        <p:nvSpPr>
          <p:cNvPr id="23" name="card-802"/>
          <p:cNvSpPr/>
          <p:nvPr/>
        </p:nvSpPr>
        <p:spPr>
          <a:xfrm>
            <a:off x="6278728" y="4150360"/>
            <a:ext cx="5364328" cy="1825244"/>
          </a:xfrm>
          <a:prstGeom prst="roundRect">
            <a:avLst>
              <a:gd name="adj" fmla="val 5010"/>
            </a:avLst>
          </a:prstGeom>
          <a:solidFill>
            <a:srgbClr val="FBEEF2"/>
          </a:solidFill>
          <a:ln w="12700">
            <a:solidFill>
              <a:srgbClr val="F2CAD5"/>
            </a:solidFill>
            <a:prstDash val="solid"/>
          </a:ln>
        </p:spPr>
      </p:sp>
      <p:sp>
        <p:nvSpPr>
          <p:cNvPr id="24" name="iconbg-803"/>
          <p:cNvSpPr/>
          <p:nvPr/>
        </p:nvSpPr>
        <p:spPr>
          <a:xfrm>
            <a:off x="6425032" y="4296664"/>
            <a:ext cx="457200" cy="457200"/>
          </a:xfrm>
          <a:prstGeom prst="ellipse">
            <a:avLst/>
          </a:prstGeom>
          <a:solidFill>
            <a:srgbClr val="C20E3F"/>
          </a:solidFill>
          <a:ln w="12700">
            <a:solidFill>
              <a:srgbClr val="C20E3F"/>
            </a:solidFill>
            <a:prstDash val="solid"/>
          </a:ln>
        </p:spPr>
      </p:sp>
      <p:pic>
        <p:nvPicPr>
          <p:cNvPr id="25" name="icon-804" descr="preencoded.png">    </p:cNvPr>
          <p:cNvPicPr>
            <a:picLocks noChangeAspect="1"/>
          </p:cNvPicPr>
          <p:nvPr/>
        </p:nvPicPr>
        <p:blipFill>
          <a:blip r:embed="rId12"/>
          <a:stretch>
            <a:fillRect/>
          </a:stretch>
        </p:blipFill>
        <p:spPr>
          <a:xfrm>
            <a:off x="6525616" y="4397248"/>
            <a:ext cx="256032" cy="256032"/>
          </a:xfrm>
          <a:prstGeom prst="rect">
            <a:avLst/>
          </a:prstGeom>
        </p:spPr>
      </p:pic>
      <p:sp>
        <p:nvSpPr>
          <p:cNvPr id="26" name="text-805"/>
          <p:cNvSpPr txBox="1"/>
          <p:nvPr/>
        </p:nvSpPr>
        <p:spPr>
          <a:xfrm>
            <a:off x="7046824" y="4278376"/>
            <a:ext cx="4449928" cy="1569212"/>
          </a:xfrm>
          <a:prstGeom prst="rect">
            <a:avLst/>
          </a:prstGeom>
          <a:noFill/>
          <a:ln/>
        </p:spPr>
        <p:txBody>
          <a:bodyPr wrap="square" lIns="0" tIns="0" rIns="0" bIns="0" rtlCol="0" anchor="t"/>
          <a:lstStyle/>
          <a:p>
            <a:pPr indent="0" marL="0">
              <a:spcAft>
                <a:spcPts val="200"/>
              </a:spcAft>
              <a:buNone/>
            </a:pPr>
            <a:r>
              <a:rPr lang="en-US" sz="2200" b="1" dirty="0">
                <a:solidFill>
                  <a:srgbClr val="C20E3F"/>
                </a:solidFill>
                <a:latin typeface="Arial" pitchFamily="34" charset="0"/>
                <a:ea typeface="Arial" pitchFamily="34" charset="-122"/>
                <a:cs typeface="Arial" pitchFamily="34" charset="-120"/>
              </a:rPr>
              <a:t>Idei de conținut</a:t>
            </a:r>
            <a:endParaRPr lang="en-US" sz="1600" dirty="0"/>
          </a:p>
          <a:p>
            <a:pPr indent="0" marL="0">
              <a:spcAft>
                <a:spcPts val="200"/>
              </a:spcAft>
              <a:buNone/>
            </a:pPr>
            <a:r>
              <a:rPr lang="en-US" sz="1900" dirty="0">
                <a:solidFill>
                  <a:srgbClr val="3D3D3D"/>
                </a:solidFill>
                <a:latin typeface="Arial" pitchFamily="34" charset="0"/>
                <a:ea typeface="Arial" pitchFamily="34" charset="-122"/>
                <a:cs typeface="Arial" pitchFamily="34" charset="-120"/>
              </a:rPr>
              <a:t>Ce a cerut vs. ce a primit · Mit sau adevăr · POV: clienta vede blondul · 3 greșeli la blondul de acasă</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watermark-806"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807" descr="CapCut">    </p:cNvPr>
          <p:cNvPicPr>
            <a:picLocks noChangeAspect="1"/>
          </p:cNvPicPr>
          <p:nvPr/>
        </p:nvPicPr>
        <p:blipFill>
          <a:blip r:embed="rId2"/>
          <a:stretch>
            <a:fillRect/>
          </a:stretch>
        </p:blipFill>
        <p:spPr>
          <a:xfrm>
            <a:off x="548640" y="329184"/>
            <a:ext cx="384048" cy="384048"/>
          </a:xfrm>
          <a:prstGeom prst="rect">
            <a:avLst/>
          </a:prstGeom>
        </p:spPr>
      </p:pic>
      <p:sp>
        <p:nvSpPr>
          <p:cNvPr id="4" name="text-808"/>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5B1BB5"/>
                </a:solidFill>
                <a:latin typeface="Arial" pitchFamily="34" charset="0"/>
                <a:ea typeface="Arial" pitchFamily="34" charset="-122"/>
                <a:cs typeface="Arial" pitchFamily="34" charset="-120"/>
              </a:rPr>
              <a:t>EDITARE VIDEO · CAPCUT</a:t>
            </a:r>
            <a:endParaRPr lang="en-US" sz="1500" dirty="0"/>
          </a:p>
        </p:txBody>
      </p:sp>
      <p:sp>
        <p:nvSpPr>
          <p:cNvPr id="5" name="text-809"/>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Editare video: demonstrația în 8 pași</a:t>
            </a:r>
            <a:endParaRPr lang="en-US" sz="3200" dirty="0"/>
          </a:p>
        </p:txBody>
      </p:sp>
      <p:sp>
        <p:nvSpPr>
          <p:cNvPr id="6" name="nav-810">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811">
            <a:hlinkClick r:id="rId4" tooltip="CapCut" action="ppaction://hlinksldjump"/>
          </p:cNvPr>
          <p:cNvSpPr/>
          <p:nvPr/>
        </p:nvSpPr>
        <p:spPr>
          <a:xfrm>
            <a:off x="9750247" y="365760"/>
            <a:ext cx="786384" cy="310896"/>
          </a:xfrm>
          <a:prstGeom prst="roundRect">
            <a:avLst>
              <a:gd name="adj" fmla="val 50000"/>
            </a:avLst>
          </a:prstGeom>
          <a:solidFill>
            <a:srgbClr val="5B1BB5"/>
          </a:solidFill>
          <a:ln w="12700">
            <a:solidFill>
              <a:srgbClr val="5B1BB5"/>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812">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813">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814">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815">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816"/>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817"/>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5B1BB5"/>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818"/>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28</a:t>
            </a:r>
            <a:endParaRPr lang="en-US" sz="1000" dirty="0"/>
          </a:p>
        </p:txBody>
      </p:sp>
      <p:sp>
        <p:nvSpPr>
          <p:cNvPr id="15" name="card-819"/>
          <p:cNvSpPr/>
          <p:nvPr/>
        </p:nvSpPr>
        <p:spPr>
          <a:xfrm>
            <a:off x="548640" y="1572768"/>
            <a:ext cx="5410048" cy="1975104"/>
          </a:xfrm>
          <a:prstGeom prst="roundRect">
            <a:avLst>
              <a:gd name="adj" fmla="val 4630"/>
            </a:avLst>
          </a:prstGeom>
          <a:solidFill>
            <a:srgbClr val="F4EFFA"/>
          </a:solidFill>
          <a:ln w="12700">
            <a:solidFill>
              <a:srgbClr val="DBCDEF"/>
            </a:solidFill>
            <a:prstDash val="solid"/>
          </a:ln>
        </p:spPr>
      </p:sp>
      <p:sp>
        <p:nvSpPr>
          <p:cNvPr id="16" name="iconbg-820"/>
          <p:cNvSpPr/>
          <p:nvPr/>
        </p:nvSpPr>
        <p:spPr>
          <a:xfrm>
            <a:off x="694944" y="1719072"/>
            <a:ext cx="457200" cy="457200"/>
          </a:xfrm>
          <a:prstGeom prst="ellipse">
            <a:avLst/>
          </a:prstGeom>
          <a:solidFill>
            <a:srgbClr val="5B1BB5"/>
          </a:solidFill>
          <a:ln w="12700">
            <a:solidFill>
              <a:srgbClr val="5B1BB5"/>
            </a:solidFill>
            <a:prstDash val="solid"/>
          </a:ln>
        </p:spPr>
      </p:sp>
      <p:pic>
        <p:nvPicPr>
          <p:cNvPr id="17" name="icon-821"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822"/>
          <p:cNvSpPr txBox="1"/>
          <p:nvPr/>
        </p:nvSpPr>
        <p:spPr>
          <a:xfrm>
            <a:off x="1316736" y="1700784"/>
            <a:ext cx="4495648" cy="1719072"/>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Videoclipul demonstrativ</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Fișierul separat „Demo_editare_8_pasi.mp4” (27 de secunde). Schemă simplificată, nu interfața reală.</a:t>
            </a:r>
            <a:endParaRPr lang="en-US" sz="1600" dirty="0"/>
          </a:p>
        </p:txBody>
      </p:sp>
      <p:sp>
        <p:nvSpPr>
          <p:cNvPr id="19" name="card-823"/>
          <p:cNvSpPr/>
          <p:nvPr/>
        </p:nvSpPr>
        <p:spPr>
          <a:xfrm>
            <a:off x="6233008" y="1572768"/>
            <a:ext cx="5410048" cy="1975104"/>
          </a:xfrm>
          <a:prstGeom prst="roundRect">
            <a:avLst>
              <a:gd name="adj" fmla="val 4630"/>
            </a:avLst>
          </a:prstGeom>
          <a:solidFill>
            <a:srgbClr val="F4EFFA"/>
          </a:solidFill>
          <a:ln w="12700">
            <a:solidFill>
              <a:srgbClr val="DBCDEF"/>
            </a:solidFill>
            <a:prstDash val="solid"/>
          </a:ln>
        </p:spPr>
      </p:sp>
      <p:sp>
        <p:nvSpPr>
          <p:cNvPr id="20" name="iconbg-824"/>
          <p:cNvSpPr/>
          <p:nvPr/>
        </p:nvSpPr>
        <p:spPr>
          <a:xfrm>
            <a:off x="6379312" y="1719072"/>
            <a:ext cx="457200" cy="457200"/>
          </a:xfrm>
          <a:prstGeom prst="ellipse">
            <a:avLst/>
          </a:prstGeom>
          <a:solidFill>
            <a:srgbClr val="5B1BB5"/>
          </a:solidFill>
          <a:ln w="12700">
            <a:solidFill>
              <a:srgbClr val="5B1BB5"/>
            </a:solidFill>
            <a:prstDash val="solid"/>
          </a:ln>
        </p:spPr>
      </p:sp>
      <p:pic>
        <p:nvPicPr>
          <p:cNvPr id="21" name="icon-825" descr="preencoded.png">    </p:cNvPr>
          <p:cNvPicPr>
            <a:picLocks noChangeAspect="1"/>
          </p:cNvPicPr>
          <p:nvPr/>
        </p:nvPicPr>
        <p:blipFill>
          <a:blip r:embed="rId11"/>
          <a:stretch>
            <a:fillRect/>
          </a:stretch>
        </p:blipFill>
        <p:spPr>
          <a:xfrm>
            <a:off x="6479896" y="1819656"/>
            <a:ext cx="256032" cy="256032"/>
          </a:xfrm>
          <a:prstGeom prst="rect">
            <a:avLst/>
          </a:prstGeom>
        </p:spPr>
      </p:pic>
      <p:sp>
        <p:nvSpPr>
          <p:cNvPr id="22" name="text-826"/>
          <p:cNvSpPr txBox="1"/>
          <p:nvPr/>
        </p:nvSpPr>
        <p:spPr>
          <a:xfrm>
            <a:off x="7001104" y="1700784"/>
            <a:ext cx="4495648" cy="1719072"/>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Ce vezi pe ecran</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Pasul curent · Previzualizare · Clipurile · Unelte · Text pe ecran · Subtitrări · Pistă text · Muzică / voce</a:t>
            </a:r>
            <a:endParaRPr lang="en-US" sz="1600" dirty="0"/>
          </a:p>
        </p:txBody>
      </p:sp>
      <p:sp>
        <p:nvSpPr>
          <p:cNvPr id="23" name="card-827"/>
          <p:cNvSpPr/>
          <p:nvPr/>
        </p:nvSpPr>
        <p:spPr>
          <a:xfrm>
            <a:off x="548640" y="3675888"/>
            <a:ext cx="5410048" cy="1345692"/>
          </a:xfrm>
          <a:prstGeom prst="roundRect">
            <a:avLst>
              <a:gd name="adj" fmla="val 6795"/>
            </a:avLst>
          </a:prstGeom>
          <a:solidFill>
            <a:srgbClr val="F4EFFA"/>
          </a:solidFill>
          <a:ln w="12700">
            <a:solidFill>
              <a:srgbClr val="DBCDEF"/>
            </a:solidFill>
            <a:prstDash val="solid"/>
          </a:ln>
        </p:spPr>
      </p:sp>
      <p:sp>
        <p:nvSpPr>
          <p:cNvPr id="24" name="iconbg-828"/>
          <p:cNvSpPr/>
          <p:nvPr/>
        </p:nvSpPr>
        <p:spPr>
          <a:xfrm>
            <a:off x="694944" y="3822192"/>
            <a:ext cx="457200" cy="457200"/>
          </a:xfrm>
          <a:prstGeom prst="ellipse">
            <a:avLst/>
          </a:prstGeom>
          <a:solidFill>
            <a:srgbClr val="5B1BB5"/>
          </a:solidFill>
          <a:ln w="12700">
            <a:solidFill>
              <a:srgbClr val="5B1BB5"/>
            </a:solidFill>
            <a:prstDash val="solid"/>
          </a:ln>
        </p:spPr>
      </p:sp>
      <p:pic>
        <p:nvPicPr>
          <p:cNvPr id="25" name="icon-829" descr="preencoded.png">    </p:cNvPr>
          <p:cNvPicPr>
            <a:picLocks noChangeAspect="1"/>
          </p:cNvPicPr>
          <p:nvPr/>
        </p:nvPicPr>
        <p:blipFill>
          <a:blip r:embed="rId12"/>
          <a:stretch>
            <a:fillRect/>
          </a:stretch>
        </p:blipFill>
        <p:spPr>
          <a:xfrm>
            <a:off x="795528" y="3922776"/>
            <a:ext cx="256032" cy="256032"/>
          </a:xfrm>
          <a:prstGeom prst="rect">
            <a:avLst/>
          </a:prstGeom>
        </p:spPr>
      </p:pic>
      <p:sp>
        <p:nvSpPr>
          <p:cNvPr id="26" name="text-830"/>
          <p:cNvSpPr txBox="1"/>
          <p:nvPr/>
        </p:nvSpPr>
        <p:spPr>
          <a:xfrm>
            <a:off x="1316736" y="3803904"/>
            <a:ext cx="4495648" cy="1089660"/>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Apoi, live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Repetăm pașii pe telefonul proiectat.</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watermark-831"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832" descr="CapCut">    </p:cNvPr>
          <p:cNvPicPr>
            <a:picLocks noChangeAspect="1"/>
          </p:cNvPicPr>
          <p:nvPr/>
        </p:nvPicPr>
        <p:blipFill>
          <a:blip r:embed="rId2"/>
          <a:stretch>
            <a:fillRect/>
          </a:stretch>
        </p:blipFill>
        <p:spPr>
          <a:xfrm>
            <a:off x="548640" y="329184"/>
            <a:ext cx="384048" cy="384048"/>
          </a:xfrm>
          <a:prstGeom prst="rect">
            <a:avLst/>
          </a:prstGeom>
        </p:spPr>
      </p:pic>
      <p:sp>
        <p:nvSpPr>
          <p:cNvPr id="4" name="text-833"/>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5B1BB5"/>
                </a:solidFill>
                <a:latin typeface="Arial" pitchFamily="34" charset="0"/>
                <a:ea typeface="Arial" pitchFamily="34" charset="-122"/>
                <a:cs typeface="Arial" pitchFamily="34" charset="-120"/>
              </a:rPr>
              <a:t>EDITARE VIDEO · CAPCUT</a:t>
            </a:r>
            <a:endParaRPr lang="en-US" sz="1500" dirty="0"/>
          </a:p>
        </p:txBody>
      </p:sp>
      <p:sp>
        <p:nvSpPr>
          <p:cNvPr id="5" name="text-834"/>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CapCut, pașii 1–3: clipuri, tăiere, ordine</a:t>
            </a:r>
            <a:endParaRPr lang="en-US" sz="3200" dirty="0"/>
          </a:p>
        </p:txBody>
      </p:sp>
      <p:sp>
        <p:nvSpPr>
          <p:cNvPr id="6" name="nav-835">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836">
            <a:hlinkClick r:id="rId4" tooltip="CapCut" action="ppaction://hlinksldjump"/>
          </p:cNvPr>
          <p:cNvSpPr/>
          <p:nvPr/>
        </p:nvSpPr>
        <p:spPr>
          <a:xfrm>
            <a:off x="9750247" y="365760"/>
            <a:ext cx="786384" cy="310896"/>
          </a:xfrm>
          <a:prstGeom prst="roundRect">
            <a:avLst>
              <a:gd name="adj" fmla="val 50000"/>
            </a:avLst>
          </a:prstGeom>
          <a:solidFill>
            <a:srgbClr val="5B1BB5"/>
          </a:solidFill>
          <a:ln w="12700">
            <a:solidFill>
              <a:srgbClr val="5B1BB5"/>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837">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838">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839">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840">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841"/>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842"/>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5B1BB5"/>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843"/>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29</a:t>
            </a:r>
            <a:endParaRPr lang="en-US" sz="1000" dirty="0"/>
          </a:p>
        </p:txBody>
      </p:sp>
      <p:sp>
        <p:nvSpPr>
          <p:cNvPr id="15" name="card-844"/>
          <p:cNvSpPr/>
          <p:nvPr/>
        </p:nvSpPr>
        <p:spPr>
          <a:xfrm>
            <a:off x="548640" y="1572768"/>
            <a:ext cx="5364328" cy="2002536"/>
          </a:xfrm>
          <a:prstGeom prst="roundRect">
            <a:avLst>
              <a:gd name="adj" fmla="val 4566"/>
            </a:avLst>
          </a:prstGeom>
          <a:solidFill>
            <a:srgbClr val="F4EFFA"/>
          </a:solidFill>
          <a:ln w="12700">
            <a:solidFill>
              <a:srgbClr val="DBCDEF"/>
            </a:solidFill>
            <a:prstDash val="solid"/>
          </a:ln>
        </p:spPr>
      </p:sp>
      <p:sp>
        <p:nvSpPr>
          <p:cNvPr id="16" name="iconbg-845"/>
          <p:cNvSpPr/>
          <p:nvPr/>
        </p:nvSpPr>
        <p:spPr>
          <a:xfrm>
            <a:off x="694944" y="1719072"/>
            <a:ext cx="457200" cy="457200"/>
          </a:xfrm>
          <a:prstGeom prst="ellipse">
            <a:avLst/>
          </a:prstGeom>
          <a:solidFill>
            <a:srgbClr val="5B1BB5"/>
          </a:solidFill>
          <a:ln w="12700">
            <a:solidFill>
              <a:srgbClr val="5B1BB5"/>
            </a:solidFill>
            <a:prstDash val="solid"/>
          </a:ln>
        </p:spPr>
      </p:sp>
      <p:pic>
        <p:nvPicPr>
          <p:cNvPr id="17" name="icon-846"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847"/>
          <p:cNvSpPr txBox="1"/>
          <p:nvPr/>
        </p:nvSpPr>
        <p:spPr>
          <a:xfrm>
            <a:off x="1316736" y="1700784"/>
            <a:ext cx="4449928" cy="1746504"/>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1. Introduci clipurile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Unde apeși: Proiect nou → bifezi clipurile în ordine → Adaugă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Ex.: înainte, aplicarea, clătirea, după</a:t>
            </a:r>
            <a:endParaRPr lang="en-US" sz="1600" dirty="0"/>
          </a:p>
        </p:txBody>
      </p:sp>
      <p:sp>
        <p:nvSpPr>
          <p:cNvPr id="19" name="card-848"/>
          <p:cNvSpPr/>
          <p:nvPr/>
        </p:nvSpPr>
        <p:spPr>
          <a:xfrm>
            <a:off x="548640" y="3703320"/>
            <a:ext cx="5364328" cy="2317242"/>
          </a:xfrm>
          <a:prstGeom prst="roundRect">
            <a:avLst>
              <a:gd name="adj" fmla="val 3946"/>
            </a:avLst>
          </a:prstGeom>
          <a:solidFill>
            <a:srgbClr val="F4EFFA"/>
          </a:solidFill>
          <a:ln w="12700">
            <a:solidFill>
              <a:srgbClr val="DBCDEF"/>
            </a:solidFill>
            <a:prstDash val="solid"/>
          </a:ln>
        </p:spPr>
      </p:sp>
      <p:sp>
        <p:nvSpPr>
          <p:cNvPr id="20" name="iconbg-849"/>
          <p:cNvSpPr/>
          <p:nvPr/>
        </p:nvSpPr>
        <p:spPr>
          <a:xfrm>
            <a:off x="694944" y="3849624"/>
            <a:ext cx="457200" cy="457200"/>
          </a:xfrm>
          <a:prstGeom prst="ellipse">
            <a:avLst/>
          </a:prstGeom>
          <a:solidFill>
            <a:srgbClr val="5B1BB5"/>
          </a:solidFill>
          <a:ln w="12700">
            <a:solidFill>
              <a:srgbClr val="5B1BB5"/>
            </a:solidFill>
            <a:prstDash val="solid"/>
          </a:ln>
        </p:spPr>
      </p:sp>
      <p:pic>
        <p:nvPicPr>
          <p:cNvPr id="21" name="icon-850" descr="preencoded.png">    </p:cNvPr>
          <p:cNvPicPr>
            <a:picLocks noChangeAspect="1"/>
          </p:cNvPicPr>
          <p:nvPr/>
        </p:nvPicPr>
        <p:blipFill>
          <a:blip r:embed="rId11"/>
          <a:stretch>
            <a:fillRect/>
          </a:stretch>
        </p:blipFill>
        <p:spPr>
          <a:xfrm>
            <a:off x="795528" y="3950208"/>
            <a:ext cx="256032" cy="256032"/>
          </a:xfrm>
          <a:prstGeom prst="rect">
            <a:avLst/>
          </a:prstGeom>
        </p:spPr>
      </p:pic>
      <p:sp>
        <p:nvSpPr>
          <p:cNvPr id="22" name="text-851"/>
          <p:cNvSpPr txBox="1"/>
          <p:nvPr/>
        </p:nvSpPr>
        <p:spPr>
          <a:xfrm>
            <a:off x="1316736" y="3831336"/>
            <a:ext cx="4449928" cy="2061210"/>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2. Tai și scurtezi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Unde apeși: Atingi clipul → tragi de margini sau „Împarte” → Șterge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Ex.: tai cele 2 sec în care cauți pensula</a:t>
            </a:r>
            <a:endParaRPr lang="en-US" sz="1600" dirty="0"/>
          </a:p>
        </p:txBody>
      </p:sp>
      <p:sp>
        <p:nvSpPr>
          <p:cNvPr id="23" name="card-852"/>
          <p:cNvSpPr/>
          <p:nvPr/>
        </p:nvSpPr>
        <p:spPr>
          <a:xfrm>
            <a:off x="6278728" y="1572768"/>
            <a:ext cx="5364328" cy="1687830"/>
          </a:xfrm>
          <a:prstGeom prst="roundRect">
            <a:avLst>
              <a:gd name="adj" fmla="val 5418"/>
            </a:avLst>
          </a:prstGeom>
          <a:solidFill>
            <a:srgbClr val="F4EFFA"/>
          </a:solidFill>
          <a:ln w="12700">
            <a:solidFill>
              <a:srgbClr val="DBCDEF"/>
            </a:solidFill>
            <a:prstDash val="solid"/>
          </a:ln>
        </p:spPr>
      </p:sp>
      <p:sp>
        <p:nvSpPr>
          <p:cNvPr id="24" name="iconbg-853"/>
          <p:cNvSpPr/>
          <p:nvPr/>
        </p:nvSpPr>
        <p:spPr>
          <a:xfrm>
            <a:off x="6425032" y="1719072"/>
            <a:ext cx="457200" cy="457200"/>
          </a:xfrm>
          <a:prstGeom prst="ellipse">
            <a:avLst/>
          </a:prstGeom>
          <a:solidFill>
            <a:srgbClr val="5B1BB5"/>
          </a:solidFill>
          <a:ln w="12700">
            <a:solidFill>
              <a:srgbClr val="5B1BB5"/>
            </a:solidFill>
            <a:prstDash val="solid"/>
          </a:ln>
        </p:spPr>
      </p:sp>
      <p:pic>
        <p:nvPicPr>
          <p:cNvPr id="25" name="icon-854" descr="preencoded.png">    </p:cNvPr>
          <p:cNvPicPr>
            <a:picLocks noChangeAspect="1"/>
          </p:cNvPicPr>
          <p:nvPr/>
        </p:nvPicPr>
        <p:blipFill>
          <a:blip r:embed="rId12"/>
          <a:stretch>
            <a:fillRect/>
          </a:stretch>
        </p:blipFill>
        <p:spPr>
          <a:xfrm>
            <a:off x="6525616" y="1819656"/>
            <a:ext cx="256032" cy="256032"/>
          </a:xfrm>
          <a:prstGeom prst="rect">
            <a:avLst/>
          </a:prstGeom>
        </p:spPr>
      </p:pic>
      <p:sp>
        <p:nvSpPr>
          <p:cNvPr id="26" name="text-855"/>
          <p:cNvSpPr txBox="1"/>
          <p:nvPr/>
        </p:nvSpPr>
        <p:spPr>
          <a:xfrm>
            <a:off x="7046824" y="1700784"/>
            <a:ext cx="4449928" cy="1431798"/>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3. Schimbi ordinea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Unde apeși: Ții apăsat pe clip → îl tragi unde vrei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Ex.: muți „după” la început</a:t>
            </a:r>
            <a:endParaRPr lang="en-US" sz="1600" dirty="0"/>
          </a:p>
        </p:txBody>
      </p:sp>
      <p:sp>
        <p:nvSpPr>
          <p:cNvPr id="27" name="note-856"/>
          <p:cNvSpPr/>
          <p:nvPr/>
        </p:nvSpPr>
        <p:spPr>
          <a:xfrm>
            <a:off x="6278728" y="3388614"/>
            <a:ext cx="5364328" cy="1533144"/>
          </a:xfrm>
          <a:prstGeom prst="roundRect">
            <a:avLst>
              <a:gd name="adj" fmla="val 5964"/>
            </a:avLst>
          </a:prstGeom>
          <a:solidFill>
            <a:srgbClr val="FFFFFF"/>
          </a:solidFill>
          <a:ln w="19050">
            <a:solidFill>
              <a:srgbClr val="5B1BB5"/>
            </a:solidFill>
            <a:prstDash val="dash"/>
          </a:ln>
        </p:spPr>
      </p:sp>
      <p:pic>
        <p:nvPicPr>
          <p:cNvPr id="28" name="noteicon-857" descr="preencoded.png">    </p:cNvPr>
          <p:cNvPicPr>
            <a:picLocks noChangeAspect="1"/>
          </p:cNvPicPr>
          <p:nvPr/>
        </p:nvPicPr>
        <p:blipFill>
          <a:blip r:embed="rId13"/>
          <a:stretch>
            <a:fillRect/>
          </a:stretch>
        </p:blipFill>
        <p:spPr>
          <a:xfrm>
            <a:off x="6415888" y="3981450"/>
            <a:ext cx="347472" cy="347472"/>
          </a:xfrm>
          <a:prstGeom prst="rect">
            <a:avLst/>
          </a:prstGeom>
        </p:spPr>
      </p:pic>
      <p:sp>
        <p:nvSpPr>
          <p:cNvPr id="29" name="text-858"/>
          <p:cNvSpPr txBox="1"/>
          <p:nvPr/>
        </p:nvSpPr>
        <p:spPr>
          <a:xfrm>
            <a:off x="6873088" y="3480054"/>
            <a:ext cx="4632808" cy="1350264"/>
          </a:xfrm>
          <a:prstGeom prst="rect">
            <a:avLst/>
          </a:prstGeom>
          <a:noFill/>
          <a:ln/>
        </p:spPr>
        <p:txBody>
          <a:bodyPr wrap="square" lIns="0" tIns="0" rIns="0" bIns="0" rtlCol="0" anchor="ctr"/>
          <a:lstStyle/>
          <a:p>
            <a:pPr indent="0" marL="0">
              <a:buNone/>
            </a:pPr>
            <a:r>
              <a:rPr lang="en-US" sz="2100" b="1" dirty="0">
                <a:solidFill>
                  <a:srgbClr val="111111"/>
                </a:solidFill>
                <a:latin typeface="Arial" pitchFamily="34" charset="0"/>
                <a:ea typeface="Arial" pitchFamily="34" charset="-122"/>
                <a:cs typeface="Arial" pitchFamily="34" charset="-120"/>
              </a:rPr>
              <a:t>Denumirile meniurilor pot varia după versiune și limbă. Tutoriale oficiale: capcut.com (linkuri în note).</a:t>
            </a:r>
            <a:endParaRPr lang="en-US" sz="2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watermark-859"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860" descr="CapCut">    </p:cNvPr>
          <p:cNvPicPr>
            <a:picLocks noChangeAspect="1"/>
          </p:cNvPicPr>
          <p:nvPr/>
        </p:nvPicPr>
        <p:blipFill>
          <a:blip r:embed="rId2"/>
          <a:stretch>
            <a:fillRect/>
          </a:stretch>
        </p:blipFill>
        <p:spPr>
          <a:xfrm>
            <a:off x="548640" y="329184"/>
            <a:ext cx="384048" cy="384048"/>
          </a:xfrm>
          <a:prstGeom prst="rect">
            <a:avLst/>
          </a:prstGeom>
        </p:spPr>
      </p:pic>
      <p:sp>
        <p:nvSpPr>
          <p:cNvPr id="4" name="text-861"/>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5B1BB5"/>
                </a:solidFill>
                <a:latin typeface="Arial" pitchFamily="34" charset="0"/>
                <a:ea typeface="Arial" pitchFamily="34" charset="-122"/>
                <a:cs typeface="Arial" pitchFamily="34" charset="-120"/>
              </a:rPr>
              <a:t>EDITARE VIDEO · CAPCUT</a:t>
            </a:r>
            <a:endParaRPr lang="en-US" sz="1500" dirty="0"/>
          </a:p>
        </p:txBody>
      </p:sp>
      <p:sp>
        <p:nvSpPr>
          <p:cNvPr id="5" name="text-862"/>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CapCut, pașii 4–6: viteză, muzică, tranziții</a:t>
            </a:r>
            <a:endParaRPr lang="en-US" sz="3200" dirty="0"/>
          </a:p>
        </p:txBody>
      </p:sp>
      <p:sp>
        <p:nvSpPr>
          <p:cNvPr id="6" name="nav-863">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864">
            <a:hlinkClick r:id="rId4" tooltip="CapCut" action="ppaction://hlinksldjump"/>
          </p:cNvPr>
          <p:cNvSpPr/>
          <p:nvPr/>
        </p:nvSpPr>
        <p:spPr>
          <a:xfrm>
            <a:off x="9750247" y="365760"/>
            <a:ext cx="786384" cy="310896"/>
          </a:xfrm>
          <a:prstGeom prst="roundRect">
            <a:avLst>
              <a:gd name="adj" fmla="val 50000"/>
            </a:avLst>
          </a:prstGeom>
          <a:solidFill>
            <a:srgbClr val="5B1BB5"/>
          </a:solidFill>
          <a:ln w="12700">
            <a:solidFill>
              <a:srgbClr val="5B1BB5"/>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865">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866">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867">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868">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869"/>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870"/>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5B1BB5"/>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871"/>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30</a:t>
            </a:r>
            <a:endParaRPr lang="en-US" sz="1000" dirty="0"/>
          </a:p>
        </p:txBody>
      </p:sp>
      <p:sp>
        <p:nvSpPr>
          <p:cNvPr id="15" name="card-872"/>
          <p:cNvSpPr/>
          <p:nvPr/>
        </p:nvSpPr>
        <p:spPr>
          <a:xfrm>
            <a:off x="548640" y="1572768"/>
            <a:ext cx="5364328" cy="2002536"/>
          </a:xfrm>
          <a:prstGeom prst="roundRect">
            <a:avLst>
              <a:gd name="adj" fmla="val 4566"/>
            </a:avLst>
          </a:prstGeom>
          <a:solidFill>
            <a:srgbClr val="F4EFFA"/>
          </a:solidFill>
          <a:ln w="12700">
            <a:solidFill>
              <a:srgbClr val="DBCDEF"/>
            </a:solidFill>
            <a:prstDash val="solid"/>
          </a:ln>
        </p:spPr>
      </p:sp>
      <p:sp>
        <p:nvSpPr>
          <p:cNvPr id="16" name="iconbg-873"/>
          <p:cNvSpPr/>
          <p:nvPr/>
        </p:nvSpPr>
        <p:spPr>
          <a:xfrm>
            <a:off x="694944" y="1719072"/>
            <a:ext cx="457200" cy="457200"/>
          </a:xfrm>
          <a:prstGeom prst="ellipse">
            <a:avLst/>
          </a:prstGeom>
          <a:solidFill>
            <a:srgbClr val="5B1BB5"/>
          </a:solidFill>
          <a:ln w="12700">
            <a:solidFill>
              <a:srgbClr val="5B1BB5"/>
            </a:solidFill>
            <a:prstDash val="solid"/>
          </a:ln>
        </p:spPr>
      </p:sp>
      <p:pic>
        <p:nvPicPr>
          <p:cNvPr id="17" name="icon-874"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875"/>
          <p:cNvSpPr txBox="1"/>
          <p:nvPr/>
        </p:nvSpPr>
        <p:spPr>
          <a:xfrm>
            <a:off x="1316736" y="1700784"/>
            <a:ext cx="4449928" cy="1746504"/>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4. Viteza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Unde apeși: Clip → Viteză → Normal (ex. 3x)</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Ex.: foliile la 3x, reveal-ul la 0,5x</a:t>
            </a:r>
            <a:endParaRPr lang="en-US" sz="1600" dirty="0"/>
          </a:p>
        </p:txBody>
      </p:sp>
      <p:sp>
        <p:nvSpPr>
          <p:cNvPr id="19" name="card-876"/>
          <p:cNvSpPr/>
          <p:nvPr/>
        </p:nvSpPr>
        <p:spPr>
          <a:xfrm>
            <a:off x="548640" y="3703320"/>
            <a:ext cx="5364328" cy="2002536"/>
          </a:xfrm>
          <a:prstGeom prst="roundRect">
            <a:avLst>
              <a:gd name="adj" fmla="val 4566"/>
            </a:avLst>
          </a:prstGeom>
          <a:solidFill>
            <a:srgbClr val="F4EFFA"/>
          </a:solidFill>
          <a:ln w="12700">
            <a:solidFill>
              <a:srgbClr val="DBCDEF"/>
            </a:solidFill>
            <a:prstDash val="solid"/>
          </a:ln>
        </p:spPr>
      </p:sp>
      <p:sp>
        <p:nvSpPr>
          <p:cNvPr id="20" name="iconbg-877"/>
          <p:cNvSpPr/>
          <p:nvPr/>
        </p:nvSpPr>
        <p:spPr>
          <a:xfrm>
            <a:off x="694944" y="3849624"/>
            <a:ext cx="457200" cy="457200"/>
          </a:xfrm>
          <a:prstGeom prst="ellipse">
            <a:avLst/>
          </a:prstGeom>
          <a:solidFill>
            <a:srgbClr val="5B1BB5"/>
          </a:solidFill>
          <a:ln w="12700">
            <a:solidFill>
              <a:srgbClr val="5B1BB5"/>
            </a:solidFill>
            <a:prstDash val="solid"/>
          </a:ln>
        </p:spPr>
      </p:sp>
      <p:pic>
        <p:nvPicPr>
          <p:cNvPr id="21" name="icon-878" descr="preencoded.png">    </p:cNvPr>
          <p:cNvPicPr>
            <a:picLocks noChangeAspect="1"/>
          </p:cNvPicPr>
          <p:nvPr/>
        </p:nvPicPr>
        <p:blipFill>
          <a:blip r:embed="rId11"/>
          <a:stretch>
            <a:fillRect/>
          </a:stretch>
        </p:blipFill>
        <p:spPr>
          <a:xfrm>
            <a:off x="795528" y="3950208"/>
            <a:ext cx="256032" cy="256032"/>
          </a:xfrm>
          <a:prstGeom prst="rect">
            <a:avLst/>
          </a:prstGeom>
        </p:spPr>
      </p:pic>
      <p:sp>
        <p:nvSpPr>
          <p:cNvPr id="22" name="text-879"/>
          <p:cNvSpPr txBox="1"/>
          <p:nvPr/>
        </p:nvSpPr>
        <p:spPr>
          <a:xfrm>
            <a:off x="1316736" y="3831336"/>
            <a:ext cx="4449928" cy="1746504"/>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5. Muzică și sunete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Unde apeși: Audio → Sunete; volumul muzicii mic</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Ex.: muzica la 20%, foehnul se aude</a:t>
            </a:r>
            <a:endParaRPr lang="en-US" sz="1600" dirty="0"/>
          </a:p>
        </p:txBody>
      </p:sp>
      <p:sp>
        <p:nvSpPr>
          <p:cNvPr id="23" name="card-880"/>
          <p:cNvSpPr/>
          <p:nvPr/>
        </p:nvSpPr>
        <p:spPr>
          <a:xfrm>
            <a:off x="6278728" y="1572768"/>
            <a:ext cx="5364328" cy="2002536"/>
          </a:xfrm>
          <a:prstGeom prst="roundRect">
            <a:avLst>
              <a:gd name="adj" fmla="val 4566"/>
            </a:avLst>
          </a:prstGeom>
          <a:solidFill>
            <a:srgbClr val="F4EFFA"/>
          </a:solidFill>
          <a:ln w="12700">
            <a:solidFill>
              <a:srgbClr val="DBCDEF"/>
            </a:solidFill>
            <a:prstDash val="solid"/>
          </a:ln>
        </p:spPr>
      </p:sp>
      <p:sp>
        <p:nvSpPr>
          <p:cNvPr id="24" name="iconbg-881"/>
          <p:cNvSpPr/>
          <p:nvPr/>
        </p:nvSpPr>
        <p:spPr>
          <a:xfrm>
            <a:off x="6425032" y="1719072"/>
            <a:ext cx="457200" cy="457200"/>
          </a:xfrm>
          <a:prstGeom prst="ellipse">
            <a:avLst/>
          </a:prstGeom>
          <a:solidFill>
            <a:srgbClr val="5B1BB5"/>
          </a:solidFill>
          <a:ln w="12700">
            <a:solidFill>
              <a:srgbClr val="5B1BB5"/>
            </a:solidFill>
            <a:prstDash val="solid"/>
          </a:ln>
        </p:spPr>
      </p:sp>
      <p:pic>
        <p:nvPicPr>
          <p:cNvPr id="25" name="icon-882" descr="preencoded.png">    </p:cNvPr>
          <p:cNvPicPr>
            <a:picLocks noChangeAspect="1"/>
          </p:cNvPicPr>
          <p:nvPr/>
        </p:nvPicPr>
        <p:blipFill>
          <a:blip r:embed="rId12"/>
          <a:stretch>
            <a:fillRect/>
          </a:stretch>
        </p:blipFill>
        <p:spPr>
          <a:xfrm>
            <a:off x="6525616" y="1819656"/>
            <a:ext cx="256032" cy="256032"/>
          </a:xfrm>
          <a:prstGeom prst="rect">
            <a:avLst/>
          </a:prstGeom>
        </p:spPr>
      </p:pic>
      <p:sp>
        <p:nvSpPr>
          <p:cNvPr id="26" name="text-883"/>
          <p:cNvSpPr txBox="1"/>
          <p:nvPr/>
        </p:nvSpPr>
        <p:spPr>
          <a:xfrm>
            <a:off x="7046824" y="1700784"/>
            <a:ext cx="4449928" cy="1746504"/>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6. Tranziții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Unde apeși: Pătrățelul dintre două clipuri → alegi tranziția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Ex.: o singură tranziție, la reveal</a:t>
            </a:r>
            <a:endParaRPr lang="en-US" sz="1600" dirty="0"/>
          </a:p>
        </p:txBody>
      </p:sp>
      <p:sp>
        <p:nvSpPr>
          <p:cNvPr id="27" name="note-884"/>
          <p:cNvSpPr/>
          <p:nvPr/>
        </p:nvSpPr>
        <p:spPr>
          <a:xfrm>
            <a:off x="6278728" y="3703320"/>
            <a:ext cx="5364328" cy="1533144"/>
          </a:xfrm>
          <a:prstGeom prst="roundRect">
            <a:avLst>
              <a:gd name="adj" fmla="val 5964"/>
            </a:avLst>
          </a:prstGeom>
          <a:solidFill>
            <a:srgbClr val="FFFFFF"/>
          </a:solidFill>
          <a:ln w="19050">
            <a:solidFill>
              <a:srgbClr val="5B1BB5"/>
            </a:solidFill>
            <a:prstDash val="dash"/>
          </a:ln>
        </p:spPr>
      </p:sp>
      <p:pic>
        <p:nvPicPr>
          <p:cNvPr id="28" name="noteicon-885" descr="preencoded.png">    </p:cNvPr>
          <p:cNvPicPr>
            <a:picLocks noChangeAspect="1"/>
          </p:cNvPicPr>
          <p:nvPr/>
        </p:nvPicPr>
        <p:blipFill>
          <a:blip r:embed="rId13"/>
          <a:stretch>
            <a:fillRect/>
          </a:stretch>
        </p:blipFill>
        <p:spPr>
          <a:xfrm>
            <a:off x="6415888" y="4296156"/>
            <a:ext cx="347472" cy="347472"/>
          </a:xfrm>
          <a:prstGeom prst="rect">
            <a:avLst/>
          </a:prstGeom>
        </p:spPr>
      </p:pic>
      <p:sp>
        <p:nvSpPr>
          <p:cNvPr id="29" name="text-886"/>
          <p:cNvSpPr txBox="1"/>
          <p:nvPr/>
        </p:nvSpPr>
        <p:spPr>
          <a:xfrm>
            <a:off x="6873088" y="3794760"/>
            <a:ext cx="4632808" cy="1350264"/>
          </a:xfrm>
          <a:prstGeom prst="rect">
            <a:avLst/>
          </a:prstGeom>
          <a:noFill/>
          <a:ln/>
        </p:spPr>
        <p:txBody>
          <a:bodyPr wrap="square" lIns="0" tIns="0" rIns="0" bIns="0" rtlCol="0" anchor="ctr"/>
          <a:lstStyle/>
          <a:p>
            <a:pPr indent="0" marL="0">
              <a:buNone/>
            </a:pPr>
            <a:r>
              <a:rPr lang="en-US" sz="2100" b="1" dirty="0">
                <a:solidFill>
                  <a:srgbClr val="111111"/>
                </a:solidFill>
                <a:latin typeface="Arial" pitchFamily="34" charset="0"/>
                <a:ea typeface="Arial" pitchFamily="34" charset="-122"/>
                <a:cs typeface="Arial" pitchFamily="34" charset="-120"/>
              </a:rPr>
              <a:t>Denumirile meniurilor pot varia după versiune și limbă. Tutoriale oficiale: capcut.com (linkuri în note).</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watermark-887"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888" descr="CapCut">    </p:cNvPr>
          <p:cNvPicPr>
            <a:picLocks noChangeAspect="1"/>
          </p:cNvPicPr>
          <p:nvPr/>
        </p:nvPicPr>
        <p:blipFill>
          <a:blip r:embed="rId2"/>
          <a:stretch>
            <a:fillRect/>
          </a:stretch>
        </p:blipFill>
        <p:spPr>
          <a:xfrm>
            <a:off x="548640" y="329184"/>
            <a:ext cx="384048" cy="384048"/>
          </a:xfrm>
          <a:prstGeom prst="rect">
            <a:avLst/>
          </a:prstGeom>
        </p:spPr>
      </p:pic>
      <p:sp>
        <p:nvSpPr>
          <p:cNvPr id="4" name="text-889"/>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5B1BB5"/>
                </a:solidFill>
                <a:latin typeface="Arial" pitchFamily="34" charset="0"/>
                <a:ea typeface="Arial" pitchFamily="34" charset="-122"/>
                <a:cs typeface="Arial" pitchFamily="34" charset="-120"/>
              </a:rPr>
              <a:t>EDITARE VIDEO · CAPCUT</a:t>
            </a:r>
            <a:endParaRPr lang="en-US" sz="1500" dirty="0"/>
          </a:p>
        </p:txBody>
      </p:sp>
      <p:sp>
        <p:nvSpPr>
          <p:cNvPr id="5" name="text-890"/>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CapCut, pașii 7–9: text, subtitrări, voce</a:t>
            </a:r>
            <a:endParaRPr lang="en-US" sz="3200" dirty="0"/>
          </a:p>
        </p:txBody>
      </p:sp>
      <p:sp>
        <p:nvSpPr>
          <p:cNvPr id="6" name="nav-891">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892">
            <a:hlinkClick r:id="rId4" tooltip="CapCut" action="ppaction://hlinksldjump"/>
          </p:cNvPr>
          <p:cNvSpPr/>
          <p:nvPr/>
        </p:nvSpPr>
        <p:spPr>
          <a:xfrm>
            <a:off x="9750247" y="365760"/>
            <a:ext cx="786384" cy="310896"/>
          </a:xfrm>
          <a:prstGeom prst="roundRect">
            <a:avLst>
              <a:gd name="adj" fmla="val 50000"/>
            </a:avLst>
          </a:prstGeom>
          <a:solidFill>
            <a:srgbClr val="5B1BB5"/>
          </a:solidFill>
          <a:ln w="12700">
            <a:solidFill>
              <a:srgbClr val="5B1BB5"/>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893">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894">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895">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896">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897"/>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898"/>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5B1BB5"/>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899"/>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31</a:t>
            </a:r>
            <a:endParaRPr lang="en-US" sz="1000" dirty="0"/>
          </a:p>
        </p:txBody>
      </p:sp>
      <p:sp>
        <p:nvSpPr>
          <p:cNvPr id="15" name="card-900"/>
          <p:cNvSpPr/>
          <p:nvPr/>
        </p:nvSpPr>
        <p:spPr>
          <a:xfrm>
            <a:off x="548640" y="1572768"/>
            <a:ext cx="5364328" cy="2002536"/>
          </a:xfrm>
          <a:prstGeom prst="roundRect">
            <a:avLst>
              <a:gd name="adj" fmla="val 4566"/>
            </a:avLst>
          </a:prstGeom>
          <a:solidFill>
            <a:srgbClr val="F4EFFA"/>
          </a:solidFill>
          <a:ln w="12700">
            <a:solidFill>
              <a:srgbClr val="DBCDEF"/>
            </a:solidFill>
            <a:prstDash val="solid"/>
          </a:ln>
        </p:spPr>
      </p:sp>
      <p:sp>
        <p:nvSpPr>
          <p:cNvPr id="16" name="iconbg-901"/>
          <p:cNvSpPr/>
          <p:nvPr/>
        </p:nvSpPr>
        <p:spPr>
          <a:xfrm>
            <a:off x="694944" y="1719072"/>
            <a:ext cx="457200" cy="457200"/>
          </a:xfrm>
          <a:prstGeom prst="ellipse">
            <a:avLst/>
          </a:prstGeom>
          <a:solidFill>
            <a:srgbClr val="5B1BB5"/>
          </a:solidFill>
          <a:ln w="12700">
            <a:solidFill>
              <a:srgbClr val="5B1BB5"/>
            </a:solidFill>
            <a:prstDash val="solid"/>
          </a:ln>
        </p:spPr>
      </p:sp>
      <p:pic>
        <p:nvPicPr>
          <p:cNvPr id="17" name="icon-902"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903"/>
          <p:cNvSpPr txBox="1"/>
          <p:nvPr/>
        </p:nvSpPr>
        <p:spPr>
          <a:xfrm>
            <a:off x="1316736" y="1700784"/>
            <a:ext cx="4449928" cy="1746504"/>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7. Text</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Unde apeși: Text → Adaugă text → font, culoare, durată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Ex.: „Blond rece, fără galben” în prima secundă</a:t>
            </a:r>
            <a:endParaRPr lang="en-US" sz="1600" dirty="0"/>
          </a:p>
        </p:txBody>
      </p:sp>
      <p:sp>
        <p:nvSpPr>
          <p:cNvPr id="19" name="card-904"/>
          <p:cNvSpPr/>
          <p:nvPr/>
        </p:nvSpPr>
        <p:spPr>
          <a:xfrm>
            <a:off x="548640" y="3703320"/>
            <a:ext cx="5364328" cy="2002536"/>
          </a:xfrm>
          <a:prstGeom prst="roundRect">
            <a:avLst>
              <a:gd name="adj" fmla="val 4566"/>
            </a:avLst>
          </a:prstGeom>
          <a:solidFill>
            <a:srgbClr val="F4EFFA"/>
          </a:solidFill>
          <a:ln w="12700">
            <a:solidFill>
              <a:srgbClr val="DBCDEF"/>
            </a:solidFill>
            <a:prstDash val="solid"/>
          </a:ln>
        </p:spPr>
      </p:sp>
      <p:sp>
        <p:nvSpPr>
          <p:cNvPr id="20" name="iconbg-905"/>
          <p:cNvSpPr/>
          <p:nvPr/>
        </p:nvSpPr>
        <p:spPr>
          <a:xfrm>
            <a:off x="694944" y="3849624"/>
            <a:ext cx="457200" cy="457200"/>
          </a:xfrm>
          <a:prstGeom prst="ellipse">
            <a:avLst/>
          </a:prstGeom>
          <a:solidFill>
            <a:srgbClr val="5B1BB5"/>
          </a:solidFill>
          <a:ln w="12700">
            <a:solidFill>
              <a:srgbClr val="5B1BB5"/>
            </a:solidFill>
            <a:prstDash val="solid"/>
          </a:ln>
        </p:spPr>
      </p:sp>
      <p:pic>
        <p:nvPicPr>
          <p:cNvPr id="21" name="icon-906" descr="preencoded.png">    </p:cNvPr>
          <p:cNvPicPr>
            <a:picLocks noChangeAspect="1"/>
          </p:cNvPicPr>
          <p:nvPr/>
        </p:nvPicPr>
        <p:blipFill>
          <a:blip r:embed="rId11"/>
          <a:stretch>
            <a:fillRect/>
          </a:stretch>
        </p:blipFill>
        <p:spPr>
          <a:xfrm>
            <a:off x="795528" y="3950208"/>
            <a:ext cx="256032" cy="256032"/>
          </a:xfrm>
          <a:prstGeom prst="rect">
            <a:avLst/>
          </a:prstGeom>
        </p:spPr>
      </p:pic>
      <p:sp>
        <p:nvSpPr>
          <p:cNvPr id="22" name="text-907"/>
          <p:cNvSpPr txBox="1"/>
          <p:nvPr/>
        </p:nvSpPr>
        <p:spPr>
          <a:xfrm>
            <a:off x="1316736" y="3831336"/>
            <a:ext cx="4449928" cy="1746504"/>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8. Subtitrări automate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Unde apeși: Subtitrări → automat → română → corectezi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Ex.: verifici „balayage”, „AirTouch”</a:t>
            </a:r>
            <a:endParaRPr lang="en-US" sz="1600" dirty="0"/>
          </a:p>
        </p:txBody>
      </p:sp>
      <p:sp>
        <p:nvSpPr>
          <p:cNvPr id="23" name="card-908"/>
          <p:cNvSpPr/>
          <p:nvPr/>
        </p:nvSpPr>
        <p:spPr>
          <a:xfrm>
            <a:off x="6278728" y="1572768"/>
            <a:ext cx="5364328" cy="2002536"/>
          </a:xfrm>
          <a:prstGeom prst="roundRect">
            <a:avLst>
              <a:gd name="adj" fmla="val 4566"/>
            </a:avLst>
          </a:prstGeom>
          <a:solidFill>
            <a:srgbClr val="F4EFFA"/>
          </a:solidFill>
          <a:ln w="12700">
            <a:solidFill>
              <a:srgbClr val="DBCDEF"/>
            </a:solidFill>
            <a:prstDash val="solid"/>
          </a:ln>
        </p:spPr>
      </p:sp>
      <p:sp>
        <p:nvSpPr>
          <p:cNvPr id="24" name="iconbg-909"/>
          <p:cNvSpPr/>
          <p:nvPr/>
        </p:nvSpPr>
        <p:spPr>
          <a:xfrm>
            <a:off x="6425032" y="1719072"/>
            <a:ext cx="457200" cy="457200"/>
          </a:xfrm>
          <a:prstGeom prst="ellipse">
            <a:avLst/>
          </a:prstGeom>
          <a:solidFill>
            <a:srgbClr val="5B1BB5"/>
          </a:solidFill>
          <a:ln w="12700">
            <a:solidFill>
              <a:srgbClr val="5B1BB5"/>
            </a:solidFill>
            <a:prstDash val="solid"/>
          </a:ln>
        </p:spPr>
      </p:sp>
      <p:pic>
        <p:nvPicPr>
          <p:cNvPr id="25" name="icon-910" descr="preencoded.png">    </p:cNvPr>
          <p:cNvPicPr>
            <a:picLocks noChangeAspect="1"/>
          </p:cNvPicPr>
          <p:nvPr/>
        </p:nvPicPr>
        <p:blipFill>
          <a:blip r:embed="rId12"/>
          <a:stretch>
            <a:fillRect/>
          </a:stretch>
        </p:blipFill>
        <p:spPr>
          <a:xfrm>
            <a:off x="6525616" y="1819656"/>
            <a:ext cx="256032" cy="256032"/>
          </a:xfrm>
          <a:prstGeom prst="rect">
            <a:avLst/>
          </a:prstGeom>
        </p:spPr>
      </p:pic>
      <p:sp>
        <p:nvSpPr>
          <p:cNvPr id="26" name="text-911"/>
          <p:cNvSpPr txBox="1"/>
          <p:nvPr/>
        </p:nvSpPr>
        <p:spPr>
          <a:xfrm>
            <a:off x="7046824" y="1700784"/>
            <a:ext cx="4449928" cy="1746504"/>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9. Vocea ta peste video</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Unde apeși: Audio → înregistrare → vorbești cât rulează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Ex.: „Am lăsat rădăcina naturală…”</a:t>
            </a:r>
            <a:endParaRPr lang="en-US" sz="1600" dirty="0"/>
          </a:p>
        </p:txBody>
      </p:sp>
      <p:sp>
        <p:nvSpPr>
          <p:cNvPr id="27" name="note-912"/>
          <p:cNvSpPr/>
          <p:nvPr/>
        </p:nvSpPr>
        <p:spPr>
          <a:xfrm>
            <a:off x="6278728" y="3703320"/>
            <a:ext cx="5364328" cy="1533144"/>
          </a:xfrm>
          <a:prstGeom prst="roundRect">
            <a:avLst>
              <a:gd name="adj" fmla="val 5964"/>
            </a:avLst>
          </a:prstGeom>
          <a:solidFill>
            <a:srgbClr val="FFFFFF"/>
          </a:solidFill>
          <a:ln w="19050">
            <a:solidFill>
              <a:srgbClr val="5B1BB5"/>
            </a:solidFill>
            <a:prstDash val="dash"/>
          </a:ln>
        </p:spPr>
      </p:sp>
      <p:pic>
        <p:nvPicPr>
          <p:cNvPr id="28" name="noteicon-913" descr="preencoded.png">    </p:cNvPr>
          <p:cNvPicPr>
            <a:picLocks noChangeAspect="1"/>
          </p:cNvPicPr>
          <p:nvPr/>
        </p:nvPicPr>
        <p:blipFill>
          <a:blip r:embed="rId13"/>
          <a:stretch>
            <a:fillRect/>
          </a:stretch>
        </p:blipFill>
        <p:spPr>
          <a:xfrm>
            <a:off x="6415888" y="4296156"/>
            <a:ext cx="347472" cy="347472"/>
          </a:xfrm>
          <a:prstGeom prst="rect">
            <a:avLst/>
          </a:prstGeom>
        </p:spPr>
      </p:pic>
      <p:sp>
        <p:nvSpPr>
          <p:cNvPr id="29" name="text-914"/>
          <p:cNvSpPr txBox="1"/>
          <p:nvPr/>
        </p:nvSpPr>
        <p:spPr>
          <a:xfrm>
            <a:off x="6873088" y="3794760"/>
            <a:ext cx="4632808" cy="1350264"/>
          </a:xfrm>
          <a:prstGeom prst="rect">
            <a:avLst/>
          </a:prstGeom>
          <a:noFill/>
          <a:ln/>
        </p:spPr>
        <p:txBody>
          <a:bodyPr wrap="square" lIns="0" tIns="0" rIns="0" bIns="0" rtlCol="0" anchor="ctr"/>
          <a:lstStyle/>
          <a:p>
            <a:pPr indent="0" marL="0">
              <a:buNone/>
            </a:pPr>
            <a:r>
              <a:rPr lang="en-US" sz="2100" b="1" dirty="0">
                <a:solidFill>
                  <a:srgbClr val="111111"/>
                </a:solidFill>
                <a:latin typeface="Arial" pitchFamily="34" charset="0"/>
                <a:ea typeface="Arial" pitchFamily="34" charset="-122"/>
                <a:cs typeface="Arial" pitchFamily="34" charset="-120"/>
              </a:rPr>
              <a:t>Denumirile meniurilor pot varia după versiune și limbă. Tutoriale oficiale: capcut.com (linkuri în note).</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watermark-915"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916" descr="CapCut">    </p:cNvPr>
          <p:cNvPicPr>
            <a:picLocks noChangeAspect="1"/>
          </p:cNvPicPr>
          <p:nvPr/>
        </p:nvPicPr>
        <p:blipFill>
          <a:blip r:embed="rId2"/>
          <a:stretch>
            <a:fillRect/>
          </a:stretch>
        </p:blipFill>
        <p:spPr>
          <a:xfrm>
            <a:off x="548640" y="329184"/>
            <a:ext cx="384048" cy="384048"/>
          </a:xfrm>
          <a:prstGeom prst="rect">
            <a:avLst/>
          </a:prstGeom>
        </p:spPr>
      </p:pic>
      <p:sp>
        <p:nvSpPr>
          <p:cNvPr id="4" name="text-917"/>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5B1BB5"/>
                </a:solidFill>
                <a:latin typeface="Arial" pitchFamily="34" charset="0"/>
                <a:ea typeface="Arial" pitchFamily="34" charset="-122"/>
                <a:cs typeface="Arial" pitchFamily="34" charset="-120"/>
              </a:rPr>
              <a:t>EDITARE VIDEO · CAPCUT</a:t>
            </a:r>
            <a:endParaRPr lang="en-US" sz="1500" dirty="0"/>
          </a:p>
        </p:txBody>
      </p:sp>
      <p:sp>
        <p:nvSpPr>
          <p:cNvPr id="5" name="text-918"/>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CapCut, pașii 10–12: stil, șabloane, export</a:t>
            </a:r>
            <a:endParaRPr lang="en-US" sz="3200" dirty="0"/>
          </a:p>
        </p:txBody>
      </p:sp>
      <p:sp>
        <p:nvSpPr>
          <p:cNvPr id="6" name="nav-919">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920">
            <a:hlinkClick r:id="rId4" tooltip="CapCut" action="ppaction://hlinksldjump"/>
          </p:cNvPr>
          <p:cNvSpPr/>
          <p:nvPr/>
        </p:nvSpPr>
        <p:spPr>
          <a:xfrm>
            <a:off x="9750247" y="365760"/>
            <a:ext cx="786384" cy="310896"/>
          </a:xfrm>
          <a:prstGeom prst="roundRect">
            <a:avLst>
              <a:gd name="adj" fmla="val 50000"/>
            </a:avLst>
          </a:prstGeom>
          <a:solidFill>
            <a:srgbClr val="5B1BB5"/>
          </a:solidFill>
          <a:ln w="12700">
            <a:solidFill>
              <a:srgbClr val="5B1BB5"/>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921">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922">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923">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924">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925"/>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926"/>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5B1BB5"/>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927"/>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32</a:t>
            </a:r>
            <a:endParaRPr lang="en-US" sz="1000" dirty="0"/>
          </a:p>
        </p:txBody>
      </p:sp>
      <p:sp>
        <p:nvSpPr>
          <p:cNvPr id="15" name="card-928"/>
          <p:cNvSpPr/>
          <p:nvPr/>
        </p:nvSpPr>
        <p:spPr>
          <a:xfrm>
            <a:off x="548640" y="1572768"/>
            <a:ext cx="5364328" cy="2227326"/>
          </a:xfrm>
          <a:prstGeom prst="roundRect">
            <a:avLst>
              <a:gd name="adj" fmla="val 4105"/>
            </a:avLst>
          </a:prstGeom>
          <a:solidFill>
            <a:srgbClr val="F4EFFA"/>
          </a:solidFill>
          <a:ln w="12700">
            <a:solidFill>
              <a:srgbClr val="DBCDEF"/>
            </a:solidFill>
            <a:prstDash val="solid"/>
          </a:ln>
        </p:spPr>
      </p:sp>
      <p:sp>
        <p:nvSpPr>
          <p:cNvPr id="16" name="iconbg-929"/>
          <p:cNvSpPr/>
          <p:nvPr/>
        </p:nvSpPr>
        <p:spPr>
          <a:xfrm>
            <a:off x="694944" y="1719072"/>
            <a:ext cx="457200" cy="457200"/>
          </a:xfrm>
          <a:prstGeom prst="ellipse">
            <a:avLst/>
          </a:prstGeom>
          <a:solidFill>
            <a:srgbClr val="5B1BB5"/>
          </a:solidFill>
          <a:ln w="12700">
            <a:solidFill>
              <a:srgbClr val="5B1BB5"/>
            </a:solidFill>
            <a:prstDash val="solid"/>
          </a:ln>
        </p:spPr>
      </p:sp>
      <p:pic>
        <p:nvPicPr>
          <p:cNvPr id="17" name="icon-930"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931"/>
          <p:cNvSpPr txBox="1"/>
          <p:nvPr/>
        </p:nvSpPr>
        <p:spPr>
          <a:xfrm>
            <a:off x="1316736" y="1700784"/>
            <a:ext cx="4449928" cy="1971294"/>
          </a:xfrm>
          <a:prstGeom prst="rect">
            <a:avLst/>
          </a:prstGeom>
          <a:noFill/>
          <a:ln/>
        </p:spPr>
        <p:txBody>
          <a:bodyPr wrap="square" lIns="0" tIns="0" rIns="0" bIns="0" rtlCol="0" anchor="t"/>
          <a:lstStyle/>
          <a:p>
            <a:pPr indent="0" marL="0">
              <a:spcAft>
                <a:spcPts val="200"/>
              </a:spcAft>
              <a:buNone/>
            </a:pPr>
            <a:r>
              <a:rPr lang="en-US" sz="2300" b="1" dirty="0">
                <a:solidFill>
                  <a:srgbClr val="5B1BB5"/>
                </a:solidFill>
                <a:latin typeface="Arial" pitchFamily="34" charset="0"/>
                <a:ea typeface="Arial" pitchFamily="34" charset="-122"/>
                <a:cs typeface="Arial" pitchFamily="34" charset="-120"/>
              </a:rPr>
              <a:t>10. Editare personalizată</a:t>
            </a:r>
            <a:endParaRPr lang="en-US" sz="1600" dirty="0"/>
          </a:p>
          <a:p>
            <a:pPr indent="0" marL="0">
              <a:spcAft>
                <a:spcPts val="200"/>
              </a:spcAft>
              <a:buNone/>
            </a:pPr>
            <a:r>
              <a:rPr lang="en-US" sz="2000" dirty="0">
                <a:solidFill>
                  <a:srgbClr val="3D3D3D"/>
                </a:solidFill>
                <a:latin typeface="Arial" pitchFamily="34" charset="0"/>
                <a:ea typeface="Arial" pitchFamily="34" charset="-122"/>
                <a:cs typeface="Arial" pitchFamily="34" charset="-120"/>
              </a:rPr>
              <a:t>Unde apeși: Același font, aceleași 2 culori, același stil de tăiere</a:t>
            </a:r>
            <a:endParaRPr lang="en-US" sz="1600" dirty="0"/>
          </a:p>
          <a:p>
            <a:pPr indent="0" marL="0">
              <a:spcAft>
                <a:spcPts val="200"/>
              </a:spcAft>
              <a:buNone/>
            </a:pPr>
            <a:r>
              <a:rPr lang="en-US" sz="2000" dirty="0">
                <a:solidFill>
                  <a:srgbClr val="3D3D3D"/>
                </a:solidFill>
                <a:latin typeface="Arial" pitchFamily="34" charset="0"/>
                <a:ea typeface="Arial" pitchFamily="34" charset="-122"/>
                <a:cs typeface="Arial" pitchFamily="34" charset="-120"/>
              </a:rPr>
              <a:t>Ex.: text alb pe bandă neagră, mereu</a:t>
            </a:r>
            <a:endParaRPr lang="en-US" sz="1600" dirty="0"/>
          </a:p>
        </p:txBody>
      </p:sp>
      <p:sp>
        <p:nvSpPr>
          <p:cNvPr id="19" name="card-932"/>
          <p:cNvSpPr/>
          <p:nvPr/>
        </p:nvSpPr>
        <p:spPr>
          <a:xfrm>
            <a:off x="548640" y="3928110"/>
            <a:ext cx="5364328" cy="1627886"/>
          </a:xfrm>
          <a:prstGeom prst="roundRect">
            <a:avLst>
              <a:gd name="adj" fmla="val 5617"/>
            </a:avLst>
          </a:prstGeom>
          <a:solidFill>
            <a:srgbClr val="F4EFFA"/>
          </a:solidFill>
          <a:ln w="12700">
            <a:solidFill>
              <a:srgbClr val="DBCDEF"/>
            </a:solidFill>
            <a:prstDash val="solid"/>
          </a:ln>
        </p:spPr>
      </p:sp>
      <p:sp>
        <p:nvSpPr>
          <p:cNvPr id="20" name="iconbg-933"/>
          <p:cNvSpPr/>
          <p:nvPr/>
        </p:nvSpPr>
        <p:spPr>
          <a:xfrm>
            <a:off x="694944" y="4074414"/>
            <a:ext cx="457200" cy="457200"/>
          </a:xfrm>
          <a:prstGeom prst="ellipse">
            <a:avLst/>
          </a:prstGeom>
          <a:solidFill>
            <a:srgbClr val="5B1BB5"/>
          </a:solidFill>
          <a:ln w="12700">
            <a:solidFill>
              <a:srgbClr val="5B1BB5"/>
            </a:solidFill>
            <a:prstDash val="solid"/>
          </a:ln>
        </p:spPr>
      </p:sp>
      <p:pic>
        <p:nvPicPr>
          <p:cNvPr id="21" name="icon-934" descr="preencoded.png">    </p:cNvPr>
          <p:cNvPicPr>
            <a:picLocks noChangeAspect="1"/>
          </p:cNvPicPr>
          <p:nvPr/>
        </p:nvPicPr>
        <p:blipFill>
          <a:blip r:embed="rId11"/>
          <a:stretch>
            <a:fillRect/>
          </a:stretch>
        </p:blipFill>
        <p:spPr>
          <a:xfrm>
            <a:off x="795528" y="4174998"/>
            <a:ext cx="256032" cy="256032"/>
          </a:xfrm>
          <a:prstGeom prst="rect">
            <a:avLst/>
          </a:prstGeom>
        </p:spPr>
      </p:pic>
      <p:sp>
        <p:nvSpPr>
          <p:cNvPr id="22" name="text-935"/>
          <p:cNvSpPr txBox="1"/>
          <p:nvPr/>
        </p:nvSpPr>
        <p:spPr>
          <a:xfrm>
            <a:off x="1316736" y="4056126"/>
            <a:ext cx="4449928" cy="1371854"/>
          </a:xfrm>
          <a:prstGeom prst="rect">
            <a:avLst/>
          </a:prstGeom>
          <a:noFill/>
          <a:ln/>
        </p:spPr>
        <p:txBody>
          <a:bodyPr wrap="square" lIns="0" tIns="0" rIns="0" bIns="0" rtlCol="0" anchor="t"/>
          <a:lstStyle/>
          <a:p>
            <a:pPr indent="0" marL="0">
              <a:spcAft>
                <a:spcPts val="200"/>
              </a:spcAft>
              <a:buNone/>
            </a:pPr>
            <a:r>
              <a:rPr lang="en-US" sz="2300" b="1" dirty="0">
                <a:solidFill>
                  <a:srgbClr val="5B1BB5"/>
                </a:solidFill>
                <a:latin typeface="Arial" pitchFamily="34" charset="0"/>
                <a:ea typeface="Arial" pitchFamily="34" charset="-122"/>
                <a:cs typeface="Arial" pitchFamily="34" charset="-120"/>
              </a:rPr>
              <a:t>11. Șabloane</a:t>
            </a:r>
            <a:endParaRPr lang="en-US" sz="1600" dirty="0"/>
          </a:p>
          <a:p>
            <a:pPr indent="0" marL="0">
              <a:spcAft>
                <a:spcPts val="200"/>
              </a:spcAft>
              <a:buNone/>
            </a:pPr>
            <a:r>
              <a:rPr lang="en-US" sz="2000" dirty="0">
                <a:solidFill>
                  <a:srgbClr val="3D3D3D"/>
                </a:solidFill>
                <a:latin typeface="Arial" pitchFamily="34" charset="0"/>
                <a:ea typeface="Arial" pitchFamily="34" charset="-122"/>
                <a:cs typeface="Arial" pitchFamily="34" charset="-120"/>
              </a:rPr>
              <a:t>Unde apeși: Șabloane → cauți „before after” → pui clipurile tale</a:t>
            </a:r>
            <a:endParaRPr lang="en-US" sz="1600" dirty="0"/>
          </a:p>
          <a:p>
            <a:pPr indent="0" marL="0">
              <a:spcAft>
                <a:spcPts val="200"/>
              </a:spcAft>
              <a:buNone/>
            </a:pPr>
            <a:r>
              <a:rPr lang="en-US" sz="2000" dirty="0">
                <a:solidFill>
                  <a:srgbClr val="3D3D3D"/>
                </a:solidFill>
                <a:latin typeface="Arial" pitchFamily="34" charset="0"/>
                <a:ea typeface="Arial" pitchFamily="34" charset="-122"/>
                <a:cs typeface="Arial" pitchFamily="34" charset="-120"/>
              </a:rPr>
              <a:t>Ex.: un șablon cu ritm gata făcut</a:t>
            </a:r>
            <a:endParaRPr lang="en-US" sz="1600" dirty="0"/>
          </a:p>
        </p:txBody>
      </p:sp>
      <p:sp>
        <p:nvSpPr>
          <p:cNvPr id="23" name="card-936"/>
          <p:cNvSpPr/>
          <p:nvPr/>
        </p:nvSpPr>
        <p:spPr>
          <a:xfrm>
            <a:off x="6278728" y="1572768"/>
            <a:ext cx="5364328" cy="1927606"/>
          </a:xfrm>
          <a:prstGeom prst="roundRect">
            <a:avLst>
              <a:gd name="adj" fmla="val 4744"/>
            </a:avLst>
          </a:prstGeom>
          <a:solidFill>
            <a:srgbClr val="F4EFFA"/>
          </a:solidFill>
          <a:ln w="12700">
            <a:solidFill>
              <a:srgbClr val="DBCDEF"/>
            </a:solidFill>
            <a:prstDash val="solid"/>
          </a:ln>
        </p:spPr>
      </p:sp>
      <p:sp>
        <p:nvSpPr>
          <p:cNvPr id="24" name="iconbg-937"/>
          <p:cNvSpPr/>
          <p:nvPr/>
        </p:nvSpPr>
        <p:spPr>
          <a:xfrm>
            <a:off x="6425032" y="1719072"/>
            <a:ext cx="457200" cy="457200"/>
          </a:xfrm>
          <a:prstGeom prst="ellipse">
            <a:avLst/>
          </a:prstGeom>
          <a:solidFill>
            <a:srgbClr val="5B1BB5"/>
          </a:solidFill>
          <a:ln w="12700">
            <a:solidFill>
              <a:srgbClr val="5B1BB5"/>
            </a:solidFill>
            <a:prstDash val="solid"/>
          </a:ln>
        </p:spPr>
      </p:sp>
      <p:pic>
        <p:nvPicPr>
          <p:cNvPr id="25" name="icon-938" descr="preencoded.png">    </p:cNvPr>
          <p:cNvPicPr>
            <a:picLocks noChangeAspect="1"/>
          </p:cNvPicPr>
          <p:nvPr/>
        </p:nvPicPr>
        <p:blipFill>
          <a:blip r:embed="rId12"/>
          <a:stretch>
            <a:fillRect/>
          </a:stretch>
        </p:blipFill>
        <p:spPr>
          <a:xfrm>
            <a:off x="6525616" y="1819656"/>
            <a:ext cx="256032" cy="256032"/>
          </a:xfrm>
          <a:prstGeom prst="rect">
            <a:avLst/>
          </a:prstGeom>
        </p:spPr>
      </p:pic>
      <p:sp>
        <p:nvSpPr>
          <p:cNvPr id="26" name="text-939"/>
          <p:cNvSpPr txBox="1"/>
          <p:nvPr/>
        </p:nvSpPr>
        <p:spPr>
          <a:xfrm>
            <a:off x="7046824" y="1700784"/>
            <a:ext cx="4449928" cy="1671574"/>
          </a:xfrm>
          <a:prstGeom prst="rect">
            <a:avLst/>
          </a:prstGeom>
          <a:noFill/>
          <a:ln/>
        </p:spPr>
        <p:txBody>
          <a:bodyPr wrap="square" lIns="0" tIns="0" rIns="0" bIns="0" rtlCol="0" anchor="t"/>
          <a:lstStyle/>
          <a:p>
            <a:pPr indent="0" marL="0">
              <a:spcAft>
                <a:spcPts val="200"/>
              </a:spcAft>
              <a:buNone/>
            </a:pPr>
            <a:r>
              <a:rPr lang="en-US" sz="2300" b="1" dirty="0">
                <a:solidFill>
                  <a:srgbClr val="5B1BB5"/>
                </a:solidFill>
                <a:latin typeface="Arial" pitchFamily="34" charset="0"/>
                <a:ea typeface="Arial" pitchFamily="34" charset="-122"/>
                <a:cs typeface="Arial" pitchFamily="34" charset="-120"/>
              </a:rPr>
              <a:t>12. Export</a:t>
            </a:r>
            <a:endParaRPr lang="en-US" sz="1600" dirty="0"/>
          </a:p>
          <a:p>
            <a:pPr indent="0" marL="0">
              <a:spcAft>
                <a:spcPts val="200"/>
              </a:spcAft>
              <a:buNone/>
            </a:pPr>
            <a:r>
              <a:rPr lang="en-US" sz="2000" dirty="0">
                <a:solidFill>
                  <a:srgbClr val="3D3D3D"/>
                </a:solidFill>
                <a:latin typeface="Arial" pitchFamily="34" charset="0"/>
                <a:ea typeface="Arial" pitchFamily="34" charset="-122"/>
                <a:cs typeface="Arial" pitchFamily="34" charset="-120"/>
              </a:rPr>
              <a:t>Unde apeși: 1080p · 30 fps · 9:16 → Export → publici</a:t>
            </a:r>
            <a:endParaRPr lang="en-US" sz="1600" dirty="0"/>
          </a:p>
          <a:p>
            <a:pPr indent="0" marL="0">
              <a:spcAft>
                <a:spcPts val="200"/>
              </a:spcAft>
              <a:buNone/>
            </a:pPr>
            <a:r>
              <a:rPr lang="en-US" sz="2000" dirty="0">
                <a:solidFill>
                  <a:srgbClr val="3D3D3D"/>
                </a:solidFill>
                <a:latin typeface="Arial" pitchFamily="34" charset="0"/>
                <a:ea typeface="Arial" pitchFamily="34" charset="-122"/>
                <a:cs typeface="Arial" pitchFamily="34" charset="-120"/>
              </a:rPr>
              <a:t>Ex.: același fișier pentru Instagram, Facebook, TikTok</a:t>
            </a:r>
            <a:endParaRPr lang="en-US" sz="1600" dirty="0"/>
          </a:p>
        </p:txBody>
      </p:sp>
      <p:sp>
        <p:nvSpPr>
          <p:cNvPr id="27" name="note-940"/>
          <p:cNvSpPr/>
          <p:nvPr/>
        </p:nvSpPr>
        <p:spPr>
          <a:xfrm>
            <a:off x="6278728" y="3628390"/>
            <a:ext cx="5364328" cy="1473200"/>
          </a:xfrm>
          <a:prstGeom prst="roundRect">
            <a:avLst>
              <a:gd name="adj" fmla="val 6207"/>
            </a:avLst>
          </a:prstGeom>
          <a:solidFill>
            <a:srgbClr val="FFFFFF"/>
          </a:solidFill>
          <a:ln w="19050">
            <a:solidFill>
              <a:srgbClr val="5B1BB5"/>
            </a:solidFill>
            <a:prstDash val="dash"/>
          </a:ln>
        </p:spPr>
      </p:sp>
      <p:pic>
        <p:nvPicPr>
          <p:cNvPr id="28" name="noteicon-941" descr="preencoded.png">    </p:cNvPr>
          <p:cNvPicPr>
            <a:picLocks noChangeAspect="1"/>
          </p:cNvPicPr>
          <p:nvPr/>
        </p:nvPicPr>
        <p:blipFill>
          <a:blip r:embed="rId13"/>
          <a:stretch>
            <a:fillRect/>
          </a:stretch>
        </p:blipFill>
        <p:spPr>
          <a:xfrm>
            <a:off x="6415888" y="4191254"/>
            <a:ext cx="347472" cy="347472"/>
          </a:xfrm>
          <a:prstGeom prst="rect">
            <a:avLst/>
          </a:prstGeom>
        </p:spPr>
      </p:pic>
      <p:sp>
        <p:nvSpPr>
          <p:cNvPr id="29" name="text-942"/>
          <p:cNvSpPr txBox="1"/>
          <p:nvPr/>
        </p:nvSpPr>
        <p:spPr>
          <a:xfrm>
            <a:off x="6873088" y="3719830"/>
            <a:ext cx="4632808" cy="1290320"/>
          </a:xfrm>
          <a:prstGeom prst="rect">
            <a:avLst/>
          </a:prstGeom>
          <a:noFill/>
          <a:ln/>
        </p:spPr>
        <p:txBody>
          <a:bodyPr wrap="square" lIns="0" tIns="0" rIns="0" bIns="0" rtlCol="0" anchor="ctr"/>
          <a:lstStyle/>
          <a:p>
            <a:pPr indent="0" marL="0">
              <a:buNone/>
            </a:pPr>
            <a:r>
              <a:rPr lang="en-US" sz="2000" b="1" dirty="0">
                <a:solidFill>
                  <a:srgbClr val="111111"/>
                </a:solidFill>
                <a:latin typeface="Arial" pitchFamily="34" charset="0"/>
                <a:ea typeface="Arial" pitchFamily="34" charset="-122"/>
                <a:cs typeface="Arial" pitchFamily="34" charset="-120"/>
              </a:rPr>
              <a:t>Denumirile meniurilor pot varia după versiune și limbă. Tutoriale oficiale: capcut.com (linkuri în note).</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watermark-943"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944" descr="CapCut">    </p:cNvPr>
          <p:cNvPicPr>
            <a:picLocks noChangeAspect="1"/>
          </p:cNvPicPr>
          <p:nvPr/>
        </p:nvPicPr>
        <p:blipFill>
          <a:blip r:embed="rId2"/>
          <a:stretch>
            <a:fillRect/>
          </a:stretch>
        </p:blipFill>
        <p:spPr>
          <a:xfrm>
            <a:off x="548640" y="329184"/>
            <a:ext cx="384048" cy="384048"/>
          </a:xfrm>
          <a:prstGeom prst="rect">
            <a:avLst/>
          </a:prstGeom>
        </p:spPr>
      </p:pic>
      <p:sp>
        <p:nvSpPr>
          <p:cNvPr id="4" name="text-945"/>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5B1BB5"/>
                </a:solidFill>
                <a:latin typeface="Arial" pitchFamily="34" charset="0"/>
                <a:ea typeface="Arial" pitchFamily="34" charset="-122"/>
                <a:cs typeface="Arial" pitchFamily="34" charset="-120"/>
              </a:rPr>
              <a:t>EDITARE VIDEO · CAPCUT</a:t>
            </a:r>
            <a:endParaRPr lang="en-US" sz="1500" dirty="0"/>
          </a:p>
        </p:txBody>
      </p:sp>
      <p:sp>
        <p:nvSpPr>
          <p:cNvPr id="5" name="text-946"/>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CapCut gratuit sau Pro? La început, gratuit.</a:t>
            </a:r>
            <a:endParaRPr lang="en-US" sz="3200" dirty="0"/>
          </a:p>
        </p:txBody>
      </p:sp>
      <p:sp>
        <p:nvSpPr>
          <p:cNvPr id="6" name="nav-947">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948">
            <a:hlinkClick r:id="rId4" tooltip="CapCut" action="ppaction://hlinksldjump"/>
          </p:cNvPr>
          <p:cNvSpPr/>
          <p:nvPr/>
        </p:nvSpPr>
        <p:spPr>
          <a:xfrm>
            <a:off x="9750247" y="365760"/>
            <a:ext cx="786384" cy="310896"/>
          </a:xfrm>
          <a:prstGeom prst="roundRect">
            <a:avLst>
              <a:gd name="adj" fmla="val 50000"/>
            </a:avLst>
          </a:prstGeom>
          <a:solidFill>
            <a:srgbClr val="5B1BB5"/>
          </a:solidFill>
          <a:ln w="12700">
            <a:solidFill>
              <a:srgbClr val="5B1BB5"/>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949">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950">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951">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952">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953"/>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954"/>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5B1BB5"/>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955"/>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33</a:t>
            </a:r>
            <a:endParaRPr lang="en-US" sz="1000" dirty="0"/>
          </a:p>
        </p:txBody>
      </p:sp>
      <p:sp>
        <p:nvSpPr>
          <p:cNvPr id="15" name="card-956"/>
          <p:cNvSpPr/>
          <p:nvPr/>
        </p:nvSpPr>
        <p:spPr>
          <a:xfrm>
            <a:off x="548640" y="1572768"/>
            <a:ext cx="5364328" cy="2372106"/>
          </a:xfrm>
          <a:prstGeom prst="roundRect">
            <a:avLst>
              <a:gd name="adj" fmla="val 3855"/>
            </a:avLst>
          </a:prstGeom>
          <a:solidFill>
            <a:srgbClr val="EFF6F2"/>
          </a:solidFill>
          <a:ln w="12700">
            <a:solidFill>
              <a:srgbClr val="CEE2D7"/>
            </a:solidFill>
            <a:prstDash val="solid"/>
          </a:ln>
        </p:spPr>
      </p:sp>
      <p:sp>
        <p:nvSpPr>
          <p:cNvPr id="16" name="iconbg-957"/>
          <p:cNvSpPr/>
          <p:nvPr/>
        </p:nvSpPr>
        <p:spPr>
          <a:xfrm>
            <a:off x="694944" y="1719072"/>
            <a:ext cx="457200" cy="457200"/>
          </a:xfrm>
          <a:prstGeom prst="ellipse">
            <a:avLst/>
          </a:prstGeom>
          <a:solidFill>
            <a:srgbClr val="1F7A4A"/>
          </a:solidFill>
          <a:ln w="12700">
            <a:solidFill>
              <a:srgbClr val="1F7A4A"/>
            </a:solidFill>
            <a:prstDash val="solid"/>
          </a:ln>
        </p:spPr>
      </p:sp>
      <p:pic>
        <p:nvPicPr>
          <p:cNvPr id="17" name="icon-958"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959"/>
          <p:cNvSpPr txBox="1"/>
          <p:nvPr/>
        </p:nvSpPr>
        <p:spPr>
          <a:xfrm>
            <a:off x="1316736" y="1700784"/>
            <a:ext cx="4449928" cy="2116074"/>
          </a:xfrm>
          <a:prstGeom prst="rect">
            <a:avLst/>
          </a:prstGeom>
          <a:noFill/>
          <a:ln/>
        </p:spPr>
        <p:txBody>
          <a:bodyPr wrap="square" lIns="0" tIns="0" rIns="0" bIns="0" rtlCol="0" anchor="t"/>
          <a:lstStyle/>
          <a:p>
            <a:pPr indent="0" marL="0">
              <a:spcAft>
                <a:spcPts val="200"/>
              </a:spcAft>
              <a:buNone/>
            </a:pPr>
            <a:r>
              <a:rPr lang="en-US" sz="2400" b="1" dirty="0">
                <a:solidFill>
                  <a:srgbClr val="1F7A4A"/>
                </a:solidFill>
                <a:latin typeface="Arial" pitchFamily="34" charset="0"/>
                <a:ea typeface="Arial" pitchFamily="34" charset="-122"/>
                <a:cs typeface="Arial" pitchFamily="34" charset="-120"/>
              </a:rPr>
              <a:t>Gratuit: DA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Tăiere, ordine, viteză, tranziții, text</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Subtitrări scrise manual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Export la calitate mare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Șabloane premium: limitat</a:t>
            </a:r>
            <a:endParaRPr lang="en-US" sz="1600" dirty="0"/>
          </a:p>
        </p:txBody>
      </p:sp>
      <p:sp>
        <p:nvSpPr>
          <p:cNvPr id="19" name="card-960"/>
          <p:cNvSpPr/>
          <p:nvPr/>
        </p:nvSpPr>
        <p:spPr>
          <a:xfrm>
            <a:off x="548640" y="4072890"/>
            <a:ext cx="5364328" cy="1715262"/>
          </a:xfrm>
          <a:prstGeom prst="roundRect">
            <a:avLst>
              <a:gd name="adj" fmla="val 5331"/>
            </a:avLst>
          </a:prstGeom>
          <a:solidFill>
            <a:srgbClr val="F4EFFA"/>
          </a:solidFill>
          <a:ln w="12700">
            <a:solidFill>
              <a:srgbClr val="DBCDEF"/>
            </a:solidFill>
            <a:prstDash val="solid"/>
          </a:ln>
        </p:spPr>
      </p:sp>
      <p:sp>
        <p:nvSpPr>
          <p:cNvPr id="20" name="iconbg-961"/>
          <p:cNvSpPr/>
          <p:nvPr/>
        </p:nvSpPr>
        <p:spPr>
          <a:xfrm>
            <a:off x="694944" y="4219194"/>
            <a:ext cx="457200" cy="457200"/>
          </a:xfrm>
          <a:prstGeom prst="ellipse">
            <a:avLst/>
          </a:prstGeom>
          <a:solidFill>
            <a:srgbClr val="5B1BB5"/>
          </a:solidFill>
          <a:ln w="12700">
            <a:solidFill>
              <a:srgbClr val="5B1BB5"/>
            </a:solidFill>
            <a:prstDash val="solid"/>
          </a:ln>
        </p:spPr>
      </p:sp>
      <p:pic>
        <p:nvPicPr>
          <p:cNvPr id="21" name="icon-962" descr="preencoded.png">    </p:cNvPr>
          <p:cNvPicPr>
            <a:picLocks noChangeAspect="1"/>
          </p:cNvPicPr>
          <p:nvPr/>
        </p:nvPicPr>
        <p:blipFill>
          <a:blip r:embed="rId11"/>
          <a:stretch>
            <a:fillRect/>
          </a:stretch>
        </p:blipFill>
        <p:spPr>
          <a:xfrm>
            <a:off x="795528" y="4319778"/>
            <a:ext cx="256032" cy="256032"/>
          </a:xfrm>
          <a:prstGeom prst="rect">
            <a:avLst/>
          </a:prstGeom>
        </p:spPr>
      </p:pic>
      <p:sp>
        <p:nvSpPr>
          <p:cNvPr id="22" name="text-963"/>
          <p:cNvSpPr txBox="1"/>
          <p:nvPr/>
        </p:nvSpPr>
        <p:spPr>
          <a:xfrm>
            <a:off x="1316736" y="4200906"/>
            <a:ext cx="4449928" cy="1459230"/>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Doar în Pro</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Subtitrări automate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Unelte AI avansate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Stocare în cloud</a:t>
            </a:r>
            <a:endParaRPr lang="en-US" sz="1600" dirty="0"/>
          </a:p>
        </p:txBody>
      </p:sp>
      <p:sp>
        <p:nvSpPr>
          <p:cNvPr id="23" name="card-964"/>
          <p:cNvSpPr/>
          <p:nvPr/>
        </p:nvSpPr>
        <p:spPr>
          <a:xfrm>
            <a:off x="6278728" y="1572768"/>
            <a:ext cx="5364328" cy="1030986"/>
          </a:xfrm>
          <a:prstGeom prst="roundRect">
            <a:avLst>
              <a:gd name="adj" fmla="val 8869"/>
            </a:avLst>
          </a:prstGeom>
          <a:solidFill>
            <a:srgbClr val="F4EFFA"/>
          </a:solidFill>
          <a:ln w="12700">
            <a:solidFill>
              <a:srgbClr val="DBCDEF"/>
            </a:solidFill>
            <a:prstDash val="solid"/>
          </a:ln>
        </p:spPr>
      </p:sp>
      <p:sp>
        <p:nvSpPr>
          <p:cNvPr id="24" name="iconbg-965"/>
          <p:cNvSpPr/>
          <p:nvPr/>
        </p:nvSpPr>
        <p:spPr>
          <a:xfrm>
            <a:off x="6425032" y="1719072"/>
            <a:ext cx="457200" cy="457200"/>
          </a:xfrm>
          <a:prstGeom prst="ellipse">
            <a:avLst/>
          </a:prstGeom>
          <a:solidFill>
            <a:srgbClr val="5B1BB5"/>
          </a:solidFill>
          <a:ln w="12700">
            <a:solidFill>
              <a:srgbClr val="5B1BB5"/>
            </a:solidFill>
            <a:prstDash val="solid"/>
          </a:ln>
        </p:spPr>
      </p:sp>
      <p:pic>
        <p:nvPicPr>
          <p:cNvPr id="25" name="icon-966" descr="preencoded.png">    </p:cNvPr>
          <p:cNvPicPr>
            <a:picLocks noChangeAspect="1"/>
          </p:cNvPicPr>
          <p:nvPr/>
        </p:nvPicPr>
        <p:blipFill>
          <a:blip r:embed="rId12"/>
          <a:stretch>
            <a:fillRect/>
          </a:stretch>
        </p:blipFill>
        <p:spPr>
          <a:xfrm>
            <a:off x="6525616" y="1819656"/>
            <a:ext cx="256032" cy="256032"/>
          </a:xfrm>
          <a:prstGeom prst="rect">
            <a:avLst/>
          </a:prstGeom>
        </p:spPr>
      </p:pic>
      <p:sp>
        <p:nvSpPr>
          <p:cNvPr id="26" name="text-967"/>
          <p:cNvSpPr txBox="1"/>
          <p:nvPr/>
        </p:nvSpPr>
        <p:spPr>
          <a:xfrm>
            <a:off x="7046824" y="1700784"/>
            <a:ext cx="4449928" cy="774954"/>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Începătoare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Gratuit ajunge.</a:t>
            </a:r>
            <a:endParaRPr lang="en-US" sz="1600" dirty="0"/>
          </a:p>
        </p:txBody>
      </p:sp>
      <p:sp>
        <p:nvSpPr>
          <p:cNvPr id="27" name="card-968"/>
          <p:cNvSpPr/>
          <p:nvPr/>
        </p:nvSpPr>
        <p:spPr>
          <a:xfrm>
            <a:off x="6278728" y="2731770"/>
            <a:ext cx="5364328" cy="1345692"/>
          </a:xfrm>
          <a:prstGeom prst="roundRect">
            <a:avLst>
              <a:gd name="adj" fmla="val 6795"/>
            </a:avLst>
          </a:prstGeom>
          <a:solidFill>
            <a:srgbClr val="F4EFFA"/>
          </a:solidFill>
          <a:ln w="12700">
            <a:solidFill>
              <a:srgbClr val="DBCDEF"/>
            </a:solidFill>
            <a:prstDash val="solid"/>
          </a:ln>
        </p:spPr>
      </p:sp>
      <p:sp>
        <p:nvSpPr>
          <p:cNvPr id="28" name="iconbg-969"/>
          <p:cNvSpPr/>
          <p:nvPr/>
        </p:nvSpPr>
        <p:spPr>
          <a:xfrm>
            <a:off x="6425032" y="2878074"/>
            <a:ext cx="457200" cy="457200"/>
          </a:xfrm>
          <a:prstGeom prst="ellipse">
            <a:avLst/>
          </a:prstGeom>
          <a:solidFill>
            <a:srgbClr val="5B1BB5"/>
          </a:solidFill>
          <a:ln w="12700">
            <a:solidFill>
              <a:srgbClr val="5B1BB5"/>
            </a:solidFill>
            <a:prstDash val="solid"/>
          </a:ln>
        </p:spPr>
      </p:sp>
      <p:pic>
        <p:nvPicPr>
          <p:cNvPr id="29" name="icon-970" descr="preencoded.png">    </p:cNvPr>
          <p:cNvPicPr>
            <a:picLocks noChangeAspect="1"/>
          </p:cNvPicPr>
          <p:nvPr/>
        </p:nvPicPr>
        <p:blipFill>
          <a:blip r:embed="rId13"/>
          <a:stretch>
            <a:fillRect/>
          </a:stretch>
        </p:blipFill>
        <p:spPr>
          <a:xfrm>
            <a:off x="6525616" y="2978658"/>
            <a:ext cx="256032" cy="256032"/>
          </a:xfrm>
          <a:prstGeom prst="rect">
            <a:avLst/>
          </a:prstGeom>
        </p:spPr>
      </p:pic>
      <p:sp>
        <p:nvSpPr>
          <p:cNvPr id="30" name="text-971"/>
          <p:cNvSpPr txBox="1"/>
          <p:nvPr/>
        </p:nvSpPr>
        <p:spPr>
          <a:xfrm>
            <a:off x="7046824" y="2859786"/>
            <a:ext cx="4449928" cy="1089660"/>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Pro merită dacă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Postezi des și vrei subtitrări automate sau șabloane premium.</a:t>
            </a:r>
            <a:endParaRPr lang="en-US" sz="1600" dirty="0"/>
          </a:p>
        </p:txBody>
      </p:sp>
      <p:sp>
        <p:nvSpPr>
          <p:cNvPr id="31" name="note-972"/>
          <p:cNvSpPr/>
          <p:nvPr/>
        </p:nvSpPr>
        <p:spPr>
          <a:xfrm>
            <a:off x="6278728" y="4205478"/>
            <a:ext cx="5364328" cy="903732"/>
          </a:xfrm>
          <a:prstGeom prst="roundRect">
            <a:avLst>
              <a:gd name="adj" fmla="val 10118"/>
            </a:avLst>
          </a:prstGeom>
          <a:solidFill>
            <a:srgbClr val="FFFFFF"/>
          </a:solidFill>
          <a:ln w="19050">
            <a:solidFill>
              <a:srgbClr val="5B1BB5"/>
            </a:solidFill>
            <a:prstDash val="dash"/>
          </a:ln>
        </p:spPr>
      </p:sp>
      <p:pic>
        <p:nvPicPr>
          <p:cNvPr id="32" name="noteicon-973" descr="preencoded.png">    </p:cNvPr>
          <p:cNvPicPr>
            <a:picLocks noChangeAspect="1"/>
          </p:cNvPicPr>
          <p:nvPr/>
        </p:nvPicPr>
        <p:blipFill>
          <a:blip r:embed="rId14"/>
          <a:stretch>
            <a:fillRect/>
          </a:stretch>
        </p:blipFill>
        <p:spPr>
          <a:xfrm>
            <a:off x="6415888" y="4483608"/>
            <a:ext cx="347472" cy="347472"/>
          </a:xfrm>
          <a:prstGeom prst="rect">
            <a:avLst/>
          </a:prstGeom>
        </p:spPr>
      </p:pic>
      <p:sp>
        <p:nvSpPr>
          <p:cNvPr id="33" name="text-974"/>
          <p:cNvSpPr txBox="1"/>
          <p:nvPr/>
        </p:nvSpPr>
        <p:spPr>
          <a:xfrm>
            <a:off x="6873088" y="4296918"/>
            <a:ext cx="4632808" cy="720852"/>
          </a:xfrm>
          <a:prstGeom prst="rect">
            <a:avLst/>
          </a:prstGeom>
          <a:noFill/>
          <a:ln/>
        </p:spPr>
        <p:txBody>
          <a:bodyPr wrap="square" lIns="0" tIns="0" rIns="0" bIns="0" rtlCol="0" anchor="ctr"/>
          <a:lstStyle/>
          <a:p>
            <a:pPr indent="0" marL="0">
              <a:buNone/>
            </a:pPr>
            <a:r>
              <a:rPr lang="en-US" sz="2100" b="1" dirty="0">
                <a:solidFill>
                  <a:srgbClr val="111111"/>
                </a:solidFill>
                <a:latin typeface="Arial" pitchFamily="34" charset="0"/>
                <a:ea typeface="Arial" pitchFamily="34" charset="-122"/>
                <a:cs typeface="Arial" pitchFamily="34" charset="-120"/>
              </a:rPr>
              <a:t>Verifică prețul în aplicație. Sursa: CapCut, septembrie 2026.</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watermark-975"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976" descr="CapCut">    </p:cNvPr>
          <p:cNvPicPr>
            <a:picLocks noChangeAspect="1"/>
          </p:cNvPicPr>
          <p:nvPr/>
        </p:nvPicPr>
        <p:blipFill>
          <a:blip r:embed="rId2"/>
          <a:stretch>
            <a:fillRect/>
          </a:stretch>
        </p:blipFill>
        <p:spPr>
          <a:xfrm>
            <a:off x="548640" y="329184"/>
            <a:ext cx="384048" cy="384048"/>
          </a:xfrm>
          <a:prstGeom prst="rect">
            <a:avLst/>
          </a:prstGeom>
        </p:spPr>
      </p:pic>
      <p:sp>
        <p:nvSpPr>
          <p:cNvPr id="4" name="text-977"/>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5B1BB5"/>
                </a:solidFill>
                <a:latin typeface="Arial" pitchFamily="34" charset="0"/>
                <a:ea typeface="Arial" pitchFamily="34" charset="-122"/>
                <a:cs typeface="Arial" pitchFamily="34" charset="-120"/>
              </a:rPr>
              <a:t>EDITARE VIDEO · CAPCUT</a:t>
            </a:r>
            <a:endParaRPr lang="en-US" sz="1500" dirty="0"/>
          </a:p>
        </p:txBody>
      </p:sp>
      <p:sp>
        <p:nvSpPr>
          <p:cNvPr id="5" name="text-978"/>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CapCut: 6 sfaturi pentru blond, balayage, AirTouch</a:t>
            </a:r>
            <a:endParaRPr lang="en-US" sz="3200" dirty="0"/>
          </a:p>
        </p:txBody>
      </p:sp>
      <p:sp>
        <p:nvSpPr>
          <p:cNvPr id="6" name="nav-979">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980">
            <a:hlinkClick r:id="rId4" tooltip="CapCut" action="ppaction://hlinksldjump"/>
          </p:cNvPr>
          <p:cNvSpPr/>
          <p:nvPr/>
        </p:nvSpPr>
        <p:spPr>
          <a:xfrm>
            <a:off x="9750247" y="365760"/>
            <a:ext cx="786384" cy="310896"/>
          </a:xfrm>
          <a:prstGeom prst="roundRect">
            <a:avLst>
              <a:gd name="adj" fmla="val 50000"/>
            </a:avLst>
          </a:prstGeom>
          <a:solidFill>
            <a:srgbClr val="5B1BB5"/>
          </a:solidFill>
          <a:ln w="12700">
            <a:solidFill>
              <a:srgbClr val="5B1BB5"/>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981">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982">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983">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984">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985"/>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986"/>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5B1BB5"/>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987"/>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34</a:t>
            </a:r>
            <a:endParaRPr lang="en-US" sz="1000" dirty="0"/>
          </a:p>
        </p:txBody>
      </p:sp>
      <p:sp>
        <p:nvSpPr>
          <p:cNvPr id="15" name="card-988"/>
          <p:cNvSpPr/>
          <p:nvPr/>
        </p:nvSpPr>
        <p:spPr>
          <a:xfrm>
            <a:off x="548640" y="1572768"/>
            <a:ext cx="5364328" cy="1345692"/>
          </a:xfrm>
          <a:prstGeom prst="roundRect">
            <a:avLst>
              <a:gd name="adj" fmla="val 6795"/>
            </a:avLst>
          </a:prstGeom>
          <a:solidFill>
            <a:srgbClr val="F4EFFA"/>
          </a:solidFill>
          <a:ln w="12700">
            <a:solidFill>
              <a:srgbClr val="DBCDEF"/>
            </a:solidFill>
            <a:prstDash val="solid"/>
          </a:ln>
        </p:spPr>
      </p:sp>
      <p:sp>
        <p:nvSpPr>
          <p:cNvPr id="16" name="iconbg-989"/>
          <p:cNvSpPr/>
          <p:nvPr/>
        </p:nvSpPr>
        <p:spPr>
          <a:xfrm>
            <a:off x="694944" y="1719072"/>
            <a:ext cx="457200" cy="457200"/>
          </a:xfrm>
          <a:prstGeom prst="ellipse">
            <a:avLst/>
          </a:prstGeom>
          <a:solidFill>
            <a:srgbClr val="5B1BB5"/>
          </a:solidFill>
          <a:ln w="12700">
            <a:solidFill>
              <a:srgbClr val="5B1BB5"/>
            </a:solidFill>
            <a:prstDash val="solid"/>
          </a:ln>
        </p:spPr>
      </p:sp>
      <p:pic>
        <p:nvPicPr>
          <p:cNvPr id="17" name="icon-990"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991"/>
          <p:cNvSpPr txBox="1"/>
          <p:nvPr/>
        </p:nvSpPr>
        <p:spPr>
          <a:xfrm>
            <a:off x="1316736" y="1700784"/>
            <a:ext cx="4449928" cy="1089660"/>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Blondul final, primul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1 secundă, apoi „cum am ajuns aici”.</a:t>
            </a:r>
            <a:endParaRPr lang="en-US" sz="1600" dirty="0"/>
          </a:p>
        </p:txBody>
      </p:sp>
      <p:sp>
        <p:nvSpPr>
          <p:cNvPr id="19" name="card-992"/>
          <p:cNvSpPr/>
          <p:nvPr/>
        </p:nvSpPr>
        <p:spPr>
          <a:xfrm>
            <a:off x="548640" y="3046476"/>
            <a:ext cx="5364328" cy="1030986"/>
          </a:xfrm>
          <a:prstGeom prst="roundRect">
            <a:avLst>
              <a:gd name="adj" fmla="val 8869"/>
            </a:avLst>
          </a:prstGeom>
          <a:solidFill>
            <a:srgbClr val="F4EFFA"/>
          </a:solidFill>
          <a:ln w="12700">
            <a:solidFill>
              <a:srgbClr val="DBCDEF"/>
            </a:solidFill>
            <a:prstDash val="solid"/>
          </a:ln>
        </p:spPr>
      </p:sp>
      <p:sp>
        <p:nvSpPr>
          <p:cNvPr id="20" name="iconbg-993"/>
          <p:cNvSpPr/>
          <p:nvPr/>
        </p:nvSpPr>
        <p:spPr>
          <a:xfrm>
            <a:off x="694944" y="3192780"/>
            <a:ext cx="457200" cy="457200"/>
          </a:xfrm>
          <a:prstGeom prst="ellipse">
            <a:avLst/>
          </a:prstGeom>
          <a:solidFill>
            <a:srgbClr val="5B1BB5"/>
          </a:solidFill>
          <a:ln w="12700">
            <a:solidFill>
              <a:srgbClr val="5B1BB5"/>
            </a:solidFill>
            <a:prstDash val="solid"/>
          </a:ln>
        </p:spPr>
      </p:sp>
      <p:pic>
        <p:nvPicPr>
          <p:cNvPr id="21" name="icon-994" descr="preencoded.png">    </p:cNvPr>
          <p:cNvPicPr>
            <a:picLocks noChangeAspect="1"/>
          </p:cNvPicPr>
          <p:nvPr/>
        </p:nvPicPr>
        <p:blipFill>
          <a:blip r:embed="rId11"/>
          <a:stretch>
            <a:fillRect/>
          </a:stretch>
        </p:blipFill>
        <p:spPr>
          <a:xfrm>
            <a:off x="795528" y="3293364"/>
            <a:ext cx="256032" cy="256032"/>
          </a:xfrm>
          <a:prstGeom prst="rect">
            <a:avLst/>
          </a:prstGeom>
        </p:spPr>
      </p:pic>
      <p:sp>
        <p:nvSpPr>
          <p:cNvPr id="22" name="text-995"/>
          <p:cNvSpPr txBox="1"/>
          <p:nvPr/>
        </p:nvSpPr>
        <p:spPr>
          <a:xfrm>
            <a:off x="1316736" y="3174492"/>
            <a:ext cx="4449928" cy="774954"/>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Folii, AirTouch la 3–5x</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Reveal-ul încetinit.</a:t>
            </a:r>
            <a:endParaRPr lang="en-US" sz="1600" dirty="0"/>
          </a:p>
        </p:txBody>
      </p:sp>
      <p:sp>
        <p:nvSpPr>
          <p:cNvPr id="23" name="card-996"/>
          <p:cNvSpPr/>
          <p:nvPr/>
        </p:nvSpPr>
        <p:spPr>
          <a:xfrm>
            <a:off x="548640" y="4205478"/>
            <a:ext cx="5364328" cy="1030986"/>
          </a:xfrm>
          <a:prstGeom prst="roundRect">
            <a:avLst>
              <a:gd name="adj" fmla="val 8869"/>
            </a:avLst>
          </a:prstGeom>
          <a:solidFill>
            <a:srgbClr val="F4EFFA"/>
          </a:solidFill>
          <a:ln w="12700">
            <a:solidFill>
              <a:srgbClr val="DBCDEF"/>
            </a:solidFill>
            <a:prstDash val="solid"/>
          </a:ln>
        </p:spPr>
      </p:sp>
      <p:sp>
        <p:nvSpPr>
          <p:cNvPr id="24" name="iconbg-997"/>
          <p:cNvSpPr/>
          <p:nvPr/>
        </p:nvSpPr>
        <p:spPr>
          <a:xfrm>
            <a:off x="694944" y="4351782"/>
            <a:ext cx="457200" cy="457200"/>
          </a:xfrm>
          <a:prstGeom prst="ellipse">
            <a:avLst/>
          </a:prstGeom>
          <a:solidFill>
            <a:srgbClr val="5B1BB5"/>
          </a:solidFill>
          <a:ln w="12700">
            <a:solidFill>
              <a:srgbClr val="5B1BB5"/>
            </a:solidFill>
            <a:prstDash val="solid"/>
          </a:ln>
        </p:spPr>
      </p:sp>
      <p:pic>
        <p:nvPicPr>
          <p:cNvPr id="25" name="icon-998" descr="preencoded.png">    </p:cNvPr>
          <p:cNvPicPr>
            <a:picLocks noChangeAspect="1"/>
          </p:cNvPicPr>
          <p:nvPr/>
        </p:nvPicPr>
        <p:blipFill>
          <a:blip r:embed="rId12"/>
          <a:stretch>
            <a:fillRect/>
          </a:stretch>
        </p:blipFill>
        <p:spPr>
          <a:xfrm>
            <a:off x="795528" y="4452366"/>
            <a:ext cx="256032" cy="256032"/>
          </a:xfrm>
          <a:prstGeom prst="rect">
            <a:avLst/>
          </a:prstGeom>
        </p:spPr>
      </p:pic>
      <p:sp>
        <p:nvSpPr>
          <p:cNvPr id="26" name="text-999"/>
          <p:cNvSpPr txBox="1"/>
          <p:nvPr/>
        </p:nvSpPr>
        <p:spPr>
          <a:xfrm>
            <a:off x="1316736" y="4333494"/>
            <a:ext cx="4449928" cy="774954"/>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Balayage: tai pe mișcare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Când clienta întoarce capul.</a:t>
            </a:r>
            <a:endParaRPr lang="en-US" sz="1600" dirty="0"/>
          </a:p>
        </p:txBody>
      </p:sp>
      <p:sp>
        <p:nvSpPr>
          <p:cNvPr id="27" name="card-1000"/>
          <p:cNvSpPr/>
          <p:nvPr/>
        </p:nvSpPr>
        <p:spPr>
          <a:xfrm>
            <a:off x="6278728" y="1572768"/>
            <a:ext cx="5364328" cy="1345692"/>
          </a:xfrm>
          <a:prstGeom prst="roundRect">
            <a:avLst>
              <a:gd name="adj" fmla="val 6795"/>
            </a:avLst>
          </a:prstGeom>
          <a:solidFill>
            <a:srgbClr val="F4EFFA"/>
          </a:solidFill>
          <a:ln w="12700">
            <a:solidFill>
              <a:srgbClr val="DBCDEF"/>
            </a:solidFill>
            <a:prstDash val="solid"/>
          </a:ln>
        </p:spPr>
      </p:sp>
      <p:sp>
        <p:nvSpPr>
          <p:cNvPr id="28" name="iconbg-1001"/>
          <p:cNvSpPr/>
          <p:nvPr/>
        </p:nvSpPr>
        <p:spPr>
          <a:xfrm>
            <a:off x="6425032" y="1719072"/>
            <a:ext cx="457200" cy="457200"/>
          </a:xfrm>
          <a:prstGeom prst="ellipse">
            <a:avLst/>
          </a:prstGeom>
          <a:solidFill>
            <a:srgbClr val="5B1BB5"/>
          </a:solidFill>
          <a:ln w="12700">
            <a:solidFill>
              <a:srgbClr val="5B1BB5"/>
            </a:solidFill>
            <a:prstDash val="solid"/>
          </a:ln>
        </p:spPr>
      </p:sp>
      <p:pic>
        <p:nvPicPr>
          <p:cNvPr id="29" name="icon-1002" descr="preencoded.png">    </p:cNvPr>
          <p:cNvPicPr>
            <a:picLocks noChangeAspect="1"/>
          </p:cNvPicPr>
          <p:nvPr/>
        </p:nvPicPr>
        <p:blipFill>
          <a:blip r:embed="rId13"/>
          <a:stretch>
            <a:fillRect/>
          </a:stretch>
        </p:blipFill>
        <p:spPr>
          <a:xfrm>
            <a:off x="6525616" y="1819656"/>
            <a:ext cx="256032" cy="256032"/>
          </a:xfrm>
          <a:prstGeom prst="rect">
            <a:avLst/>
          </a:prstGeom>
        </p:spPr>
      </p:pic>
      <p:sp>
        <p:nvSpPr>
          <p:cNvPr id="30" name="text-1003"/>
          <p:cNvSpPr txBox="1"/>
          <p:nvPr/>
        </p:nvSpPr>
        <p:spPr>
          <a:xfrm>
            <a:off x="7046824" y="1700784"/>
            <a:ext cx="4449928" cy="1089660"/>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Proiect-model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Duplici și schimbi doar clipurile.</a:t>
            </a:r>
            <a:endParaRPr lang="en-US" sz="1600" dirty="0"/>
          </a:p>
        </p:txBody>
      </p:sp>
      <p:sp>
        <p:nvSpPr>
          <p:cNvPr id="31" name="card-1004"/>
          <p:cNvSpPr/>
          <p:nvPr/>
        </p:nvSpPr>
        <p:spPr>
          <a:xfrm>
            <a:off x="6278728" y="3046476"/>
            <a:ext cx="5364328" cy="1345692"/>
          </a:xfrm>
          <a:prstGeom prst="roundRect">
            <a:avLst>
              <a:gd name="adj" fmla="val 6795"/>
            </a:avLst>
          </a:prstGeom>
          <a:solidFill>
            <a:srgbClr val="F4EFFA"/>
          </a:solidFill>
          <a:ln w="12700">
            <a:solidFill>
              <a:srgbClr val="DBCDEF"/>
            </a:solidFill>
            <a:prstDash val="solid"/>
          </a:ln>
        </p:spPr>
      </p:sp>
      <p:sp>
        <p:nvSpPr>
          <p:cNvPr id="32" name="iconbg-1005"/>
          <p:cNvSpPr/>
          <p:nvPr/>
        </p:nvSpPr>
        <p:spPr>
          <a:xfrm>
            <a:off x="6425032" y="3192780"/>
            <a:ext cx="457200" cy="457200"/>
          </a:xfrm>
          <a:prstGeom prst="ellipse">
            <a:avLst/>
          </a:prstGeom>
          <a:solidFill>
            <a:srgbClr val="5B1BB5"/>
          </a:solidFill>
          <a:ln w="12700">
            <a:solidFill>
              <a:srgbClr val="5B1BB5"/>
            </a:solidFill>
            <a:prstDash val="solid"/>
          </a:ln>
        </p:spPr>
      </p:sp>
      <p:pic>
        <p:nvPicPr>
          <p:cNvPr id="33" name="icon-1006" descr="preencoded.png">    </p:cNvPr>
          <p:cNvPicPr>
            <a:picLocks noChangeAspect="1"/>
          </p:cNvPicPr>
          <p:nvPr/>
        </p:nvPicPr>
        <p:blipFill>
          <a:blip r:embed="rId14"/>
          <a:stretch>
            <a:fillRect/>
          </a:stretch>
        </p:blipFill>
        <p:spPr>
          <a:xfrm>
            <a:off x="6525616" y="3293364"/>
            <a:ext cx="256032" cy="256032"/>
          </a:xfrm>
          <a:prstGeom prst="rect">
            <a:avLst/>
          </a:prstGeom>
        </p:spPr>
      </p:pic>
      <p:sp>
        <p:nvSpPr>
          <p:cNvPr id="34" name="text-1007"/>
          <p:cNvSpPr txBox="1"/>
          <p:nvPr/>
        </p:nvSpPr>
        <p:spPr>
          <a:xfrm>
            <a:off x="7046824" y="3174492"/>
            <a:ext cx="4449928" cy="1089660"/>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Verifici subtitrările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„balayage”, „AirTouch”, diacritice.</a:t>
            </a:r>
            <a:endParaRPr lang="en-US" sz="1600" dirty="0"/>
          </a:p>
        </p:txBody>
      </p:sp>
      <p:sp>
        <p:nvSpPr>
          <p:cNvPr id="35" name="card-1008"/>
          <p:cNvSpPr/>
          <p:nvPr/>
        </p:nvSpPr>
        <p:spPr>
          <a:xfrm>
            <a:off x="6278728" y="4520184"/>
            <a:ext cx="5364328" cy="1345692"/>
          </a:xfrm>
          <a:prstGeom prst="roundRect">
            <a:avLst>
              <a:gd name="adj" fmla="val 6795"/>
            </a:avLst>
          </a:prstGeom>
          <a:solidFill>
            <a:srgbClr val="F4EFFA"/>
          </a:solidFill>
          <a:ln w="12700">
            <a:solidFill>
              <a:srgbClr val="DBCDEF"/>
            </a:solidFill>
            <a:prstDash val="solid"/>
          </a:ln>
        </p:spPr>
      </p:sp>
      <p:sp>
        <p:nvSpPr>
          <p:cNvPr id="36" name="iconbg-1009"/>
          <p:cNvSpPr/>
          <p:nvPr/>
        </p:nvSpPr>
        <p:spPr>
          <a:xfrm>
            <a:off x="6425032" y="4666488"/>
            <a:ext cx="457200" cy="457200"/>
          </a:xfrm>
          <a:prstGeom prst="ellipse">
            <a:avLst/>
          </a:prstGeom>
          <a:solidFill>
            <a:srgbClr val="5B1BB5"/>
          </a:solidFill>
          <a:ln w="12700">
            <a:solidFill>
              <a:srgbClr val="5B1BB5"/>
            </a:solidFill>
            <a:prstDash val="solid"/>
          </a:ln>
        </p:spPr>
      </p:sp>
      <p:pic>
        <p:nvPicPr>
          <p:cNvPr id="37" name="icon-1010" descr="preencoded.png">    </p:cNvPr>
          <p:cNvPicPr>
            <a:picLocks noChangeAspect="1"/>
          </p:cNvPicPr>
          <p:nvPr/>
        </p:nvPicPr>
        <p:blipFill>
          <a:blip r:embed="rId15"/>
          <a:stretch>
            <a:fillRect/>
          </a:stretch>
        </p:blipFill>
        <p:spPr>
          <a:xfrm>
            <a:off x="6525616" y="4767072"/>
            <a:ext cx="256032" cy="256032"/>
          </a:xfrm>
          <a:prstGeom prst="rect">
            <a:avLst/>
          </a:prstGeom>
        </p:spPr>
      </p:pic>
      <p:sp>
        <p:nvSpPr>
          <p:cNvPr id="38" name="text-1011"/>
          <p:cNvSpPr txBox="1"/>
          <p:nvPr/>
        </p:nvSpPr>
        <p:spPr>
          <a:xfrm>
            <a:off x="7046824" y="4648200"/>
            <a:ext cx="4449928" cy="1089660"/>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Fără filtre pe blond</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Schimbă nuanța pe care ai lucrat-o.</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watermark-1012"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1013" descr="Concluzie">    </p:cNvPr>
          <p:cNvPicPr>
            <a:picLocks noChangeAspect="1"/>
          </p:cNvPicPr>
          <p:nvPr/>
        </p:nvPicPr>
        <p:blipFill>
          <a:blip r:embed="rId2"/>
          <a:stretch>
            <a:fillRect/>
          </a:stretch>
        </p:blipFill>
        <p:spPr>
          <a:xfrm>
            <a:off x="548640" y="329184"/>
            <a:ext cx="384048" cy="384048"/>
          </a:xfrm>
          <a:prstGeom prst="rect">
            <a:avLst/>
          </a:prstGeom>
        </p:spPr>
      </p:pic>
      <p:sp>
        <p:nvSpPr>
          <p:cNvPr id="4" name="text-1014"/>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410C"/>
                </a:solidFill>
                <a:latin typeface="Arial" pitchFamily="34" charset="0"/>
                <a:ea typeface="Arial" pitchFamily="34" charset="-122"/>
                <a:cs typeface="Arial" pitchFamily="34" charset="-120"/>
              </a:rPr>
              <a:t>CONCLUZIE</a:t>
            </a:r>
            <a:endParaRPr lang="en-US" sz="1500" dirty="0"/>
          </a:p>
        </p:txBody>
      </p:sp>
      <p:sp>
        <p:nvSpPr>
          <p:cNvPr id="5" name="text-1015"/>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Nu trebuie să fii influencer ca să îți promovezi munca.</a:t>
            </a:r>
            <a:endParaRPr lang="en-US" sz="3200" dirty="0"/>
          </a:p>
        </p:txBody>
      </p:sp>
      <p:sp>
        <p:nvSpPr>
          <p:cNvPr id="6" name="nav-1016">
            <a:hlinkClick r:id="rId3" tooltip="Concluzie" action="ppaction://hlinksldjump"/>
          </p:cNvPr>
          <p:cNvSpPr/>
          <p:nvPr/>
        </p:nvSpPr>
        <p:spPr>
          <a:xfrm>
            <a:off x="10609783" y="365760"/>
            <a:ext cx="1033272" cy="310896"/>
          </a:xfrm>
          <a:prstGeom prst="roundRect">
            <a:avLst>
              <a:gd name="adj" fmla="val 50000"/>
            </a:avLst>
          </a:prstGeom>
          <a:solidFill>
            <a:srgbClr val="C2410C"/>
          </a:solidFill>
          <a:ln w="12700">
            <a:solidFill>
              <a:srgbClr val="C2410C"/>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1017">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1018">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1019">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1020">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1021">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1022"/>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1023"/>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410C"/>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1024"/>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35</a:t>
            </a:r>
            <a:endParaRPr lang="en-US" sz="1000" dirty="0"/>
          </a:p>
        </p:txBody>
      </p:sp>
      <p:sp>
        <p:nvSpPr>
          <p:cNvPr id="15" name="text-1025"/>
          <p:cNvSpPr txBox="1"/>
          <p:nvPr/>
        </p:nvSpPr>
        <p:spPr>
          <a:xfrm>
            <a:off x="548640" y="1572768"/>
            <a:ext cx="11094415" cy="502920"/>
          </a:xfrm>
          <a:prstGeom prst="rect">
            <a:avLst/>
          </a:prstGeom>
          <a:noFill/>
          <a:ln/>
        </p:spPr>
        <p:txBody>
          <a:bodyPr wrap="square" lIns="0" tIns="0" rIns="0" bIns="0" rtlCol="0" anchor="ctr"/>
          <a:lstStyle/>
          <a:p>
            <a:pPr indent="0" marL="0">
              <a:buNone/>
            </a:pPr>
            <a:r>
              <a:rPr lang="en-US" sz="2600" b="1" dirty="0">
                <a:solidFill>
                  <a:srgbClr val="C2410C"/>
                </a:solidFill>
                <a:latin typeface="Arial" pitchFamily="34" charset="0"/>
                <a:ea typeface="Arial" pitchFamily="34" charset="-122"/>
                <a:cs typeface="Arial" pitchFamily="34" charset="-120"/>
              </a:rPr>
              <a:t>Trebuie doar să începi să o arăți.</a:t>
            </a:r>
            <a:endParaRPr lang="en-US" sz="2600" dirty="0"/>
          </a:p>
        </p:txBody>
      </p:sp>
      <p:sp>
        <p:nvSpPr>
          <p:cNvPr id="16" name="card-1026"/>
          <p:cNvSpPr/>
          <p:nvPr/>
        </p:nvSpPr>
        <p:spPr>
          <a:xfrm>
            <a:off x="548640" y="2258568"/>
            <a:ext cx="11094415" cy="2399538"/>
          </a:xfrm>
          <a:prstGeom prst="roundRect">
            <a:avLst>
              <a:gd name="adj" fmla="val 3811"/>
            </a:avLst>
          </a:prstGeom>
          <a:solidFill>
            <a:srgbClr val="FBF2EE"/>
          </a:solidFill>
          <a:ln w="12700">
            <a:solidFill>
              <a:srgbClr val="F2D5CA"/>
            </a:solidFill>
            <a:prstDash val="solid"/>
          </a:ln>
        </p:spPr>
      </p:sp>
      <p:sp>
        <p:nvSpPr>
          <p:cNvPr id="17" name="iconbg-1027"/>
          <p:cNvSpPr/>
          <p:nvPr/>
        </p:nvSpPr>
        <p:spPr>
          <a:xfrm>
            <a:off x="694944" y="2404872"/>
            <a:ext cx="457200" cy="457200"/>
          </a:xfrm>
          <a:prstGeom prst="ellipse">
            <a:avLst/>
          </a:prstGeom>
          <a:solidFill>
            <a:srgbClr val="C2410C"/>
          </a:solidFill>
          <a:ln w="12700">
            <a:solidFill>
              <a:srgbClr val="C2410C"/>
            </a:solidFill>
            <a:prstDash val="solid"/>
          </a:ln>
        </p:spPr>
      </p:sp>
      <p:pic>
        <p:nvPicPr>
          <p:cNvPr id="18" name="icon-1028" descr="preencoded.png">    </p:cNvPr>
          <p:cNvPicPr>
            <a:picLocks noChangeAspect="1"/>
          </p:cNvPicPr>
          <p:nvPr/>
        </p:nvPicPr>
        <p:blipFill>
          <a:blip r:embed="rId10"/>
          <a:stretch>
            <a:fillRect/>
          </a:stretch>
        </p:blipFill>
        <p:spPr>
          <a:xfrm>
            <a:off x="795528" y="2505456"/>
            <a:ext cx="256032" cy="256032"/>
          </a:xfrm>
          <a:prstGeom prst="rect">
            <a:avLst/>
          </a:prstGeom>
        </p:spPr>
      </p:pic>
      <p:sp>
        <p:nvSpPr>
          <p:cNvPr id="19" name="text-1029"/>
          <p:cNvSpPr txBox="1"/>
          <p:nvPr/>
        </p:nvSpPr>
        <p:spPr>
          <a:xfrm>
            <a:off x="1316736" y="2386584"/>
            <a:ext cx="10180015" cy="2143506"/>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Planul tău de acțiune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1. Filmează o transformare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2. Editează un clip scurt</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3. Publică pe platforma potrivită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4. Analizează reacțiile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5. Repetă și îmbunătățește</a:t>
            </a:r>
            <a:endParaRPr lang="en-US" sz="1600" dirty="0"/>
          </a:p>
        </p:txBody>
      </p:sp>
      <p:sp>
        <p:nvSpPr>
          <p:cNvPr id="20" name="note-1030"/>
          <p:cNvSpPr/>
          <p:nvPr/>
        </p:nvSpPr>
        <p:spPr>
          <a:xfrm>
            <a:off x="548640" y="4786122"/>
            <a:ext cx="11094415" cy="589026"/>
          </a:xfrm>
          <a:prstGeom prst="roundRect">
            <a:avLst>
              <a:gd name="adj" fmla="val 15524"/>
            </a:avLst>
          </a:prstGeom>
          <a:solidFill>
            <a:srgbClr val="FFFFFF"/>
          </a:solidFill>
          <a:ln w="19050">
            <a:solidFill>
              <a:srgbClr val="C2410C"/>
            </a:solidFill>
            <a:prstDash val="dash"/>
          </a:ln>
        </p:spPr>
      </p:sp>
      <p:pic>
        <p:nvPicPr>
          <p:cNvPr id="21" name="noteicon-1031" descr="preencoded.png">    </p:cNvPr>
          <p:cNvPicPr>
            <a:picLocks noChangeAspect="1"/>
          </p:cNvPicPr>
          <p:nvPr/>
        </p:nvPicPr>
        <p:blipFill>
          <a:blip r:embed="rId11"/>
          <a:stretch>
            <a:fillRect/>
          </a:stretch>
        </p:blipFill>
        <p:spPr>
          <a:xfrm>
            <a:off x="685800" y="4906899"/>
            <a:ext cx="347472" cy="347472"/>
          </a:xfrm>
          <a:prstGeom prst="rect">
            <a:avLst/>
          </a:prstGeom>
        </p:spPr>
      </p:pic>
      <p:sp>
        <p:nvSpPr>
          <p:cNvPr id="22" name="text-1032"/>
          <p:cNvSpPr txBox="1"/>
          <p:nvPr/>
        </p:nvSpPr>
        <p:spPr>
          <a:xfrm>
            <a:off x="1143000" y="4877562"/>
            <a:ext cx="10362895" cy="406146"/>
          </a:xfrm>
          <a:prstGeom prst="rect">
            <a:avLst/>
          </a:prstGeom>
          <a:noFill/>
          <a:ln/>
        </p:spPr>
        <p:txBody>
          <a:bodyPr wrap="square" lIns="0" tIns="0" rIns="0" bIns="0" rtlCol="0" anchor="ctr"/>
          <a:lstStyle/>
          <a:p>
            <a:pPr indent="0" marL="0">
              <a:buNone/>
            </a:pPr>
            <a:r>
              <a:rPr lang="en-US" sz="2100" b="1" dirty="0">
                <a:solidFill>
                  <a:srgbClr val="111111"/>
                </a:solidFill>
                <a:latin typeface="Arial" pitchFamily="34" charset="0"/>
                <a:ea typeface="Arial" pitchFamily="34" charset="-122"/>
                <a:cs typeface="Arial" pitchFamily="34" charset="-120"/>
              </a:rPr>
              <a:t>Începe mâine, cu prima clientă care îți spune „Wow!”.</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PREZENTARE</dc:title>
  <dc:subject>PptxGenJS Presentation</dc:subject>
  <dc:creator>PptxGenJS</dc:creator>
  <cp:lastModifiedBy>PptxGenJS</cp:lastModifiedBy>
  <cp:revision>1</cp:revision>
  <dcterms:created xsi:type="dcterms:W3CDTF">2026-11-01T10:54:25Z</dcterms:created>
  <dcterms:modified xsi:type="dcterms:W3CDTF">2026-11-01T10:54:25Z</dcterms:modified>
</cp:coreProperties>
</file>