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SPUI (deschidere, ~1 minut):
„Ridicați mâna cine poate vorbi trei ore cu o clientă despre vacanță, soacră și balayage. (toată sala) Acum ridicați mâna cine, când apasă REC, uită cum o cheamă. (râsete, aceeași sală)
Exact. Nu ne-am pierdut competențele între scaun și telefon. S-a schimbat doar felul în care ne vedem pe noi."
MESAJUL PRINCIPAL: Camera nu ne schimbă competențele. Ne schimbă percepția asupra propriei persoane.
PSIHOLOGIE, PE SCURT: când vorbim cu o clientă, atenția e pe ea și pe păr. Când apăsăm REC, atenția se mută pe noi: cum arătăm, cum sunăm, ce vor crede alții. Această „atenție îndreptată spre sine" este descrisă în modelele anxietății sociale (Clark &amp; Wells) și explică de ce brusc ne simțim stângaci, deși știm meseria.
Bara de „încărcare" de pe slide e gluma vizuală: încrederea nu e un buton, se încarcă treptat.
Logo-urile Blonde Ambition și Alfaparf Milano Professional nu au fost furnizate; le poți adăuga pe acest slide (Inserare → Imagine).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SPUI: „Hai să le numim. Când le spunem cu voce tare, nu mai par atât de mari."
CELE 5 FRICI (întreabă sala: „Cine se regăsește la numărul…?" – ridicat de mâini, fără să numești pe nimeni):
1. Accentul – teama că vom fi luați în râs pentru felul în care vorbim.
2. Vocea – înregistrarea ne sună „ciudat" (explicăm pe slide-ul următor).
3. Bâlbâiala – teama de a ne încurca.
4. Textul – teama de a uita ce voiam să spunem.
5. Judecata – colegii, clientele, cunoscuții.
MECANISMUL, SIMPLU:
• Teama de evaluare socială: creierul tratează camera ca pe un public care ne dă notă. E o reacție veche și normală – suntem făcuți să ne pese de grup.
• Autocritica: suntem cel mai sever juriu. Observăm la noi lucruri pe care ceilalți nici nu le văd (efectul reflectorului – Gilovich, 2000: oamenii supraestimează cât de mult îi observă ceilalți).
• Atenția se mută de la mesaj la noi înșine, iar asta ne face să ne încurcăm mai des.
GLUMA: „La decolorare controlăm oxidantul. La cameră încercăm să controlăm și părerea întregului internet!" – și nu se poate. Controlăm doar ce spunem.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EXPLICAȚIA, SIMPLU ȘI CORECT:
• Când vorbim, ne auzim vocea pe două căi: prin aer (ca toată lumea) și prin oasele capului (conducere osoasă). Conducerea osoasă întărește sunetele joase, așa că în capul nostru vocea sună mai gravă și mai „plină".
• Telefonul înregistrează doar vocea care trece prin aer – exact cum ne aud ceilalți. De aceea înregistrarea ni se pare mai subțire, mai „ciudată".
• În plus, nu suntem obișnuiți cu această versiune a vocii. Familiaritatea contează: tot ce auzim des ni se pare mai plăcut.
• Studiu interesant (Holzman &amp; Rousey, 1966 și studii ulterioare): oamenii își evaluează propria voce înregistrată mai critic decât o evaluează ceilalți.
MESAJ-CHEIE: „Vocea ta nu este greșită. Doar nu ești obișnuit să o auzi așa." Cu cât te asculți mai des, cu atât sună mai „a ta".
ACCENTUL: un accent regional nu e un defect de comunicare. Clientele tale au, probabil, același accent. Ce contează: să vorbești clar, nu prea repede, și să ai o idee clară. Încercarea de a imita un accent „perfect" crește tensiunea și sună forțat.
Exercițiu rapid (opțional): fiecare își înregistrează numele pe telefon și îl ascultă de 3 ori. A treia oară, de obicei, sună mai puțin ciudat.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CE MEMORAREA PERFECTĂ BLOCHEAZĂ:
• Un text memorat cuvânt cu cuvânt are o singură variantă „corectă". Dacă uiți un cuvânt, tot lanțul se rupe – și apare blocajul.
• O idee înțeleasă are o mie de variante corecte. Dacă știi ce vrei să spui, găsești cuvintele.
• Perfecționismul mută atenția de la mesaj la greșeli posibile, deci crește tensiunea.
CELE 3 DIFERENȚE:
1. Text memorat mecanic → idee înțeleasă („Am folosit Easy Lift pentru că…" spus cu cuvintele tale).
2. Discurs perfect → comunicare autentică (clientele urmăresc oameni, nu prezentatori).
3. Frica de greșeală → libertatea de a repeta (pe telefon există „încă o dublă"; la decolorare nu prea).
CE SPUI: „Nu trebuie să vorbești ca un prezentator TV. Trebuie să vorbești ca un profesionist care știe ce face. Și voi știți ce faceți – altfel nu erați aici."
Glumă opțională: „Prezentatorii TV au prompter, machiaj și o echipă de 12 oameni. Voi aveți o colegă și un manechin. Și tot ieșiți mai bine la balayage."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CE FUNCȚIONEAZĂ (fără promisiuni magice):
• Expunerea graduală: frica scade când ne expunem la situație în pași mici, suportabili, repetați – nu dintr-o dată.
• Repetiția: a zecea filmare nu mai e „prima", deci creierul o tratează mai puțin ca pe o amenințare.
• Experiențele mici de succes (autoeficacitate – Bandura): fiecare „am reușit" mic construiește convingerea „pot". Încrederea se construiește din dovezi, nu din discursuri.
• Controlul: când alegi tu momentul publicării, presiunea scade.
CELE 5 STRATEGII:
1. Filmări de 5 secunde – destul de scurt ca să nu sperie.
2. Vorbim despre ce știm foarte bine – blond, balayage, îngrijire. Aici suntem experți.
3. Repetăm fără să ne judecăm după fiecare încercare – judecăm la final, nu la fiecare dublă.
4. Creștem treptat: 5 secunde → 10 → 30; mâini → voce → față.
5. Alegem singuri când publicăm.
IMPORTANT: nu promite că emoțiile dispar într-o săptămână. Spune: „Emoțiile nu dispar la termen fix. Devin mai ușor de dus – și asta e suficient ca să începi."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 5 TRUCURI ȘI DE CE AU SENS:
1. Expiră lent – o expirație mai lungă decât inspirația poate ajuta corpul să se liniștească puțin. Nu e magie, e o pauză utilă.
2. Privește obiectivul, nu propria imagine – când te uiți la tine pe ecran, te autoevaluezi în timp real (atenție îndreptată spre sine). Obiectivul = ochii clientei. Truc: lipește un mic sticker lângă cameră.
3. Vorbește unei singure cliente – „internetul" sperie; o clientă anume, nu. Gândește-te la clienta ta preferată.
4. Trei cuvinte-cheie, nu un discurs – de exemplu „secțiune fină · Easy Lift · luminozitate". Cuvintele-cheie te țin pe drum fără să te blocheze.
5. Te-ai încurcat? Continui sau reiei. Ambele sunt corecte. Uneori varianta cu o mică greșeală pare mai naturală.
GLUMA: „Nu e operație pe cord deschis. E doar un videoclip!" – iar dacă nu iese, apeși din nou REC. La pacient nu prea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CUM CONDUCI EXERCIȚIUL (în timpul lucrului pe capetele de manechin, ~10–15 minute):
1. Cursanții lucrează în perechi, la capetele de manechin.
2. Unul execută tehnica de șuvițare, colega filmează cu telefonul celui filmat.
3. Cel care lucrează spune O SINGURĂ frază (din slide-ul următor sau una proprie) despre ce face.
4. Fiecare filmare: maximum 5 secunde.
5. Repetă fraza de câte ori vrea.
6. După câteva încercări, rolurile se inversează.
7. Nimeni nu e obligat să publice sau să arate filmarea grupului.
REGULA SPECIALĂ: „GREȘELILE SUNT OBLIGATORII!"
Explică clar: e o regulă simbolică, amuzantă. Nu cerem nimănui să greșească intenționat. Înseamnă că fiecare are VOIE să greșească – greșeala e parte din exercițiu, nu un eșec.
BLOOPERS: nu ștergem automat dublele nereușite. Cu acordul persoanei filmate, le putem păstra pentru un montaj funny de tip bloopers (vezi ultimul slide).
DE CE FUNCȚIONEAZĂ: mâinile sunt ocupate cu ceva ce știm foarte bine, deci atenția nu mai e doar pe cameră; colega filmează (sprijin, nu juriu); 5 secunde = expunere mică; repetiția fără judecată.
Rolul colegei: zâmbește, filmează, nu corectează. Singurul feedback permis: „Încă una?"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Lasă acest slide proiectat pe toată durata exercițiului: cursanții citesc și aleg frazele în timp ce lucrează.
Frazele sunt gândite să fie rostite natural în aproximativ 5 secunde. Cursanții pot adapta o frază sau pot spune una proprie, dacă încape în 5 secunde.
Sugestie: fraze funny (1, 2, 3, 7, 8) pentru încălzire; fraze profesionale (4, 5, 6) după 2–3 duble, când emoțiile au scăzut puțin.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DIFERENȚA ESENȚIALĂ:
• A te filma = exercițiu. Îl faci pentru tine, de câte ori vrei, fără public.
• A publica = o alegere. O faci când vrei tu, ce vrei tu.
Mulți nu încep să se filmeze pentru că, în mintea lor, „filmare" = „postare". Când le separăm, presiunea scade mult.
MESAJELE:
• Prima filmare e un exercițiu, nu un examen.
• Nu toate filmările trebuie postate. Și creatorii mari aruncă majoritatea dublelor.
• Poți începe cu un Story (dispare de obicei după 24 de ore) sau cu un videoclip scurt.
• Autenticitatea și competența contează mai mult decât perfecțiunea: clientele vor să vadă că știi ce faci, nu că vorbești ca la știri.
PROVOCAREA OPȚIONALĂ: „Postează primul tău video de 5 secunde și etichetează Blonde Ambition!" Spune clar că e opțional. Promite că răspunzi cu un comentariu de susținere celor care te etichetează.
(Completează aici numele exact al contului Blonde Ambition de pe Instagram/TikTok, ca să-l poată eticheta corect.)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ULTIMUL SLIDE – IMPACT ȘI RÂSETE.
CE SPUI: „Credeați că celor experimentați le iese din prima? Hai să vă arăt adevărul." – și pornești videoclipul tău cu duble nereușite, râsete și greșeli de filmare.
CUM INSEREZI VIDEOCLIPUL: în PowerPoint sau Keynote: Inserare → Video → alegi fișierul de pe calculator, apoi îl tragi și îl redimensionezi peste cadrul punctat din dreapta. Setează-l să pornească „La clic". Testează-l pe laptopul de la curs înainte de începere. După ce inserezi videoclipul, poți șterge textul „Inserare → Video…" din cadru.
MESAJUL DE FINAL: diferența dintre începători și cei experimentați nu e că cei experimentați nu greșesc. E că greșeala nu-i mai oprește.
BLOOPERS / BEHIND THE SCENES CA CONȚINUT:
• Dublele ratate pot deveni conținut foarte apreciat: oamenii se conectează cu imperfecțiunea (efectul „pratfall" – o persoană competentă care greșește uneori devine mai simpatică).
• DOAR cu acordul persoanelor implicate: cere permisiunea fiecărei persoane care apare, înainte de a posta. Și la clientele sau cursantele din cadru.
Încheie cu: „ENJOY!" – și lasă sala să râdă.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12700">
            <a:solidFill>
              <a:srgbClr val="E9D3A6"/>
            </a:solidFill>
            <a:prstDash val="solid"/>
          </a:ln>
        </p:spPr>
      </p:sp>
      <p:sp>
        <p:nvSpPr>
          <p:cNvPr id="3" name="badge-2"/>
          <p:cNvSpPr/>
          <p:nvPr/>
        </p:nvSpPr>
        <p:spPr>
          <a:xfrm>
            <a:off x="777240" y="685800"/>
            <a:ext cx="685800" cy="68580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pic>
        <p:nvPicPr>
          <p:cNvPr id="4" name="icon-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850392"/>
            <a:ext cx="356616" cy="356616"/>
          </a:xfrm>
          <a:prstGeom prst="rect">
            <a:avLst/>
          </a:prstGeom>
        </p:spPr>
      </p:pic>
      <p:sp>
        <p:nvSpPr>
          <p:cNvPr id="5" name="text-4"/>
          <p:cNvSpPr txBox="1"/>
          <p:nvPr/>
        </p:nvSpPr>
        <p:spPr>
          <a:xfrm>
            <a:off x="1600200" y="777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</a:t>
            </a:r>
            <a:endParaRPr lang="en-US" sz="2200" dirty="0"/>
          </a:p>
        </p:txBody>
      </p:sp>
      <p:sp>
        <p:nvSpPr>
          <p:cNvPr id="6" name="text-5"/>
          <p:cNvSpPr txBox="1"/>
          <p:nvPr/>
        </p:nvSpPr>
        <p:spPr>
          <a:xfrm>
            <a:off x="777240" y="1463040"/>
            <a:ext cx="6675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 ON.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LOADING…</a:t>
            </a:r>
            <a:endParaRPr lang="en-US" sz="4200" dirty="0"/>
          </a:p>
        </p:txBody>
      </p:sp>
      <p:sp>
        <p:nvSpPr>
          <p:cNvPr id="7" name="bar-6"/>
          <p:cNvSpPr/>
          <p:nvPr/>
        </p:nvSpPr>
        <p:spPr>
          <a:xfrm>
            <a:off x="777240" y="3566160"/>
            <a:ext cx="6035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08D57"/>
            </a:solidFill>
            <a:prstDash val="solid"/>
          </a:ln>
        </p:spPr>
      </p:sp>
      <p:sp>
        <p:nvSpPr>
          <p:cNvPr id="8" name="barfill-7"/>
          <p:cNvSpPr/>
          <p:nvPr/>
        </p:nvSpPr>
        <p:spPr>
          <a:xfrm>
            <a:off x="822960" y="361188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9" name="text-8"/>
          <p:cNvSpPr txBox="1"/>
          <p:nvPr/>
        </p:nvSpPr>
        <p:spPr>
          <a:xfrm>
            <a:off x="777240" y="40416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Încredere: 63% · se încarcă…</a:t>
            </a:r>
            <a:endParaRPr lang="en-US" sz="1600" dirty="0"/>
          </a:p>
        </p:txBody>
      </p:sp>
      <p:sp>
        <p:nvSpPr>
          <p:cNvPr id="10" name="text-9"/>
          <p:cNvSpPr txBox="1"/>
          <p:nvPr/>
        </p:nvSpPr>
        <p:spPr>
          <a:xfrm>
            <a:off x="77724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8A6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„De ce putem vorbi ore întregi cu clientele, dar uităm cum ne cheamă când apăsăm REC?”</a:t>
            </a:r>
            <a:endParaRPr lang="en-US" sz="2100" dirty="0"/>
          </a:p>
        </p:txBody>
      </p:sp>
      <p:sp>
        <p:nvSpPr>
          <p:cNvPr id="11" name="card-10"/>
          <p:cNvSpPr/>
          <p:nvPr/>
        </p:nvSpPr>
        <p:spPr>
          <a:xfrm>
            <a:off x="7635240" y="914400"/>
            <a:ext cx="38404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2" name="text-11"/>
          <p:cNvSpPr txBox="1"/>
          <p:nvPr/>
        </p:nvSpPr>
        <p:spPr>
          <a:xfrm>
            <a:off x="790956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A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 clienta:</a:t>
            </a:r>
            <a:endParaRPr lang="en-US" sz="1700" dirty="0"/>
          </a:p>
        </p:txBody>
      </p:sp>
      <p:sp>
        <p:nvSpPr>
          <p:cNvPr id="13" name="text-12"/>
          <p:cNvSpPr txBox="1"/>
          <p:nvPr/>
        </p:nvSpPr>
        <p:spPr>
          <a:xfrm>
            <a:off x="7909560" y="1463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ore despre vacanță, soacră și balayage.</a:t>
            </a:r>
            <a:endParaRPr lang="en-US" sz="1800" dirty="0"/>
          </a:p>
        </p:txBody>
      </p:sp>
      <p:sp>
        <p:nvSpPr>
          <p:cNvPr id="14" name="text-13"/>
          <p:cNvSpPr txBox="1"/>
          <p:nvPr/>
        </p:nvSpPr>
        <p:spPr>
          <a:xfrm>
            <a:off x="790956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REC:</a:t>
            </a:r>
            <a:endParaRPr lang="en-US" sz="1700" dirty="0"/>
          </a:p>
        </p:txBody>
      </p:sp>
      <p:sp>
        <p:nvSpPr>
          <p:cNvPr id="15" name="text-14"/>
          <p:cNvSpPr txBox="1"/>
          <p:nvPr/>
        </p:nvSpPr>
        <p:spPr>
          <a:xfrm>
            <a:off x="7909560" y="2514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„Bună, sunt… ăăă… cine sunt?”</a:t>
            </a:r>
            <a:endParaRPr lang="en-US" sz="1800" dirty="0"/>
          </a:p>
        </p:txBody>
      </p:sp>
      <p:sp>
        <p:nvSpPr>
          <p:cNvPr id="16" name="card-15"/>
          <p:cNvSpPr/>
          <p:nvPr/>
        </p:nvSpPr>
        <p:spPr>
          <a:xfrm>
            <a:off x="7635240" y="3383280"/>
            <a:ext cx="3840480" cy="2240280"/>
          </a:xfrm>
          <a:prstGeom prst="roundRect">
            <a:avLst>
              <a:gd name="adj" fmla="val 4898"/>
            </a:avLst>
          </a:prstGeom>
          <a:solidFill>
            <a:srgbClr val="211A16"/>
          </a:solidFill>
          <a:ln w="12700">
            <a:solidFill>
              <a:srgbClr val="211A16"/>
            </a:solidFill>
            <a:prstDash val="solid"/>
          </a:ln>
        </p:spPr>
      </p:sp>
      <p:sp>
        <p:nvSpPr>
          <p:cNvPr id="17" name="text-16"/>
          <p:cNvSpPr txBox="1"/>
          <p:nvPr/>
        </p:nvSpPr>
        <p:spPr>
          <a:xfrm>
            <a:off x="7909560" y="3520440"/>
            <a:ext cx="3337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 nu ne schimbă </a:t>
            </a:r>
            <a:r>
              <a:rPr lang="en-US" sz="2100" b="1" dirty="0">
                <a:solidFill>
                  <a:srgbClr val="E9D3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competențele</a:t>
            </a: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Ne schimbă </a:t>
            </a:r>
            <a:r>
              <a:rPr lang="en-US" sz="2100" b="1" dirty="0">
                <a:solidFill>
                  <a:srgbClr val="E9D3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percepția</a:t>
            </a: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asupra propriei persoane.</a:t>
            </a:r>
            <a:endParaRPr lang="en-US" sz="2100" dirty="0"/>
          </a:p>
        </p:txBody>
      </p:sp>
      <p:sp>
        <p:nvSpPr>
          <p:cNvPr id="18" name="text-17"/>
          <p:cNvSpPr txBox="1"/>
          <p:nvPr/>
        </p:nvSpPr>
        <p:spPr>
          <a:xfrm>
            <a:off x="77724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BLONDE AMBITION by Diana Avram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18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12700">
            <a:solidFill>
              <a:srgbClr val="E9D3A6"/>
            </a:solidFill>
            <a:prstDash val="solid"/>
          </a:ln>
        </p:spPr>
      </p:sp>
      <p:sp>
        <p:nvSpPr>
          <p:cNvPr id="3" name="text-19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FRICILE</a:t>
            </a:r>
            <a:endParaRPr lang="en-US" sz="1400" dirty="0"/>
          </a:p>
        </p:txBody>
      </p:sp>
      <p:sp>
        <p:nvSpPr>
          <p:cNvPr id="4" name="text-20"/>
          <p:cNvSpPr txBox="1"/>
          <p:nvPr/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ce ne este frică să vorbim la cameră?</a:t>
            </a:r>
            <a:endParaRPr lang="en-US" sz="3800" dirty="0"/>
          </a:p>
        </p:txBody>
      </p:sp>
      <p:sp>
        <p:nvSpPr>
          <p:cNvPr id="5" name="text-21"/>
          <p:cNvSpPr txBox="1"/>
          <p:nvPr/>
        </p:nvSpPr>
        <p:spPr>
          <a:xfrm>
            <a:off x="68580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BLONDE AMBITION by Diana Avram</a:t>
            </a:r>
            <a:endParaRPr lang="en-US" sz="1100" dirty="0"/>
          </a:p>
        </p:txBody>
      </p:sp>
      <p:sp>
        <p:nvSpPr>
          <p:cNvPr id="6" name="text-22"/>
          <p:cNvSpPr txBox="1"/>
          <p:nvPr/>
        </p:nvSpPr>
        <p:spPr>
          <a:xfrm>
            <a:off x="10957255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card-23"/>
          <p:cNvSpPr/>
          <p:nvPr/>
        </p:nvSpPr>
        <p:spPr>
          <a:xfrm>
            <a:off x="685800" y="192024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9" name="badge-24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10" name="icon-2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256739"/>
            <a:ext cx="332842" cy="332842"/>
          </a:xfrm>
          <a:prstGeom prst="rect">
            <a:avLst/>
          </a:prstGeom>
        </p:spPr>
      </p:pic>
      <p:sp>
        <p:nvSpPr>
          <p:cNvPr id="11" name="text-26"/>
          <p:cNvSpPr txBox="1"/>
          <p:nvPr/>
        </p:nvSpPr>
        <p:spPr>
          <a:xfrm>
            <a:off x="86868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A6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Accentul</a:t>
            </a:r>
            <a:endParaRPr lang="en-US" sz="2000" dirty="0"/>
          </a:p>
        </p:txBody>
      </p:sp>
      <p:sp>
        <p:nvSpPr>
          <p:cNvPr id="12" name="text-27"/>
          <p:cNvSpPr txBox="1"/>
          <p:nvPr/>
        </p:nvSpPr>
        <p:spPr>
          <a:xfrm>
            <a:off x="868680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„Dacă râde cineva de felul în care vorbesc?”</a:t>
            </a:r>
            <a:endParaRPr lang="en-US" sz="1500" dirty="0"/>
          </a:p>
        </p:txBody>
      </p:sp>
      <p:sp>
        <p:nvSpPr>
          <p:cNvPr id="13" name="card-28"/>
          <p:cNvSpPr/>
          <p:nvPr/>
        </p:nvSpPr>
        <p:spPr>
          <a:xfrm>
            <a:off x="2880360" y="192024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4" name="badge-29"/>
          <p:cNvSpPr/>
          <p:nvPr/>
        </p:nvSpPr>
        <p:spPr>
          <a:xfrm>
            <a:off x="3063240" y="2103120"/>
            <a:ext cx="640080" cy="64008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15" name="icon-3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859" y="2256739"/>
            <a:ext cx="332842" cy="332842"/>
          </a:xfrm>
          <a:prstGeom prst="rect">
            <a:avLst/>
          </a:prstGeom>
        </p:spPr>
      </p:pic>
      <p:sp>
        <p:nvSpPr>
          <p:cNvPr id="16" name="text-31"/>
          <p:cNvSpPr txBox="1"/>
          <p:nvPr/>
        </p:nvSpPr>
        <p:spPr>
          <a:xfrm>
            <a:off x="306324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A6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Vocea</a:t>
            </a:r>
            <a:endParaRPr lang="en-US" sz="2000" dirty="0"/>
          </a:p>
        </p:txBody>
      </p:sp>
      <p:sp>
        <p:nvSpPr>
          <p:cNvPr id="17" name="text-32"/>
          <p:cNvSpPr txBox="1"/>
          <p:nvPr/>
        </p:nvSpPr>
        <p:spPr>
          <a:xfrm>
            <a:off x="3063240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„De ce sună vocea mea atât de ciudat?”</a:t>
            </a:r>
            <a:endParaRPr lang="en-US" sz="1500" dirty="0"/>
          </a:p>
        </p:txBody>
      </p:sp>
      <p:sp>
        <p:nvSpPr>
          <p:cNvPr id="18" name="card-33"/>
          <p:cNvSpPr/>
          <p:nvPr/>
        </p:nvSpPr>
        <p:spPr>
          <a:xfrm>
            <a:off x="5074920" y="192024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9" name="badge-34"/>
          <p:cNvSpPr/>
          <p:nvPr/>
        </p:nvSpPr>
        <p:spPr>
          <a:xfrm>
            <a:off x="5257800" y="2103120"/>
            <a:ext cx="640080" cy="64008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20" name="icon-3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419" y="2256739"/>
            <a:ext cx="332842" cy="332842"/>
          </a:xfrm>
          <a:prstGeom prst="rect">
            <a:avLst/>
          </a:prstGeom>
        </p:spPr>
      </p:pic>
      <p:sp>
        <p:nvSpPr>
          <p:cNvPr id="21" name="text-36"/>
          <p:cNvSpPr txBox="1"/>
          <p:nvPr/>
        </p:nvSpPr>
        <p:spPr>
          <a:xfrm>
            <a:off x="525780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A6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Bâlbâiala</a:t>
            </a:r>
            <a:endParaRPr lang="en-US" sz="2000" dirty="0"/>
          </a:p>
        </p:txBody>
      </p:sp>
      <p:sp>
        <p:nvSpPr>
          <p:cNvPr id="22" name="text-37"/>
          <p:cNvSpPr txBox="1"/>
          <p:nvPr/>
        </p:nvSpPr>
        <p:spPr>
          <a:xfrm>
            <a:off x="5257800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„Dacă uit cuvintele sau mă încurc?”</a:t>
            </a:r>
            <a:endParaRPr lang="en-US" sz="1500" dirty="0"/>
          </a:p>
        </p:txBody>
      </p:sp>
      <p:sp>
        <p:nvSpPr>
          <p:cNvPr id="23" name="card-38"/>
          <p:cNvSpPr/>
          <p:nvPr/>
        </p:nvSpPr>
        <p:spPr>
          <a:xfrm>
            <a:off x="7269480" y="192024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4" name="badge-39"/>
          <p:cNvSpPr/>
          <p:nvPr/>
        </p:nvSpPr>
        <p:spPr>
          <a:xfrm>
            <a:off x="7452360" y="2103120"/>
            <a:ext cx="640080" cy="64008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25" name="icon-4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5979" y="2256739"/>
            <a:ext cx="332842" cy="332842"/>
          </a:xfrm>
          <a:prstGeom prst="rect">
            <a:avLst/>
          </a:prstGeom>
        </p:spPr>
      </p:pic>
      <p:sp>
        <p:nvSpPr>
          <p:cNvPr id="26" name="text-41"/>
          <p:cNvSpPr txBox="1"/>
          <p:nvPr/>
        </p:nvSpPr>
        <p:spPr>
          <a:xfrm>
            <a:off x="745236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A6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Textul</a:t>
            </a:r>
            <a:endParaRPr lang="en-US" sz="2000" dirty="0"/>
          </a:p>
        </p:txBody>
      </p:sp>
      <p:sp>
        <p:nvSpPr>
          <p:cNvPr id="27" name="text-42"/>
          <p:cNvSpPr txBox="1"/>
          <p:nvPr/>
        </p:nvSpPr>
        <p:spPr>
          <a:xfrm>
            <a:off x="7452360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„Dacă nu-mi amintesc ce voiam să spun?”</a:t>
            </a:r>
            <a:endParaRPr lang="en-US" sz="1500" dirty="0"/>
          </a:p>
        </p:txBody>
      </p:sp>
      <p:sp>
        <p:nvSpPr>
          <p:cNvPr id="28" name="card-43"/>
          <p:cNvSpPr/>
          <p:nvPr/>
        </p:nvSpPr>
        <p:spPr>
          <a:xfrm>
            <a:off x="9464040" y="192024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9" name="badge-44"/>
          <p:cNvSpPr/>
          <p:nvPr/>
        </p:nvSpPr>
        <p:spPr>
          <a:xfrm>
            <a:off x="9646920" y="2103120"/>
            <a:ext cx="640080" cy="64008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30" name="icon-4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0539" y="2256739"/>
            <a:ext cx="332842" cy="332842"/>
          </a:xfrm>
          <a:prstGeom prst="rect">
            <a:avLst/>
          </a:prstGeom>
        </p:spPr>
      </p:pic>
      <p:sp>
        <p:nvSpPr>
          <p:cNvPr id="31" name="text-46"/>
          <p:cNvSpPr txBox="1"/>
          <p:nvPr/>
        </p:nvSpPr>
        <p:spPr>
          <a:xfrm>
            <a:off x="964692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A6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Judecata</a:t>
            </a:r>
            <a:endParaRPr lang="en-US" sz="2000" dirty="0"/>
          </a:p>
        </p:txBody>
      </p:sp>
      <p:sp>
        <p:nvSpPr>
          <p:cNvPr id="32" name="text-47"/>
          <p:cNvSpPr txBox="1"/>
          <p:nvPr/>
        </p:nvSpPr>
        <p:spPr>
          <a:xfrm>
            <a:off x="9646920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„Ce vor spune colegii, clientele, cunoscuții?”</a:t>
            </a:r>
            <a:endParaRPr lang="en-US" sz="1500" dirty="0"/>
          </a:p>
        </p:txBody>
      </p:sp>
      <p:sp>
        <p:nvSpPr>
          <p:cNvPr id="33" name="text-48"/>
          <p:cNvSpPr txBox="1"/>
          <p:nvPr/>
        </p:nvSpPr>
        <p:spPr>
          <a:xfrm>
            <a:off x="685800" y="45262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ce?</a:t>
            </a:r>
            <a:r>
              <a:rPr lang="en-US" sz="16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Creierul vede camera ca pe un juriu (teama de evaluare), iar noi suntem cel mai sever critic (autocritica).</a:t>
            </a:r>
            <a:endParaRPr lang="en-US" sz="1600" dirty="0"/>
          </a:p>
        </p:txBody>
      </p:sp>
      <p:sp>
        <p:nvSpPr>
          <p:cNvPr id="34" name="card-49"/>
          <p:cNvSpPr/>
          <p:nvPr/>
        </p:nvSpPr>
        <p:spPr>
          <a:xfrm>
            <a:off x="685800" y="5166360"/>
            <a:ext cx="10820095" cy="822960"/>
          </a:xfrm>
          <a:prstGeom prst="roundRect">
            <a:avLst>
              <a:gd name="adj" fmla="val 13333"/>
            </a:avLst>
          </a:prstGeom>
          <a:solidFill>
            <a:srgbClr val="211A16"/>
          </a:solidFill>
          <a:ln w="12700">
            <a:solidFill>
              <a:srgbClr val="211A16"/>
            </a:solidFill>
            <a:prstDash val="solid"/>
          </a:ln>
        </p:spPr>
      </p:sp>
      <p:sp>
        <p:nvSpPr>
          <p:cNvPr id="35" name="text-50"/>
          <p:cNvSpPr txBox="1"/>
          <p:nvPr/>
        </p:nvSpPr>
        <p:spPr>
          <a:xfrm>
            <a:off x="914400" y="52120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9D3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„La decolorare controlăm oxidantul. La cameră încercăm să controlăm și părerea întregului internet!”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5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12700">
            <a:solidFill>
              <a:srgbClr val="E9D3A6"/>
            </a:solidFill>
            <a:prstDash val="solid"/>
          </a:ln>
        </p:spPr>
      </p:sp>
      <p:sp>
        <p:nvSpPr>
          <p:cNvPr id="3" name="text-52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VOCEA TA</a:t>
            </a:r>
            <a:endParaRPr lang="en-US" sz="1400" dirty="0"/>
          </a:p>
        </p:txBody>
      </p:sp>
      <p:sp>
        <p:nvSpPr>
          <p:cNvPr id="4" name="text-53"/>
          <p:cNvSpPr txBox="1"/>
          <p:nvPr/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ce nu ne place propria voce?</a:t>
            </a:r>
            <a:endParaRPr lang="en-US" sz="3800" dirty="0"/>
          </a:p>
        </p:txBody>
      </p:sp>
      <p:sp>
        <p:nvSpPr>
          <p:cNvPr id="5" name="text-54"/>
          <p:cNvSpPr txBox="1"/>
          <p:nvPr/>
        </p:nvSpPr>
        <p:spPr>
          <a:xfrm>
            <a:off x="68580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BLONDE AMBITION by Diana Avram</a:t>
            </a:r>
            <a:endParaRPr lang="en-US" sz="1100" dirty="0"/>
          </a:p>
        </p:txBody>
      </p:sp>
      <p:sp>
        <p:nvSpPr>
          <p:cNvPr id="6" name="text-55"/>
          <p:cNvSpPr txBox="1"/>
          <p:nvPr/>
        </p:nvSpPr>
        <p:spPr>
          <a:xfrm>
            <a:off x="10957255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card-56"/>
          <p:cNvSpPr/>
          <p:nvPr/>
        </p:nvSpPr>
        <p:spPr>
          <a:xfrm>
            <a:off x="685800" y="1920240"/>
            <a:ext cx="52578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9" name="badge-57"/>
          <p:cNvSpPr/>
          <p:nvPr/>
        </p:nvSpPr>
        <p:spPr>
          <a:xfrm>
            <a:off x="914400" y="2103120"/>
            <a:ext cx="685800" cy="68580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10" name="icon-5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67712"/>
            <a:ext cx="356616" cy="356616"/>
          </a:xfrm>
          <a:prstGeom prst="rect">
            <a:avLst/>
          </a:prstGeom>
        </p:spPr>
      </p:pic>
      <p:sp>
        <p:nvSpPr>
          <p:cNvPr id="11" name="text-59"/>
          <p:cNvSpPr txBox="1"/>
          <p:nvPr/>
        </p:nvSpPr>
        <p:spPr>
          <a:xfrm>
            <a:off x="1783080" y="2148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6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 te auzi TU</a:t>
            </a:r>
            <a:endParaRPr lang="en-US" sz="2400" dirty="0"/>
          </a:p>
        </p:txBody>
      </p:sp>
      <p:sp>
        <p:nvSpPr>
          <p:cNvPr id="12" name="text-60"/>
          <p:cNvSpPr txBox="1"/>
          <p:nvPr/>
        </p:nvSpPr>
        <p:spPr>
          <a:xfrm>
            <a:off x="914400" y="29260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 </a:t>
            </a:r>
            <a:r>
              <a:rPr lang="en-US" sz="19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</a:t>
            </a:r>
            <a:r>
              <a:rPr lang="en-US" sz="19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prin </a:t>
            </a:r>
            <a:r>
              <a:rPr lang="en-US" sz="19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oasele capului</a:t>
            </a:r>
            <a:r>
              <a:rPr lang="en-US" sz="19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Vocea sună mai gravă, mai „plină”.</a:t>
            </a:r>
            <a:endParaRPr lang="en-US" sz="1900" dirty="0"/>
          </a:p>
        </p:txBody>
      </p:sp>
      <p:sp>
        <p:nvSpPr>
          <p:cNvPr id="13" name="card-61"/>
          <p:cNvSpPr/>
          <p:nvPr/>
        </p:nvSpPr>
        <p:spPr>
          <a:xfrm>
            <a:off x="6263640" y="1920240"/>
            <a:ext cx="52578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4" name="badge-62"/>
          <p:cNvSpPr/>
          <p:nvPr/>
        </p:nvSpPr>
        <p:spPr>
          <a:xfrm>
            <a:off x="6492240" y="2103120"/>
            <a:ext cx="685800" cy="68580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15" name="icon-6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67712"/>
            <a:ext cx="356616" cy="356616"/>
          </a:xfrm>
          <a:prstGeom prst="rect">
            <a:avLst/>
          </a:prstGeom>
        </p:spPr>
      </p:pic>
      <p:sp>
        <p:nvSpPr>
          <p:cNvPr id="16" name="text-64"/>
          <p:cNvSpPr txBox="1"/>
          <p:nvPr/>
        </p:nvSpPr>
        <p:spPr>
          <a:xfrm>
            <a:off x="7360920" y="2148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6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 te aude TELEFONUL</a:t>
            </a:r>
            <a:endParaRPr lang="en-US" sz="2400" dirty="0"/>
          </a:p>
        </p:txBody>
      </p:sp>
      <p:sp>
        <p:nvSpPr>
          <p:cNvPr id="17" name="text-65"/>
          <p:cNvSpPr txBox="1"/>
          <p:nvPr/>
        </p:nvSpPr>
        <p:spPr>
          <a:xfrm>
            <a:off x="6492240" y="29260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Doar prin </a:t>
            </a:r>
            <a:r>
              <a:rPr lang="en-US" sz="19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</a:t>
            </a:r>
            <a:r>
              <a:rPr lang="en-US" sz="19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ca toată lumea.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Sună mai subțire, „ciudat” doar pentru tine.</a:t>
            </a:r>
            <a:endParaRPr lang="en-US" sz="1900" dirty="0"/>
          </a:p>
        </p:txBody>
      </p:sp>
      <p:sp>
        <p:nvSpPr>
          <p:cNvPr id="18" name="card-66"/>
          <p:cNvSpPr/>
          <p:nvPr/>
        </p:nvSpPr>
        <p:spPr>
          <a:xfrm>
            <a:off x="685800" y="4434840"/>
            <a:ext cx="6766560" cy="1508760"/>
          </a:xfrm>
          <a:prstGeom prst="roundRect">
            <a:avLst>
              <a:gd name="adj" fmla="val 7273"/>
            </a:avLst>
          </a:prstGeom>
          <a:solidFill>
            <a:srgbClr val="211A16"/>
          </a:solidFill>
          <a:ln w="12700">
            <a:solidFill>
              <a:srgbClr val="211A16"/>
            </a:solidFill>
            <a:prstDash val="solid"/>
          </a:ln>
        </p:spPr>
      </p:sp>
      <p:sp>
        <p:nvSpPr>
          <p:cNvPr id="19" name="text-67"/>
          <p:cNvSpPr txBox="1"/>
          <p:nvPr/>
        </p:nvSpPr>
        <p:spPr>
          <a:xfrm>
            <a:off x="960120" y="4526280"/>
            <a:ext cx="6309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9D3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„Vocea ta nu este greșită. Doar nu ești obișnuit să o auzi așa.”</a:t>
            </a:r>
            <a:endParaRPr lang="en-US" sz="2200" dirty="0"/>
          </a:p>
        </p:txBody>
      </p:sp>
      <p:sp>
        <p:nvSpPr>
          <p:cNvPr id="20" name="card-68"/>
          <p:cNvSpPr/>
          <p:nvPr/>
        </p:nvSpPr>
        <p:spPr>
          <a:xfrm>
            <a:off x="7680960" y="4434840"/>
            <a:ext cx="38404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1" name="badge-69"/>
          <p:cNvSpPr/>
          <p:nvPr/>
        </p:nvSpPr>
        <p:spPr>
          <a:xfrm>
            <a:off x="7863840" y="4617720"/>
            <a:ext cx="548640" cy="5486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22" name="icon-7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514" y="4749394"/>
            <a:ext cx="285293" cy="285293"/>
          </a:xfrm>
          <a:prstGeom prst="rect">
            <a:avLst/>
          </a:prstGeom>
        </p:spPr>
      </p:pic>
      <p:sp>
        <p:nvSpPr>
          <p:cNvPr id="23" name="text-71"/>
          <p:cNvSpPr txBox="1"/>
          <p:nvPr/>
        </p:nvSpPr>
        <p:spPr>
          <a:xfrm>
            <a:off x="8549640" y="452628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Accentul nu e un defect.</a:t>
            </a:r>
            <a:r>
              <a:rPr lang="en-US" sz="17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Claritatea bate accentul „perfect”.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7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12700">
            <a:solidFill>
              <a:srgbClr val="E9D3A6"/>
            </a:solidFill>
            <a:prstDash val="solid"/>
          </a:ln>
        </p:spPr>
      </p:sp>
      <p:sp>
        <p:nvSpPr>
          <p:cNvPr id="3" name="text-73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SABOTORUL Nr. 1</a:t>
            </a:r>
            <a:endParaRPr lang="en-US" sz="1400" dirty="0"/>
          </a:p>
        </p:txBody>
      </p:sp>
      <p:sp>
        <p:nvSpPr>
          <p:cNvPr id="4" name="text-74"/>
          <p:cNvSpPr txBox="1"/>
          <p:nvPr/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Perfecționismul: cel mai mare sabotor</a:t>
            </a:r>
            <a:endParaRPr lang="en-US" sz="3800" dirty="0"/>
          </a:p>
        </p:txBody>
      </p:sp>
      <p:sp>
        <p:nvSpPr>
          <p:cNvPr id="5" name="text-75"/>
          <p:cNvSpPr txBox="1"/>
          <p:nvPr/>
        </p:nvSpPr>
        <p:spPr>
          <a:xfrm>
            <a:off x="68580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BLONDE AMBITION by Diana Avram</a:t>
            </a:r>
            <a:endParaRPr lang="en-US" sz="1100" dirty="0"/>
          </a:p>
        </p:txBody>
      </p:sp>
      <p:sp>
        <p:nvSpPr>
          <p:cNvPr id="6" name="text-76"/>
          <p:cNvSpPr txBox="1"/>
          <p:nvPr/>
        </p:nvSpPr>
        <p:spPr>
          <a:xfrm>
            <a:off x="10957255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card-77"/>
          <p:cNvSpPr/>
          <p:nvPr/>
        </p:nvSpPr>
        <p:spPr>
          <a:xfrm>
            <a:off x="685800" y="1920240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9" name="badge-78"/>
          <p:cNvSpPr/>
          <p:nvPr/>
        </p:nvSpPr>
        <p:spPr>
          <a:xfrm>
            <a:off x="868680" y="2048256"/>
            <a:ext cx="521208" cy="521208"/>
          </a:xfrm>
          <a:prstGeom prst="ellipse">
            <a:avLst/>
          </a:prstGeom>
          <a:solidFill>
            <a:srgbClr val="B8ADA3"/>
          </a:solidFill>
          <a:ln w="12700">
            <a:solidFill>
              <a:srgbClr val="B8ADA3"/>
            </a:solidFill>
            <a:prstDash val="solid"/>
          </a:ln>
        </p:spPr>
      </p:sp>
      <p:pic>
        <p:nvPicPr>
          <p:cNvPr id="10" name="icon-7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770" y="2173346"/>
            <a:ext cx="271028" cy="271028"/>
          </a:xfrm>
          <a:prstGeom prst="rect">
            <a:avLst/>
          </a:prstGeom>
        </p:spPr>
      </p:pic>
      <p:sp>
        <p:nvSpPr>
          <p:cNvPr id="11" name="text-80"/>
          <p:cNvSpPr txBox="1"/>
          <p:nvPr/>
        </p:nvSpPr>
        <p:spPr>
          <a:xfrm>
            <a:off x="1554480" y="19202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memorat mecanic</a:t>
            </a:r>
            <a:endParaRPr lang="en-US" sz="2100" dirty="0"/>
          </a:p>
        </p:txBody>
      </p:sp>
      <p:pic>
        <p:nvPicPr>
          <p:cNvPr id="12" name="arrow-8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075688"/>
            <a:ext cx="457200" cy="457200"/>
          </a:xfrm>
          <a:prstGeom prst="rect">
            <a:avLst/>
          </a:prstGeom>
        </p:spPr>
      </p:pic>
      <p:sp>
        <p:nvSpPr>
          <p:cNvPr id="13" name="card-82"/>
          <p:cNvSpPr/>
          <p:nvPr/>
        </p:nvSpPr>
        <p:spPr>
          <a:xfrm>
            <a:off x="6263640" y="1920240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FBF5EA"/>
          </a:solidFill>
          <a:ln w="19050">
            <a:solidFill>
              <a:srgbClr val="B08D57"/>
            </a:solidFill>
            <a:prstDash val="solid"/>
          </a:ln>
        </p:spPr>
      </p:sp>
      <p:sp>
        <p:nvSpPr>
          <p:cNvPr id="14" name="badge-83"/>
          <p:cNvSpPr/>
          <p:nvPr/>
        </p:nvSpPr>
        <p:spPr>
          <a:xfrm>
            <a:off x="6446520" y="2048256"/>
            <a:ext cx="521208" cy="521208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15" name="icon-8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610" y="2173346"/>
            <a:ext cx="271028" cy="271028"/>
          </a:xfrm>
          <a:prstGeom prst="rect">
            <a:avLst/>
          </a:prstGeom>
        </p:spPr>
      </p:pic>
      <p:sp>
        <p:nvSpPr>
          <p:cNvPr id="16" name="text-85"/>
          <p:cNvSpPr txBox="1"/>
          <p:nvPr/>
        </p:nvSpPr>
        <p:spPr>
          <a:xfrm>
            <a:off x="7132320" y="1920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Idee înțeleasă</a:t>
            </a:r>
            <a:endParaRPr lang="en-US" sz="2100" dirty="0"/>
          </a:p>
        </p:txBody>
      </p:sp>
      <p:sp>
        <p:nvSpPr>
          <p:cNvPr id="17" name="card-86"/>
          <p:cNvSpPr/>
          <p:nvPr/>
        </p:nvSpPr>
        <p:spPr>
          <a:xfrm>
            <a:off x="685800" y="2880360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8" name="badge-87"/>
          <p:cNvSpPr/>
          <p:nvPr/>
        </p:nvSpPr>
        <p:spPr>
          <a:xfrm>
            <a:off x="868680" y="3008376"/>
            <a:ext cx="521208" cy="521208"/>
          </a:xfrm>
          <a:prstGeom prst="ellipse">
            <a:avLst/>
          </a:prstGeom>
          <a:solidFill>
            <a:srgbClr val="B8ADA3"/>
          </a:solidFill>
          <a:ln w="12700">
            <a:solidFill>
              <a:srgbClr val="B8ADA3"/>
            </a:solidFill>
            <a:prstDash val="solid"/>
          </a:ln>
        </p:spPr>
      </p:sp>
      <p:pic>
        <p:nvPicPr>
          <p:cNvPr id="19" name="icon-8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770" y="3133466"/>
            <a:ext cx="271028" cy="271028"/>
          </a:xfrm>
          <a:prstGeom prst="rect">
            <a:avLst/>
          </a:prstGeom>
        </p:spPr>
      </p:pic>
      <p:sp>
        <p:nvSpPr>
          <p:cNvPr id="20" name="text-89"/>
          <p:cNvSpPr txBox="1"/>
          <p:nvPr/>
        </p:nvSpPr>
        <p:spPr>
          <a:xfrm>
            <a:off x="1554480" y="28803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Discurs perfect</a:t>
            </a:r>
            <a:endParaRPr lang="en-US" sz="2100" dirty="0"/>
          </a:p>
        </p:txBody>
      </p:sp>
      <p:pic>
        <p:nvPicPr>
          <p:cNvPr id="21" name="arrow-9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035808"/>
            <a:ext cx="457200" cy="457200"/>
          </a:xfrm>
          <a:prstGeom prst="rect">
            <a:avLst/>
          </a:prstGeom>
        </p:spPr>
      </p:pic>
      <p:sp>
        <p:nvSpPr>
          <p:cNvPr id="22" name="card-91"/>
          <p:cNvSpPr/>
          <p:nvPr/>
        </p:nvSpPr>
        <p:spPr>
          <a:xfrm>
            <a:off x="6263640" y="2880360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FBF5EA"/>
          </a:solidFill>
          <a:ln w="19050">
            <a:solidFill>
              <a:srgbClr val="B08D57"/>
            </a:solidFill>
            <a:prstDash val="solid"/>
          </a:ln>
        </p:spPr>
      </p:sp>
      <p:sp>
        <p:nvSpPr>
          <p:cNvPr id="23" name="badge-92"/>
          <p:cNvSpPr/>
          <p:nvPr/>
        </p:nvSpPr>
        <p:spPr>
          <a:xfrm>
            <a:off x="6446520" y="3008376"/>
            <a:ext cx="521208" cy="521208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24" name="icon-9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610" y="3133466"/>
            <a:ext cx="271028" cy="271028"/>
          </a:xfrm>
          <a:prstGeom prst="rect">
            <a:avLst/>
          </a:prstGeom>
        </p:spPr>
      </p:pic>
      <p:sp>
        <p:nvSpPr>
          <p:cNvPr id="25" name="text-94"/>
          <p:cNvSpPr txBox="1"/>
          <p:nvPr/>
        </p:nvSpPr>
        <p:spPr>
          <a:xfrm>
            <a:off x="7132320" y="28803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Comunicare autentică</a:t>
            </a:r>
            <a:endParaRPr lang="en-US" sz="2100" dirty="0"/>
          </a:p>
        </p:txBody>
      </p:sp>
      <p:sp>
        <p:nvSpPr>
          <p:cNvPr id="26" name="card-95"/>
          <p:cNvSpPr/>
          <p:nvPr/>
        </p:nvSpPr>
        <p:spPr>
          <a:xfrm>
            <a:off x="685800" y="3840480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7" name="badge-96"/>
          <p:cNvSpPr/>
          <p:nvPr/>
        </p:nvSpPr>
        <p:spPr>
          <a:xfrm>
            <a:off x="868680" y="3968496"/>
            <a:ext cx="521208" cy="521208"/>
          </a:xfrm>
          <a:prstGeom prst="ellipse">
            <a:avLst/>
          </a:prstGeom>
          <a:solidFill>
            <a:srgbClr val="B8ADA3"/>
          </a:solidFill>
          <a:ln w="12700">
            <a:solidFill>
              <a:srgbClr val="B8ADA3"/>
            </a:solidFill>
            <a:prstDash val="solid"/>
          </a:ln>
        </p:spPr>
      </p:sp>
      <p:pic>
        <p:nvPicPr>
          <p:cNvPr id="28" name="icon-9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770" y="4093586"/>
            <a:ext cx="271028" cy="271028"/>
          </a:xfrm>
          <a:prstGeom prst="rect">
            <a:avLst/>
          </a:prstGeom>
        </p:spPr>
      </p:pic>
      <p:sp>
        <p:nvSpPr>
          <p:cNvPr id="29" name="text-98"/>
          <p:cNvSpPr txBox="1"/>
          <p:nvPr/>
        </p:nvSpPr>
        <p:spPr>
          <a:xfrm>
            <a:off x="1554480" y="3840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Frica de greșeală</a:t>
            </a:r>
            <a:endParaRPr lang="en-US" sz="2100" dirty="0"/>
          </a:p>
        </p:txBody>
      </p:sp>
      <p:pic>
        <p:nvPicPr>
          <p:cNvPr id="30" name="arrow-99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3560" y="3995928"/>
            <a:ext cx="457200" cy="457200"/>
          </a:xfrm>
          <a:prstGeom prst="rect">
            <a:avLst/>
          </a:prstGeom>
        </p:spPr>
      </p:pic>
      <p:sp>
        <p:nvSpPr>
          <p:cNvPr id="31" name="card-100"/>
          <p:cNvSpPr/>
          <p:nvPr/>
        </p:nvSpPr>
        <p:spPr>
          <a:xfrm>
            <a:off x="6263640" y="3840480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FBF5EA"/>
          </a:solidFill>
          <a:ln w="19050">
            <a:solidFill>
              <a:srgbClr val="B08D57"/>
            </a:solidFill>
            <a:prstDash val="solid"/>
          </a:ln>
        </p:spPr>
      </p:sp>
      <p:sp>
        <p:nvSpPr>
          <p:cNvPr id="32" name="badge-101"/>
          <p:cNvSpPr/>
          <p:nvPr/>
        </p:nvSpPr>
        <p:spPr>
          <a:xfrm>
            <a:off x="6446520" y="3968496"/>
            <a:ext cx="521208" cy="521208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33" name="icon-10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1610" y="4093586"/>
            <a:ext cx="271028" cy="271028"/>
          </a:xfrm>
          <a:prstGeom prst="rect">
            <a:avLst/>
          </a:prstGeom>
        </p:spPr>
      </p:pic>
      <p:sp>
        <p:nvSpPr>
          <p:cNvPr id="34" name="text-103"/>
          <p:cNvSpPr txBox="1"/>
          <p:nvPr/>
        </p:nvSpPr>
        <p:spPr>
          <a:xfrm>
            <a:off x="7132320" y="3840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Libertatea de a repeta</a:t>
            </a:r>
            <a:endParaRPr lang="en-US" sz="2100" dirty="0"/>
          </a:p>
        </p:txBody>
      </p:sp>
      <p:sp>
        <p:nvSpPr>
          <p:cNvPr id="35" name="card-104"/>
          <p:cNvSpPr/>
          <p:nvPr/>
        </p:nvSpPr>
        <p:spPr>
          <a:xfrm>
            <a:off x="685800" y="4892040"/>
            <a:ext cx="10820095" cy="1051560"/>
          </a:xfrm>
          <a:prstGeom prst="roundRect">
            <a:avLst>
              <a:gd name="adj" fmla="val 10435"/>
            </a:avLst>
          </a:prstGeom>
          <a:solidFill>
            <a:srgbClr val="211A16"/>
          </a:solidFill>
          <a:ln w="12700">
            <a:solidFill>
              <a:srgbClr val="211A16"/>
            </a:solidFill>
            <a:prstDash val="solid"/>
          </a:ln>
        </p:spPr>
      </p:sp>
      <p:sp>
        <p:nvSpPr>
          <p:cNvPr id="36" name="text-105"/>
          <p:cNvSpPr txBox="1"/>
          <p:nvPr/>
        </p:nvSpPr>
        <p:spPr>
          <a:xfrm>
            <a:off x="960120" y="4937760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9D3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„Nu trebuie să vorbești ca un prezentator TV. Trebuie să vorbești ca un profesionist care știe ce face.”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106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12700">
            <a:solidFill>
              <a:srgbClr val="E9D3A6"/>
            </a:solidFill>
            <a:prstDash val="solid"/>
          </a:ln>
        </p:spPr>
      </p:sp>
      <p:sp>
        <p:nvSpPr>
          <p:cNvPr id="3" name="text-107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CU PAS</a:t>
            </a:r>
            <a:endParaRPr lang="en-US" sz="1400" dirty="0"/>
          </a:p>
        </p:txBody>
      </p:sp>
      <p:sp>
        <p:nvSpPr>
          <p:cNvPr id="4" name="text-108"/>
          <p:cNvSpPr txBox="1"/>
          <p:nvPr/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 ieșim mai repede din zona de confort?</a:t>
            </a:r>
            <a:endParaRPr lang="en-US" sz="3800" dirty="0"/>
          </a:p>
        </p:txBody>
      </p:sp>
      <p:sp>
        <p:nvSpPr>
          <p:cNvPr id="5" name="text-109"/>
          <p:cNvSpPr txBox="1"/>
          <p:nvPr/>
        </p:nvSpPr>
        <p:spPr>
          <a:xfrm>
            <a:off x="68580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BLONDE AMBITION by Diana Avram</a:t>
            </a:r>
            <a:endParaRPr lang="en-US" sz="1100" dirty="0"/>
          </a:p>
        </p:txBody>
      </p:sp>
      <p:sp>
        <p:nvSpPr>
          <p:cNvPr id="6" name="text-110"/>
          <p:cNvSpPr txBox="1"/>
          <p:nvPr/>
        </p:nvSpPr>
        <p:spPr>
          <a:xfrm>
            <a:off x="10957255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card-111"/>
          <p:cNvSpPr/>
          <p:nvPr/>
        </p:nvSpPr>
        <p:spPr>
          <a:xfrm>
            <a:off x="685800" y="379476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9" name="num-112"/>
          <p:cNvSpPr/>
          <p:nvPr/>
        </p:nvSpPr>
        <p:spPr>
          <a:xfrm>
            <a:off x="868680" y="3977640"/>
            <a:ext cx="566928" cy="566928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0" name="text-113"/>
          <p:cNvSpPr txBox="1"/>
          <p:nvPr/>
        </p:nvSpPr>
        <p:spPr>
          <a:xfrm>
            <a:off x="8686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pic>
        <p:nvPicPr>
          <p:cNvPr id="11" name="stepicon-11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4041648"/>
            <a:ext cx="438912" cy="438912"/>
          </a:xfrm>
          <a:prstGeom prst="rect">
            <a:avLst/>
          </a:prstGeom>
        </p:spPr>
      </p:pic>
      <p:sp>
        <p:nvSpPr>
          <p:cNvPr id="12" name="text-115"/>
          <p:cNvSpPr txBox="1"/>
          <p:nvPr/>
        </p:nvSpPr>
        <p:spPr>
          <a:xfrm>
            <a:off x="868680" y="46634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Filmări de 5 secunde</a:t>
            </a:r>
            <a:endParaRPr lang="en-US" sz="1800" dirty="0"/>
          </a:p>
        </p:txBody>
      </p:sp>
      <p:sp>
        <p:nvSpPr>
          <p:cNvPr id="13" name="card-116"/>
          <p:cNvSpPr/>
          <p:nvPr/>
        </p:nvSpPr>
        <p:spPr>
          <a:xfrm>
            <a:off x="2880360" y="3383280"/>
            <a:ext cx="2011680" cy="2057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4" name="num-117"/>
          <p:cNvSpPr/>
          <p:nvPr/>
        </p:nvSpPr>
        <p:spPr>
          <a:xfrm>
            <a:off x="3063240" y="3566160"/>
            <a:ext cx="566928" cy="566928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5" name="text-118"/>
          <p:cNvSpPr txBox="1"/>
          <p:nvPr/>
        </p:nvSpPr>
        <p:spPr>
          <a:xfrm>
            <a:off x="3063240" y="3566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pic>
        <p:nvPicPr>
          <p:cNvPr id="16" name="stepicon-11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3630168"/>
            <a:ext cx="438912" cy="438912"/>
          </a:xfrm>
          <a:prstGeom prst="rect">
            <a:avLst/>
          </a:prstGeom>
        </p:spPr>
      </p:pic>
      <p:sp>
        <p:nvSpPr>
          <p:cNvPr id="17" name="text-120"/>
          <p:cNvSpPr txBox="1"/>
          <p:nvPr/>
        </p:nvSpPr>
        <p:spPr>
          <a:xfrm>
            <a:off x="3063240" y="42519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Despre ce știi foarte bine</a:t>
            </a:r>
            <a:endParaRPr lang="en-US" sz="1800" dirty="0"/>
          </a:p>
        </p:txBody>
      </p:sp>
      <p:sp>
        <p:nvSpPr>
          <p:cNvPr id="18" name="card-121"/>
          <p:cNvSpPr/>
          <p:nvPr/>
        </p:nvSpPr>
        <p:spPr>
          <a:xfrm>
            <a:off x="5074920" y="2971800"/>
            <a:ext cx="2011680" cy="24688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9" name="num-122"/>
          <p:cNvSpPr/>
          <p:nvPr/>
        </p:nvSpPr>
        <p:spPr>
          <a:xfrm>
            <a:off x="5257800" y="3154680"/>
            <a:ext cx="566928" cy="566928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0" name="text-123"/>
          <p:cNvSpPr txBox="1"/>
          <p:nvPr/>
        </p:nvSpPr>
        <p:spPr>
          <a:xfrm>
            <a:off x="525780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pic>
        <p:nvPicPr>
          <p:cNvPr id="21" name="stepicon-12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218688"/>
            <a:ext cx="438912" cy="438912"/>
          </a:xfrm>
          <a:prstGeom prst="rect">
            <a:avLst/>
          </a:prstGeom>
        </p:spPr>
      </p:pic>
      <p:sp>
        <p:nvSpPr>
          <p:cNvPr id="22" name="text-125"/>
          <p:cNvSpPr txBox="1"/>
          <p:nvPr/>
        </p:nvSpPr>
        <p:spPr>
          <a:xfrm>
            <a:off x="5257800" y="38404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Repeți fără să te judeci</a:t>
            </a:r>
            <a:endParaRPr lang="en-US" sz="1800" dirty="0"/>
          </a:p>
        </p:txBody>
      </p:sp>
      <p:sp>
        <p:nvSpPr>
          <p:cNvPr id="23" name="card-126"/>
          <p:cNvSpPr/>
          <p:nvPr/>
        </p:nvSpPr>
        <p:spPr>
          <a:xfrm>
            <a:off x="7269480" y="2560320"/>
            <a:ext cx="2011680" cy="28803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4" name="num-127"/>
          <p:cNvSpPr/>
          <p:nvPr/>
        </p:nvSpPr>
        <p:spPr>
          <a:xfrm>
            <a:off x="7452360" y="2743200"/>
            <a:ext cx="566928" cy="566928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5" name="text-128"/>
          <p:cNvSpPr txBox="1"/>
          <p:nvPr/>
        </p:nvSpPr>
        <p:spPr>
          <a:xfrm>
            <a:off x="7452360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pic>
        <p:nvPicPr>
          <p:cNvPr id="26" name="stepicon-12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2807208"/>
            <a:ext cx="438912" cy="438912"/>
          </a:xfrm>
          <a:prstGeom prst="rect">
            <a:avLst/>
          </a:prstGeom>
        </p:spPr>
      </p:pic>
      <p:sp>
        <p:nvSpPr>
          <p:cNvPr id="27" name="text-130"/>
          <p:cNvSpPr txBox="1"/>
          <p:nvPr/>
        </p:nvSpPr>
        <p:spPr>
          <a:xfrm>
            <a:off x="7452360" y="34290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Crești treptat expunerea</a:t>
            </a:r>
            <a:endParaRPr lang="en-US" sz="1800" dirty="0"/>
          </a:p>
        </p:txBody>
      </p:sp>
      <p:sp>
        <p:nvSpPr>
          <p:cNvPr id="28" name="card-131"/>
          <p:cNvSpPr/>
          <p:nvPr/>
        </p:nvSpPr>
        <p:spPr>
          <a:xfrm>
            <a:off x="9464040" y="214884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FBF5EA"/>
          </a:solidFill>
          <a:ln w="19050">
            <a:solidFill>
              <a:srgbClr val="B08D57"/>
            </a:solidFill>
            <a:prstDash val="solid"/>
          </a:ln>
        </p:spPr>
      </p:sp>
      <p:sp>
        <p:nvSpPr>
          <p:cNvPr id="29" name="num-132"/>
          <p:cNvSpPr/>
          <p:nvPr/>
        </p:nvSpPr>
        <p:spPr>
          <a:xfrm>
            <a:off x="9646920" y="2331720"/>
            <a:ext cx="566928" cy="566928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30" name="text-133"/>
          <p:cNvSpPr txBox="1"/>
          <p:nvPr/>
        </p:nvSpPr>
        <p:spPr>
          <a:xfrm>
            <a:off x="964692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pic>
        <p:nvPicPr>
          <p:cNvPr id="31" name="stepicon-13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2395728"/>
            <a:ext cx="438912" cy="438912"/>
          </a:xfrm>
          <a:prstGeom prst="rect">
            <a:avLst/>
          </a:prstGeom>
        </p:spPr>
      </p:pic>
      <p:sp>
        <p:nvSpPr>
          <p:cNvPr id="32" name="text-135"/>
          <p:cNvSpPr txBox="1"/>
          <p:nvPr/>
        </p:nvSpPr>
        <p:spPr>
          <a:xfrm>
            <a:off x="9646920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alegi când publici</a:t>
            </a:r>
            <a:endParaRPr lang="en-US" sz="1800" dirty="0"/>
          </a:p>
        </p:txBody>
      </p:sp>
      <p:sp>
        <p:nvSpPr>
          <p:cNvPr id="33" name="text-136"/>
          <p:cNvSpPr txBox="1"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Emoțiile nu dispar la termen fix. Devin mai ușor de dus.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137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12700">
            <a:solidFill>
              <a:srgbClr val="E9D3A6"/>
            </a:solidFill>
            <a:prstDash val="solid"/>
          </a:ln>
        </p:spPr>
      </p:sp>
      <p:sp>
        <p:nvSpPr>
          <p:cNvPr id="3" name="text-138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ÎNAINTE DE REC</a:t>
            </a:r>
            <a:endParaRPr lang="en-US" sz="1400" dirty="0"/>
          </a:p>
        </p:txBody>
      </p:sp>
      <p:sp>
        <p:nvSpPr>
          <p:cNvPr id="4" name="text-139"/>
          <p:cNvSpPr txBox="1"/>
          <p:nvPr/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Trucuri smart înainte să apeși REC</a:t>
            </a:r>
            <a:endParaRPr lang="en-US" sz="3800" dirty="0"/>
          </a:p>
        </p:txBody>
      </p:sp>
      <p:sp>
        <p:nvSpPr>
          <p:cNvPr id="5" name="text-140"/>
          <p:cNvSpPr txBox="1"/>
          <p:nvPr/>
        </p:nvSpPr>
        <p:spPr>
          <a:xfrm>
            <a:off x="68580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BLONDE AMBITION by Diana Avram</a:t>
            </a:r>
            <a:endParaRPr lang="en-US" sz="1100" dirty="0"/>
          </a:p>
        </p:txBody>
      </p:sp>
      <p:sp>
        <p:nvSpPr>
          <p:cNvPr id="6" name="text-141"/>
          <p:cNvSpPr txBox="1"/>
          <p:nvPr/>
        </p:nvSpPr>
        <p:spPr>
          <a:xfrm>
            <a:off x="10957255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card-142"/>
          <p:cNvSpPr/>
          <p:nvPr/>
        </p:nvSpPr>
        <p:spPr>
          <a:xfrm>
            <a:off x="685800" y="19202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9" name="badge-143"/>
          <p:cNvSpPr/>
          <p:nvPr/>
        </p:nvSpPr>
        <p:spPr>
          <a:xfrm>
            <a:off x="1280160" y="2148840"/>
            <a:ext cx="822960" cy="82296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10" name="icon-14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7670" y="2346350"/>
            <a:ext cx="427939" cy="427939"/>
          </a:xfrm>
          <a:prstGeom prst="rect">
            <a:avLst/>
          </a:prstGeom>
        </p:spPr>
      </p:pic>
      <p:sp>
        <p:nvSpPr>
          <p:cNvPr id="11" name="text-145"/>
          <p:cNvSpPr txBox="1"/>
          <p:nvPr/>
        </p:nvSpPr>
        <p:spPr>
          <a:xfrm>
            <a:off x="822960" y="3154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Expiră lent</a:t>
            </a:r>
            <a:endParaRPr lang="en-US" sz="2000" dirty="0"/>
          </a:p>
        </p:txBody>
      </p:sp>
      <p:sp>
        <p:nvSpPr>
          <p:cNvPr id="12" name="text-146"/>
          <p:cNvSpPr txBox="1"/>
          <p:nvPr/>
        </p:nvSpPr>
        <p:spPr>
          <a:xfrm>
            <a:off x="822960" y="3840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înainte să începi</a:t>
            </a:r>
            <a:endParaRPr lang="en-US" sz="1600" dirty="0"/>
          </a:p>
        </p:txBody>
      </p:sp>
      <p:sp>
        <p:nvSpPr>
          <p:cNvPr id="13" name="card-147"/>
          <p:cNvSpPr/>
          <p:nvPr/>
        </p:nvSpPr>
        <p:spPr>
          <a:xfrm>
            <a:off x="2880360" y="19202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4" name="badge-148"/>
          <p:cNvSpPr/>
          <p:nvPr/>
        </p:nvSpPr>
        <p:spPr>
          <a:xfrm>
            <a:off x="3474720" y="2148840"/>
            <a:ext cx="822960" cy="82296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15" name="icon-14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230" y="2346350"/>
            <a:ext cx="427939" cy="427939"/>
          </a:xfrm>
          <a:prstGeom prst="rect">
            <a:avLst/>
          </a:prstGeom>
        </p:spPr>
      </p:pic>
      <p:sp>
        <p:nvSpPr>
          <p:cNvPr id="16" name="text-150"/>
          <p:cNvSpPr txBox="1"/>
          <p:nvPr/>
        </p:nvSpPr>
        <p:spPr>
          <a:xfrm>
            <a:off x="3017520" y="3154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Privește obiectivul</a:t>
            </a:r>
            <a:endParaRPr lang="en-US" sz="2000" dirty="0"/>
          </a:p>
        </p:txBody>
      </p:sp>
      <p:sp>
        <p:nvSpPr>
          <p:cNvPr id="17" name="text-151"/>
          <p:cNvSpPr txBox="1"/>
          <p:nvPr/>
        </p:nvSpPr>
        <p:spPr>
          <a:xfrm>
            <a:off x="3017520" y="3840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propria imagine</a:t>
            </a:r>
            <a:endParaRPr lang="en-US" sz="1600" dirty="0"/>
          </a:p>
        </p:txBody>
      </p:sp>
      <p:sp>
        <p:nvSpPr>
          <p:cNvPr id="18" name="card-152"/>
          <p:cNvSpPr/>
          <p:nvPr/>
        </p:nvSpPr>
        <p:spPr>
          <a:xfrm>
            <a:off x="5074920" y="19202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9" name="badge-153"/>
          <p:cNvSpPr/>
          <p:nvPr/>
        </p:nvSpPr>
        <p:spPr>
          <a:xfrm>
            <a:off x="5669280" y="2148840"/>
            <a:ext cx="822960" cy="82296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20" name="icon-15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0" y="2346350"/>
            <a:ext cx="427939" cy="427939"/>
          </a:xfrm>
          <a:prstGeom prst="rect">
            <a:avLst/>
          </a:prstGeom>
        </p:spPr>
      </p:pic>
      <p:sp>
        <p:nvSpPr>
          <p:cNvPr id="21" name="text-155"/>
          <p:cNvSpPr txBox="1"/>
          <p:nvPr/>
        </p:nvSpPr>
        <p:spPr>
          <a:xfrm>
            <a:off x="5212080" y="3154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singură clientă</a:t>
            </a:r>
            <a:endParaRPr lang="en-US" sz="2000" dirty="0"/>
          </a:p>
        </p:txBody>
      </p:sp>
      <p:sp>
        <p:nvSpPr>
          <p:cNvPr id="22" name="text-156"/>
          <p:cNvSpPr txBox="1"/>
          <p:nvPr/>
        </p:nvSpPr>
        <p:spPr>
          <a:xfrm>
            <a:off x="5212080" y="3840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vorbești doar cu ea</a:t>
            </a:r>
            <a:endParaRPr lang="en-US" sz="1600" dirty="0"/>
          </a:p>
        </p:txBody>
      </p:sp>
      <p:sp>
        <p:nvSpPr>
          <p:cNvPr id="23" name="card-157"/>
          <p:cNvSpPr/>
          <p:nvPr/>
        </p:nvSpPr>
        <p:spPr>
          <a:xfrm>
            <a:off x="7269480" y="19202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4" name="badge-158"/>
          <p:cNvSpPr/>
          <p:nvPr/>
        </p:nvSpPr>
        <p:spPr>
          <a:xfrm>
            <a:off x="7863840" y="2148840"/>
            <a:ext cx="822960" cy="82296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25" name="icon-15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350" y="2346350"/>
            <a:ext cx="427939" cy="427939"/>
          </a:xfrm>
          <a:prstGeom prst="rect">
            <a:avLst/>
          </a:prstGeom>
        </p:spPr>
      </p:pic>
      <p:sp>
        <p:nvSpPr>
          <p:cNvPr id="26" name="text-160"/>
          <p:cNvSpPr txBox="1"/>
          <p:nvPr/>
        </p:nvSpPr>
        <p:spPr>
          <a:xfrm>
            <a:off x="7406640" y="3154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cuvinte-cheie</a:t>
            </a:r>
            <a:endParaRPr lang="en-US" sz="2000" dirty="0"/>
          </a:p>
        </p:txBody>
      </p:sp>
      <p:sp>
        <p:nvSpPr>
          <p:cNvPr id="27" name="text-161"/>
          <p:cNvSpPr txBox="1"/>
          <p:nvPr/>
        </p:nvSpPr>
        <p:spPr>
          <a:xfrm>
            <a:off x="7406640" y="3840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un discurs întreg</a:t>
            </a:r>
            <a:endParaRPr lang="en-US" sz="1600" dirty="0"/>
          </a:p>
        </p:txBody>
      </p:sp>
      <p:sp>
        <p:nvSpPr>
          <p:cNvPr id="28" name="card-162"/>
          <p:cNvSpPr/>
          <p:nvPr/>
        </p:nvSpPr>
        <p:spPr>
          <a:xfrm>
            <a:off x="9464040" y="19202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9" name="badge-163"/>
          <p:cNvSpPr/>
          <p:nvPr/>
        </p:nvSpPr>
        <p:spPr>
          <a:xfrm>
            <a:off x="10058400" y="2148840"/>
            <a:ext cx="822960" cy="82296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30" name="icon-16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5910" y="2346350"/>
            <a:ext cx="427939" cy="427939"/>
          </a:xfrm>
          <a:prstGeom prst="rect">
            <a:avLst/>
          </a:prstGeom>
        </p:spPr>
      </p:pic>
      <p:sp>
        <p:nvSpPr>
          <p:cNvPr id="31" name="text-165"/>
          <p:cNvSpPr txBox="1"/>
          <p:nvPr/>
        </p:nvSpPr>
        <p:spPr>
          <a:xfrm>
            <a:off x="9601200" y="3154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Te-ai încurcat?</a:t>
            </a:r>
            <a:endParaRPr lang="en-US" sz="2000" dirty="0"/>
          </a:p>
        </p:txBody>
      </p:sp>
      <p:sp>
        <p:nvSpPr>
          <p:cNvPr id="32" name="text-166"/>
          <p:cNvSpPr txBox="1"/>
          <p:nvPr/>
        </p:nvSpPr>
        <p:spPr>
          <a:xfrm>
            <a:off x="9601200" y="3840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 sau reiei</a:t>
            </a:r>
            <a:endParaRPr lang="en-US" sz="1600" dirty="0"/>
          </a:p>
        </p:txBody>
      </p:sp>
      <p:sp>
        <p:nvSpPr>
          <p:cNvPr id="33" name="card-167"/>
          <p:cNvSpPr/>
          <p:nvPr/>
        </p:nvSpPr>
        <p:spPr>
          <a:xfrm>
            <a:off x="685800" y="4846320"/>
            <a:ext cx="10820095" cy="1051560"/>
          </a:xfrm>
          <a:prstGeom prst="roundRect">
            <a:avLst>
              <a:gd name="adj" fmla="val 10435"/>
            </a:avLst>
          </a:prstGeom>
          <a:solidFill>
            <a:srgbClr val="211A16"/>
          </a:solidFill>
          <a:ln w="12700">
            <a:solidFill>
              <a:srgbClr val="211A16"/>
            </a:solidFill>
            <a:prstDash val="solid"/>
          </a:ln>
        </p:spPr>
      </p:sp>
      <p:sp>
        <p:nvSpPr>
          <p:cNvPr id="34" name="text-168"/>
          <p:cNvSpPr txBox="1"/>
          <p:nvPr/>
        </p:nvSpPr>
        <p:spPr>
          <a:xfrm>
            <a:off x="960120" y="4892040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E9D3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„Nu e operație pe cord deschis. E doar un videoclip!”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169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12700">
            <a:solidFill>
              <a:srgbClr val="E9D3A6"/>
            </a:solidFill>
            <a:prstDash val="solid"/>
          </a:ln>
        </p:spPr>
      </p:sp>
      <p:sp>
        <p:nvSpPr>
          <p:cNvPr id="3" name="text-170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CONFIDENCE CHALLENGE</a:t>
            </a:r>
            <a:endParaRPr lang="en-US" sz="1400" dirty="0"/>
          </a:p>
        </p:txBody>
      </p:sp>
      <p:sp>
        <p:nvSpPr>
          <p:cNvPr id="4" name="text-171"/>
          <p:cNvSpPr txBox="1"/>
          <p:nvPr/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LUCREZI. COLEGA FILMEAZĂ. CAMERA NU MUȘCĂ!</a:t>
            </a:r>
            <a:endParaRPr lang="en-US" sz="3000" dirty="0"/>
          </a:p>
        </p:txBody>
      </p:sp>
      <p:sp>
        <p:nvSpPr>
          <p:cNvPr id="5" name="text-172"/>
          <p:cNvSpPr txBox="1"/>
          <p:nvPr/>
        </p:nvSpPr>
        <p:spPr>
          <a:xfrm>
            <a:off x="68580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BLONDE AMBITION by Diana Avram</a:t>
            </a:r>
            <a:endParaRPr lang="en-US" sz="1100" dirty="0"/>
          </a:p>
        </p:txBody>
      </p:sp>
      <p:sp>
        <p:nvSpPr>
          <p:cNvPr id="6" name="text-173"/>
          <p:cNvSpPr txBox="1"/>
          <p:nvPr/>
        </p:nvSpPr>
        <p:spPr>
          <a:xfrm>
            <a:off x="10957255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badge-174"/>
          <p:cNvSpPr/>
          <p:nvPr/>
        </p:nvSpPr>
        <p:spPr>
          <a:xfrm>
            <a:off x="685800" y="2011680"/>
            <a:ext cx="731520" cy="73152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9" name="icon-17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5" y="2187245"/>
            <a:ext cx="380390" cy="380390"/>
          </a:xfrm>
          <a:prstGeom prst="rect">
            <a:avLst/>
          </a:prstGeom>
        </p:spPr>
      </p:pic>
      <p:sp>
        <p:nvSpPr>
          <p:cNvPr id="10" name="text-176"/>
          <p:cNvSpPr txBox="1"/>
          <p:nvPr/>
        </p:nvSpPr>
        <p:spPr>
          <a:xfrm>
            <a:off x="155448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lucrezi</a:t>
            </a:r>
            <a:endParaRPr lang="en-US" sz="2200" dirty="0"/>
          </a:p>
        </p:txBody>
      </p:sp>
      <p:sp>
        <p:nvSpPr>
          <p:cNvPr id="11" name="badge-177"/>
          <p:cNvSpPr/>
          <p:nvPr/>
        </p:nvSpPr>
        <p:spPr>
          <a:xfrm>
            <a:off x="3657600" y="2011680"/>
            <a:ext cx="731520" cy="73152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12" name="icon-17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165" y="2187245"/>
            <a:ext cx="380390" cy="380390"/>
          </a:xfrm>
          <a:prstGeom prst="rect">
            <a:avLst/>
          </a:prstGeom>
        </p:spPr>
      </p:pic>
      <p:sp>
        <p:nvSpPr>
          <p:cNvPr id="13" name="text-179"/>
          <p:cNvSpPr txBox="1"/>
          <p:nvPr/>
        </p:nvSpPr>
        <p:spPr>
          <a:xfrm>
            <a:off x="452628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Colega filmează</a:t>
            </a:r>
            <a:endParaRPr lang="en-US" sz="2200" dirty="0"/>
          </a:p>
        </p:txBody>
      </p:sp>
      <p:sp>
        <p:nvSpPr>
          <p:cNvPr id="14" name="card-180"/>
          <p:cNvSpPr/>
          <p:nvPr/>
        </p:nvSpPr>
        <p:spPr>
          <a:xfrm>
            <a:off x="685800" y="2971800"/>
            <a:ext cx="31546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5" name="badge-181"/>
          <p:cNvSpPr/>
          <p:nvPr/>
        </p:nvSpPr>
        <p:spPr>
          <a:xfrm>
            <a:off x="822960" y="3127248"/>
            <a:ext cx="530352" cy="53035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16" name="icon-18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44" y="3254532"/>
            <a:ext cx="275783" cy="275783"/>
          </a:xfrm>
          <a:prstGeom prst="rect">
            <a:avLst/>
          </a:prstGeom>
        </p:spPr>
      </p:pic>
      <p:sp>
        <p:nvSpPr>
          <p:cNvPr id="17" name="text-183"/>
          <p:cNvSpPr txBox="1"/>
          <p:nvPr/>
        </p:nvSpPr>
        <p:spPr>
          <a:xfrm>
            <a:off x="1490472" y="2971800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Lucrați în perechi, la manechin</a:t>
            </a:r>
            <a:endParaRPr lang="en-US" sz="1600" dirty="0"/>
          </a:p>
        </p:txBody>
      </p:sp>
      <p:sp>
        <p:nvSpPr>
          <p:cNvPr id="18" name="card-184"/>
          <p:cNvSpPr/>
          <p:nvPr/>
        </p:nvSpPr>
        <p:spPr>
          <a:xfrm>
            <a:off x="4023360" y="2971800"/>
            <a:ext cx="31546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9" name="badge-185"/>
          <p:cNvSpPr/>
          <p:nvPr/>
        </p:nvSpPr>
        <p:spPr>
          <a:xfrm>
            <a:off x="4160520" y="3127248"/>
            <a:ext cx="530352" cy="53035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20" name="icon-18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804" y="3254532"/>
            <a:ext cx="275783" cy="275783"/>
          </a:xfrm>
          <a:prstGeom prst="rect">
            <a:avLst/>
          </a:prstGeom>
        </p:spPr>
      </p:pic>
      <p:sp>
        <p:nvSpPr>
          <p:cNvPr id="21" name="text-187"/>
          <p:cNvSpPr txBox="1"/>
          <p:nvPr/>
        </p:nvSpPr>
        <p:spPr>
          <a:xfrm>
            <a:off x="4828032" y="2971800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singură frază despre ce faci</a:t>
            </a:r>
            <a:endParaRPr lang="en-US" sz="1600" dirty="0"/>
          </a:p>
        </p:txBody>
      </p:sp>
      <p:sp>
        <p:nvSpPr>
          <p:cNvPr id="22" name="card-188"/>
          <p:cNvSpPr/>
          <p:nvPr/>
        </p:nvSpPr>
        <p:spPr>
          <a:xfrm>
            <a:off x="685800" y="3959352"/>
            <a:ext cx="31546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3" name="badge-189"/>
          <p:cNvSpPr/>
          <p:nvPr/>
        </p:nvSpPr>
        <p:spPr>
          <a:xfrm>
            <a:off x="822960" y="4114800"/>
            <a:ext cx="530352" cy="53035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24" name="icon-19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244" y="4242084"/>
            <a:ext cx="275783" cy="275783"/>
          </a:xfrm>
          <a:prstGeom prst="rect">
            <a:avLst/>
          </a:prstGeom>
        </p:spPr>
      </p:pic>
      <p:sp>
        <p:nvSpPr>
          <p:cNvPr id="25" name="text-191"/>
          <p:cNvSpPr txBox="1"/>
          <p:nvPr/>
        </p:nvSpPr>
        <p:spPr>
          <a:xfrm>
            <a:off x="1490472" y="395935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5 secunde</a:t>
            </a:r>
            <a:endParaRPr lang="en-US" sz="1600" dirty="0"/>
          </a:p>
        </p:txBody>
      </p:sp>
      <p:sp>
        <p:nvSpPr>
          <p:cNvPr id="26" name="card-192"/>
          <p:cNvSpPr/>
          <p:nvPr/>
        </p:nvSpPr>
        <p:spPr>
          <a:xfrm>
            <a:off x="4023360" y="3959352"/>
            <a:ext cx="31546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7" name="badge-193"/>
          <p:cNvSpPr/>
          <p:nvPr/>
        </p:nvSpPr>
        <p:spPr>
          <a:xfrm>
            <a:off x="4160520" y="4114800"/>
            <a:ext cx="530352" cy="53035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28" name="icon-19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7804" y="4242084"/>
            <a:ext cx="275783" cy="275783"/>
          </a:xfrm>
          <a:prstGeom prst="rect">
            <a:avLst/>
          </a:prstGeom>
        </p:spPr>
      </p:pic>
      <p:sp>
        <p:nvSpPr>
          <p:cNvPr id="29" name="text-195"/>
          <p:cNvSpPr txBox="1"/>
          <p:nvPr/>
        </p:nvSpPr>
        <p:spPr>
          <a:xfrm>
            <a:off x="4828032" y="395935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Repeți de câte ori vrei</a:t>
            </a:r>
            <a:endParaRPr lang="en-US" sz="1600" dirty="0"/>
          </a:p>
        </p:txBody>
      </p:sp>
      <p:sp>
        <p:nvSpPr>
          <p:cNvPr id="30" name="card-196"/>
          <p:cNvSpPr/>
          <p:nvPr/>
        </p:nvSpPr>
        <p:spPr>
          <a:xfrm>
            <a:off x="685800" y="4946904"/>
            <a:ext cx="31546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31" name="badge-197"/>
          <p:cNvSpPr/>
          <p:nvPr/>
        </p:nvSpPr>
        <p:spPr>
          <a:xfrm>
            <a:off x="822960" y="5102352"/>
            <a:ext cx="530352" cy="53035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32" name="icon-198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244" y="5229636"/>
            <a:ext cx="275783" cy="275783"/>
          </a:xfrm>
          <a:prstGeom prst="rect">
            <a:avLst/>
          </a:prstGeom>
        </p:spPr>
      </p:pic>
      <p:sp>
        <p:nvSpPr>
          <p:cNvPr id="33" name="text-199"/>
          <p:cNvSpPr txBox="1"/>
          <p:nvPr/>
        </p:nvSpPr>
        <p:spPr>
          <a:xfrm>
            <a:off x="1490472" y="4946904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 inversați rolurile</a:t>
            </a:r>
            <a:endParaRPr lang="en-US" sz="1600" dirty="0"/>
          </a:p>
        </p:txBody>
      </p:sp>
      <p:sp>
        <p:nvSpPr>
          <p:cNvPr id="34" name="card-200"/>
          <p:cNvSpPr/>
          <p:nvPr/>
        </p:nvSpPr>
        <p:spPr>
          <a:xfrm>
            <a:off x="4023360" y="4946904"/>
            <a:ext cx="31546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35" name="badge-201"/>
          <p:cNvSpPr/>
          <p:nvPr/>
        </p:nvSpPr>
        <p:spPr>
          <a:xfrm>
            <a:off x="4160520" y="5102352"/>
            <a:ext cx="530352" cy="53035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36" name="icon-20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7804" y="5229636"/>
            <a:ext cx="275783" cy="275783"/>
          </a:xfrm>
          <a:prstGeom prst="rect">
            <a:avLst/>
          </a:prstGeom>
        </p:spPr>
      </p:pic>
      <p:sp>
        <p:nvSpPr>
          <p:cNvPr id="37" name="text-203"/>
          <p:cNvSpPr txBox="1"/>
          <p:nvPr/>
        </p:nvSpPr>
        <p:spPr>
          <a:xfrm>
            <a:off x="4828032" y="4946904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Nimeni nu e obligat să publice</a:t>
            </a:r>
            <a:endParaRPr lang="en-US" sz="1600" dirty="0"/>
          </a:p>
        </p:txBody>
      </p:sp>
      <p:sp>
        <p:nvSpPr>
          <p:cNvPr id="38" name="card-204"/>
          <p:cNvSpPr/>
          <p:nvPr/>
        </p:nvSpPr>
        <p:spPr>
          <a:xfrm>
            <a:off x="7452360" y="2011680"/>
            <a:ext cx="4069080" cy="3931920"/>
          </a:xfrm>
          <a:prstGeom prst="roundRect">
            <a:avLst>
              <a:gd name="adj" fmla="val 2791"/>
            </a:avLst>
          </a:prstGeom>
          <a:solidFill>
            <a:srgbClr val="211A16"/>
          </a:solidFill>
          <a:ln w="12700">
            <a:solidFill>
              <a:srgbClr val="211A16"/>
            </a:solidFill>
            <a:prstDash val="solid"/>
          </a:ln>
        </p:spPr>
      </p:sp>
      <p:sp>
        <p:nvSpPr>
          <p:cNvPr id="39" name="badge-205"/>
          <p:cNvSpPr/>
          <p:nvPr/>
        </p:nvSpPr>
        <p:spPr>
          <a:xfrm>
            <a:off x="7726680" y="2148840"/>
            <a:ext cx="731520" cy="73152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40" name="icon-20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2245" y="2324405"/>
            <a:ext cx="380390" cy="380390"/>
          </a:xfrm>
          <a:prstGeom prst="rect">
            <a:avLst/>
          </a:prstGeom>
        </p:spPr>
      </p:pic>
      <p:sp>
        <p:nvSpPr>
          <p:cNvPr id="41" name="text-207"/>
          <p:cNvSpPr txBox="1"/>
          <p:nvPr/>
        </p:nvSpPr>
        <p:spPr>
          <a:xfrm>
            <a:off x="859536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D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 SPECIALĂ</a:t>
            </a:r>
            <a:endParaRPr lang="en-US" sz="1500" dirty="0"/>
          </a:p>
        </p:txBody>
      </p:sp>
      <p:sp>
        <p:nvSpPr>
          <p:cNvPr id="42" name="text-208"/>
          <p:cNvSpPr txBox="1"/>
          <p:nvPr/>
        </p:nvSpPr>
        <p:spPr>
          <a:xfrm>
            <a:off x="7726680" y="30175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GREȘELILE SUNT OBLIGATORII!</a:t>
            </a:r>
            <a:endParaRPr lang="en-US" sz="2800" dirty="0"/>
          </a:p>
        </p:txBody>
      </p:sp>
      <p:sp>
        <p:nvSpPr>
          <p:cNvPr id="43" name="text-209"/>
          <p:cNvSpPr txBox="1"/>
          <p:nvPr/>
        </p:nvSpPr>
        <p:spPr>
          <a:xfrm>
            <a:off x="7726680" y="41605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D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voie să greșești. Nu trebuie să greșești intenționat.</a:t>
            </a:r>
            <a:endParaRPr lang="en-US" sz="1600" dirty="0"/>
          </a:p>
        </p:txBody>
      </p:sp>
      <p:sp>
        <p:nvSpPr>
          <p:cNvPr id="44" name="text-210"/>
          <p:cNvSpPr txBox="1"/>
          <p:nvPr/>
        </p:nvSpPr>
        <p:spPr>
          <a:xfrm>
            <a:off x="7726680" y="48920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8CD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Dublele ratate nu se șterg automat: cu acordul tău, devin bloopers.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21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12700">
            <a:solidFill>
              <a:srgbClr val="E9D3A6"/>
            </a:solidFill>
            <a:prstDash val="solid"/>
          </a:ln>
        </p:spPr>
      </p:sp>
      <p:sp>
        <p:nvSpPr>
          <p:cNvPr id="3" name="text-212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ALEGE O FRAZĂ · 5 SECUNDE</a:t>
            </a:r>
            <a:endParaRPr lang="en-US" sz="1400" dirty="0"/>
          </a:p>
        </p:txBody>
      </p:sp>
      <p:sp>
        <p:nvSpPr>
          <p:cNvPr id="4" name="text-213"/>
          <p:cNvSpPr txBox="1"/>
          <p:nvPr/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 8 fraze ale provocării</a:t>
            </a:r>
            <a:endParaRPr lang="en-US" sz="3400" dirty="0"/>
          </a:p>
        </p:txBody>
      </p:sp>
      <p:sp>
        <p:nvSpPr>
          <p:cNvPr id="5" name="text-214"/>
          <p:cNvSpPr txBox="1"/>
          <p:nvPr/>
        </p:nvSpPr>
        <p:spPr>
          <a:xfrm>
            <a:off x="68580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BLONDE AMBITION by Diana Avram</a:t>
            </a:r>
            <a:endParaRPr lang="en-US" sz="1100" dirty="0"/>
          </a:p>
        </p:txBody>
      </p:sp>
      <p:sp>
        <p:nvSpPr>
          <p:cNvPr id="6" name="text-215"/>
          <p:cNvSpPr txBox="1"/>
          <p:nvPr/>
        </p:nvSpPr>
        <p:spPr>
          <a:xfrm>
            <a:off x="10957255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card-216"/>
          <p:cNvSpPr/>
          <p:nvPr/>
        </p:nvSpPr>
        <p:spPr>
          <a:xfrm>
            <a:off x="685800" y="1828800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9" name="num-217"/>
          <p:cNvSpPr/>
          <p:nvPr/>
        </p:nvSpPr>
        <p:spPr>
          <a:xfrm>
            <a:off x="822960" y="1984248"/>
            <a:ext cx="621792" cy="62179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0" name="text-218"/>
          <p:cNvSpPr txBox="1"/>
          <p:nvPr/>
        </p:nvSpPr>
        <p:spPr>
          <a:xfrm>
            <a:off x="822960" y="19842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-219"/>
          <p:cNvSpPr txBox="1"/>
          <p:nvPr/>
        </p:nvSpPr>
        <p:spPr>
          <a:xfrm>
            <a:off x="1600200" y="1847088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„Fac balayage, nu miracole. Dar sunt aproape!”</a:t>
            </a:r>
            <a:endParaRPr lang="en-US" sz="2200" dirty="0"/>
          </a:p>
        </p:txBody>
      </p:sp>
      <p:sp>
        <p:nvSpPr>
          <p:cNvPr id="12" name="card-220"/>
          <p:cNvSpPr/>
          <p:nvPr/>
        </p:nvSpPr>
        <p:spPr>
          <a:xfrm>
            <a:off x="685800" y="2880360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3" name="num-221"/>
          <p:cNvSpPr/>
          <p:nvPr/>
        </p:nvSpPr>
        <p:spPr>
          <a:xfrm>
            <a:off x="822960" y="3035808"/>
            <a:ext cx="621792" cy="62179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4" name="text-222"/>
          <p:cNvSpPr txBox="1"/>
          <p:nvPr/>
        </p:nvSpPr>
        <p:spPr>
          <a:xfrm>
            <a:off x="822960" y="30358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-223"/>
          <p:cNvSpPr txBox="1"/>
          <p:nvPr/>
        </p:nvSpPr>
        <p:spPr>
          <a:xfrm>
            <a:off x="1600200" y="2898648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„La blond mă pricep. La cameră exersez!”</a:t>
            </a:r>
            <a:endParaRPr lang="en-US" sz="2200" dirty="0"/>
          </a:p>
        </p:txBody>
      </p:sp>
      <p:sp>
        <p:nvSpPr>
          <p:cNvPr id="16" name="card-224"/>
          <p:cNvSpPr/>
          <p:nvPr/>
        </p:nvSpPr>
        <p:spPr>
          <a:xfrm>
            <a:off x="685800" y="3931920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7" name="num-225"/>
          <p:cNvSpPr/>
          <p:nvPr/>
        </p:nvSpPr>
        <p:spPr>
          <a:xfrm>
            <a:off x="822960" y="4087368"/>
            <a:ext cx="621792" cy="62179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8" name="text-226"/>
          <p:cNvSpPr txBox="1"/>
          <p:nvPr/>
        </p:nvSpPr>
        <p:spPr>
          <a:xfrm>
            <a:off x="822960" y="40873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-227"/>
          <p:cNvSpPr txBox="1"/>
          <p:nvPr/>
        </p:nvSpPr>
        <p:spPr>
          <a:xfrm>
            <a:off x="1600200" y="3950208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„Nu sunt influencer. Sunt colorist cu potențial!”</a:t>
            </a:r>
            <a:endParaRPr lang="en-US" sz="2200" dirty="0"/>
          </a:p>
        </p:txBody>
      </p:sp>
      <p:sp>
        <p:nvSpPr>
          <p:cNvPr id="20" name="card-228"/>
          <p:cNvSpPr/>
          <p:nvPr/>
        </p:nvSpPr>
        <p:spPr>
          <a:xfrm>
            <a:off x="685800" y="4983480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1" name="num-229"/>
          <p:cNvSpPr/>
          <p:nvPr/>
        </p:nvSpPr>
        <p:spPr>
          <a:xfrm>
            <a:off x="822960" y="5138928"/>
            <a:ext cx="621792" cy="62179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2" name="text-230"/>
          <p:cNvSpPr txBox="1"/>
          <p:nvPr/>
        </p:nvSpPr>
        <p:spPr>
          <a:xfrm>
            <a:off x="822960" y="5138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-231"/>
          <p:cNvSpPr txBox="1"/>
          <p:nvPr/>
        </p:nvSpPr>
        <p:spPr>
          <a:xfrm>
            <a:off x="1600200" y="5001768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„Un blond frumos începe cu o diagnoză.”</a:t>
            </a:r>
            <a:endParaRPr lang="en-US" sz="2200" dirty="0"/>
          </a:p>
        </p:txBody>
      </p:sp>
      <p:sp>
        <p:nvSpPr>
          <p:cNvPr id="24" name="card-232"/>
          <p:cNvSpPr/>
          <p:nvPr/>
        </p:nvSpPr>
        <p:spPr>
          <a:xfrm>
            <a:off x="6172200" y="1828800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5" name="num-233"/>
          <p:cNvSpPr/>
          <p:nvPr/>
        </p:nvSpPr>
        <p:spPr>
          <a:xfrm>
            <a:off x="6309360" y="1984248"/>
            <a:ext cx="621792" cy="62179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6" name="text-234"/>
          <p:cNvSpPr txBox="1"/>
          <p:nvPr/>
        </p:nvSpPr>
        <p:spPr>
          <a:xfrm>
            <a:off x="6309360" y="19842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-235"/>
          <p:cNvSpPr txBox="1"/>
          <p:nvPr/>
        </p:nvSpPr>
        <p:spPr>
          <a:xfrm>
            <a:off x="7086600" y="1847088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„Culoarea frumoasă începe cu o tehnică inteligentă.”</a:t>
            </a:r>
            <a:endParaRPr lang="en-US" sz="2200" dirty="0"/>
          </a:p>
        </p:txBody>
      </p:sp>
      <p:sp>
        <p:nvSpPr>
          <p:cNvPr id="28" name="card-236"/>
          <p:cNvSpPr/>
          <p:nvPr/>
        </p:nvSpPr>
        <p:spPr>
          <a:xfrm>
            <a:off x="6172200" y="2880360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9" name="num-237"/>
          <p:cNvSpPr/>
          <p:nvPr/>
        </p:nvSpPr>
        <p:spPr>
          <a:xfrm>
            <a:off x="6309360" y="3035808"/>
            <a:ext cx="621792" cy="62179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30" name="text-238"/>
          <p:cNvSpPr txBox="1"/>
          <p:nvPr/>
        </p:nvSpPr>
        <p:spPr>
          <a:xfrm>
            <a:off x="6309360" y="30358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31" name="text-239"/>
          <p:cNvSpPr txBox="1"/>
          <p:nvPr/>
        </p:nvSpPr>
        <p:spPr>
          <a:xfrm>
            <a:off x="7086600" y="2898648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„Nu fac doar blond. Creez dimensiune.”</a:t>
            </a:r>
            <a:endParaRPr lang="en-US" sz="2200" dirty="0"/>
          </a:p>
        </p:txBody>
      </p:sp>
      <p:sp>
        <p:nvSpPr>
          <p:cNvPr id="32" name="card-240"/>
          <p:cNvSpPr/>
          <p:nvPr/>
        </p:nvSpPr>
        <p:spPr>
          <a:xfrm>
            <a:off x="6172200" y="3931920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33" name="num-241"/>
          <p:cNvSpPr/>
          <p:nvPr/>
        </p:nvSpPr>
        <p:spPr>
          <a:xfrm>
            <a:off x="6309360" y="4087368"/>
            <a:ext cx="621792" cy="62179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34" name="text-242"/>
          <p:cNvSpPr txBox="1"/>
          <p:nvPr/>
        </p:nvSpPr>
        <p:spPr>
          <a:xfrm>
            <a:off x="6309360" y="40873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600" dirty="0"/>
          </a:p>
        </p:txBody>
      </p:sp>
      <p:sp>
        <p:nvSpPr>
          <p:cNvPr id="35" name="text-243"/>
          <p:cNvSpPr txBox="1"/>
          <p:nvPr/>
        </p:nvSpPr>
        <p:spPr>
          <a:xfrm>
            <a:off x="7086600" y="3950208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„Am emoții, dar mâinile știu ce fac!”</a:t>
            </a:r>
            <a:endParaRPr lang="en-US" sz="2200" dirty="0"/>
          </a:p>
        </p:txBody>
      </p:sp>
      <p:sp>
        <p:nvSpPr>
          <p:cNvPr id="36" name="card-244"/>
          <p:cNvSpPr/>
          <p:nvPr/>
        </p:nvSpPr>
        <p:spPr>
          <a:xfrm>
            <a:off x="6172200" y="4983480"/>
            <a:ext cx="53035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37" name="num-245"/>
          <p:cNvSpPr/>
          <p:nvPr/>
        </p:nvSpPr>
        <p:spPr>
          <a:xfrm>
            <a:off x="6309360" y="5138928"/>
            <a:ext cx="621792" cy="621792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38" name="text-246"/>
          <p:cNvSpPr txBox="1"/>
          <p:nvPr/>
        </p:nvSpPr>
        <p:spPr>
          <a:xfrm>
            <a:off x="6309360" y="5138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600" dirty="0"/>
          </a:p>
        </p:txBody>
      </p:sp>
      <p:sp>
        <p:nvSpPr>
          <p:cNvPr id="39" name="text-247"/>
          <p:cNvSpPr txBox="1"/>
          <p:nvPr/>
        </p:nvSpPr>
        <p:spPr>
          <a:xfrm>
            <a:off x="7086600" y="5001768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„Astăzi ies din spatele scaunului!”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248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12700">
            <a:solidFill>
              <a:srgbClr val="E9D3A6"/>
            </a:solidFill>
            <a:prstDash val="solid"/>
          </a:ln>
        </p:spPr>
      </p:sp>
      <p:sp>
        <p:nvSpPr>
          <p:cNvPr id="3" name="text-249"/>
          <p:cNvSpPr txBox="1"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FILMARE ≠ PUBLICARE</a:t>
            </a:r>
            <a:endParaRPr lang="en-US" sz="1400" dirty="0"/>
          </a:p>
        </p:txBody>
      </p:sp>
      <p:sp>
        <p:nvSpPr>
          <p:cNvPr id="4" name="text-250"/>
          <p:cNvSpPr txBox="1"/>
          <p:nvPr/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prima dublă la prima postare</a:t>
            </a:r>
            <a:endParaRPr lang="en-US" sz="3800" dirty="0"/>
          </a:p>
        </p:txBody>
      </p:sp>
      <p:sp>
        <p:nvSpPr>
          <p:cNvPr id="5" name="text-251"/>
          <p:cNvSpPr txBox="1"/>
          <p:nvPr/>
        </p:nvSpPr>
        <p:spPr>
          <a:xfrm>
            <a:off x="68580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BLONDE AMBITION by Diana Avram</a:t>
            </a:r>
            <a:endParaRPr lang="en-US" sz="1100" dirty="0"/>
          </a:p>
        </p:txBody>
      </p:sp>
      <p:sp>
        <p:nvSpPr>
          <p:cNvPr id="6" name="text-252"/>
          <p:cNvSpPr txBox="1"/>
          <p:nvPr/>
        </p:nvSpPr>
        <p:spPr>
          <a:xfrm>
            <a:off x="10957255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card-253"/>
          <p:cNvSpPr/>
          <p:nvPr/>
        </p:nvSpPr>
        <p:spPr>
          <a:xfrm>
            <a:off x="685800" y="1920240"/>
            <a:ext cx="5257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9" name="badge-254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10" name="icon-25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2335378"/>
            <a:ext cx="404165" cy="404165"/>
          </a:xfrm>
          <a:prstGeom prst="rect">
            <a:avLst/>
          </a:prstGeom>
        </p:spPr>
      </p:pic>
      <p:sp>
        <p:nvSpPr>
          <p:cNvPr id="11" name="text-256"/>
          <p:cNvSpPr txBox="1"/>
          <p:nvPr/>
        </p:nvSpPr>
        <p:spPr>
          <a:xfrm>
            <a:off x="1874520" y="2057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6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Mă filmez</a:t>
            </a:r>
            <a:endParaRPr lang="en-US" sz="2600" dirty="0"/>
          </a:p>
        </p:txBody>
      </p:sp>
      <p:sp>
        <p:nvSpPr>
          <p:cNvPr id="12" name="text-257"/>
          <p:cNvSpPr txBox="1"/>
          <p:nvPr/>
        </p:nvSpPr>
        <p:spPr>
          <a:xfrm>
            <a:off x="1874520" y="26060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exercițiu. Pentru mine, de câte ori vreau.</a:t>
            </a:r>
            <a:endParaRPr lang="en-US" sz="1800" dirty="0"/>
          </a:p>
        </p:txBody>
      </p:sp>
      <p:sp>
        <p:nvSpPr>
          <p:cNvPr id="13" name="card-258"/>
          <p:cNvSpPr/>
          <p:nvPr/>
        </p:nvSpPr>
        <p:spPr>
          <a:xfrm>
            <a:off x="6263640" y="1920240"/>
            <a:ext cx="5257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4" name="badge-259"/>
          <p:cNvSpPr/>
          <p:nvPr/>
        </p:nvSpPr>
        <p:spPr>
          <a:xfrm>
            <a:off x="6492240" y="2148840"/>
            <a:ext cx="777240" cy="7772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15" name="icon-26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2335378"/>
            <a:ext cx="404165" cy="404165"/>
          </a:xfrm>
          <a:prstGeom prst="rect">
            <a:avLst/>
          </a:prstGeom>
        </p:spPr>
      </p:pic>
      <p:sp>
        <p:nvSpPr>
          <p:cNvPr id="16" name="text-261"/>
          <p:cNvSpPr txBox="1"/>
          <p:nvPr/>
        </p:nvSpPr>
        <p:spPr>
          <a:xfrm>
            <a:off x="7452360" y="2057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6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</a:t>
            </a:r>
            <a:endParaRPr lang="en-US" sz="2600" dirty="0"/>
          </a:p>
        </p:txBody>
      </p:sp>
      <p:sp>
        <p:nvSpPr>
          <p:cNvPr id="17" name="text-262"/>
          <p:cNvSpPr txBox="1"/>
          <p:nvPr/>
        </p:nvSpPr>
        <p:spPr>
          <a:xfrm>
            <a:off x="7452360" y="26060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alegere. Când vreau eu, ce vreau eu.</a:t>
            </a:r>
            <a:endParaRPr lang="en-US" sz="1800" dirty="0"/>
          </a:p>
        </p:txBody>
      </p:sp>
      <p:sp>
        <p:nvSpPr>
          <p:cNvPr id="18" name="card-263"/>
          <p:cNvSpPr/>
          <p:nvPr/>
        </p:nvSpPr>
        <p:spPr>
          <a:xfrm>
            <a:off x="685800" y="361188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BF5EA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19" name="text-264"/>
          <p:cNvSpPr txBox="1"/>
          <p:nvPr/>
        </p:nvSpPr>
        <p:spPr>
          <a:xfrm>
            <a:off x="868680" y="3657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filmare e un exercițiu,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un examen.</a:t>
            </a:r>
            <a:endParaRPr lang="en-US" sz="1600" dirty="0"/>
          </a:p>
        </p:txBody>
      </p:sp>
      <p:sp>
        <p:nvSpPr>
          <p:cNvPr id="20" name="card-265"/>
          <p:cNvSpPr/>
          <p:nvPr/>
        </p:nvSpPr>
        <p:spPr>
          <a:xfrm>
            <a:off x="3410712" y="361188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BF5EA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1" name="text-266"/>
          <p:cNvSpPr txBox="1"/>
          <p:nvPr/>
        </p:nvSpPr>
        <p:spPr>
          <a:xfrm>
            <a:off x="3593592" y="3657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toate filmările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trebuie postate.</a:t>
            </a:r>
            <a:endParaRPr lang="en-US" sz="1600" dirty="0"/>
          </a:p>
        </p:txBody>
      </p:sp>
      <p:sp>
        <p:nvSpPr>
          <p:cNvPr id="22" name="card-267"/>
          <p:cNvSpPr/>
          <p:nvPr/>
        </p:nvSpPr>
        <p:spPr>
          <a:xfrm>
            <a:off x="6135624" y="361188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BF5EA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3" name="text-268"/>
          <p:cNvSpPr txBox="1"/>
          <p:nvPr/>
        </p:nvSpPr>
        <p:spPr>
          <a:xfrm>
            <a:off x="6318504" y="3657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Poți începe cu un Story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cu un video scurt.</a:t>
            </a:r>
            <a:endParaRPr lang="en-US" sz="1600" dirty="0"/>
          </a:p>
        </p:txBody>
      </p:sp>
      <p:sp>
        <p:nvSpPr>
          <p:cNvPr id="24" name="card-269"/>
          <p:cNvSpPr/>
          <p:nvPr/>
        </p:nvSpPr>
        <p:spPr>
          <a:xfrm>
            <a:off x="8860536" y="361188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BF5EA"/>
          </a:solidFill>
          <a:ln w="12700">
            <a:solidFill>
              <a:srgbClr val="EADFCF"/>
            </a:solidFill>
            <a:prstDash val="solid"/>
          </a:ln>
        </p:spPr>
      </p:sp>
      <p:sp>
        <p:nvSpPr>
          <p:cNvPr id="25" name="text-270"/>
          <p:cNvSpPr txBox="1"/>
          <p:nvPr/>
        </p:nvSpPr>
        <p:spPr>
          <a:xfrm>
            <a:off x="9043416" y="3657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Autenticitatea și competența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 perfecțiunea.</a:t>
            </a:r>
            <a:endParaRPr lang="en-US" sz="1600" dirty="0"/>
          </a:p>
        </p:txBody>
      </p:sp>
      <p:sp>
        <p:nvSpPr>
          <p:cNvPr id="26" name="card-271"/>
          <p:cNvSpPr/>
          <p:nvPr/>
        </p:nvSpPr>
        <p:spPr>
          <a:xfrm>
            <a:off x="685800" y="5029200"/>
            <a:ext cx="1082009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B08D57"/>
            </a:solidFill>
            <a:prstDash val="solid"/>
          </a:ln>
        </p:spPr>
      </p:sp>
      <p:sp>
        <p:nvSpPr>
          <p:cNvPr id="27" name="badge-272"/>
          <p:cNvSpPr/>
          <p:nvPr/>
        </p:nvSpPr>
        <p:spPr>
          <a:xfrm>
            <a:off x="914400" y="5166360"/>
            <a:ext cx="640080" cy="64008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pic>
        <p:nvPicPr>
          <p:cNvPr id="28" name="icon-27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5319979"/>
            <a:ext cx="332842" cy="332842"/>
          </a:xfrm>
          <a:prstGeom prst="rect">
            <a:avLst/>
          </a:prstGeom>
        </p:spPr>
      </p:pic>
      <p:sp>
        <p:nvSpPr>
          <p:cNvPr id="29" name="text-274"/>
          <p:cNvSpPr txBox="1"/>
          <p:nvPr/>
        </p:nvSpPr>
        <p:spPr>
          <a:xfrm>
            <a:off x="1737360" y="502920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Provocare opțională:</a:t>
            </a:r>
            <a:r>
              <a:rPr lang="en-US" sz="19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postează primul tău video de 5 secunde și etichetează </a:t>
            </a:r>
            <a:r>
              <a:rPr lang="en-US" sz="1900" b="1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Blonde Ambition</a:t>
            </a:r>
            <a:r>
              <a:rPr lang="en-US" sz="190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-275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12700">
            <a:solidFill>
              <a:srgbClr val="B08D57"/>
            </a:solidFill>
            <a:prstDash val="solid"/>
          </a:ln>
        </p:spPr>
      </p:sp>
      <p:sp>
        <p:nvSpPr>
          <p:cNvPr id="3" name="text-276"/>
          <p:cNvSpPr txBox="1"/>
          <p:nvPr/>
        </p:nvSpPr>
        <p:spPr>
          <a:xfrm>
            <a:off x="68580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9D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PERFECT VIDEO</a:t>
            </a:r>
            <a:endParaRPr lang="en-US" sz="1500" dirty="0"/>
          </a:p>
        </p:txBody>
      </p:sp>
      <p:sp>
        <p:nvSpPr>
          <p:cNvPr id="4" name="text-277"/>
          <p:cNvSpPr txBox="1"/>
          <p:nvPr/>
        </p:nvSpPr>
        <p:spPr>
          <a:xfrm>
            <a:off x="640080" y="9601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9B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BLOOPERS!</a:t>
            </a:r>
            <a:endParaRPr lang="en-US" sz="6400" dirty="0"/>
          </a:p>
        </p:txBody>
      </p:sp>
      <p:sp>
        <p:nvSpPr>
          <p:cNvPr id="5" name="text-278"/>
          <p:cNvSpPr txBox="1"/>
          <p:nvPr/>
        </p:nvSpPr>
        <p:spPr>
          <a:xfrm>
            <a:off x="685800" y="23317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„Credeați că celor experimentați le iese din prima?”</a:t>
            </a:r>
            <a:endParaRPr lang="en-US" sz="2100" dirty="0"/>
          </a:p>
        </p:txBody>
      </p:sp>
      <p:sp>
        <p:nvSpPr>
          <p:cNvPr id="6" name="text-279"/>
          <p:cNvSpPr txBox="1"/>
          <p:nvPr/>
        </p:nvSpPr>
        <p:spPr>
          <a:xfrm>
            <a:off x="685800" y="315468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8CD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Indiferent de câți ani stăm în fața camerei, greșelile vor exista întotdeauna. Ne bâlbâim, uităm textul, râdem sau avem nevoie de încă o „dublă”.</a:t>
            </a:r>
            <a:endParaRPr lang="en-US" sz="1600" dirty="0"/>
          </a:p>
        </p:txBody>
      </p:sp>
      <p:sp>
        <p:nvSpPr>
          <p:cNvPr id="7" name="text-280"/>
          <p:cNvSpPr txBox="1"/>
          <p:nvPr/>
        </p:nvSpPr>
        <p:spPr>
          <a:xfrm>
            <a:off x="68580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Diferența nu este că nu mai greșim. Diferența este că </a:t>
            </a:r>
            <a:r>
              <a:rPr lang="en-US" sz="1800" b="1" dirty="0">
                <a:solidFill>
                  <a:srgbClr val="D9B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ne mai oprim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din cauza greșelilor!</a:t>
            </a:r>
            <a:endParaRPr lang="en-US" sz="1800" dirty="0"/>
          </a:p>
        </p:txBody>
      </p:sp>
      <p:sp>
        <p:nvSpPr>
          <p:cNvPr id="8" name="text-281"/>
          <p:cNvSpPr txBox="1"/>
          <p:nvPr/>
        </p:nvSpPr>
        <p:spPr>
          <a:xfrm>
            <a:off x="685800" y="5257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9D3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Și pentru că uneori cele mai bune momente sunt cele care n-au ieșit conform planului… ENJOY!</a:t>
            </a:r>
            <a:endParaRPr lang="en-US" sz="1700" dirty="0"/>
          </a:p>
        </p:txBody>
      </p:sp>
      <p:sp>
        <p:nvSpPr>
          <p:cNvPr id="9" name="videoslot-282"/>
          <p:cNvSpPr/>
          <p:nvPr/>
        </p:nvSpPr>
        <p:spPr>
          <a:xfrm>
            <a:off x="6583680" y="1417320"/>
            <a:ext cx="4937760" cy="2779776"/>
          </a:xfrm>
          <a:prstGeom prst="roundRect">
            <a:avLst>
              <a:gd name="adj" fmla="val 3289"/>
            </a:avLst>
          </a:prstGeom>
          <a:solidFill>
            <a:srgbClr val="2E2520"/>
          </a:solidFill>
          <a:ln w="25400">
            <a:solidFill>
              <a:srgbClr val="B08D57"/>
            </a:solidFill>
            <a:prstDash val="dash"/>
          </a:ln>
        </p:spPr>
      </p:sp>
      <p:sp>
        <p:nvSpPr>
          <p:cNvPr id="10" name="badge-283"/>
          <p:cNvSpPr/>
          <p:nvPr/>
        </p:nvSpPr>
        <p:spPr>
          <a:xfrm>
            <a:off x="8641080" y="2331720"/>
            <a:ext cx="868680" cy="868680"/>
          </a:xfrm>
          <a:prstGeom prst="ellipse">
            <a:avLst/>
          </a:prstGeom>
          <a:solidFill>
            <a:srgbClr val="D9B56C"/>
          </a:solidFill>
          <a:ln w="12700">
            <a:solidFill>
              <a:srgbClr val="D9B56C"/>
            </a:solidFill>
            <a:prstDash val="solid"/>
          </a:ln>
        </p:spPr>
      </p:sp>
      <p:pic>
        <p:nvPicPr>
          <p:cNvPr id="11" name="icon-28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9563" y="2540203"/>
            <a:ext cx="451714" cy="451714"/>
          </a:xfrm>
          <a:prstGeom prst="rect">
            <a:avLst/>
          </a:prstGeom>
        </p:spPr>
      </p:pic>
      <p:sp>
        <p:nvSpPr>
          <p:cNvPr id="12" name="text-285"/>
          <p:cNvSpPr txBox="1"/>
          <p:nvPr/>
        </p:nvSpPr>
        <p:spPr>
          <a:xfrm>
            <a:off x="6583680" y="3291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D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Videoclipul tău cu bloopers</a:t>
            </a:r>
            <a:endParaRPr lang="en-US" sz="1600" dirty="0"/>
          </a:p>
        </p:txBody>
      </p:sp>
      <p:sp>
        <p:nvSpPr>
          <p:cNvPr id="13" name="text-286"/>
          <p:cNvSpPr txBox="1"/>
          <p:nvPr/>
        </p:nvSpPr>
        <p:spPr>
          <a:xfrm>
            <a:off x="658368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F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Inserare → Video, apoi trage-l peste acest cadru</a:t>
            </a:r>
            <a:endParaRPr lang="en-US" sz="1200" dirty="0"/>
          </a:p>
        </p:txBody>
      </p:sp>
      <p:pic>
        <p:nvPicPr>
          <p:cNvPr id="14" name="slate-28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4434840"/>
            <a:ext cx="640080" cy="640080"/>
          </a:xfrm>
          <a:prstGeom prst="rect">
            <a:avLst/>
          </a:prstGeom>
        </p:spPr>
      </p:pic>
      <p:sp>
        <p:nvSpPr>
          <p:cNvPr id="15" name="text-288"/>
          <p:cNvSpPr txBox="1"/>
          <p:nvPr/>
        </p:nvSpPr>
        <p:spPr>
          <a:xfrm>
            <a:off x="7406640" y="4434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B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Dubla 27. Încă una?</a:t>
            </a:r>
            <a:endParaRPr lang="en-US" sz="2200" dirty="0"/>
          </a:p>
        </p:txBody>
      </p:sp>
      <p:sp>
        <p:nvSpPr>
          <p:cNvPr id="16" name="text-289"/>
          <p:cNvSpPr txBox="1"/>
          <p:nvPr/>
        </p:nvSpPr>
        <p:spPr>
          <a:xfrm>
            <a:off x="68580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BF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BLONDE AMBITION by Diana Avram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Camera Confidence – BLONDE AMBITION</dc:title>
  <dc:subject>PptxGenJS Presentation</dc:subject>
  <dc:creator>Diana Avram</dc:creator>
  <cp:lastModifiedBy>Diana Avram</cp:lastModifiedBy>
  <cp:revision>1</cp:revision>
  <dcterms:created xsi:type="dcterms:W3CDTF">2026-11-01T11:29:54Z</dcterms:created>
  <dcterms:modified xsi:type="dcterms:W3CDTF">2026-11-01T11:29:54Z</dcterms:modified>
</cp:coreProperties>
</file>